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69"/>
  </p:notesMasterIdLst>
  <p:sldIdLst>
    <p:sldId id="256" r:id="rId4"/>
    <p:sldId id="553" r:id="rId5"/>
    <p:sldId id="463" r:id="rId6"/>
    <p:sldId id="465" r:id="rId7"/>
    <p:sldId id="544" r:id="rId8"/>
    <p:sldId id="467" r:id="rId9"/>
    <p:sldId id="546" r:id="rId10"/>
    <p:sldId id="547" r:id="rId11"/>
    <p:sldId id="468" r:id="rId12"/>
    <p:sldId id="548" r:id="rId13"/>
    <p:sldId id="549" r:id="rId14"/>
    <p:sldId id="550" r:id="rId15"/>
    <p:sldId id="483" r:id="rId16"/>
    <p:sldId id="588" r:id="rId17"/>
    <p:sldId id="479" r:id="rId18"/>
    <p:sldId id="554" r:id="rId19"/>
    <p:sldId id="485" r:id="rId20"/>
    <p:sldId id="476" r:id="rId21"/>
    <p:sldId id="481" r:id="rId22"/>
    <p:sldId id="480" r:id="rId23"/>
    <p:sldId id="484" r:id="rId24"/>
    <p:sldId id="552" r:id="rId25"/>
    <p:sldId id="608" r:id="rId26"/>
    <p:sldId id="609" r:id="rId27"/>
    <p:sldId id="610" r:id="rId28"/>
    <p:sldId id="482" r:id="rId29"/>
    <p:sldId id="486" r:id="rId30"/>
    <p:sldId id="487" r:id="rId31"/>
    <p:sldId id="488" r:id="rId32"/>
    <p:sldId id="551" r:id="rId33"/>
    <p:sldId id="589" r:id="rId34"/>
    <p:sldId id="590" r:id="rId35"/>
    <p:sldId id="556" r:id="rId36"/>
    <p:sldId id="591" r:id="rId37"/>
    <p:sldId id="592" r:id="rId38"/>
    <p:sldId id="557" r:id="rId39"/>
    <p:sldId id="493" r:id="rId40"/>
    <p:sldId id="492" r:id="rId41"/>
    <p:sldId id="595" r:id="rId42"/>
    <p:sldId id="596" r:id="rId43"/>
    <p:sldId id="494" r:id="rId44"/>
    <p:sldId id="491" r:id="rId45"/>
    <p:sldId id="490" r:id="rId46"/>
    <p:sldId id="499" r:id="rId47"/>
    <p:sldId id="558" r:id="rId48"/>
    <p:sldId id="501" r:id="rId49"/>
    <p:sldId id="500" r:id="rId50"/>
    <p:sldId id="498" r:id="rId51"/>
    <p:sldId id="559" r:id="rId52"/>
    <p:sldId id="504" r:id="rId53"/>
    <p:sldId id="507" r:id="rId54"/>
    <p:sldId id="560" r:id="rId55"/>
    <p:sldId id="561" r:id="rId56"/>
    <p:sldId id="562" r:id="rId57"/>
    <p:sldId id="503" r:id="rId58"/>
    <p:sldId id="506" r:id="rId59"/>
    <p:sldId id="505" r:id="rId60"/>
    <p:sldId id="563" r:id="rId61"/>
    <p:sldId id="502" r:id="rId62"/>
    <p:sldId id="508" r:id="rId63"/>
    <p:sldId id="511" r:id="rId64"/>
    <p:sldId id="510" r:id="rId65"/>
    <p:sldId id="509" r:id="rId66"/>
    <p:sldId id="605" r:id="rId67"/>
    <p:sldId id="611" r:id="rId6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62C"/>
    <a:srgbClr val="FFFFFF"/>
    <a:srgbClr val="99CCFF"/>
    <a:srgbClr val="FFFF00"/>
    <a:srgbClr val="DDDDDD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9" autoAdjust="0"/>
    <p:restoredTop sz="94737" autoAdjust="0"/>
  </p:normalViewPr>
  <p:slideViewPr>
    <p:cSldViewPr>
      <p:cViewPr varScale="1">
        <p:scale>
          <a:sx n="105" d="100"/>
          <a:sy n="105" d="100"/>
        </p:scale>
        <p:origin x="182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42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BA311F-D57F-B21B-57F5-6DCD9A9F9C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EC92D-D4FD-0384-F6EC-CDD9EE560F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7E2589F-4CD9-4248-897D-1575351CBD41}" type="datetimeFigureOut">
              <a:rPr lang="en-US"/>
              <a:pPr>
                <a:defRPr/>
              </a:pPr>
              <a:t>2/2/2026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F934FEB-AE06-627F-BBD7-5CBF603813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B1B57BC-0351-4BB3-C442-F6EB29220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7BD26-562A-1714-A93F-C002893005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6C38C-619A-AE8A-F951-24B04255F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4DEA1D-EF9E-44A8-809F-408DA0952A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Unbenannt-2">
            <a:extLst>
              <a:ext uri="{FF2B5EF4-FFF2-40B4-BE49-F238E27FC236}">
                <a16:creationId xmlns:a16="http://schemas.microsoft.com/office/drawing/2014/main" id="{BC96E127-FC40-E007-12FC-9527DAB18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13" y="2887663"/>
            <a:ext cx="138112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3" descr="PP small">
            <a:extLst>
              <a:ext uri="{FF2B5EF4-FFF2-40B4-BE49-F238E27FC236}">
                <a16:creationId xmlns:a16="http://schemas.microsoft.com/office/drawing/2014/main" id="{09CE3749-8E91-8290-E821-EA9B837BF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5516563" y="6005513"/>
            <a:ext cx="32258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8537896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9398CA6-314F-5A02-B193-EE738A6BCB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2484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B03396-3E0B-5BAC-2150-DF6E9E6462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60278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81CC67-7D3C-E10A-E36A-A1C15619F0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66756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3A64721-6836-824B-1B79-F405D45E29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64027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D5C0129-C2C7-3A38-F9BC-31D50BBFDA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14435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016E8CC-6D67-B375-A7BB-2D0E7ABE3C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16174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5DD09F-E055-798A-1D0A-CF3392DEF8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1667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46B30C-3F83-D37B-F8F4-5E90D35B71A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4584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D1D70F0-741F-BBAC-AF2A-9568FD1BEF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71036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0C84B13-237E-0C0F-42CB-539297D2076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99604"/>
      </p:ext>
    </p:extLst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73189-5882-D1D7-3E9C-B5FE10BA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64EA1-CA41-BCB9-6DF4-4C9AB7E6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E6D27-F8AC-E126-31C5-3D6D5902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D806BED-7C41-4C2D-8F2A-C010BD944F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21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02CA7C1-E98F-EFFD-C854-A5A32A2D8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5235B02-CBE9-97F1-EA55-AE9BD4E06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879600"/>
            <a:ext cx="85248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44485" name="Rectangle 5">
            <a:extLst>
              <a:ext uri="{FF2B5EF4-FFF2-40B4-BE49-F238E27FC236}">
                <a16:creationId xmlns:a16="http://schemas.microsoft.com/office/drawing/2014/main" id="{F9C53CDE-34B8-BEE3-4142-3E48E7728A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6225" y="6408738"/>
            <a:ext cx="27622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29" name="Picture 17" descr="PP small">
            <a:extLst>
              <a:ext uri="{FF2B5EF4-FFF2-40B4-BE49-F238E27FC236}">
                <a16:creationId xmlns:a16="http://schemas.microsoft.com/office/drawing/2014/main" id="{F91694A0-AAB6-D57C-97EA-6DFEFBE15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6361113" y="6350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1" r:id="rId1"/>
    <p:sldLayoutId id="2147484501" r:id="rId2"/>
    <p:sldLayoutId id="2147484502" r:id="rId3"/>
    <p:sldLayoutId id="2147484503" r:id="rId4"/>
    <p:sldLayoutId id="2147484504" r:id="rId5"/>
    <p:sldLayoutId id="2147484505" r:id="rId6"/>
    <p:sldLayoutId id="2147484506" r:id="rId7"/>
    <p:sldLayoutId id="2147484507" r:id="rId8"/>
    <p:sldLayoutId id="2147484508" r:id="rId9"/>
    <p:sldLayoutId id="2147484509" r:id="rId10"/>
    <p:sldLayoutId id="2147484510" r:id="rId11"/>
    <p:sldLayoutId id="2147484512" r:id="rId12"/>
  </p:sldLayoutIdLst>
  <p:transition spd="med">
    <p:wipe dir="r"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800">
          <a:solidFill>
            <a:schemeClr val="tx1"/>
          </a:solidFill>
          <a:latin typeface="+mn-lt"/>
        </a:defRPr>
      </a:lvl2pPr>
      <a:lvl3pPr marL="561975" indent="-17938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400">
          <a:solidFill>
            <a:schemeClr val="tx1"/>
          </a:solidFill>
          <a:latin typeface="+mn-lt"/>
        </a:defRPr>
      </a:lvl3pPr>
      <a:lvl4pPr marL="752475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000">
          <a:solidFill>
            <a:schemeClr val="tx1"/>
          </a:solidFill>
          <a:latin typeface="+mn-lt"/>
        </a:defRPr>
      </a:lvl4pPr>
      <a:lvl5pPr marL="962025" indent="-20796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14192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0436D58-9BCE-D2B6-4272-7497E1931F3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295400"/>
            <a:ext cx="7772400" cy="16764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IO Streams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E3D1203-1E54-32CF-A7DB-CFB23B2FB5A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962400"/>
            <a:ext cx="6400800" cy="2667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>
            <a:extLst>
              <a:ext uri="{FF2B5EF4-FFF2-40B4-BE49-F238E27FC236}">
                <a16:creationId xmlns:a16="http://schemas.microsoft.com/office/drawing/2014/main" id="{14951E23-BE9C-4FD4-A634-8246095EDD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147" name="Picture 2">
            <a:extLst>
              <a:ext uri="{FF2B5EF4-FFF2-40B4-BE49-F238E27FC236}">
                <a16:creationId xmlns:a16="http://schemas.microsoft.com/office/drawing/2014/main" id="{C2A717E4-6F32-2150-5A96-A777548EA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981200"/>
            <a:ext cx="7724775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>
            <a:extLst>
              <a:ext uri="{FF2B5EF4-FFF2-40B4-BE49-F238E27FC236}">
                <a16:creationId xmlns:a16="http://schemas.microsoft.com/office/drawing/2014/main" id="{192797CE-5AFC-601D-C717-29754E8D3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743200"/>
            <a:ext cx="609600" cy="2286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>
            <a:extLst>
              <a:ext uri="{FF2B5EF4-FFF2-40B4-BE49-F238E27FC236}">
                <a16:creationId xmlns:a16="http://schemas.microsoft.com/office/drawing/2014/main" id="{7764BA1D-DDA1-424A-A20F-7A5B0A2F16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Content Placeholder 3">
            <a:extLst>
              <a:ext uri="{FF2B5EF4-FFF2-40B4-BE49-F238E27FC236}">
                <a16:creationId xmlns:a16="http://schemas.microsoft.com/office/drawing/2014/main" id="{5671D61E-8D6A-5349-11D4-9983146C66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1219200"/>
            <a:ext cx="8524875" cy="533400"/>
          </a:xfrm>
        </p:spPr>
        <p:txBody>
          <a:bodyPr/>
          <a:lstStyle/>
          <a:p>
            <a:pPr algn="just"/>
            <a:r>
              <a:rPr lang="en-US" altLang="en-US" sz="2200"/>
              <a:t>There are many classes and interfaces in the </a:t>
            </a:r>
            <a:r>
              <a:rPr lang="en-US" altLang="en-US" sz="2200" b="1"/>
              <a:t>java.io </a:t>
            </a:r>
            <a:r>
              <a:rPr lang="en-US" altLang="en-US" sz="2200"/>
              <a:t>package. 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5">
            <a:extLst>
              <a:ext uri="{FF2B5EF4-FFF2-40B4-BE49-F238E27FC236}">
                <a16:creationId xmlns:a16="http://schemas.microsoft.com/office/drawing/2014/main" id="{B4C1F4A5-8212-2C43-7021-C264F20565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AFC74D4F-99AB-D0A0-C179-E142B131F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23975"/>
            <a:ext cx="8686800" cy="3857625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/>
              <a:t>A </a:t>
            </a:r>
            <a:r>
              <a:rPr lang="en-US" altLang="en-US" b="1"/>
              <a:t>File </a:t>
            </a:r>
            <a:r>
              <a:rPr lang="en-US" altLang="en-US"/>
              <a:t>object is used to obtain or manipulate the information associated with a disk file.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/>
              <a:t>Ex: permissions, time, date, and directory path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/>
              <a:t>File </a:t>
            </a:r>
            <a:r>
              <a:rPr lang="en-US" altLang="en-US"/>
              <a:t>class </a:t>
            </a:r>
            <a:r>
              <a:rPr lang="en-US" altLang="en-US">
                <a:solidFill>
                  <a:srgbClr val="FF0000"/>
                </a:solidFill>
              </a:rPr>
              <a:t>does not </a:t>
            </a:r>
            <a:r>
              <a:rPr lang="en-US" altLang="en-US"/>
              <a:t>specify how information is retrieved from or stored in files;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It describes the properties of a file itself</a:t>
            </a:r>
            <a:r>
              <a:rPr lang="en-US" altLang="en-US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</p:txBody>
      </p:sp>
      <p:sp>
        <p:nvSpPr>
          <p:cNvPr id="8196" name="Rectangle 1">
            <a:extLst>
              <a:ext uri="{FF2B5EF4-FFF2-40B4-BE49-F238E27FC236}">
                <a16:creationId xmlns:a16="http://schemas.microsoft.com/office/drawing/2014/main" id="{B6FF4913-5D79-3F34-B80A-8C67CF15B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762000"/>
            <a:ext cx="714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  <a:latin typeface="FranklinGothic-DemiCnd"/>
              </a:rPr>
              <a:t>File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5">
            <a:extLst>
              <a:ext uri="{FF2B5EF4-FFF2-40B4-BE49-F238E27FC236}">
                <a16:creationId xmlns:a16="http://schemas.microsoft.com/office/drawing/2014/main" id="{66D5B4CA-CD2C-C3F8-431D-495A62E415C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Content Placeholder 3">
            <a:extLst>
              <a:ext uri="{FF2B5EF4-FFF2-40B4-BE49-F238E27FC236}">
                <a16:creationId xmlns:a16="http://schemas.microsoft.com/office/drawing/2014/main" id="{6D5ABD4B-2E72-6135-CA23-0D15F9BC8A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23975"/>
            <a:ext cx="8686800" cy="1571625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FF0000"/>
                </a:solidFill>
              </a:rPr>
              <a:t>A directory in Java is treated simply as a </a:t>
            </a:r>
            <a:r>
              <a:rPr lang="en-US" altLang="en-US" b="1">
                <a:solidFill>
                  <a:srgbClr val="FF0000"/>
                </a:solidFill>
              </a:rPr>
              <a:t>File </a:t>
            </a:r>
            <a:r>
              <a:rPr lang="en-US" altLang="en-US">
                <a:solidFill>
                  <a:srgbClr val="FF0000"/>
                </a:solidFill>
              </a:rPr>
              <a:t>with one additional property: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altLang="en-US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/>
              <a:t> List of filenames that can be examined by the </a:t>
            </a:r>
            <a:r>
              <a:rPr lang="en-US" altLang="en-US" b="1"/>
              <a:t>list( ) </a:t>
            </a:r>
            <a:r>
              <a:rPr lang="en-US" altLang="en-US"/>
              <a:t>method.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9220" name="Rectangle 1">
            <a:extLst>
              <a:ext uri="{FF2B5EF4-FFF2-40B4-BE49-F238E27FC236}">
                <a16:creationId xmlns:a16="http://schemas.microsoft.com/office/drawing/2014/main" id="{96C326A4-41F9-AE1F-76FD-F3427E260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762000"/>
            <a:ext cx="714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  <a:latin typeface="FranklinGothic-DemiCnd"/>
              </a:rPr>
              <a:t>File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5">
            <a:extLst>
              <a:ext uri="{FF2B5EF4-FFF2-40B4-BE49-F238E27FC236}">
                <a16:creationId xmlns:a16="http://schemas.microsoft.com/office/drawing/2014/main" id="{DC324628-A9DA-8729-F0C3-7DD042D757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Content Placeholder 3">
            <a:extLst>
              <a:ext uri="{FF2B5EF4-FFF2-40B4-BE49-F238E27FC236}">
                <a16:creationId xmlns:a16="http://schemas.microsoft.com/office/drawing/2014/main" id="{E48D8B9A-32E3-812C-692C-62B67D8F9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524875" cy="4343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Constructors used to create </a:t>
            </a:r>
            <a:r>
              <a:rPr lang="en-US" b="1" dirty="0"/>
              <a:t>File </a:t>
            </a:r>
            <a:r>
              <a:rPr lang="en-US" dirty="0"/>
              <a:t>objects: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File(String </a:t>
            </a:r>
            <a:r>
              <a:rPr lang="en-US" i="1" dirty="0" err="1"/>
              <a:t>directoryPath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File(String </a:t>
            </a:r>
            <a:r>
              <a:rPr lang="en-US" i="1" dirty="0" err="1"/>
              <a:t>directoryPath</a:t>
            </a:r>
            <a:r>
              <a:rPr lang="en-US" dirty="0"/>
              <a:t>, String </a:t>
            </a:r>
            <a:r>
              <a:rPr lang="en-US" i="1" dirty="0"/>
              <a:t>filename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File(File </a:t>
            </a:r>
            <a:r>
              <a:rPr lang="en-US" i="1" dirty="0" err="1"/>
              <a:t>dirObj</a:t>
            </a:r>
            <a:r>
              <a:rPr lang="en-US" dirty="0"/>
              <a:t>, String </a:t>
            </a:r>
            <a:r>
              <a:rPr lang="en-US" i="1" dirty="0"/>
              <a:t>filename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File(URI </a:t>
            </a:r>
            <a:r>
              <a:rPr lang="en-US" i="1" dirty="0" err="1"/>
              <a:t>uriObj</a:t>
            </a:r>
            <a:r>
              <a:rPr lang="en-US" dirty="0"/>
              <a:t>)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5">
            <a:extLst>
              <a:ext uri="{FF2B5EF4-FFF2-40B4-BE49-F238E27FC236}">
                <a16:creationId xmlns:a16="http://schemas.microsoft.com/office/drawing/2014/main" id="{2033FC7A-B567-2C07-2BF6-22D419D7E7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Content Placeholder 3">
            <a:extLst>
              <a:ext uri="{FF2B5EF4-FFF2-40B4-BE49-F238E27FC236}">
                <a16:creationId xmlns:a16="http://schemas.microsoft.com/office/drawing/2014/main" id="{35410844-3F18-9939-4271-6EA3F959E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524875" cy="4267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Constructors used to create </a:t>
            </a:r>
            <a:r>
              <a:rPr lang="en-US" b="1" dirty="0"/>
              <a:t>File </a:t>
            </a:r>
            <a:r>
              <a:rPr lang="en-US" dirty="0"/>
              <a:t>objects: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 f1 = new File(“c:/</a:t>
            </a:r>
            <a:r>
              <a:rPr lang="en-US" dirty="0" err="1"/>
              <a:t>mit</a:t>
            </a:r>
            <a:r>
              <a:rPr lang="en-US" dirty="0"/>
              <a:t>/</a:t>
            </a:r>
            <a:r>
              <a:rPr lang="en-US" dirty="0" err="1"/>
              <a:t>ict</a:t>
            </a:r>
            <a:r>
              <a:rPr lang="en-US" dirty="0"/>
              <a:t>/</a:t>
            </a:r>
            <a:r>
              <a:rPr lang="en-US" dirty="0" err="1"/>
              <a:t>cce</a:t>
            </a:r>
            <a:r>
              <a:rPr lang="en-US" dirty="0"/>
              <a:t>/prg1.txt");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 f2 = new File(" c:/mit/ict/cce/", “prg1.txt”);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 f3 = new File(" c:/mit/ict/cce/");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File f4 = new File(f3,”prg1.txt”);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5">
            <a:extLst>
              <a:ext uri="{FF2B5EF4-FFF2-40B4-BE49-F238E27FC236}">
                <a16:creationId xmlns:a16="http://schemas.microsoft.com/office/drawing/2014/main" id="{CDD60AE6-E429-265D-2172-225405E8D2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Content Placeholder 3">
            <a:extLst>
              <a:ext uri="{FF2B5EF4-FFF2-40B4-BE49-F238E27FC236}">
                <a16:creationId xmlns:a16="http://schemas.microsoft.com/office/drawing/2014/main" id="{FFCA44B1-39D6-7CB8-A96B-5630CBC4D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524875" cy="2667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Windows: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    recognize forward slash(/).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   If we use backaword slash, we need to use escape sequence(\\)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Unix 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  recognize backword slash(\).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5">
            <a:extLst>
              <a:ext uri="{FF2B5EF4-FFF2-40B4-BE49-F238E27FC236}">
                <a16:creationId xmlns:a16="http://schemas.microsoft.com/office/drawing/2014/main" id="{08ED49EA-99D6-6D0F-813A-D40CEBA081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Content Placeholder 1">
            <a:extLst>
              <a:ext uri="{FF2B5EF4-FFF2-40B4-BE49-F238E27FC236}">
                <a16:creationId xmlns:a16="http://schemas.microsoft.com/office/drawing/2014/main" id="{4F8E329F-9F46-B688-A881-600024558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686800" cy="40386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400"/>
              <a:t>String    getName()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 sz="2400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400"/>
              <a:t>String getParent()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 sz="2400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400"/>
              <a:t>String  getPath()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 sz="2400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400"/>
              <a:t>String getAbsolutePath()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AA08D6A-3E4C-8911-7CFC-BBCAFD82709E}"/>
              </a:ext>
            </a:extLst>
          </p:cNvPr>
          <p:cNvSpPr txBox="1">
            <a:spLocks/>
          </p:cNvSpPr>
          <p:nvPr/>
        </p:nvSpPr>
        <p:spPr bwMode="auto">
          <a:xfrm>
            <a:off x="257175" y="750888"/>
            <a:ext cx="1519238" cy="457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kern="0" dirty="0">
                <a:solidFill>
                  <a:srgbClr val="FF0000"/>
                </a:solidFill>
              </a:rPr>
              <a:t>Methods </a:t>
            </a:r>
            <a:r>
              <a:rPr lang="en-US" b="1" kern="0" dirty="0"/>
              <a:t>:</a:t>
            </a:r>
            <a:endParaRPr lang="en-US" kern="0" dirty="0"/>
          </a:p>
          <a:p>
            <a:pPr>
              <a:defRPr/>
            </a:pPr>
            <a:endParaRPr lang="en-US" kern="0" dirty="0"/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5">
            <a:extLst>
              <a:ext uri="{FF2B5EF4-FFF2-40B4-BE49-F238E27FC236}">
                <a16:creationId xmlns:a16="http://schemas.microsoft.com/office/drawing/2014/main" id="{9594E9CB-6C33-AE6D-AB39-CBA262DBB1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Content Placeholder 1">
            <a:extLst>
              <a:ext uri="{FF2B5EF4-FFF2-40B4-BE49-F238E27FC236}">
                <a16:creationId xmlns:a16="http://schemas.microsoft.com/office/drawing/2014/main" id="{B6506C63-AD38-BB24-212E-84334DDB98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686800" cy="51054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exists()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canWrite()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canRead()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 isDirectory()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isFile()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boolean isAbsolute()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256872F-D93C-547E-6BBD-C90133FD40C5}"/>
              </a:ext>
            </a:extLst>
          </p:cNvPr>
          <p:cNvSpPr txBox="1">
            <a:spLocks/>
          </p:cNvSpPr>
          <p:nvPr/>
        </p:nvSpPr>
        <p:spPr bwMode="auto">
          <a:xfrm>
            <a:off x="304800" y="612775"/>
            <a:ext cx="1519238" cy="457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kern="0" dirty="0">
                <a:solidFill>
                  <a:srgbClr val="FF0000"/>
                </a:solidFill>
              </a:rPr>
              <a:t>Methods :</a:t>
            </a:r>
            <a:endParaRPr lang="en-US" kern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kern="0" dirty="0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>
            <a:extLst>
              <a:ext uri="{FF2B5EF4-FFF2-40B4-BE49-F238E27FC236}">
                <a16:creationId xmlns:a16="http://schemas.microsoft.com/office/drawing/2014/main" id="{485BC613-996D-DC19-E9DF-F2659BF908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Content Placeholder 1">
            <a:extLst>
              <a:ext uri="{FF2B5EF4-FFF2-40B4-BE49-F238E27FC236}">
                <a16:creationId xmlns:a16="http://schemas.microsoft.com/office/drawing/2014/main" id="{A08B2FA5-39EE-BB8B-7364-B6E8DF352A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686800" cy="19812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long lastModified()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long length()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15CB407-F7FB-F9E8-B396-F29B12A0F6D5}"/>
              </a:ext>
            </a:extLst>
          </p:cNvPr>
          <p:cNvSpPr txBox="1">
            <a:spLocks/>
          </p:cNvSpPr>
          <p:nvPr/>
        </p:nvSpPr>
        <p:spPr bwMode="auto">
          <a:xfrm>
            <a:off x="238125" y="582613"/>
            <a:ext cx="1519238" cy="457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kern="0" dirty="0">
                <a:solidFill>
                  <a:srgbClr val="FF0000"/>
                </a:solidFill>
              </a:rPr>
              <a:t>Methods :</a:t>
            </a:r>
            <a:endParaRPr lang="en-US" kern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kern="0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5">
            <a:extLst>
              <a:ext uri="{FF2B5EF4-FFF2-40B4-BE49-F238E27FC236}">
                <a16:creationId xmlns:a16="http://schemas.microsoft.com/office/drawing/2014/main" id="{6A02D5C7-B3D2-B980-D69B-68529EACB4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Content Placeholder 1">
            <a:extLst>
              <a:ext uri="{FF2B5EF4-FFF2-40B4-BE49-F238E27FC236}">
                <a16:creationId xmlns:a16="http://schemas.microsoft.com/office/drawing/2014/main" id="{8C9D80F7-9D15-05E4-0904-142D4A726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43434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200" dirty="0"/>
              <a:t>      </a:t>
            </a:r>
            <a:r>
              <a:rPr lang="en-US" sz="2200" dirty="0" err="1"/>
              <a:t>boolean</a:t>
            </a:r>
            <a:r>
              <a:rPr lang="en-US" sz="2200" dirty="0"/>
              <a:t> </a:t>
            </a:r>
            <a:r>
              <a:rPr lang="en-US" sz="2200" dirty="0" err="1"/>
              <a:t>renameTo</a:t>
            </a:r>
            <a:r>
              <a:rPr lang="en-US" sz="2200" dirty="0"/>
              <a:t>(File </a:t>
            </a:r>
            <a:r>
              <a:rPr lang="en-US" sz="2200" i="1" dirty="0" err="1"/>
              <a:t>newName</a:t>
            </a:r>
            <a:r>
              <a:rPr lang="en-US" sz="22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i="1" dirty="0" err="1"/>
              <a:t>newName</a:t>
            </a:r>
            <a:r>
              <a:rPr lang="en-US" i="1" dirty="0"/>
              <a:t> </a:t>
            </a:r>
            <a:r>
              <a:rPr lang="en-US" dirty="0"/>
              <a:t>becomes the new name of the invoking </a:t>
            </a:r>
            <a:r>
              <a:rPr lang="en-US" b="1" dirty="0"/>
              <a:t>File </a:t>
            </a:r>
            <a:r>
              <a:rPr lang="en-US" dirty="0"/>
              <a:t>object.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dirty="0"/>
              <a:t>It will return </a:t>
            </a:r>
            <a:r>
              <a:rPr lang="en-US" b="1" dirty="0"/>
              <a:t>true </a:t>
            </a:r>
            <a:r>
              <a:rPr lang="en-US" dirty="0"/>
              <a:t>upon success and </a:t>
            </a:r>
            <a:r>
              <a:rPr lang="en-US" b="1" dirty="0"/>
              <a:t>false </a:t>
            </a:r>
            <a:r>
              <a:rPr lang="en-US" dirty="0"/>
              <a:t>if the file cannot be renamed.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(if you either attempt to rename a file so that it uses an existing filename).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DB45DF9-66B0-CD23-9D63-7ADC51A04055}"/>
              </a:ext>
            </a:extLst>
          </p:cNvPr>
          <p:cNvSpPr txBox="1">
            <a:spLocks/>
          </p:cNvSpPr>
          <p:nvPr/>
        </p:nvSpPr>
        <p:spPr bwMode="auto">
          <a:xfrm>
            <a:off x="238125" y="582613"/>
            <a:ext cx="1519238" cy="4572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kern="0" dirty="0">
                <a:solidFill>
                  <a:srgbClr val="FF0000"/>
                </a:solidFill>
              </a:rPr>
              <a:t>Methods :</a:t>
            </a:r>
            <a:endParaRPr lang="en-US" kern="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kern="0" dirty="0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5">
            <a:extLst>
              <a:ext uri="{FF2B5EF4-FFF2-40B4-BE49-F238E27FC236}">
                <a16:creationId xmlns:a16="http://schemas.microsoft.com/office/drawing/2014/main" id="{3E5B2117-1B01-60BE-1754-4A7D8E89A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9C5140B4-9C34-6FBB-F622-8683501E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762000"/>
            <a:ext cx="8524875" cy="2438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/>
              <a:t>Creating Directories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mkdir</a:t>
            </a:r>
            <a:r>
              <a:rPr lang="en-US" dirty="0"/>
              <a:t>( ) 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mkdirs</a:t>
            </a:r>
            <a:r>
              <a:rPr lang="en-US" dirty="0"/>
              <a:t>(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 err="1"/>
              <a:t>mkdirs</a:t>
            </a:r>
            <a:r>
              <a:rPr lang="en-US" dirty="0"/>
              <a:t> : To create a directory for which no path exists. It creates a directory and all the parents of the directory.</a:t>
            </a:r>
          </a:p>
          <a:p>
            <a:pPr>
              <a:defRPr/>
            </a:pPr>
            <a:endParaRPr lang="en-US" sz="1800" dirty="0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5">
            <a:extLst>
              <a:ext uri="{FF2B5EF4-FFF2-40B4-BE49-F238E27FC236}">
                <a16:creationId xmlns:a16="http://schemas.microsoft.com/office/drawing/2014/main" id="{7E3ED4F9-3FEB-551B-3D10-32F79E8301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99D7A25D-2295-8BAF-EACF-2B79084B6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762000"/>
            <a:ext cx="8524875" cy="838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400" b="1" dirty="0"/>
              <a:t>Creating Directories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b="1" dirty="0"/>
          </a:p>
          <a:p>
            <a:pPr>
              <a:defRPr/>
            </a:pPr>
            <a:endParaRPr lang="en-US" sz="1800" dirty="0"/>
          </a:p>
        </p:txBody>
      </p:sp>
      <p:sp>
        <p:nvSpPr>
          <p:cNvPr id="18436" name="Rectangle 1">
            <a:extLst>
              <a:ext uri="{FF2B5EF4-FFF2-40B4-BE49-F238E27FC236}">
                <a16:creationId xmlns:a16="http://schemas.microsoft.com/office/drawing/2014/main" id="{871C4EA3-E05E-B020-6BDD-89158C23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1620838"/>
            <a:ext cx="8224837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File f = new File("D:\\MIT");</a:t>
            </a:r>
          </a:p>
          <a:p>
            <a:endParaRPr lang="en-US" altLang="en-US"/>
          </a:p>
          <a:p>
            <a:r>
              <a:rPr lang="en-US" altLang="en-US"/>
              <a:t>if (f.mkdir()) </a:t>
            </a:r>
          </a:p>
          <a:p>
            <a:r>
              <a:rPr lang="en-US" altLang="en-US"/>
              <a:t>{					            </a:t>
            </a:r>
          </a:p>
          <a:p>
            <a:r>
              <a:rPr lang="en-US" altLang="en-US"/>
              <a:t>     System.out.println("Directory is created");</a:t>
            </a:r>
          </a:p>
          <a:p>
            <a:r>
              <a:rPr lang="en-US" altLang="en-US"/>
              <a:t>}</a:t>
            </a:r>
          </a:p>
          <a:p>
            <a:r>
              <a:rPr lang="en-US" altLang="en-US"/>
              <a:t>else</a:t>
            </a:r>
          </a:p>
          <a:p>
            <a:r>
              <a:rPr lang="en-US" altLang="en-US"/>
              <a:t> {							           </a:t>
            </a:r>
          </a:p>
          <a:p>
            <a:r>
              <a:rPr lang="en-US" altLang="en-US"/>
              <a:t>         System.out.println("Directory cannot be created");</a:t>
            </a:r>
          </a:p>
          <a:p>
            <a:r>
              <a:rPr lang="en-US" altLang="en-US"/>
              <a:t> }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5">
            <a:extLst>
              <a:ext uri="{FF2B5EF4-FFF2-40B4-BE49-F238E27FC236}">
                <a16:creationId xmlns:a16="http://schemas.microsoft.com/office/drawing/2014/main" id="{6C1B2256-C5A3-2807-C88F-124845FDD3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Content Placeholder 1">
            <a:extLst>
              <a:ext uri="{FF2B5EF4-FFF2-40B4-BE49-F238E27FC236}">
                <a16:creationId xmlns:a16="http://schemas.microsoft.com/office/drawing/2014/main" id="{9CC6C43B-DDE2-465E-0C3F-0B1AC41F8A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685800"/>
            <a:ext cx="8524875" cy="2362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 </a:t>
            </a:r>
            <a:r>
              <a:rPr lang="en-US" altLang="en-US" sz="2200"/>
              <a:t>Boolean delete()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22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200"/>
              <a:t>To delete  file and directory.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200"/>
              <a:t>To delete directory, it should be empty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b="1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5">
            <a:extLst>
              <a:ext uri="{FF2B5EF4-FFF2-40B4-BE49-F238E27FC236}">
                <a16:creationId xmlns:a16="http://schemas.microsoft.com/office/drawing/2014/main" id="{C8093B6E-7960-1EE7-8F4A-AA77CD36B8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3" name="Content Placeholder 1">
            <a:extLst>
              <a:ext uri="{FF2B5EF4-FFF2-40B4-BE49-F238E27FC236}">
                <a16:creationId xmlns:a16="http://schemas.microsoft.com/office/drawing/2014/main" id="{AB267B3A-09BC-8BFD-0683-78400F7C7C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685800"/>
            <a:ext cx="8524875" cy="1981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Directories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 </a:t>
            </a:r>
            <a:r>
              <a:rPr lang="en-US" altLang="en-US" sz="2200"/>
              <a:t>String []    list()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220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2200"/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b="1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5">
            <a:extLst>
              <a:ext uri="{FF2B5EF4-FFF2-40B4-BE49-F238E27FC236}">
                <a16:creationId xmlns:a16="http://schemas.microsoft.com/office/drawing/2014/main" id="{E085C2C0-4431-07C9-E770-40214FFF66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DF09E3CD-4DE2-BABA-BDEE-D5F91DE04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524875" cy="3505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/>
              <a:t>The </a:t>
            </a:r>
            <a:r>
              <a:rPr lang="en-US" sz="1800" b="1" dirty="0" err="1"/>
              <a:t>listFiles</a:t>
            </a:r>
            <a:r>
              <a:rPr lang="en-US" sz="1800" b="1" dirty="0"/>
              <a:t>( ) Alternative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b="1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800" dirty="0"/>
              <a:t>Variation to the </a:t>
            </a:r>
            <a:r>
              <a:rPr lang="en-US" sz="1800" b="1" dirty="0"/>
              <a:t>list( ) </a:t>
            </a:r>
            <a:r>
              <a:rPr lang="en-US" sz="1800" dirty="0"/>
              <a:t>method.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1800" dirty="0"/>
              <a:t>Which returns File instead of string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File[ ] </a:t>
            </a:r>
            <a:r>
              <a:rPr lang="en-US" sz="1800" dirty="0" err="1"/>
              <a:t>listFiles</a:t>
            </a:r>
            <a:r>
              <a:rPr lang="en-US" sz="1800" dirty="0"/>
              <a:t>(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File[ ] </a:t>
            </a:r>
            <a:r>
              <a:rPr lang="en-US" sz="1800" dirty="0" err="1"/>
              <a:t>listFiles</a:t>
            </a:r>
            <a:r>
              <a:rPr lang="en-US" sz="1800" dirty="0"/>
              <a:t>(</a:t>
            </a:r>
            <a:r>
              <a:rPr lang="en-US" sz="1800" dirty="0" err="1"/>
              <a:t>FilenameFilter</a:t>
            </a:r>
            <a:r>
              <a:rPr lang="en-US" sz="1800" dirty="0"/>
              <a:t> </a:t>
            </a:r>
            <a:r>
              <a:rPr lang="en-US" sz="1800" i="1" dirty="0" err="1"/>
              <a:t>FFObj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5">
            <a:extLst>
              <a:ext uri="{FF2B5EF4-FFF2-40B4-BE49-F238E27FC236}">
                <a16:creationId xmlns:a16="http://schemas.microsoft.com/office/drawing/2014/main" id="{B32B8C10-99FF-08A5-1A87-57530CDE83D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76A711C7-00C5-D787-4B59-BE25BF9CE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14400"/>
            <a:ext cx="8605837" cy="4495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/>
              <a:t>Using </a:t>
            </a:r>
            <a:r>
              <a:rPr lang="en-US" b="1" dirty="0" err="1"/>
              <a:t>FilenameFilter</a:t>
            </a:r>
            <a:endParaRPr lang="en-US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algn="just">
              <a:defRPr/>
            </a:pPr>
            <a:r>
              <a:rPr lang="en-US" sz="1800" dirty="0"/>
              <a:t>To limit the number of files returned by the </a:t>
            </a:r>
            <a:r>
              <a:rPr lang="en-US" sz="1800" b="1" dirty="0"/>
              <a:t>list( ) </a:t>
            </a:r>
            <a:r>
              <a:rPr lang="en-US" sz="1800" dirty="0"/>
              <a:t>method.</a:t>
            </a:r>
          </a:p>
          <a:p>
            <a:pPr algn="just">
              <a:defRPr/>
            </a:pPr>
            <a:r>
              <a:rPr lang="en-US" sz="1800" dirty="0"/>
              <a:t>To include only those files that match a certain filename pattern, or </a:t>
            </a:r>
            <a:r>
              <a:rPr lang="en-US" sz="1800" i="1" dirty="0"/>
              <a:t>filter. </a:t>
            </a:r>
          </a:p>
          <a:p>
            <a:pPr>
              <a:defRPr/>
            </a:pPr>
            <a:r>
              <a:rPr lang="en-US" sz="1800" dirty="0"/>
              <a:t>Second form of </a:t>
            </a:r>
            <a:r>
              <a:rPr lang="en-US" sz="1800" b="1" dirty="0"/>
              <a:t>list( )</a:t>
            </a:r>
            <a:r>
              <a:rPr lang="en-US" sz="1800" dirty="0"/>
              <a:t> :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                   String[ ] </a:t>
            </a:r>
            <a:r>
              <a:rPr lang="en-US" sz="1800" dirty="0">
                <a:solidFill>
                  <a:srgbClr val="FF0000"/>
                </a:solidFill>
              </a:rPr>
              <a:t>list</a:t>
            </a:r>
            <a:r>
              <a:rPr lang="en-US" sz="1800" dirty="0"/>
              <a:t>(</a:t>
            </a:r>
            <a:r>
              <a:rPr lang="en-US" sz="1800" dirty="0" err="1"/>
              <a:t>FilenameFilter</a:t>
            </a:r>
            <a:r>
              <a:rPr lang="en-US" sz="1800" dirty="0"/>
              <a:t> </a:t>
            </a:r>
            <a:r>
              <a:rPr lang="en-US" sz="1800" i="1" dirty="0" err="1"/>
              <a:t>FFObj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 err="1"/>
              <a:t>FFObj</a:t>
            </a:r>
            <a:r>
              <a:rPr lang="en-US" sz="1800" i="1" dirty="0"/>
              <a:t> </a:t>
            </a:r>
            <a:r>
              <a:rPr lang="en-US" sz="1800" dirty="0"/>
              <a:t>is an object of a class that implements the </a:t>
            </a:r>
            <a:r>
              <a:rPr lang="en-US" sz="1800" b="1" dirty="0" err="1">
                <a:solidFill>
                  <a:srgbClr val="FF0000"/>
                </a:solidFill>
              </a:rPr>
              <a:t>FilenameFilter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interface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5">
            <a:extLst>
              <a:ext uri="{FF2B5EF4-FFF2-40B4-BE49-F238E27FC236}">
                <a16:creationId xmlns:a16="http://schemas.microsoft.com/office/drawing/2014/main" id="{85E2E22F-AA9F-C569-DBCF-05ED154618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E7BB63B9-DB86-54B3-B7F2-705F134B2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14400"/>
            <a:ext cx="8524875" cy="3657600"/>
          </a:xfrm>
        </p:spPr>
        <p:txBody>
          <a:bodyPr/>
          <a:lstStyle/>
          <a:p>
            <a:pPr>
              <a:defRPr/>
            </a:pPr>
            <a:r>
              <a:rPr lang="en-US" sz="1800" b="1" dirty="0" err="1"/>
              <a:t>FilenameFilter</a:t>
            </a:r>
            <a:r>
              <a:rPr lang="en-US" sz="1800" b="1" dirty="0"/>
              <a:t> </a:t>
            </a:r>
            <a:r>
              <a:rPr lang="en-US" sz="1800" dirty="0"/>
              <a:t>defines a single method, </a:t>
            </a:r>
            <a:r>
              <a:rPr lang="en-US" sz="1800" b="1" dirty="0"/>
              <a:t>accept( )</a:t>
            </a:r>
            <a:r>
              <a:rPr lang="en-US" sz="1800" dirty="0"/>
              <a:t>, which is called once for each file in a list.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          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                      </a:t>
            </a:r>
            <a:r>
              <a:rPr lang="en-US" sz="1800" dirty="0" err="1"/>
              <a:t>boolean</a:t>
            </a:r>
            <a:r>
              <a:rPr lang="en-US" sz="1800" dirty="0"/>
              <a:t> accept(File </a:t>
            </a:r>
            <a:r>
              <a:rPr lang="en-US" sz="1800" i="1" dirty="0"/>
              <a:t>directory</a:t>
            </a:r>
            <a:r>
              <a:rPr lang="en-US" sz="1800" dirty="0"/>
              <a:t>, String </a:t>
            </a:r>
            <a:r>
              <a:rPr lang="en-US" sz="1800" i="1" dirty="0"/>
              <a:t>filename</a:t>
            </a:r>
            <a:r>
              <a:rPr lang="en-US" sz="1800" dirty="0"/>
              <a:t>)</a:t>
            </a:r>
          </a:p>
          <a:p>
            <a:pPr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The </a:t>
            </a:r>
            <a:r>
              <a:rPr lang="en-US" sz="1800" b="1" dirty="0"/>
              <a:t>accept( ) </a:t>
            </a:r>
            <a:r>
              <a:rPr lang="en-US" sz="1800" dirty="0"/>
              <a:t>method returns </a:t>
            </a:r>
            <a:r>
              <a:rPr lang="en-US" sz="1800" b="1" dirty="0"/>
              <a:t>true </a:t>
            </a:r>
            <a:r>
              <a:rPr lang="en-US" sz="1800" dirty="0"/>
              <a:t>for files in the directory specified by </a:t>
            </a:r>
            <a:r>
              <a:rPr lang="en-US" sz="1800" i="1" dirty="0"/>
              <a:t>directory </a:t>
            </a:r>
            <a:r>
              <a:rPr lang="en-US" sz="1800" dirty="0"/>
              <a:t>that should be included in the list (that is, those that match the </a:t>
            </a:r>
            <a:r>
              <a:rPr lang="en-US" sz="1800" i="1" dirty="0"/>
              <a:t>filename </a:t>
            </a:r>
            <a:r>
              <a:rPr lang="en-US" sz="1800" dirty="0"/>
              <a:t>argument), and returns </a:t>
            </a:r>
            <a:r>
              <a:rPr lang="en-US" sz="1800" b="1" dirty="0"/>
              <a:t>false </a:t>
            </a:r>
            <a:r>
              <a:rPr lang="en-US" sz="1800" dirty="0"/>
              <a:t>for those files that should be excluded.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/>
              <a:t>The </a:t>
            </a:r>
            <a:r>
              <a:rPr lang="en-US" sz="1800" b="1" dirty="0" err="1">
                <a:solidFill>
                  <a:srgbClr val="FF0000"/>
                </a:solidFill>
              </a:rPr>
              <a:t>OnlyExt</a:t>
            </a:r>
            <a:r>
              <a:rPr lang="en-US" sz="1800" b="1" dirty="0"/>
              <a:t> </a:t>
            </a:r>
            <a:r>
              <a:rPr lang="en-US" sz="1800" dirty="0"/>
              <a:t>class implements </a:t>
            </a:r>
            <a:r>
              <a:rPr lang="en-US" sz="1800" b="1" dirty="0" err="1"/>
              <a:t>FilenameFilter</a:t>
            </a:r>
            <a:r>
              <a:rPr lang="en-US" sz="1800" dirty="0"/>
              <a:t>.</a:t>
            </a:r>
          </a:p>
          <a:p>
            <a:pPr>
              <a:defRPr/>
            </a:pPr>
            <a:endParaRPr lang="en-US" sz="1800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5">
            <a:extLst>
              <a:ext uri="{FF2B5EF4-FFF2-40B4-BE49-F238E27FC236}">
                <a16:creationId xmlns:a16="http://schemas.microsoft.com/office/drawing/2014/main" id="{690821EA-F894-6359-B8BB-8926EF0ACA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Content Placeholder 1">
            <a:extLst>
              <a:ext uri="{FF2B5EF4-FFF2-40B4-BE49-F238E27FC236}">
                <a16:creationId xmlns:a16="http://schemas.microsoft.com/office/drawing/2014/main" id="{EF49A933-2B80-4E41-3A04-8A1C7FB54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762000"/>
            <a:ext cx="8524875" cy="4953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import java.io.*;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public class OnlyExt implements FilenameFilter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String ext;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public OnlyExt(String ext)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this.ext = "." + ext;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public boolean accept(File dir, String name)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return name.endsWith(ext);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}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5">
            <a:extLst>
              <a:ext uri="{FF2B5EF4-FFF2-40B4-BE49-F238E27FC236}">
                <a16:creationId xmlns:a16="http://schemas.microsoft.com/office/drawing/2014/main" id="{22161659-78BC-FC2C-6DE8-53D61D7042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Content Placeholder 1">
            <a:extLst>
              <a:ext uri="{FF2B5EF4-FFF2-40B4-BE49-F238E27FC236}">
                <a16:creationId xmlns:a16="http://schemas.microsoft.com/office/drawing/2014/main" id="{6952ACF5-0AC9-B960-A3FF-5568C0CF04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23888"/>
            <a:ext cx="8524875" cy="54991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import java.io.*;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class DirListOnly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{	public static void main(String args[])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String dirname = "/java";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File f1 = new File(dirname);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</a:t>
            </a:r>
            <a:r>
              <a:rPr lang="en-US" altLang="en-US" sz="1800">
                <a:solidFill>
                  <a:schemeClr val="bg2"/>
                </a:solidFill>
              </a:rPr>
              <a:t>FilenameFilter only = new OnlyExt("html");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chemeClr val="bg2"/>
                </a:solidFill>
              </a:rPr>
              <a:t>		String s[] = f1.list(only);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nn-NO" altLang="en-US" sz="1800"/>
              <a:t>		for (int i=0; i &lt; s.length; i++)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nn-NO" altLang="en-US" sz="1800"/>
              <a:t>		{     </a:t>
            </a:r>
            <a:r>
              <a:rPr lang="en-US" altLang="en-US" sz="1800"/>
              <a:t>System.out.println(s[i]);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	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	} }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6DB5C675-8773-99EE-E5FD-04EF39116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838200"/>
            <a:ext cx="8524875" cy="1600200"/>
          </a:xfrm>
        </p:spPr>
        <p:txBody>
          <a:bodyPr/>
          <a:lstStyle/>
          <a:p>
            <a:pPr algn="just"/>
            <a:r>
              <a:rPr lang="en-US" altLang="en-US"/>
              <a:t>A stream is a logical entity that either produces or consumes information.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 A stream is linked to a physical device by the Java I/O system. </a:t>
            </a:r>
          </a:p>
          <a:p>
            <a:pPr algn="just"/>
            <a:endParaRPr lang="en-US" altLang="en-US"/>
          </a:p>
        </p:txBody>
      </p:sp>
      <p:sp>
        <p:nvSpPr>
          <p:cNvPr id="26627" name="Rectangle 15">
            <a:extLst>
              <a:ext uri="{FF2B5EF4-FFF2-40B4-BE49-F238E27FC236}">
                <a16:creationId xmlns:a16="http://schemas.microsoft.com/office/drawing/2014/main" id="{43E4591D-0E3E-F5E8-F25A-C9640519C2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F620168C-D848-F57A-13E4-8A68F9220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365283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>
            <a:extLst>
              <a:ext uri="{FF2B5EF4-FFF2-40B4-BE49-F238E27FC236}">
                <a16:creationId xmlns:a16="http://schemas.microsoft.com/office/drawing/2014/main" id="{5DDCC99B-3A8D-4A8F-0680-357C05ED6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743200"/>
            <a:ext cx="3733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>
            <a:extLst>
              <a:ext uri="{FF2B5EF4-FFF2-40B4-BE49-F238E27FC236}">
                <a16:creationId xmlns:a16="http://schemas.microsoft.com/office/drawing/2014/main" id="{1D60A79E-94EF-8D1D-8751-35D14EC796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9E0583EA-9596-1CAE-5D2B-C6C316E03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981200"/>
            <a:ext cx="7724775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4">
            <a:extLst>
              <a:ext uri="{FF2B5EF4-FFF2-40B4-BE49-F238E27FC236}">
                <a16:creationId xmlns:a16="http://schemas.microsoft.com/office/drawing/2014/main" id="{098172A1-1F62-E187-0D0D-F76A64913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743200"/>
            <a:ext cx="609600" cy="2286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4">
            <a:extLst>
              <a:ext uri="{FF2B5EF4-FFF2-40B4-BE49-F238E27FC236}">
                <a16:creationId xmlns:a16="http://schemas.microsoft.com/office/drawing/2014/main" id="{CB6D1616-BECC-2DF1-85B2-7A94583E5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685800"/>
            <a:ext cx="8372475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File: "Hello"</a:t>
            </a:r>
          </a:p>
          <a:p>
            <a:endParaRPr lang="en-US" altLang="en-US"/>
          </a:p>
          <a:p>
            <a:r>
              <a:rPr lang="en-US" altLang="en-US"/>
              <a:t>Storage in File (Bytes):</a:t>
            </a:r>
          </a:p>
          <a:p>
            <a:r>
              <a:rPr lang="en-US" altLang="en-US"/>
              <a:t>+----+----+----+----+----+----+</a:t>
            </a:r>
          </a:p>
          <a:p>
            <a:r>
              <a:rPr lang="en-US" altLang="en-US"/>
              <a:t>| 72 |101 |108 |108 |111 | 10 |</a:t>
            </a:r>
          </a:p>
          <a:p>
            <a:r>
              <a:rPr lang="en-US" altLang="en-US"/>
              <a:t>+----+----+----+----+----+----+</a:t>
            </a:r>
          </a:p>
          <a:p>
            <a:r>
              <a:rPr lang="en-US" altLang="en-US"/>
              <a:t>  H    e    l    l    o   \n</a:t>
            </a:r>
          </a:p>
          <a:p>
            <a:endParaRPr lang="en-US" altLang="en-US"/>
          </a:p>
          <a:p>
            <a:r>
              <a:rPr lang="en-US" altLang="en-US"/>
              <a:t>        |</a:t>
            </a:r>
          </a:p>
          <a:p>
            <a:r>
              <a:rPr lang="en-US" altLang="en-US"/>
              <a:t>        |  FileInputStream (reads one byte at a time)</a:t>
            </a:r>
          </a:p>
          <a:p>
            <a:r>
              <a:rPr lang="en-US" altLang="en-US"/>
              <a:t>        v</a:t>
            </a:r>
          </a:p>
          <a:p>
            <a:r>
              <a:rPr lang="en-US" altLang="en-US"/>
              <a:t>Program Receives:</a:t>
            </a:r>
          </a:p>
          <a:p>
            <a:r>
              <a:rPr lang="en-US" altLang="en-US"/>
              <a:t>72 → 101 → 108 → 108 → 111 → 10</a:t>
            </a:r>
          </a:p>
        </p:txBody>
      </p:sp>
      <p:sp>
        <p:nvSpPr>
          <p:cNvPr id="28675" name="Title 5">
            <a:extLst>
              <a:ext uri="{FF2B5EF4-FFF2-40B4-BE49-F238E27FC236}">
                <a16:creationId xmlns:a16="http://schemas.microsoft.com/office/drawing/2014/main" id="{94E1C641-C568-2E58-150D-4C9CD5195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515350" cy="600075"/>
          </a:xfrm>
        </p:spPr>
        <p:txBody>
          <a:bodyPr/>
          <a:lstStyle/>
          <a:p>
            <a:r>
              <a:rPr lang="en-US" altLang="en-US"/>
              <a:t>Byte stream</a:t>
            </a: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8DC5D8E6-66E3-91F0-8EE6-5D61BDA4E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515350" cy="600075"/>
          </a:xfrm>
        </p:spPr>
        <p:txBody>
          <a:bodyPr/>
          <a:lstStyle/>
          <a:p>
            <a:r>
              <a:rPr lang="en-US" altLang="en-US"/>
              <a:t>Character stream</a:t>
            </a:r>
          </a:p>
        </p:txBody>
      </p:sp>
      <p:sp>
        <p:nvSpPr>
          <p:cNvPr id="29699" name="TextBox 4">
            <a:extLst>
              <a:ext uri="{FF2B5EF4-FFF2-40B4-BE49-F238E27FC236}">
                <a16:creationId xmlns:a16="http://schemas.microsoft.com/office/drawing/2014/main" id="{1AED981A-41FA-2E0D-ADE0-9F4BE465C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765175"/>
            <a:ext cx="5973763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File: "Hello"</a:t>
            </a:r>
          </a:p>
          <a:p>
            <a:endParaRPr lang="en-US" altLang="en-US"/>
          </a:p>
          <a:p>
            <a:r>
              <a:rPr lang="en-US" altLang="en-US"/>
              <a:t>Storage in File (Bytes):</a:t>
            </a:r>
          </a:p>
          <a:p>
            <a:r>
              <a:rPr lang="en-US" altLang="en-US"/>
              <a:t>+----+----+----+----+----+----+</a:t>
            </a:r>
          </a:p>
          <a:p>
            <a:r>
              <a:rPr lang="en-US" altLang="en-US"/>
              <a:t>| 72 |101 |108 |108 |111 | 10 |</a:t>
            </a:r>
          </a:p>
          <a:p>
            <a:r>
              <a:rPr lang="en-US" altLang="en-US"/>
              <a:t>+----+----+----+----+----+----+</a:t>
            </a:r>
          </a:p>
          <a:p>
            <a:endParaRPr lang="en-US" altLang="en-US"/>
          </a:p>
          <a:p>
            <a:r>
              <a:rPr lang="en-US" altLang="en-US"/>
              <a:t>        |</a:t>
            </a:r>
          </a:p>
          <a:p>
            <a:r>
              <a:rPr lang="en-US" altLang="en-US"/>
              <a:t>        |  FileReader (decodes bytes to characters)</a:t>
            </a:r>
          </a:p>
          <a:p>
            <a:r>
              <a:rPr lang="en-US" altLang="en-US"/>
              <a:t>        v</a:t>
            </a:r>
          </a:p>
          <a:p>
            <a:endParaRPr lang="en-US" altLang="en-US"/>
          </a:p>
          <a:p>
            <a:r>
              <a:rPr lang="en-US" altLang="en-US"/>
              <a:t>Program Receives:</a:t>
            </a:r>
          </a:p>
          <a:p>
            <a:r>
              <a:rPr lang="en-US" altLang="en-US"/>
              <a:t>'H' → 'e' → 'l' → 'l' → 'o' → '\n'</a:t>
            </a: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5">
            <a:extLst>
              <a:ext uri="{FF2B5EF4-FFF2-40B4-BE49-F238E27FC236}">
                <a16:creationId xmlns:a16="http://schemas.microsoft.com/office/drawing/2014/main" id="{35A6FB51-4229-21F4-52CF-855F1F8544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F420DB49-EAB7-A604-9FC8-26D2E92C2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609600"/>
            <a:ext cx="8524875" cy="55133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The Stream Classes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1800" dirty="0"/>
              <a:t>Java’s stream-based I/O is built upon four</a:t>
            </a:r>
            <a:r>
              <a:rPr lang="en-US" sz="1800" dirty="0">
                <a:solidFill>
                  <a:srgbClr val="FF0000"/>
                </a:solidFill>
              </a:rPr>
              <a:t> abstract</a:t>
            </a:r>
            <a:r>
              <a:rPr lang="en-US" sz="1800" dirty="0"/>
              <a:t> classes: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	</a:t>
            </a:r>
            <a:r>
              <a:rPr lang="en-US" sz="1800" b="1" dirty="0" err="1">
                <a:solidFill>
                  <a:srgbClr val="FF0000"/>
                </a:solidFill>
              </a:rPr>
              <a:t>InputStream</a:t>
            </a:r>
            <a:r>
              <a:rPr lang="en-US" sz="1800" dirty="0">
                <a:solidFill>
                  <a:srgbClr val="FF0000"/>
                </a:solidFill>
              </a:rPr>
              <a:t>,</a:t>
            </a:r>
            <a:r>
              <a:rPr lang="en-US" sz="1800" dirty="0"/>
              <a:t>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	</a:t>
            </a:r>
            <a:r>
              <a:rPr lang="en-US" sz="1800" b="1" dirty="0" err="1">
                <a:solidFill>
                  <a:srgbClr val="FF0000"/>
                </a:solidFill>
              </a:rPr>
              <a:t>OutputStream</a:t>
            </a:r>
            <a:r>
              <a:rPr lang="en-US" sz="1800" dirty="0">
                <a:solidFill>
                  <a:srgbClr val="FF0000"/>
                </a:solidFill>
              </a:rPr>
              <a:t>,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	Reader</a:t>
            </a:r>
            <a:r>
              <a:rPr lang="en-US" sz="1800" dirty="0"/>
              <a:t>, 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	Writer</a:t>
            </a:r>
            <a:r>
              <a:rPr lang="en-US" sz="1800" dirty="0"/>
              <a:t>. </a:t>
            </a:r>
          </a:p>
          <a:p>
            <a:pPr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/>
              <a:t>Used to create several concrete stream subclasses. 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>
                <a:solidFill>
                  <a:srgbClr val="FF0000"/>
                </a:solidFill>
              </a:rPr>
              <a:t>Programs perform their I/O operations through subclasses.</a:t>
            </a:r>
          </a:p>
          <a:p>
            <a:pPr>
              <a:defRPr/>
            </a:pPr>
            <a:endParaRPr lang="en-US" sz="18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1800" dirty="0">
                <a:solidFill>
                  <a:srgbClr val="FF0000"/>
                </a:solidFill>
              </a:rPr>
              <a:t>The top-level classes define the basic functionality common to all stream classes.</a:t>
            </a: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5">
            <a:extLst>
              <a:ext uri="{FF2B5EF4-FFF2-40B4-BE49-F238E27FC236}">
                <a16:creationId xmlns:a16="http://schemas.microsoft.com/office/drawing/2014/main" id="{7D7813B1-2D38-718B-F0E7-C8816D1D9A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Content Placeholder 1">
            <a:extLst>
              <a:ext uri="{FF2B5EF4-FFF2-40B4-BE49-F238E27FC236}">
                <a16:creationId xmlns:a16="http://schemas.microsoft.com/office/drawing/2014/main" id="{168E8B54-A598-517B-BE09-FD8954A60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1219200"/>
            <a:ext cx="8524875" cy="2895600"/>
          </a:xfrm>
        </p:spPr>
        <p:txBody>
          <a:bodyPr/>
          <a:lstStyle/>
          <a:p>
            <a:r>
              <a:rPr lang="en-US" altLang="en-US" sz="1800" b="1"/>
              <a:t>InputStream </a:t>
            </a:r>
            <a:r>
              <a:rPr lang="en-US" altLang="en-US" sz="1800"/>
              <a:t>and </a:t>
            </a:r>
            <a:r>
              <a:rPr lang="en-US" altLang="en-US" sz="1800" b="1"/>
              <a:t>OutputStream </a:t>
            </a:r>
            <a:r>
              <a:rPr lang="en-US" altLang="en-US" sz="1800"/>
              <a:t>are designed for byte streams. </a:t>
            </a:r>
          </a:p>
          <a:p>
            <a:endParaRPr lang="en-US" altLang="en-US" sz="1800" b="1"/>
          </a:p>
          <a:p>
            <a:r>
              <a:rPr lang="en-US" altLang="en-US" sz="1800" b="1"/>
              <a:t>Reader </a:t>
            </a:r>
            <a:r>
              <a:rPr lang="en-US" altLang="en-US" sz="1800"/>
              <a:t>and </a:t>
            </a:r>
            <a:r>
              <a:rPr lang="en-US" altLang="en-US" sz="1800" b="1"/>
              <a:t>Writer </a:t>
            </a:r>
            <a:r>
              <a:rPr lang="en-US" altLang="en-US" sz="1800"/>
              <a:t>are designed for character streams. </a:t>
            </a:r>
          </a:p>
          <a:p>
            <a:endParaRPr lang="en-US" altLang="en-US" sz="1800"/>
          </a:p>
          <a:p>
            <a:pPr algn="just"/>
            <a:r>
              <a:rPr lang="en-US" altLang="en-US" sz="1800" b="1">
                <a:solidFill>
                  <a:srgbClr val="FF0000"/>
                </a:solidFill>
              </a:rPr>
              <a:t>use the character stream classes when working with characters or strings, and use the byte stream classes when working with bytes or other binary objects.</a:t>
            </a:r>
          </a:p>
        </p:txBody>
      </p:sp>
      <p:pic>
        <p:nvPicPr>
          <p:cNvPr id="31748" name="Picture 4">
            <a:extLst>
              <a:ext uri="{FF2B5EF4-FFF2-40B4-BE49-F238E27FC236}">
                <a16:creationId xmlns:a16="http://schemas.microsoft.com/office/drawing/2014/main" id="{8898AB09-F5BD-653A-0F11-657E25C51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038600"/>
            <a:ext cx="25146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>
            <a:extLst>
              <a:ext uri="{FF2B5EF4-FFF2-40B4-BE49-F238E27FC236}">
                <a16:creationId xmlns:a16="http://schemas.microsoft.com/office/drawing/2014/main" id="{CAE1F0B8-476A-18DB-20D6-EDF286E2E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38600"/>
            <a:ext cx="22860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5">
            <a:extLst>
              <a:ext uri="{FF2B5EF4-FFF2-40B4-BE49-F238E27FC236}">
                <a16:creationId xmlns:a16="http://schemas.microsoft.com/office/drawing/2014/main" id="{B0043032-95F0-86C3-D8F9-0DBED62332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7C6D42-9277-0B9D-28F1-986F7D763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524875" cy="1752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The Byte Streams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algn="just">
              <a:defRPr/>
            </a:pPr>
            <a:r>
              <a:rPr lang="en-US" dirty="0"/>
              <a:t>Byte stream classes provide a rich environment for handling byte-oriented I/O.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pic>
        <p:nvPicPr>
          <p:cNvPr id="32772" name="Picture 3">
            <a:extLst>
              <a:ext uri="{FF2B5EF4-FFF2-40B4-BE49-F238E27FC236}">
                <a16:creationId xmlns:a16="http://schemas.microsoft.com/office/drawing/2014/main" id="{FB591414-FEC6-CDAC-5A09-CB28CA0DA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810000"/>
            <a:ext cx="25146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5">
            <a:extLst>
              <a:ext uri="{FF2B5EF4-FFF2-40B4-BE49-F238E27FC236}">
                <a16:creationId xmlns:a16="http://schemas.microsoft.com/office/drawing/2014/main" id="{0AD9E703-3BA3-FB7D-6988-53A1953B3A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9C2FA-37AA-B109-93D1-585F80F6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524875" cy="2438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</a:rPr>
              <a:t>InputStream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defRPr/>
            </a:pPr>
            <a:r>
              <a:rPr lang="en-US" sz="1800" b="1" dirty="0" err="1"/>
              <a:t>InputStream</a:t>
            </a:r>
            <a:r>
              <a:rPr lang="en-US" sz="1800" b="1" dirty="0"/>
              <a:t> </a:t>
            </a:r>
            <a:r>
              <a:rPr lang="en-US" sz="1800" dirty="0"/>
              <a:t>is an </a:t>
            </a:r>
            <a:r>
              <a:rPr lang="en-US" sz="1800" dirty="0">
                <a:solidFill>
                  <a:srgbClr val="FF0000"/>
                </a:solidFill>
              </a:rPr>
              <a:t>abstract class </a:t>
            </a:r>
            <a:r>
              <a:rPr lang="en-US" sz="1800" dirty="0"/>
              <a:t>that defines Java’s model of streaming byte input. 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Most of the methods in this class will throw an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IOException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on error conditions. </a:t>
            </a:r>
          </a:p>
          <a:p>
            <a:pPr algn="just">
              <a:defRPr/>
            </a:pPr>
            <a:endParaRPr lang="en-US" sz="1800" dirty="0"/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2AA6A100-A77B-3046-1A55-3806F8409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733800"/>
            <a:ext cx="285273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5">
            <a:extLst>
              <a:ext uri="{FF2B5EF4-FFF2-40B4-BE49-F238E27FC236}">
                <a16:creationId xmlns:a16="http://schemas.microsoft.com/office/drawing/2014/main" id="{DA977E21-85B4-20E5-98E8-FBFB595047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8DB98-D3D3-1ECC-7C62-35B76ACBB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25908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read(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Returns an integer representation of the next available byte of input.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789DCC4D-AF3F-E811-AC71-B42CB4A11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  <p:pic>
        <p:nvPicPr>
          <p:cNvPr id="34821" name="Picture 3">
            <a:extLst>
              <a:ext uri="{FF2B5EF4-FFF2-40B4-BE49-F238E27FC236}">
                <a16:creationId xmlns:a16="http://schemas.microsoft.com/office/drawing/2014/main" id="{0B2B1694-0F0E-CF01-0149-F7F0B5EEB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62000"/>
            <a:ext cx="2052638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5">
            <a:extLst>
              <a:ext uri="{FF2B5EF4-FFF2-40B4-BE49-F238E27FC236}">
                <a16:creationId xmlns:a16="http://schemas.microsoft.com/office/drawing/2014/main" id="{AF8C092A-5285-BEBC-4A88-9CE5C6045FC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BE6BA-85F5-0470-8332-E0F47BF7E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53340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read(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read(byte buffer[ ])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Attempts to read up to </a:t>
            </a:r>
            <a:r>
              <a:rPr lang="en-US" sz="1600" dirty="0" err="1"/>
              <a:t>buffer.length</a:t>
            </a:r>
            <a:r>
              <a:rPr lang="en-US" sz="1600" dirty="0"/>
              <a:t> bytes into buffer and </a:t>
            </a:r>
            <a:r>
              <a:rPr lang="en-US" sz="1600" dirty="0">
                <a:solidFill>
                  <a:srgbClr val="FF0000"/>
                </a:solidFill>
              </a:rPr>
              <a:t>returns the actual number of bytes that were successfully read.</a:t>
            </a:r>
          </a:p>
        </p:txBody>
      </p:sp>
      <p:sp>
        <p:nvSpPr>
          <p:cNvPr id="35844" name="Rectangle 1">
            <a:extLst>
              <a:ext uri="{FF2B5EF4-FFF2-40B4-BE49-F238E27FC236}">
                <a16:creationId xmlns:a16="http://schemas.microsoft.com/office/drawing/2014/main" id="{C0D1C932-2E36-9F50-75C4-E53CD47CE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  <p:pic>
        <p:nvPicPr>
          <p:cNvPr id="35845" name="Picture 3">
            <a:extLst>
              <a:ext uri="{FF2B5EF4-FFF2-40B4-BE49-F238E27FC236}">
                <a16:creationId xmlns:a16="http://schemas.microsoft.com/office/drawing/2014/main" id="{7490E238-99AD-1F4D-CB38-0AA4DBF37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62000"/>
            <a:ext cx="2052638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5">
            <a:extLst>
              <a:ext uri="{FF2B5EF4-FFF2-40B4-BE49-F238E27FC236}">
                <a16:creationId xmlns:a16="http://schemas.microsoft.com/office/drawing/2014/main" id="{59706C19-6BD5-2346-9803-E7E9D34B69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8C65-FF25-EFCB-7B0B-CEE6B4DB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53340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read(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read(byte buffer[ ])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read(byte buffer[ ], </a:t>
            </a:r>
            <a:r>
              <a:rPr lang="en-US" dirty="0" err="1"/>
              <a:t>int</a:t>
            </a:r>
            <a:r>
              <a:rPr lang="en-US" dirty="0"/>
              <a:t> offset,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numBytes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Attempts to read up to </a:t>
            </a:r>
            <a:r>
              <a:rPr lang="en-US" sz="1600" dirty="0" err="1"/>
              <a:t>numBytes</a:t>
            </a:r>
            <a:r>
              <a:rPr lang="en-US" sz="1600" dirty="0"/>
              <a:t> bytes into buffer starting at buffer[offset], returning the number of bytes successfully read.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FF0000"/>
                </a:solidFill>
              </a:rPr>
              <a:t>–1 is returned </a:t>
            </a:r>
            <a:r>
              <a:rPr lang="en-US" sz="1600" dirty="0"/>
              <a:t>when the end of the file is encountered.</a:t>
            </a:r>
          </a:p>
        </p:txBody>
      </p:sp>
      <p:sp>
        <p:nvSpPr>
          <p:cNvPr id="36868" name="Rectangle 1">
            <a:extLst>
              <a:ext uri="{FF2B5EF4-FFF2-40B4-BE49-F238E27FC236}">
                <a16:creationId xmlns:a16="http://schemas.microsoft.com/office/drawing/2014/main" id="{665773F1-1975-33A4-A865-21248520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  <p:pic>
        <p:nvPicPr>
          <p:cNvPr id="36869" name="Picture 3">
            <a:extLst>
              <a:ext uri="{FF2B5EF4-FFF2-40B4-BE49-F238E27FC236}">
                <a16:creationId xmlns:a16="http://schemas.microsoft.com/office/drawing/2014/main" id="{009CF925-A16A-B8DE-E35A-581559A84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762000"/>
            <a:ext cx="2052638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5">
            <a:extLst>
              <a:ext uri="{FF2B5EF4-FFF2-40B4-BE49-F238E27FC236}">
                <a16:creationId xmlns:a16="http://schemas.microsoft.com/office/drawing/2014/main" id="{A29B79A0-24A1-4CF0-B79E-3C8819C6FE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F0AB0-C704-BAE8-85AE-DDF25B24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25908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available(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sz="1800" dirty="0"/>
              <a:t>Returns the number of bytes of input currently available for reading.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7892" name="Rectangle 1">
            <a:extLst>
              <a:ext uri="{FF2B5EF4-FFF2-40B4-BE49-F238E27FC236}">
                <a16:creationId xmlns:a16="http://schemas.microsoft.com/office/drawing/2014/main" id="{E5A37ADC-067F-0C1B-8C78-8D60905A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5">
            <a:extLst>
              <a:ext uri="{FF2B5EF4-FFF2-40B4-BE49-F238E27FC236}">
                <a16:creationId xmlns:a16="http://schemas.microsoft.com/office/drawing/2014/main" id="{0884661B-3BD2-B0F5-BE21-789D2C9B5F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9122E-B862-16B8-A693-E6A4F90A4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33528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available(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long skip(long </a:t>
            </a:r>
            <a:r>
              <a:rPr lang="en-US" dirty="0" err="1"/>
              <a:t>numBytes</a:t>
            </a:r>
            <a:r>
              <a:rPr lang="en-US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sz="1800" dirty="0">
                <a:solidFill>
                  <a:srgbClr val="FF0000"/>
                </a:solidFill>
              </a:rPr>
              <a:t>Ignores (that is, skips) </a:t>
            </a:r>
            <a:r>
              <a:rPr lang="en-US" sz="1800" dirty="0" err="1">
                <a:solidFill>
                  <a:srgbClr val="FF0000"/>
                </a:solidFill>
              </a:rPr>
              <a:t>numBytes</a:t>
            </a:r>
            <a:r>
              <a:rPr lang="en-US" sz="1800" dirty="0">
                <a:solidFill>
                  <a:srgbClr val="FF0000"/>
                </a:solidFill>
              </a:rPr>
              <a:t> bytes of input, returning the number of bytes actually ignored.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8916" name="Rectangle 1">
            <a:extLst>
              <a:ext uri="{FF2B5EF4-FFF2-40B4-BE49-F238E27FC236}">
                <a16:creationId xmlns:a16="http://schemas.microsoft.com/office/drawing/2014/main" id="{9F05E08B-D870-8BB2-B8F2-9D846FF84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5">
            <a:extLst>
              <a:ext uri="{FF2B5EF4-FFF2-40B4-BE49-F238E27FC236}">
                <a16:creationId xmlns:a16="http://schemas.microsoft.com/office/drawing/2014/main" id="{7216D4DD-32B2-327B-0BB1-24480E225B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F8BB7-9964-881F-23A5-55FE36151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35052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available(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long skip(long </a:t>
            </a:r>
            <a:r>
              <a:rPr lang="en-US" dirty="0" err="1"/>
              <a:t>numBytes</a:t>
            </a:r>
            <a:r>
              <a:rPr lang="en-US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 void close(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sz="1800" dirty="0"/>
              <a:t>Closes the input source. Further read attempts will generate an </a:t>
            </a:r>
            <a:r>
              <a:rPr lang="en-US" sz="1800" dirty="0" err="1"/>
              <a:t>IOException</a:t>
            </a:r>
            <a:r>
              <a:rPr lang="en-US" sz="1800" dirty="0"/>
              <a:t>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9940" name="Rectangle 1">
            <a:extLst>
              <a:ext uri="{FF2B5EF4-FFF2-40B4-BE49-F238E27FC236}">
                <a16:creationId xmlns:a16="http://schemas.microsoft.com/office/drawing/2014/main" id="{268F5FB5-3BA4-37FB-6762-9C6B75780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5">
            <a:extLst>
              <a:ext uri="{FF2B5EF4-FFF2-40B4-BE49-F238E27FC236}">
                <a16:creationId xmlns:a16="http://schemas.microsoft.com/office/drawing/2014/main" id="{33DCC1DA-1579-B001-2ED9-42C1E379A3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EC709-A527-15D1-8B22-E0500BC41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40386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markSupported</a:t>
            </a:r>
            <a:r>
              <a:rPr lang="en-US" dirty="0"/>
              <a:t>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void mark(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numBytes</a:t>
            </a:r>
            <a:r>
              <a:rPr lang="en-US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void reset(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sz="1800" dirty="0"/>
              <a:t>Returns true if mark( )/reset( ) are supported by the invoking stream.</a:t>
            </a:r>
          </a:p>
          <a:p>
            <a:pPr algn="just">
              <a:defRPr/>
            </a:pPr>
            <a:r>
              <a:rPr lang="en-US" sz="1800" dirty="0"/>
              <a:t>Places a mark at the </a:t>
            </a:r>
            <a:r>
              <a:rPr lang="en-US" sz="1800" dirty="0">
                <a:solidFill>
                  <a:srgbClr val="FF0000"/>
                </a:solidFill>
              </a:rPr>
              <a:t>current point </a:t>
            </a:r>
            <a:r>
              <a:rPr lang="en-US" sz="1800" dirty="0"/>
              <a:t>in the input stream that will remain valid until </a:t>
            </a:r>
            <a:r>
              <a:rPr lang="en-US" sz="1800" dirty="0" err="1"/>
              <a:t>numBytes</a:t>
            </a:r>
            <a:r>
              <a:rPr lang="en-US" sz="1800" dirty="0"/>
              <a:t> bytes are read.</a:t>
            </a:r>
          </a:p>
          <a:p>
            <a:pPr algn="just">
              <a:defRPr/>
            </a:pPr>
            <a:r>
              <a:rPr lang="en-US" sz="1800" dirty="0"/>
              <a:t>Resets the input pointer to the previously set mark.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40964" name="Rectangle 1">
            <a:extLst>
              <a:ext uri="{FF2B5EF4-FFF2-40B4-BE49-F238E27FC236}">
                <a16:creationId xmlns:a16="http://schemas.microsoft.com/office/drawing/2014/main" id="{8BCCE091-7DCC-0154-BD55-158E3F30F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1813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InputStream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5">
            <a:extLst>
              <a:ext uri="{FF2B5EF4-FFF2-40B4-BE49-F238E27FC236}">
                <a16:creationId xmlns:a16="http://schemas.microsoft.com/office/drawing/2014/main" id="{B6D0D58B-FFA4-1437-8BAE-F0FF56551B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1987" name="Content Placeholder 1">
            <a:extLst>
              <a:ext uri="{FF2B5EF4-FFF2-40B4-BE49-F238E27FC236}">
                <a16:creationId xmlns:a16="http://schemas.microsoft.com/office/drawing/2014/main" id="{C9486D7D-F39E-A06B-6A50-D90E0CD48F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7162800" cy="4403725"/>
          </a:xfrm>
        </p:spPr>
      </p:pic>
      <p:sp>
        <p:nvSpPr>
          <p:cNvPr id="41988" name="Rectangle 3">
            <a:extLst>
              <a:ext uri="{FF2B5EF4-FFF2-40B4-BE49-F238E27FC236}">
                <a16:creationId xmlns:a16="http://schemas.microsoft.com/office/drawing/2014/main" id="{651D35BB-C9BA-5E20-52C5-384A5FD5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793750"/>
            <a:ext cx="5181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>
                <a:latin typeface="Palatino-Roman"/>
              </a:rPr>
              <a:t>Table 19-1 shows the methods in </a:t>
            </a:r>
            <a:r>
              <a:rPr lang="en-US" altLang="en-US" sz="1800" b="1">
                <a:latin typeface="Palatino-Bold"/>
              </a:rPr>
              <a:t>InputStream</a:t>
            </a:r>
            <a:r>
              <a:rPr lang="en-US" altLang="en-US">
                <a:latin typeface="Palatino-Roman"/>
              </a:rPr>
              <a:t>.</a:t>
            </a:r>
            <a:endParaRPr lang="en-US" alt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5">
            <a:extLst>
              <a:ext uri="{FF2B5EF4-FFF2-40B4-BE49-F238E27FC236}">
                <a16:creationId xmlns:a16="http://schemas.microsoft.com/office/drawing/2014/main" id="{145B155A-D010-E42E-A064-F08CCFF5A1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FC62-2C32-F4B1-1F02-C730D5E8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14400"/>
            <a:ext cx="8524875" cy="2743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b="1" dirty="0" err="1"/>
              <a:t>OutputStream</a:t>
            </a:r>
            <a:endParaRPr lang="en-US" sz="1800" b="1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800" b="1" dirty="0"/>
          </a:p>
          <a:p>
            <a:pPr algn="just">
              <a:defRPr/>
            </a:pPr>
            <a:r>
              <a:rPr lang="en-US" sz="1800" b="1" dirty="0" err="1"/>
              <a:t>OutputStream</a:t>
            </a:r>
            <a:r>
              <a:rPr lang="en-US" sz="1800" b="1" dirty="0"/>
              <a:t> </a:t>
            </a:r>
            <a:r>
              <a:rPr lang="en-US" sz="1800" dirty="0"/>
              <a:t>is an </a:t>
            </a:r>
            <a:r>
              <a:rPr lang="en-US" sz="1800" dirty="0">
                <a:solidFill>
                  <a:srgbClr val="FF0000"/>
                </a:solidFill>
              </a:rPr>
              <a:t>abstract class </a:t>
            </a:r>
            <a:r>
              <a:rPr lang="en-US" sz="1800" dirty="0"/>
              <a:t>that defines streaming byte output. 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Most of the methods in this class return </a:t>
            </a:r>
            <a:r>
              <a:rPr lang="en-US" sz="1800" b="1" dirty="0"/>
              <a:t>void </a:t>
            </a:r>
            <a:r>
              <a:rPr lang="en-US" sz="1800" dirty="0"/>
              <a:t>and throw an </a:t>
            </a:r>
            <a:r>
              <a:rPr lang="en-US" sz="1800" b="1" dirty="0" err="1"/>
              <a:t>IOException</a:t>
            </a:r>
            <a:r>
              <a:rPr lang="en-US" sz="1800" b="1" dirty="0"/>
              <a:t> </a:t>
            </a:r>
            <a:r>
              <a:rPr lang="en-US" sz="1800" dirty="0"/>
              <a:t>in the case of errors. </a:t>
            </a:r>
          </a:p>
          <a:p>
            <a:pPr algn="just">
              <a:defRPr/>
            </a:pPr>
            <a:endParaRPr lang="en-US" sz="1800" dirty="0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5">
            <a:extLst>
              <a:ext uri="{FF2B5EF4-FFF2-40B4-BE49-F238E27FC236}">
                <a16:creationId xmlns:a16="http://schemas.microsoft.com/office/drawing/2014/main" id="{4E5034E1-DB6C-99E2-6865-903CA8AC36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1CC1ACEB-C4CA-C28E-F788-44BEE2ACAF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9400" y="1168400"/>
            <a:ext cx="8524875" cy="2566988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void write(int b)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void write(byte buffer[ ])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void write(byte buffer[ ], int offset, int numBytes)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7140F0-D0C0-2582-A33D-3D2DEC9B51E0}"/>
              </a:ext>
            </a:extLst>
          </p:cNvPr>
          <p:cNvSpPr/>
          <p:nvPr/>
        </p:nvSpPr>
        <p:spPr>
          <a:xfrm>
            <a:off x="261938" y="4729163"/>
            <a:ext cx="8524875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Writes a </a:t>
            </a:r>
            <a:r>
              <a:rPr lang="en-US" sz="2000" dirty="0" err="1">
                <a:latin typeface="+mn-lt"/>
              </a:rPr>
              <a:t>subrange</a:t>
            </a:r>
            <a:r>
              <a:rPr lang="en-US" sz="2000" dirty="0">
                <a:latin typeface="+mn-lt"/>
              </a:rPr>
              <a:t> of </a:t>
            </a:r>
            <a:r>
              <a:rPr lang="en-US" sz="2000" dirty="0" err="1">
                <a:latin typeface="+mn-lt"/>
              </a:rPr>
              <a:t>numBytes</a:t>
            </a:r>
            <a:r>
              <a:rPr lang="en-US" sz="2000" dirty="0">
                <a:latin typeface="+mn-lt"/>
              </a:rPr>
              <a:t> bytes from the array buffer, beginning at buffer[offset].</a:t>
            </a:r>
          </a:p>
        </p:txBody>
      </p:sp>
      <p:sp>
        <p:nvSpPr>
          <p:cNvPr id="44037" name="Rectangle 1">
            <a:extLst>
              <a:ext uri="{FF2B5EF4-FFF2-40B4-BE49-F238E27FC236}">
                <a16:creationId xmlns:a16="http://schemas.microsoft.com/office/drawing/2014/main" id="{3E0ADF05-788D-DF17-9918-A8B2F2D0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" y="531813"/>
            <a:ext cx="360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OutputStream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5">
            <a:extLst>
              <a:ext uri="{FF2B5EF4-FFF2-40B4-BE49-F238E27FC236}">
                <a16:creationId xmlns:a16="http://schemas.microsoft.com/office/drawing/2014/main" id="{2B4AE38D-57AB-E0A5-ECB6-46BDD119A6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268B3D66-7931-4ACC-3432-8C6E6DCC79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9400" y="1168400"/>
            <a:ext cx="8524875" cy="15748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void close( )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/>
              <a:t>void flush(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0F4B1-4806-508E-1D9E-17C1A3D26C58}"/>
              </a:ext>
            </a:extLst>
          </p:cNvPr>
          <p:cNvSpPr/>
          <p:nvPr/>
        </p:nvSpPr>
        <p:spPr>
          <a:xfrm>
            <a:off x="261938" y="4729163"/>
            <a:ext cx="8524875" cy="1016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000" dirty="0"/>
              <a:t>Closes the output stream</a:t>
            </a:r>
            <a:r>
              <a:rPr lang="en-US" sz="2000" dirty="0">
                <a:solidFill>
                  <a:srgbClr val="FF0000"/>
                </a:solidFill>
              </a:rPr>
              <a:t>. Further write attempts will generate an </a:t>
            </a:r>
            <a:r>
              <a:rPr lang="en-US" sz="2000" dirty="0" err="1">
                <a:solidFill>
                  <a:srgbClr val="FF0000"/>
                </a:solidFill>
              </a:rPr>
              <a:t>IOException</a:t>
            </a:r>
            <a:r>
              <a:rPr lang="en-US" sz="2000" dirty="0"/>
              <a:t>.</a:t>
            </a:r>
          </a:p>
          <a:p>
            <a:pPr algn="just">
              <a:defRPr/>
            </a:pPr>
            <a:endParaRPr lang="en-US" sz="2000" dirty="0">
              <a:latin typeface="+mn-lt"/>
            </a:endParaRPr>
          </a:p>
          <a:p>
            <a:pPr algn="just">
              <a:defRPr/>
            </a:pPr>
            <a:r>
              <a:rPr lang="en-US" sz="2000" dirty="0"/>
              <a:t>Finalizes the output state so that any buffers are cleared. </a:t>
            </a:r>
            <a:endParaRPr lang="en-US" sz="2000" dirty="0">
              <a:latin typeface="+mn-lt"/>
            </a:endParaRPr>
          </a:p>
        </p:txBody>
      </p:sp>
      <p:sp>
        <p:nvSpPr>
          <p:cNvPr id="45061" name="Rectangle 1">
            <a:extLst>
              <a:ext uri="{FF2B5EF4-FFF2-40B4-BE49-F238E27FC236}">
                <a16:creationId xmlns:a16="http://schemas.microsoft.com/office/drawing/2014/main" id="{37BB688B-996D-FEF7-8D2A-93EA97C2F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" y="531813"/>
            <a:ext cx="360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>
                <a:solidFill>
                  <a:schemeClr val="bg2"/>
                </a:solidFill>
              </a:rPr>
              <a:t>methods in </a:t>
            </a:r>
            <a:r>
              <a:rPr lang="en-US" altLang="en-US" b="1">
                <a:solidFill>
                  <a:schemeClr val="bg2"/>
                </a:solidFill>
              </a:rPr>
              <a:t>OutputStream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5">
            <a:extLst>
              <a:ext uri="{FF2B5EF4-FFF2-40B4-BE49-F238E27FC236}">
                <a16:creationId xmlns:a16="http://schemas.microsoft.com/office/drawing/2014/main" id="{32D2D9B3-8DEE-FE0F-C345-BDB162809A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4264-B7AD-3494-D060-01B746FF5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1066800"/>
            <a:ext cx="8524875" cy="40290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Table 19-2 shows the methods in </a:t>
            </a:r>
            <a:r>
              <a:rPr lang="en-US" b="1" dirty="0" err="1"/>
              <a:t>OutputStream</a:t>
            </a: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C799DCDB-99EC-E74A-CC1D-76B2695F7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600200"/>
            <a:ext cx="7543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5">
            <a:extLst>
              <a:ext uri="{FF2B5EF4-FFF2-40B4-BE49-F238E27FC236}">
                <a16:creationId xmlns:a16="http://schemas.microsoft.com/office/drawing/2014/main" id="{5168B9C4-A343-C1CB-3530-14988A4EE5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FB07-D3A9-0130-FAD2-8B34209A6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14400"/>
            <a:ext cx="8524875" cy="40290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 err="1"/>
              <a:t>FileInputStream</a:t>
            </a:r>
            <a:endParaRPr lang="en-US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algn="just">
              <a:defRPr/>
            </a:pPr>
            <a:r>
              <a:rPr lang="en-US" sz="1800" dirty="0"/>
              <a:t>The </a:t>
            </a:r>
            <a:r>
              <a:rPr lang="en-US" sz="1800" b="1" dirty="0" err="1"/>
              <a:t>FileInputStream</a:t>
            </a:r>
            <a:r>
              <a:rPr lang="en-US" sz="1800" b="1" dirty="0"/>
              <a:t> </a:t>
            </a:r>
            <a:r>
              <a:rPr lang="en-US" sz="1800" dirty="0"/>
              <a:t>class creates an </a:t>
            </a:r>
            <a:r>
              <a:rPr lang="en-US" sz="1800" b="1" dirty="0" err="1"/>
              <a:t>InputStream</a:t>
            </a:r>
            <a:r>
              <a:rPr lang="en-US" sz="1800" b="1" dirty="0"/>
              <a:t> </a:t>
            </a:r>
            <a:r>
              <a:rPr lang="en-US" sz="1800" dirty="0"/>
              <a:t>that we can use to read bytes from a file.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FileInputStream</a:t>
            </a:r>
            <a:r>
              <a:rPr lang="en-US" sz="1800" dirty="0"/>
              <a:t>(String </a:t>
            </a:r>
            <a:r>
              <a:rPr lang="en-US" sz="1800" i="1" dirty="0" err="1"/>
              <a:t>filepath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FileInputStream</a:t>
            </a:r>
            <a:r>
              <a:rPr lang="en-US" sz="1800" dirty="0"/>
              <a:t>(File </a:t>
            </a:r>
            <a:r>
              <a:rPr lang="en-US" sz="1800" i="1" dirty="0" err="1"/>
              <a:t>fileObj</a:t>
            </a:r>
            <a:r>
              <a:rPr lang="en-US" sz="1800" dirty="0"/>
              <a:t>)</a:t>
            </a:r>
          </a:p>
          <a:p>
            <a:pPr>
              <a:defRPr/>
            </a:pPr>
            <a:endParaRPr lang="en-US" sz="1800" dirty="0"/>
          </a:p>
          <a:p>
            <a:pPr>
              <a:defRPr/>
            </a:pPr>
            <a:endParaRPr lang="en-US" sz="1800" dirty="0"/>
          </a:p>
          <a:p>
            <a:pPr>
              <a:defRPr/>
            </a:pPr>
            <a:r>
              <a:rPr lang="en-US" sz="1800" dirty="0"/>
              <a:t>Either can throw a </a:t>
            </a:r>
            <a:r>
              <a:rPr lang="en-US" sz="1800" b="1" dirty="0" err="1"/>
              <a:t>FileNotFoundException</a:t>
            </a:r>
            <a:r>
              <a:rPr lang="en-US" sz="1800" dirty="0"/>
              <a:t>.</a:t>
            </a:r>
          </a:p>
        </p:txBody>
      </p:sp>
      <p:pic>
        <p:nvPicPr>
          <p:cNvPr id="47108" name="Picture 3">
            <a:extLst>
              <a:ext uri="{FF2B5EF4-FFF2-40B4-BE49-F238E27FC236}">
                <a16:creationId xmlns:a16="http://schemas.microsoft.com/office/drawing/2014/main" id="{4716283B-026D-3F77-991E-323501BD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894013"/>
            <a:ext cx="251460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Rectangle 1">
            <a:extLst>
              <a:ext uri="{FF2B5EF4-FFF2-40B4-BE49-F238E27FC236}">
                <a16:creationId xmlns:a16="http://schemas.microsoft.com/office/drawing/2014/main" id="{86883D65-3C2F-C169-2885-AAC0C737F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5380038"/>
            <a:ext cx="236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FileInputStream</a:t>
            </a:r>
            <a:endParaRPr lang="en-US" altLang="en-US">
              <a:solidFill>
                <a:srgbClr val="FF0000"/>
              </a:solidFill>
            </a:endParaRPr>
          </a:p>
        </p:txBody>
      </p:sp>
      <p:cxnSp>
        <p:nvCxnSpPr>
          <p:cNvPr id="47110" name="Straight Arrow Connector 5">
            <a:extLst>
              <a:ext uri="{FF2B5EF4-FFF2-40B4-BE49-F238E27FC236}">
                <a16:creationId xmlns:a16="http://schemas.microsoft.com/office/drawing/2014/main" id="{B71C96F3-391D-B128-8E84-366EA7E4CA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618163" y="4398963"/>
            <a:ext cx="533400" cy="9493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5">
            <a:extLst>
              <a:ext uri="{FF2B5EF4-FFF2-40B4-BE49-F238E27FC236}">
                <a16:creationId xmlns:a16="http://schemas.microsoft.com/office/drawing/2014/main" id="{4AF5FD41-4DBD-A671-6E94-1B2E09F92B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D348B63D-EFF1-02A5-74A6-A5FCDF2D6F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8763"/>
            <a:ext cx="8524875" cy="1854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FileInputStream f0 = new FileInputStream (“c:/mit/ict/cce/prg1.txt");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File f = new File (“c:/mit/ict/cce/prg1.txt");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/>
              <a:t>FileInputStream f1 = new FileInputStream(f);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4C9B1-2030-A9BB-55C2-465A6EA2C11B}"/>
              </a:ext>
            </a:extLst>
          </p:cNvPr>
          <p:cNvSpPr txBox="1"/>
          <p:nvPr/>
        </p:nvSpPr>
        <p:spPr>
          <a:xfrm>
            <a:off x="333375" y="762000"/>
            <a:ext cx="1828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</a:rPr>
              <a:t>Example</a:t>
            </a:r>
          </a:p>
        </p:txBody>
      </p:sp>
      <p:pic>
        <p:nvPicPr>
          <p:cNvPr id="48133" name="Picture 4">
            <a:extLst>
              <a:ext uri="{FF2B5EF4-FFF2-40B4-BE49-F238E27FC236}">
                <a16:creationId xmlns:a16="http://schemas.microsoft.com/office/drawing/2014/main" id="{3FDE32C0-5750-CFEF-31ED-FD93A4CA6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373313"/>
            <a:ext cx="2514600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134" name="Straight Arrow Connector 5">
            <a:extLst>
              <a:ext uri="{FF2B5EF4-FFF2-40B4-BE49-F238E27FC236}">
                <a16:creationId xmlns:a16="http://schemas.microsoft.com/office/drawing/2014/main" id="{E265EF68-5386-21E3-D418-79FB994E902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62600" y="3951288"/>
            <a:ext cx="533400" cy="94932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35" name="Rectangle 6">
            <a:extLst>
              <a:ext uri="{FF2B5EF4-FFF2-40B4-BE49-F238E27FC236}">
                <a16:creationId xmlns:a16="http://schemas.microsoft.com/office/drawing/2014/main" id="{946F3E02-98A6-79DF-8D9F-71243DF9B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4900613"/>
            <a:ext cx="2368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FileInputStream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5">
            <a:extLst>
              <a:ext uri="{FF2B5EF4-FFF2-40B4-BE49-F238E27FC236}">
                <a16:creationId xmlns:a16="http://schemas.microsoft.com/office/drawing/2014/main" id="{FDDEAC41-B368-76FE-BE52-6B7143C4A4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DE30B-B651-61DD-49B5-1A75AF9F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685800"/>
            <a:ext cx="8524875" cy="1295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</a:rPr>
              <a:t>FileOutputStream</a:t>
            </a:r>
            <a:endParaRPr lang="en-US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b="1" dirty="0" err="1"/>
              <a:t>FileOutputStream</a:t>
            </a:r>
            <a:r>
              <a:rPr lang="en-US" b="1" dirty="0"/>
              <a:t> </a:t>
            </a:r>
            <a:r>
              <a:rPr lang="en-US" dirty="0"/>
              <a:t>creates an </a:t>
            </a:r>
            <a:r>
              <a:rPr lang="en-US" b="1" dirty="0" err="1"/>
              <a:t>OutputStream</a:t>
            </a:r>
            <a:r>
              <a:rPr lang="en-US" b="1" dirty="0"/>
              <a:t> </a:t>
            </a:r>
            <a:r>
              <a:rPr lang="en-US" dirty="0"/>
              <a:t>that you can use to write bytes to a file.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endParaRPr lang="en-US" sz="1600" dirty="0"/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88A5970A-8CEE-9C5D-D489-1B8A44BB2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209800"/>
            <a:ext cx="32004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1">
            <a:extLst>
              <a:ext uri="{FF2B5EF4-FFF2-40B4-BE49-F238E27FC236}">
                <a16:creationId xmlns:a16="http://schemas.microsoft.com/office/drawing/2014/main" id="{A7EDC929-BD15-1896-43F8-32AAFE64F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181600"/>
            <a:ext cx="258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chemeClr val="bg2"/>
                </a:solidFill>
              </a:rPr>
              <a:t>FileOutputStream</a:t>
            </a:r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DF415393-A49E-D8BF-3448-A8AD530CB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81600"/>
            <a:ext cx="236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b="1"/>
              <a:t>FileInputStream</a:t>
            </a:r>
          </a:p>
        </p:txBody>
      </p:sp>
      <p:cxnSp>
        <p:nvCxnSpPr>
          <p:cNvPr id="49159" name="Straight Arrow Connector 6">
            <a:extLst>
              <a:ext uri="{FF2B5EF4-FFF2-40B4-BE49-F238E27FC236}">
                <a16:creationId xmlns:a16="http://schemas.microsoft.com/office/drawing/2014/main" id="{DD8AB1DC-D3C1-7847-54CC-AC1FDE61E244}"/>
              </a:ext>
            </a:extLst>
          </p:cNvPr>
          <p:cNvCxnSpPr>
            <a:cxnSpLocks noChangeShapeType="1"/>
            <a:endCxn id="49158" idx="0"/>
          </p:cNvCxnSpPr>
          <p:nvPr/>
        </p:nvCxnSpPr>
        <p:spPr bwMode="auto">
          <a:xfrm flipH="1">
            <a:off x="2098675" y="4114800"/>
            <a:ext cx="873125" cy="1066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0" name="Straight Arrow Connector 8">
            <a:extLst>
              <a:ext uri="{FF2B5EF4-FFF2-40B4-BE49-F238E27FC236}">
                <a16:creationId xmlns:a16="http://schemas.microsoft.com/office/drawing/2014/main" id="{F1BD6BA3-B877-935A-59F7-4E068D5EEB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03825" y="4114800"/>
            <a:ext cx="1119188" cy="9810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5">
            <a:extLst>
              <a:ext uri="{FF2B5EF4-FFF2-40B4-BE49-F238E27FC236}">
                <a16:creationId xmlns:a16="http://schemas.microsoft.com/office/drawing/2014/main" id="{06264FDC-8977-602A-D261-BA9125EB19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8C456-FC61-19BE-924F-2C68E0C4A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685800"/>
            <a:ext cx="8524875" cy="4724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</a:rPr>
              <a:t>FileOutputStream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FileOutputStream</a:t>
            </a:r>
            <a:r>
              <a:rPr lang="en-US" dirty="0"/>
              <a:t>(String </a:t>
            </a:r>
            <a:r>
              <a:rPr lang="en-US" i="1" dirty="0" err="1"/>
              <a:t>filePath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FileOutputStream</a:t>
            </a:r>
            <a:r>
              <a:rPr lang="en-US" dirty="0"/>
              <a:t>(File </a:t>
            </a:r>
            <a:r>
              <a:rPr lang="en-US" i="1" dirty="0" err="1"/>
              <a:t>fileObj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FileOutputStream</a:t>
            </a:r>
            <a:r>
              <a:rPr lang="en-US" dirty="0"/>
              <a:t>(String </a:t>
            </a:r>
            <a:r>
              <a:rPr lang="en-US" i="1" dirty="0" err="1"/>
              <a:t>filePath</a:t>
            </a:r>
            <a:r>
              <a:rPr lang="en-US" dirty="0"/>
              <a:t>,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i="1" dirty="0"/>
              <a:t>append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FileOutputStream</a:t>
            </a:r>
            <a:r>
              <a:rPr lang="en-US" dirty="0"/>
              <a:t>(File </a:t>
            </a:r>
            <a:r>
              <a:rPr lang="en-US" i="1" dirty="0" err="1"/>
              <a:t>fileObj</a:t>
            </a:r>
            <a:r>
              <a:rPr lang="en-US" dirty="0"/>
              <a:t>,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i="1" dirty="0"/>
              <a:t>append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sz="1600" dirty="0"/>
              <a:t>They can throw a </a:t>
            </a:r>
            <a:r>
              <a:rPr lang="en-US" sz="1600" b="1" dirty="0" err="1"/>
              <a:t>FileNotFoundException</a:t>
            </a:r>
            <a:r>
              <a:rPr lang="en-US" sz="1600" dirty="0"/>
              <a:t>. </a:t>
            </a:r>
          </a:p>
          <a:p>
            <a:pPr>
              <a:defRPr/>
            </a:pPr>
            <a:r>
              <a:rPr lang="en-US" sz="1600" dirty="0"/>
              <a:t>If </a:t>
            </a:r>
            <a:r>
              <a:rPr lang="en-US" sz="1600" i="1" dirty="0"/>
              <a:t>append </a:t>
            </a:r>
            <a:r>
              <a:rPr lang="en-US" sz="1600" dirty="0"/>
              <a:t>is </a:t>
            </a:r>
            <a:r>
              <a:rPr lang="en-US" sz="1600" b="1" dirty="0"/>
              <a:t>true</a:t>
            </a:r>
            <a:r>
              <a:rPr lang="en-US" sz="1600" dirty="0"/>
              <a:t>, the file is opened in append mode.</a:t>
            </a:r>
          </a:p>
          <a:p>
            <a:pPr>
              <a:defRPr/>
            </a:pPr>
            <a:r>
              <a:rPr lang="en-US" sz="1600" dirty="0">
                <a:solidFill>
                  <a:schemeClr val="bg2"/>
                </a:solidFill>
              </a:rPr>
              <a:t>Creation of a </a:t>
            </a:r>
            <a:r>
              <a:rPr lang="en-US" sz="1600" b="1" dirty="0" err="1">
                <a:solidFill>
                  <a:schemeClr val="bg2"/>
                </a:solidFill>
              </a:rPr>
              <a:t>FileOutputStream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dirty="0">
                <a:solidFill>
                  <a:schemeClr val="bg2"/>
                </a:solidFill>
              </a:rPr>
              <a:t>is not dependent on the file already existing.</a:t>
            </a:r>
          </a:p>
          <a:p>
            <a:pPr algn="just">
              <a:defRPr/>
            </a:pPr>
            <a:r>
              <a:rPr lang="en-US" sz="1600" b="1" dirty="0" err="1">
                <a:solidFill>
                  <a:schemeClr val="bg2"/>
                </a:solidFill>
              </a:rPr>
              <a:t>FileOutputStream</a:t>
            </a:r>
            <a:r>
              <a:rPr lang="en-US" sz="1600" b="1" dirty="0">
                <a:solidFill>
                  <a:schemeClr val="bg2"/>
                </a:solidFill>
              </a:rPr>
              <a:t> </a:t>
            </a:r>
            <a:r>
              <a:rPr lang="en-US" sz="1600" dirty="0">
                <a:solidFill>
                  <a:schemeClr val="bg2"/>
                </a:solidFill>
              </a:rPr>
              <a:t>will create the file before opening it for output when we create the object</a:t>
            </a:r>
            <a:r>
              <a:rPr lang="en-US" sz="1600" dirty="0"/>
              <a:t>. </a:t>
            </a:r>
          </a:p>
          <a:p>
            <a:pPr algn="just">
              <a:defRPr/>
            </a:pPr>
            <a:r>
              <a:rPr lang="en-US" sz="1600" dirty="0"/>
              <a:t>In the case where you attempt to open a read-only file, an </a:t>
            </a:r>
            <a:r>
              <a:rPr lang="en-US" sz="1600" b="1" dirty="0" err="1"/>
              <a:t>IOException</a:t>
            </a:r>
            <a:r>
              <a:rPr lang="en-US" sz="1600" b="1" dirty="0"/>
              <a:t> </a:t>
            </a:r>
            <a:r>
              <a:rPr lang="en-US" sz="1600" dirty="0"/>
              <a:t>will be thrown.</a:t>
            </a: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5">
            <a:extLst>
              <a:ext uri="{FF2B5EF4-FFF2-40B4-BE49-F238E27FC236}">
                <a16:creationId xmlns:a16="http://schemas.microsoft.com/office/drawing/2014/main" id="{B6995DB3-F514-45F0-68AC-F2D4476A0E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Content Placeholder 3">
            <a:extLst>
              <a:ext uri="{FF2B5EF4-FFF2-40B4-BE49-F238E27FC236}">
                <a16:creationId xmlns:a16="http://schemas.microsoft.com/office/drawing/2014/main" id="{5D75E933-1F34-FE16-42BF-787FD60A04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685800"/>
            <a:ext cx="8524875" cy="51323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// Demonstrate FileOutputStream.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import java.io.*;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class FileOutputStreamDemo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{       public static void main(String args[]) throws IOException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String source = "Now is the time for all good men\n"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                    + " to come to the aid of their country\n"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                     + " and pay their due taxes.";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byte buf[] = source.getBytes();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OutputStream f0 = new FileOutputStream("file1.txt");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for (int i=0; i &lt; buf.length; i += 2)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{                  f0.</a:t>
            </a:r>
            <a:r>
              <a:rPr lang="en-US" altLang="en-US" sz="1800">
                <a:solidFill>
                  <a:srgbClr val="FF0000"/>
                </a:solidFill>
              </a:rPr>
              <a:t>write(buf[i])</a:t>
            </a:r>
            <a:r>
              <a:rPr lang="en-US" altLang="en-US" sz="18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f0.close();</a:t>
            </a: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5">
            <a:extLst>
              <a:ext uri="{FF2B5EF4-FFF2-40B4-BE49-F238E27FC236}">
                <a16:creationId xmlns:a16="http://schemas.microsoft.com/office/drawing/2014/main" id="{EE5BE676-3302-AC9D-85F4-2223E6735F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Content Placeholder 3">
            <a:extLst>
              <a:ext uri="{FF2B5EF4-FFF2-40B4-BE49-F238E27FC236}">
                <a16:creationId xmlns:a16="http://schemas.microsoft.com/office/drawing/2014/main" id="{B8853C30-5EAD-ADBE-6A57-5EEE8B1D62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914400"/>
            <a:ext cx="8524875" cy="40290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OutputStream f1 = new FileOutputStream("file2.txt");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f1.</a:t>
            </a:r>
            <a:r>
              <a:rPr lang="en-US" altLang="en-US" sz="1800">
                <a:solidFill>
                  <a:srgbClr val="FF0000"/>
                </a:solidFill>
              </a:rPr>
              <a:t>write(buf)</a:t>
            </a:r>
            <a:r>
              <a:rPr lang="en-US" altLang="en-US" sz="18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f1.close();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OutputStream f2 = new FileOutputStream("file3.txt");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f2.</a:t>
            </a:r>
            <a:r>
              <a:rPr lang="en-US" altLang="en-US" sz="1800">
                <a:solidFill>
                  <a:srgbClr val="FF0000"/>
                </a:solidFill>
              </a:rPr>
              <a:t>write(buf,buf.length-buf.length/4,buf.length/4)</a:t>
            </a:r>
            <a:r>
              <a:rPr lang="en-US" altLang="en-US" sz="18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f2.close();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}</a:t>
            </a: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5">
            <a:extLst>
              <a:ext uri="{FF2B5EF4-FFF2-40B4-BE49-F238E27FC236}">
                <a16:creationId xmlns:a16="http://schemas.microsoft.com/office/drawing/2014/main" id="{8DAE7CAF-C5D1-4BEC-67A8-90547742ABF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19ED6FD8-2A52-227A-D356-721482C0E7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24875" cy="1295400"/>
          </a:xfrm>
        </p:spPr>
        <p:txBody>
          <a:bodyPr/>
          <a:lstStyle/>
          <a:p>
            <a:r>
              <a:rPr lang="en-US" altLang="en-US" sz="1800"/>
              <a:t>The first, </a:t>
            </a:r>
            <a:r>
              <a:rPr lang="en-US" altLang="en-US" sz="1800" b="1"/>
              <a:t>file1.txt</a:t>
            </a:r>
            <a:r>
              <a:rPr lang="en-US" altLang="en-US" sz="1800"/>
              <a:t>, will contain every other byte from the sample. </a:t>
            </a:r>
          </a:p>
          <a:p>
            <a:r>
              <a:rPr lang="en-US" altLang="en-US" sz="1800"/>
              <a:t>The second, </a:t>
            </a:r>
            <a:r>
              <a:rPr lang="en-US" altLang="en-US" sz="1800" b="1"/>
              <a:t>file2.txt</a:t>
            </a:r>
            <a:r>
              <a:rPr lang="en-US" altLang="en-US" sz="1800"/>
              <a:t>, will contain the entire set of bytes. </a:t>
            </a:r>
          </a:p>
          <a:p>
            <a:r>
              <a:rPr lang="en-US" altLang="en-US" sz="1800"/>
              <a:t>The third and last, </a:t>
            </a:r>
            <a:r>
              <a:rPr lang="en-US" altLang="en-US" sz="1800" b="1"/>
              <a:t>file3.txt</a:t>
            </a:r>
            <a:r>
              <a:rPr lang="en-US" altLang="en-US" sz="1800"/>
              <a:t>, will contain only the last quarter.</a:t>
            </a:r>
          </a:p>
        </p:txBody>
      </p:sp>
      <p:pic>
        <p:nvPicPr>
          <p:cNvPr id="53252" name="Picture 1">
            <a:extLst>
              <a:ext uri="{FF2B5EF4-FFF2-40B4-BE49-F238E27FC236}">
                <a16:creationId xmlns:a16="http://schemas.microsoft.com/office/drawing/2014/main" id="{E8B8100B-34D3-9976-123C-00C28F99F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630613"/>
            <a:ext cx="4038600" cy="2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Rectangle 2">
            <a:extLst>
              <a:ext uri="{FF2B5EF4-FFF2-40B4-BE49-F238E27FC236}">
                <a16:creationId xmlns:a16="http://schemas.microsoft.com/office/drawing/2014/main" id="{9ECEF739-34DE-A6FA-CE91-49EBD9B47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2430463"/>
            <a:ext cx="70056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String source = "Now is the time for all good men\n"</a:t>
            </a:r>
          </a:p>
          <a:p>
            <a:r>
              <a:rPr lang="en-US" altLang="en-US" sz="2000"/>
              <a:t>                                    + " to come to the aid of their country\n"</a:t>
            </a:r>
          </a:p>
          <a:p>
            <a:r>
              <a:rPr lang="en-US" altLang="en-US" sz="2000"/>
              <a:t>                                     + " and pay their due taxes.";</a:t>
            </a:r>
          </a:p>
        </p:txBody>
      </p:sp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5">
            <a:extLst>
              <a:ext uri="{FF2B5EF4-FFF2-40B4-BE49-F238E27FC236}">
                <a16:creationId xmlns:a16="http://schemas.microsoft.com/office/drawing/2014/main" id="{F398EE34-807F-329F-2AFE-2FFA12D7CC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EE757-903B-4ABB-08F9-525D3B238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838200"/>
            <a:ext cx="8605837" cy="1752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The Character Streams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defRPr/>
            </a:pPr>
            <a:r>
              <a:rPr lang="en-US" sz="1800" dirty="0"/>
              <a:t>Top of the character stream hierarchies are the </a:t>
            </a:r>
            <a:r>
              <a:rPr lang="en-US" sz="1800" b="1" dirty="0"/>
              <a:t>Reader </a:t>
            </a:r>
            <a:r>
              <a:rPr lang="en-US" sz="1800" dirty="0"/>
              <a:t>and </a:t>
            </a:r>
            <a:r>
              <a:rPr lang="en-US" sz="1800" b="1" dirty="0"/>
              <a:t>Writer </a:t>
            </a:r>
            <a:r>
              <a:rPr lang="en-US" sz="1800" dirty="0">
                <a:solidFill>
                  <a:srgbClr val="FF0000"/>
                </a:solidFill>
              </a:rPr>
              <a:t>abstract classes.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  <p:pic>
        <p:nvPicPr>
          <p:cNvPr id="54276" name="Picture 4">
            <a:extLst>
              <a:ext uri="{FF2B5EF4-FFF2-40B4-BE49-F238E27FC236}">
                <a16:creationId xmlns:a16="http://schemas.microsoft.com/office/drawing/2014/main" id="{FC760484-75F7-93A7-564D-8F77B7CDD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743200"/>
            <a:ext cx="35877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5">
            <a:extLst>
              <a:ext uri="{FF2B5EF4-FFF2-40B4-BE49-F238E27FC236}">
                <a16:creationId xmlns:a16="http://schemas.microsoft.com/office/drawing/2014/main" id="{480F16EC-7A5C-AB94-1D96-E4503DBFC3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C9DF6-3D55-7750-7C25-94F1FC031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838200"/>
            <a:ext cx="8605837" cy="52847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The Character Streams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defRPr/>
            </a:pPr>
            <a:r>
              <a:rPr lang="en-US" sz="1800" dirty="0"/>
              <a:t>The byte stream classes provide functionality to handle any type of I/O operation, they cannot work directly with Unicode characters. 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Character streams :  direct I/O support for characters. </a:t>
            </a:r>
          </a:p>
          <a:p>
            <a:pPr algn="just">
              <a:defRPr/>
            </a:pPr>
            <a:endParaRPr lang="en-US" sz="1800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sz="1800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NOTE : </a:t>
            </a:r>
          </a:p>
          <a:p>
            <a:pPr algn="just">
              <a:defRPr/>
            </a:pPr>
            <a:r>
              <a:rPr lang="en-US" sz="1800" b="1" dirty="0"/>
              <a:t>T</a:t>
            </a:r>
            <a:r>
              <a:rPr lang="en-US" sz="1800" dirty="0"/>
              <a:t>he character I/O classes were added by the 1.1 release of Java.</a:t>
            </a:r>
          </a:p>
          <a:p>
            <a:pPr algn="just">
              <a:defRPr/>
            </a:pPr>
            <a:r>
              <a:rPr lang="en-US" sz="1800" dirty="0"/>
              <a:t> Because of this, we may still find legacy code that uses byte streams where character streams would be more appropriate</a:t>
            </a:r>
          </a:p>
        </p:txBody>
      </p:sp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5">
            <a:extLst>
              <a:ext uri="{FF2B5EF4-FFF2-40B4-BE49-F238E27FC236}">
                <a16:creationId xmlns:a16="http://schemas.microsoft.com/office/drawing/2014/main" id="{47D9B5B4-744A-898D-9FBC-63500CB609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13B3D-66A0-9C59-FE15-11F03D599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762000"/>
            <a:ext cx="8524875" cy="2590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/>
              <a:t>Reader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algn="just">
              <a:defRPr/>
            </a:pPr>
            <a:r>
              <a:rPr lang="en-US" b="1" dirty="0"/>
              <a:t>Reader </a:t>
            </a:r>
            <a:r>
              <a:rPr lang="en-US" dirty="0"/>
              <a:t>is an abstract class that defines Java’s model of streaming character input. </a:t>
            </a:r>
          </a:p>
          <a:p>
            <a:pPr algn="just">
              <a:defRPr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5">
            <a:extLst>
              <a:ext uri="{FF2B5EF4-FFF2-40B4-BE49-F238E27FC236}">
                <a16:creationId xmlns:a16="http://schemas.microsoft.com/office/drawing/2014/main" id="{86476E5F-4C5C-3B61-4CE4-1B894BACA3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440FF-E59E-0FBF-44BC-C1D5E272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762000"/>
            <a:ext cx="8524875" cy="49530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/>
              <a:t>Reader methods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read(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read(char buffer[ ])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read(char buffer[ ], </a:t>
            </a:r>
            <a:r>
              <a:rPr lang="en-US" dirty="0" err="1"/>
              <a:t>int</a:t>
            </a:r>
            <a:r>
              <a:rPr lang="en-US" dirty="0"/>
              <a:t> offset,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numChars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Returns an integer representation of the next available character from the invoking input stream.</a:t>
            </a:r>
          </a:p>
          <a:p>
            <a:pPr algn="just">
              <a:defRPr/>
            </a:pPr>
            <a:r>
              <a:rPr lang="en-US" sz="1600" dirty="0"/>
              <a:t>Attempts to read up to </a:t>
            </a:r>
            <a:r>
              <a:rPr lang="en-US" sz="1600" dirty="0" err="1"/>
              <a:t>buffer.length</a:t>
            </a:r>
            <a:r>
              <a:rPr lang="en-US" sz="1600" dirty="0"/>
              <a:t> characters into buffer and returns the actual number of characters that were successfully read.</a:t>
            </a:r>
          </a:p>
          <a:p>
            <a:pPr algn="just">
              <a:defRPr/>
            </a:pPr>
            <a:r>
              <a:rPr lang="en-US" sz="1600" dirty="0"/>
              <a:t>Attempts to read up to </a:t>
            </a:r>
            <a:r>
              <a:rPr lang="en-US" sz="1600" dirty="0" err="1"/>
              <a:t>numChars</a:t>
            </a:r>
            <a:r>
              <a:rPr lang="en-US" sz="1600" dirty="0"/>
              <a:t> characters into buffer starting at buffer[offset], returning the number of characters successfully read.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 –1 is returned when the end of the file is encountered.</a:t>
            </a:r>
            <a:endParaRPr lang="en-US" sz="1600" b="1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b="1" dirty="0"/>
          </a:p>
          <a:p>
            <a:pPr algn="just">
              <a:defRPr/>
            </a:pP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5">
            <a:extLst>
              <a:ext uri="{FF2B5EF4-FFF2-40B4-BE49-F238E27FC236}">
                <a16:creationId xmlns:a16="http://schemas.microsoft.com/office/drawing/2014/main" id="{3669C177-2992-A14E-7BAF-A2D0498BD7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6F90-E784-E4A5-0D49-54B5DCF4C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48006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long skip(long </a:t>
            </a:r>
            <a:r>
              <a:rPr lang="en-US" dirty="0" err="1"/>
              <a:t>numBytes</a:t>
            </a:r>
            <a:r>
              <a:rPr lang="en-US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 void close(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defRPr/>
            </a:pPr>
            <a:r>
              <a:rPr lang="en-US" sz="1600" dirty="0"/>
              <a:t>Skips over </a:t>
            </a:r>
            <a:r>
              <a:rPr lang="en-US" sz="1600" dirty="0" err="1"/>
              <a:t>numChars</a:t>
            </a:r>
            <a:r>
              <a:rPr lang="en-US" sz="1600" dirty="0"/>
              <a:t> characters of input, returning the number of characters actually skipped.</a:t>
            </a:r>
          </a:p>
          <a:p>
            <a:pPr algn="just">
              <a:defRPr/>
            </a:pPr>
            <a:r>
              <a:rPr lang="en-US" sz="1600" dirty="0"/>
              <a:t>Closes the input source. Further read attempts will generate an </a:t>
            </a:r>
            <a:r>
              <a:rPr lang="en-US" sz="1600" dirty="0" err="1"/>
              <a:t>IOException</a:t>
            </a:r>
            <a:r>
              <a:rPr lang="en-US" sz="1600" dirty="0"/>
              <a:t>.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58372" name="Rectangle 1">
            <a:extLst>
              <a:ext uri="{FF2B5EF4-FFF2-40B4-BE49-F238E27FC236}">
                <a16:creationId xmlns:a16="http://schemas.microsoft.com/office/drawing/2014/main" id="{7039A402-9916-621D-C117-CC5F0D1CD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81038"/>
            <a:ext cx="2325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/>
              <a:t>Reader methods</a:t>
            </a:r>
          </a:p>
        </p:txBody>
      </p:sp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5">
            <a:extLst>
              <a:ext uri="{FF2B5EF4-FFF2-40B4-BE49-F238E27FC236}">
                <a16:creationId xmlns:a16="http://schemas.microsoft.com/office/drawing/2014/main" id="{7747D7EE-9F57-D218-6F22-BF28B8A937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9AEE-CC50-A6FB-C41A-FBF27257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524875" cy="46482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markSupported</a:t>
            </a:r>
            <a:r>
              <a:rPr lang="en-US" dirty="0"/>
              <a:t>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void mark(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numChars</a:t>
            </a:r>
            <a:r>
              <a:rPr lang="en-US" dirty="0"/>
              <a:t>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en-US" dirty="0"/>
              <a:t>     void reset( )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Returns true if mark( )/reset( ) are supported on this stream.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Places a mark at the current point in the input stream that will remain valid until </a:t>
            </a:r>
            <a:r>
              <a:rPr lang="en-US" sz="1600" dirty="0" err="1"/>
              <a:t>numChars</a:t>
            </a:r>
            <a:r>
              <a:rPr lang="en-US" sz="1600" dirty="0"/>
              <a:t> characters are read.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Resets the input pointer to the previously set mark.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59396" name="Rectangle 1">
            <a:extLst>
              <a:ext uri="{FF2B5EF4-FFF2-40B4-BE49-F238E27FC236}">
                <a16:creationId xmlns:a16="http://schemas.microsoft.com/office/drawing/2014/main" id="{14390127-0D7F-B01C-2ACA-FB4F17421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81038"/>
            <a:ext cx="2325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/>
              <a:t>Reader methods</a:t>
            </a:r>
          </a:p>
        </p:txBody>
      </p:sp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5">
            <a:extLst>
              <a:ext uri="{FF2B5EF4-FFF2-40B4-BE49-F238E27FC236}">
                <a16:creationId xmlns:a16="http://schemas.microsoft.com/office/drawing/2014/main" id="{E84316D4-36BA-3BCA-9C6F-33EC310EA5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0419" name="Content Placeholder 1">
            <a:extLst>
              <a:ext uri="{FF2B5EF4-FFF2-40B4-BE49-F238E27FC236}">
                <a16:creationId xmlns:a16="http://schemas.microsoft.com/office/drawing/2014/main" id="{3DB4F176-A951-A9FE-BB35-CE71FB907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404938"/>
            <a:ext cx="7086600" cy="4484687"/>
          </a:xfrm>
        </p:spPr>
      </p:pic>
      <p:sp>
        <p:nvSpPr>
          <p:cNvPr id="60420" name="Rectangle 2">
            <a:extLst>
              <a:ext uri="{FF2B5EF4-FFF2-40B4-BE49-F238E27FC236}">
                <a16:creationId xmlns:a16="http://schemas.microsoft.com/office/drawing/2014/main" id="{88FCC822-54FD-5E24-9D61-A4B20D005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782638"/>
            <a:ext cx="7086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Palatino-Roman"/>
              </a:rPr>
              <a:t>Table 19-3 provides a synopsis of the methods in </a:t>
            </a:r>
            <a:r>
              <a:rPr lang="en-US" altLang="en-US" sz="2000" b="1">
                <a:latin typeface="Palatino-Bold"/>
              </a:rPr>
              <a:t>Reader</a:t>
            </a:r>
            <a:r>
              <a:rPr lang="en-US" altLang="en-US" sz="2000">
                <a:latin typeface="Palatino-Roman"/>
              </a:rPr>
              <a:t>.</a:t>
            </a:r>
            <a:endParaRPr lang="en-US" altLang="en-US" sz="2000"/>
          </a:p>
        </p:txBody>
      </p:sp>
    </p:spTree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5">
            <a:extLst>
              <a:ext uri="{FF2B5EF4-FFF2-40B4-BE49-F238E27FC236}">
                <a16:creationId xmlns:a16="http://schemas.microsoft.com/office/drawing/2014/main" id="{10EDB0F1-0392-5FB0-37B5-7960D8B65C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D1DD1-4671-C1A9-1453-1A1D3750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90600"/>
            <a:ext cx="8524875" cy="3276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/>
              <a:t>Writer</a:t>
            </a:r>
          </a:p>
          <a:p>
            <a:pPr algn="just">
              <a:defRPr/>
            </a:pPr>
            <a:r>
              <a:rPr lang="en-US" sz="1800" b="1" dirty="0"/>
              <a:t>Writer </a:t>
            </a:r>
            <a:r>
              <a:rPr lang="en-US" sz="1800" dirty="0"/>
              <a:t>is an abstract class that defines streaming character output. </a:t>
            </a:r>
          </a:p>
          <a:p>
            <a:pPr algn="just">
              <a:defRPr/>
            </a:pPr>
            <a:endParaRPr lang="en-US" sz="1800" dirty="0"/>
          </a:p>
          <a:p>
            <a:pPr algn="just">
              <a:defRPr/>
            </a:pPr>
            <a:r>
              <a:rPr lang="en-US" sz="1800" dirty="0"/>
              <a:t>All of the methods in this class throw an </a:t>
            </a:r>
            <a:r>
              <a:rPr lang="en-US" sz="1800" b="1" dirty="0" err="1"/>
              <a:t>IOException</a:t>
            </a:r>
            <a:r>
              <a:rPr lang="en-US" sz="1800" b="1" dirty="0"/>
              <a:t> </a:t>
            </a:r>
            <a:r>
              <a:rPr lang="en-US" sz="1800" dirty="0"/>
              <a:t>in the case of errors. </a:t>
            </a:r>
          </a:p>
          <a:p>
            <a:pPr algn="just">
              <a:defRPr/>
            </a:pPr>
            <a:endParaRPr lang="en-US" sz="1800" dirty="0"/>
          </a:p>
        </p:txBody>
      </p:sp>
    </p:spTree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5">
            <a:extLst>
              <a:ext uri="{FF2B5EF4-FFF2-40B4-BE49-F238E27FC236}">
                <a16:creationId xmlns:a16="http://schemas.microsoft.com/office/drawing/2014/main" id="{D57B6570-FD77-AF55-E033-DE53E17B55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7" name="Content Placeholder 2">
            <a:extLst>
              <a:ext uri="{FF2B5EF4-FFF2-40B4-BE49-F238E27FC236}">
                <a16:creationId xmlns:a16="http://schemas.microsoft.com/office/drawing/2014/main" id="{7367D4AB-9570-3E4A-F345-2B9CD3CFE1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524000"/>
            <a:ext cx="6281738" cy="4343400"/>
          </a:xfrm>
        </p:spPr>
      </p:pic>
      <p:sp>
        <p:nvSpPr>
          <p:cNvPr id="62468" name="Rectangle 1">
            <a:extLst>
              <a:ext uri="{FF2B5EF4-FFF2-40B4-BE49-F238E27FC236}">
                <a16:creationId xmlns:a16="http://schemas.microsoft.com/office/drawing/2014/main" id="{CD70AA8F-E93C-0061-B4B4-14A75CE2E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835025"/>
            <a:ext cx="762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/>
              <a:t>Table 19-4 shows a synopsis of the methods in </a:t>
            </a:r>
            <a:r>
              <a:rPr lang="en-US" altLang="en-US" b="1"/>
              <a:t>Writer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5">
            <a:extLst>
              <a:ext uri="{FF2B5EF4-FFF2-40B4-BE49-F238E27FC236}">
                <a16:creationId xmlns:a16="http://schemas.microsoft.com/office/drawing/2014/main" id="{F9913AEA-D244-D3E2-3700-A308688555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491" name="Picture 5">
            <a:extLst>
              <a:ext uri="{FF2B5EF4-FFF2-40B4-BE49-F238E27FC236}">
                <a16:creationId xmlns:a16="http://schemas.microsoft.com/office/drawing/2014/main" id="{3DC2B4BB-C7A0-0765-D156-1A24BA827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95400"/>
            <a:ext cx="281940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3492" name="Straight Arrow Connector 6">
            <a:extLst>
              <a:ext uri="{FF2B5EF4-FFF2-40B4-BE49-F238E27FC236}">
                <a16:creationId xmlns:a16="http://schemas.microsoft.com/office/drawing/2014/main" id="{E534C315-263B-C64A-332D-825137C7497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95400" y="4038600"/>
            <a:ext cx="873125" cy="1066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493" name="Rectangle 1">
            <a:extLst>
              <a:ext uri="{FF2B5EF4-FFF2-40B4-BE49-F238E27FC236}">
                <a16:creationId xmlns:a16="http://schemas.microsoft.com/office/drawing/2014/main" id="{22FA1573-20F9-2251-B55C-FA95C6CB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53025"/>
            <a:ext cx="1635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FileReader</a:t>
            </a:r>
            <a:endParaRPr lang="en-US" altLang="en-US">
              <a:solidFill>
                <a:srgbClr val="FF0000"/>
              </a:solidFill>
            </a:endParaRPr>
          </a:p>
        </p:txBody>
      </p:sp>
      <p:cxnSp>
        <p:nvCxnSpPr>
          <p:cNvPr id="63494" name="Straight Arrow Connector 8">
            <a:extLst>
              <a:ext uri="{FF2B5EF4-FFF2-40B4-BE49-F238E27FC236}">
                <a16:creationId xmlns:a16="http://schemas.microsoft.com/office/drawing/2014/main" id="{CD23F22B-A4C5-A909-1FC8-3DA41066F3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34000" y="3941763"/>
            <a:ext cx="609600" cy="12112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495" name="Rectangle 1">
            <a:extLst>
              <a:ext uri="{FF2B5EF4-FFF2-40B4-BE49-F238E27FC236}">
                <a16:creationId xmlns:a16="http://schemas.microsoft.com/office/drawing/2014/main" id="{7131783C-87C1-D62D-F048-E1F1214D8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88" y="5343525"/>
            <a:ext cx="1576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FileWriter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63496" name="Rectangle 4">
            <a:extLst>
              <a:ext uri="{FF2B5EF4-FFF2-40B4-BE49-F238E27FC236}">
                <a16:creationId xmlns:a16="http://schemas.microsoft.com/office/drawing/2014/main" id="{B94EC71B-DCCB-1FCD-50EB-60AB41E1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3443288"/>
            <a:ext cx="101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……….</a:t>
            </a:r>
          </a:p>
        </p:txBody>
      </p:sp>
      <p:sp>
        <p:nvSpPr>
          <p:cNvPr id="63497" name="Rectangle 13">
            <a:extLst>
              <a:ext uri="{FF2B5EF4-FFF2-40B4-BE49-F238E27FC236}">
                <a16:creationId xmlns:a16="http://schemas.microsoft.com/office/drawing/2014/main" id="{80DCB6B9-65F8-32B0-39EF-1462F0CD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1513" y="3532188"/>
            <a:ext cx="9937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latin typeface="Arial" panose="020B0604020202020204" pitchFamily="34" charset="0"/>
              </a:rPr>
              <a:t>……….</a:t>
            </a:r>
          </a:p>
        </p:txBody>
      </p:sp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5">
            <a:extLst>
              <a:ext uri="{FF2B5EF4-FFF2-40B4-BE49-F238E27FC236}">
                <a16:creationId xmlns:a16="http://schemas.microsoft.com/office/drawing/2014/main" id="{DF12D837-AE96-12E5-550D-24F4A0498F1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91A0-C0DB-1329-1390-9382E2B4B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990600"/>
            <a:ext cx="8524875" cy="4419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FileReader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defRPr/>
            </a:pPr>
            <a:r>
              <a:rPr lang="en-US" b="1" dirty="0"/>
              <a:t>FileReader </a:t>
            </a:r>
            <a:r>
              <a:rPr lang="en-US" dirty="0"/>
              <a:t>class creates a </a:t>
            </a:r>
            <a:r>
              <a:rPr lang="en-US" b="1" dirty="0"/>
              <a:t>Reader </a:t>
            </a:r>
            <a:r>
              <a:rPr lang="en-US" dirty="0"/>
              <a:t>that can be uses to read the contents of a file. </a:t>
            </a:r>
          </a:p>
          <a:p>
            <a:pPr algn="just">
              <a:defRPr/>
            </a:pPr>
            <a:r>
              <a:rPr lang="en-US" dirty="0"/>
              <a:t>Its two most commonly used constructors are: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FileReader</a:t>
            </a:r>
            <a:r>
              <a:rPr lang="en-US" dirty="0"/>
              <a:t>(String </a:t>
            </a:r>
            <a:r>
              <a:rPr lang="en-US" i="1" dirty="0" err="1"/>
              <a:t>filePath</a:t>
            </a:r>
            <a:r>
              <a:rPr lang="en-US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FileReader</a:t>
            </a:r>
            <a:r>
              <a:rPr lang="en-US" dirty="0"/>
              <a:t>(File </a:t>
            </a:r>
            <a:r>
              <a:rPr lang="en-US" i="1" dirty="0" err="1"/>
              <a:t>fileObj</a:t>
            </a:r>
            <a:r>
              <a:rPr lang="en-US" dirty="0"/>
              <a:t>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1800" dirty="0"/>
              <a:t>Either can throw a </a:t>
            </a:r>
            <a:r>
              <a:rPr lang="en-US" sz="1800" b="1" dirty="0" err="1"/>
              <a:t>FileNotFoundException</a:t>
            </a:r>
            <a:r>
              <a:rPr lang="en-US" sz="1800" dirty="0"/>
              <a:t>. Here, </a:t>
            </a:r>
            <a:r>
              <a:rPr lang="en-US" sz="1800" i="1" dirty="0" err="1"/>
              <a:t>filePath</a:t>
            </a:r>
            <a:r>
              <a:rPr lang="en-US" sz="1800" i="1" dirty="0"/>
              <a:t> </a:t>
            </a:r>
            <a:r>
              <a:rPr lang="en-US" sz="1800" dirty="0"/>
              <a:t>is the full path name of a file, and </a:t>
            </a:r>
            <a:r>
              <a:rPr lang="en-US" sz="1800" i="1" dirty="0" err="1"/>
              <a:t>fileObj</a:t>
            </a:r>
            <a:r>
              <a:rPr lang="en-US" sz="1800" i="1" dirty="0"/>
              <a:t> </a:t>
            </a:r>
            <a:r>
              <a:rPr lang="en-US" sz="1800" dirty="0"/>
              <a:t>is a </a:t>
            </a:r>
            <a:r>
              <a:rPr lang="en-US" sz="1800" b="1" dirty="0"/>
              <a:t>File </a:t>
            </a:r>
            <a:r>
              <a:rPr lang="en-US" sz="1800" dirty="0"/>
              <a:t>object that describes the file.</a:t>
            </a:r>
          </a:p>
        </p:txBody>
      </p:sp>
    </p:spTree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5">
            <a:extLst>
              <a:ext uri="{FF2B5EF4-FFF2-40B4-BE49-F238E27FC236}">
                <a16:creationId xmlns:a16="http://schemas.microsoft.com/office/drawing/2014/main" id="{F61AD67A-F07C-5234-DD00-A75D55B653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9" name="Content Placeholder 1">
            <a:extLst>
              <a:ext uri="{FF2B5EF4-FFF2-40B4-BE49-F238E27FC236}">
                <a16:creationId xmlns:a16="http://schemas.microsoft.com/office/drawing/2014/main" id="{C4500FAE-38AB-BF28-FCAC-055AE8C49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762000"/>
            <a:ext cx="8524875" cy="5486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// Demonstrate FileReader.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import java.io.*;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class FileReaderDemo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{     public static void main(String args[]) throws IOException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nn-NO" altLang="en-US" sz="1800"/>
              <a:t>                FileReader fr = new FileReader("FileReaderDemo.java");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 int i;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while((i = fr.read()) != -1)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{             System.out.println((char)i);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       fr.close();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/>
              <a:t>         }}</a:t>
            </a:r>
          </a:p>
        </p:txBody>
      </p:sp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5">
            <a:extLst>
              <a:ext uri="{FF2B5EF4-FFF2-40B4-BE49-F238E27FC236}">
                <a16:creationId xmlns:a16="http://schemas.microsoft.com/office/drawing/2014/main" id="{1570EEC4-98F6-CADB-0FA1-524D9B86BE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F6BFA5-5765-D23C-0211-B800E8E2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8686800" cy="5181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 err="1">
                <a:solidFill>
                  <a:srgbClr val="FF0000"/>
                </a:solidFill>
              </a:rPr>
              <a:t>FileWriter</a:t>
            </a:r>
            <a:endParaRPr lang="en-US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1800" b="1" dirty="0" err="1"/>
              <a:t>FileWriter</a:t>
            </a:r>
            <a:r>
              <a:rPr lang="en-US" sz="1800" b="1" dirty="0"/>
              <a:t> </a:t>
            </a:r>
            <a:r>
              <a:rPr lang="en-US" sz="1800" dirty="0"/>
              <a:t>creates a </a:t>
            </a:r>
            <a:r>
              <a:rPr lang="en-US" sz="1800" b="1" dirty="0"/>
              <a:t>Writer </a:t>
            </a:r>
            <a:r>
              <a:rPr lang="en-US" sz="1800" dirty="0"/>
              <a:t>that we can use to write to a file. </a:t>
            </a:r>
          </a:p>
          <a:p>
            <a:pPr>
              <a:defRPr/>
            </a:pPr>
            <a:r>
              <a:rPr lang="en-US" sz="1800" dirty="0"/>
              <a:t>Its most commonly used constructors are:</a:t>
            </a:r>
          </a:p>
          <a:p>
            <a:pPr>
              <a:defRPr/>
            </a:pPr>
            <a:endParaRPr lang="en-US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FileWriter</a:t>
            </a:r>
            <a:r>
              <a:rPr lang="en-US" sz="1800" dirty="0"/>
              <a:t>(String </a:t>
            </a:r>
            <a:r>
              <a:rPr lang="en-US" sz="1800" i="1" dirty="0" err="1"/>
              <a:t>filePath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FileWriter</a:t>
            </a:r>
            <a:r>
              <a:rPr lang="en-US" sz="1800" dirty="0"/>
              <a:t>(String </a:t>
            </a:r>
            <a:r>
              <a:rPr lang="en-US" sz="1800" i="1" dirty="0" err="1"/>
              <a:t>filePath</a:t>
            </a:r>
            <a:r>
              <a:rPr lang="en-US" sz="1800" dirty="0"/>
              <a:t>, </a:t>
            </a:r>
            <a:r>
              <a:rPr lang="en-US" sz="1800" dirty="0" err="1"/>
              <a:t>boolean</a:t>
            </a:r>
            <a:r>
              <a:rPr lang="en-US" sz="1800" dirty="0"/>
              <a:t> </a:t>
            </a:r>
            <a:r>
              <a:rPr lang="en-US" sz="1800" i="1" dirty="0"/>
              <a:t>append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FileWriter</a:t>
            </a:r>
            <a:r>
              <a:rPr lang="en-US" sz="1800" dirty="0"/>
              <a:t>(File </a:t>
            </a:r>
            <a:r>
              <a:rPr lang="en-US" sz="1800" i="1" dirty="0" err="1"/>
              <a:t>fileObj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1800" dirty="0"/>
              <a:t>	</a:t>
            </a:r>
            <a:r>
              <a:rPr lang="en-US" sz="1800" dirty="0" err="1"/>
              <a:t>FileWriter</a:t>
            </a:r>
            <a:r>
              <a:rPr lang="en-US" sz="1800" dirty="0"/>
              <a:t>(File </a:t>
            </a:r>
            <a:r>
              <a:rPr lang="en-US" sz="1800" i="1" dirty="0" err="1"/>
              <a:t>fileObj</a:t>
            </a:r>
            <a:r>
              <a:rPr lang="en-US" sz="1800" dirty="0"/>
              <a:t>, </a:t>
            </a:r>
            <a:r>
              <a:rPr lang="en-US" sz="1800" dirty="0" err="1"/>
              <a:t>boolean</a:t>
            </a:r>
            <a:r>
              <a:rPr lang="en-US" sz="1800" dirty="0"/>
              <a:t> </a:t>
            </a:r>
            <a:r>
              <a:rPr lang="en-US" sz="1800" i="1" dirty="0"/>
              <a:t>append</a:t>
            </a:r>
            <a:r>
              <a:rPr lang="en-US" sz="1800" dirty="0"/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sz="1600" dirty="0"/>
              <a:t>They can throw an </a:t>
            </a:r>
            <a:r>
              <a:rPr lang="en-US" sz="1600" b="1" dirty="0" err="1"/>
              <a:t>IOException</a:t>
            </a:r>
            <a:r>
              <a:rPr lang="en-US" sz="1600" dirty="0"/>
              <a:t>. </a:t>
            </a:r>
          </a:p>
          <a:p>
            <a:pPr>
              <a:defRPr/>
            </a:pPr>
            <a:r>
              <a:rPr lang="en-US" sz="1600" dirty="0"/>
              <a:t>If </a:t>
            </a:r>
            <a:r>
              <a:rPr lang="en-US" sz="1600" i="1" dirty="0"/>
              <a:t>append </a:t>
            </a:r>
            <a:r>
              <a:rPr lang="en-US" sz="1600" dirty="0"/>
              <a:t>is </a:t>
            </a:r>
            <a:r>
              <a:rPr lang="en-US" sz="1600" b="1" dirty="0"/>
              <a:t>true</a:t>
            </a:r>
            <a:r>
              <a:rPr lang="en-US" sz="1600" dirty="0"/>
              <a:t>, then output is appended to the end of the file.</a:t>
            </a:r>
          </a:p>
          <a:p>
            <a:pPr algn="just">
              <a:defRPr/>
            </a:pPr>
            <a:r>
              <a:rPr lang="en-US" sz="1600" dirty="0"/>
              <a:t>Creation of a </a:t>
            </a:r>
            <a:r>
              <a:rPr lang="en-US" sz="1600" b="1" dirty="0" err="1"/>
              <a:t>FileWriter</a:t>
            </a:r>
            <a:r>
              <a:rPr lang="en-US" sz="1600" b="1" dirty="0"/>
              <a:t> </a:t>
            </a:r>
            <a:r>
              <a:rPr lang="en-US" sz="1600" dirty="0"/>
              <a:t>is not dependent on the file already existing. </a:t>
            </a:r>
            <a:r>
              <a:rPr lang="en-US" sz="1600" b="1" dirty="0" err="1"/>
              <a:t>FileWriter</a:t>
            </a:r>
            <a:r>
              <a:rPr lang="en-US" sz="1600" b="1" dirty="0"/>
              <a:t> </a:t>
            </a:r>
            <a:r>
              <a:rPr lang="en-US" sz="1600" dirty="0"/>
              <a:t>will create the file before opening it for output when you create the object. In the case where you attempt to open a read-only file, an </a:t>
            </a:r>
            <a:r>
              <a:rPr lang="en-US" sz="1600" b="1" dirty="0" err="1"/>
              <a:t>IOException</a:t>
            </a:r>
            <a:r>
              <a:rPr lang="en-US" sz="1600" b="1" dirty="0"/>
              <a:t> </a:t>
            </a:r>
            <a:r>
              <a:rPr lang="en-US" sz="1600" dirty="0"/>
              <a:t>will be thrown.</a:t>
            </a:r>
          </a:p>
        </p:txBody>
      </p: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5">
            <a:extLst>
              <a:ext uri="{FF2B5EF4-FFF2-40B4-BE49-F238E27FC236}">
                <a16:creationId xmlns:a16="http://schemas.microsoft.com/office/drawing/2014/main" id="{BC7BE48C-3809-184B-F085-F4286829F0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7" name="Content Placeholder 1">
            <a:extLst>
              <a:ext uri="{FF2B5EF4-FFF2-40B4-BE49-F238E27FC236}">
                <a16:creationId xmlns:a16="http://schemas.microsoft.com/office/drawing/2014/main" id="{60905105-5540-7F23-AB66-51199E892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457200"/>
            <a:ext cx="8524875" cy="5791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// Demonstrate FileWriter.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import java.io.*;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class FileWriterDemo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{         public static void main(String args[]) throws IOException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 String source = "Now is the time for all good men\n"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 + " to come to the aid of their country\n"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+ " and pay their due taxes.";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char buffer[] = new char[source.length()];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source.</a:t>
            </a:r>
            <a:r>
              <a:rPr lang="en-US" altLang="en-US" sz="1600">
                <a:solidFill>
                  <a:srgbClr val="FF0000"/>
                </a:solidFill>
              </a:rPr>
              <a:t>getChars(0, source.length(), buffer, 0);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FileWriter f0 = new FileWriter("file1.txt");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 for (int i=0; i &lt; buffer.length; i += 2)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                              f0.</a:t>
            </a:r>
            <a:r>
              <a:rPr lang="en-US" altLang="en-US" sz="1600">
                <a:solidFill>
                  <a:srgbClr val="FF0000"/>
                </a:solidFill>
              </a:rPr>
              <a:t>write(buffer[i])</a:t>
            </a:r>
            <a:r>
              <a:rPr lang="en-US" altLang="en-US" sz="16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  f0.close();</a:t>
            </a:r>
          </a:p>
        </p:txBody>
      </p:sp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5">
            <a:extLst>
              <a:ext uri="{FF2B5EF4-FFF2-40B4-BE49-F238E27FC236}">
                <a16:creationId xmlns:a16="http://schemas.microsoft.com/office/drawing/2014/main" id="{2C435040-23AE-FFBA-F4AD-51002F2E29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-20638" y="6121400"/>
            <a:ext cx="9144001" cy="7350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1" name="Content Placeholder 1">
            <a:extLst>
              <a:ext uri="{FF2B5EF4-FFF2-40B4-BE49-F238E27FC236}">
                <a16:creationId xmlns:a16="http://schemas.microsoft.com/office/drawing/2014/main" id="{01C2D235-1546-8548-7ABB-2B5F7F731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9563" y="1066800"/>
            <a:ext cx="8524875" cy="3124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FileWriter f1 = new FileWriter("file2.txt");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f1.</a:t>
            </a:r>
            <a:r>
              <a:rPr lang="en-US" altLang="en-US" sz="1600">
                <a:solidFill>
                  <a:srgbClr val="FF0000"/>
                </a:solidFill>
              </a:rPr>
              <a:t>write(buffer)</a:t>
            </a:r>
            <a:r>
              <a:rPr lang="en-US" altLang="en-US" sz="16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f1.close();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en-US" sz="16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FileWriter f2 = new FileWriter("file3.txt");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f2.</a:t>
            </a:r>
            <a:r>
              <a:rPr lang="en-US" altLang="en-US" sz="1600">
                <a:solidFill>
                  <a:srgbClr val="FF0000"/>
                </a:solidFill>
              </a:rPr>
              <a:t>write(buffer,buffer.length-buffer.length/4,buffer.length/4)</a:t>
            </a:r>
            <a:r>
              <a:rPr lang="en-US" altLang="en-US" sz="1600"/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     f2.close();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600"/>
              <a:t>}</a:t>
            </a: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0CFC2D72-25A8-4D5F-5B69-ABC568D19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5105400"/>
            <a:ext cx="8559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>
                <a:latin typeface="Palatino-Roman"/>
              </a:rPr>
              <a:t>The first, </a:t>
            </a:r>
            <a:r>
              <a:rPr lang="en-US" altLang="en-US" sz="1800" b="1">
                <a:latin typeface="Palatino-Bold"/>
              </a:rPr>
              <a:t>file1.txt</a:t>
            </a:r>
            <a:r>
              <a:rPr lang="en-US" altLang="en-US" sz="1800">
                <a:latin typeface="Palatino-Roman"/>
              </a:rPr>
              <a:t>, will contain every other character from the sample. </a:t>
            </a:r>
          </a:p>
          <a:p>
            <a:r>
              <a:rPr lang="en-US" altLang="en-US" sz="1800">
                <a:latin typeface="Palatino-Roman"/>
              </a:rPr>
              <a:t>The second, </a:t>
            </a:r>
            <a:r>
              <a:rPr lang="en-US" altLang="en-US" sz="1800" b="1">
                <a:latin typeface="Palatino-Bold"/>
              </a:rPr>
              <a:t>file2.txt</a:t>
            </a:r>
            <a:r>
              <a:rPr lang="en-US" altLang="en-US" sz="1800">
                <a:latin typeface="Palatino-Roman"/>
              </a:rPr>
              <a:t>, will contain the entire set of characters. </a:t>
            </a:r>
          </a:p>
          <a:p>
            <a:r>
              <a:rPr lang="en-US" altLang="en-US" sz="1800">
                <a:latin typeface="Palatino-Roman"/>
              </a:rPr>
              <a:t>Finally, the third, </a:t>
            </a:r>
            <a:r>
              <a:rPr lang="en-US" altLang="en-US" sz="1800" b="1">
                <a:latin typeface="Palatino-Bold"/>
              </a:rPr>
              <a:t>file3.txt</a:t>
            </a:r>
            <a:r>
              <a:rPr lang="en-US" altLang="en-US" sz="1800">
                <a:latin typeface="Palatino-Roman"/>
              </a:rPr>
              <a:t>, will contain only the last quarter</a:t>
            </a:r>
            <a:endParaRPr lang="en-US" altLang="en-US" sz="1800"/>
          </a:p>
        </p:txBody>
      </p:sp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C9DDE6B4-F499-0B55-C712-82B734DBAF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838200"/>
            <a:ext cx="8524875" cy="2057400"/>
          </a:xfrm>
        </p:spPr>
        <p:txBody>
          <a:bodyPr/>
          <a:lstStyle/>
          <a:p>
            <a:pPr marL="0" indent="0">
              <a:spcBef>
                <a:spcPct val="100000"/>
              </a:spcBef>
              <a:buFont typeface="Wingdings" panose="05000000000000000000" pitchFamily="2" charset="2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                void write(int b);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                 void write(byte buffer[]);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                 void write(byte buffer[], int  index, int size);</a:t>
            </a:r>
            <a:endParaRPr lang="en-US" altLang="en-US">
              <a:latin typeface="Book Antiqua" panose="02040602050305030304" pitchFamily="18" charset="0"/>
            </a:endParaRPr>
          </a:p>
        </p:txBody>
      </p:sp>
      <p:sp>
        <p:nvSpPr>
          <p:cNvPr id="69635" name="Rectangle 15">
            <a:extLst>
              <a:ext uri="{FF2B5EF4-FFF2-40B4-BE49-F238E27FC236}">
                <a16:creationId xmlns:a16="http://schemas.microsoft.com/office/drawing/2014/main" id="{0CCD2FEF-627C-250D-B22C-D9854CADE3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BFD023-2FF1-64EE-3AAC-FFDE79142FE7}"/>
              </a:ext>
            </a:extLst>
          </p:cNvPr>
          <p:cNvGraphicFramePr>
            <a:graphicFrameLocks noGrp="1"/>
          </p:cNvGraphicFramePr>
          <p:nvPr/>
        </p:nvGraphicFramePr>
        <p:xfrm>
          <a:off x="1103313" y="1844675"/>
          <a:ext cx="6956425" cy="4098925"/>
        </p:xfrm>
        <a:graphic>
          <a:graphicData uri="http://schemas.openxmlformats.org/drawingml/2006/table">
            <a:tbl>
              <a:tblPr/>
              <a:tblGrid>
                <a:gridCol w="231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8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Aspect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Byte Stream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Character Stream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Unit of Data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Byte (8 bits)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Character (16 bits, Unicode)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Data Type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Binary data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Text data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Encoding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 character encoding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Uses character encoding (UTF-8, UTF-16)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Base Classes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InputStream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OutputStream</a:t>
                      </a:r>
                      <a:endParaRPr lang="en-US" sz="1500"/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Reader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Writer</a:t>
                      </a:r>
                      <a:endParaRPr lang="en-US" sz="1500"/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Example Classes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FileInputStream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FileOutputStream</a:t>
                      </a:r>
                      <a:endParaRPr lang="en-US" sz="1500"/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Courier New" panose="02070309020205020404" pitchFamily="49" charset="0"/>
                        </a:rPr>
                        <a:t>FileReader</a:t>
                      </a:r>
                      <a:r>
                        <a:rPr lang="en-US" sz="1500"/>
                        <a:t>, </a:t>
                      </a:r>
                      <a:r>
                        <a:rPr lang="en-US" sz="1500">
                          <a:latin typeface="Courier New" panose="02070309020205020404" pitchFamily="49" charset="0"/>
                        </a:rPr>
                        <a:t>FileWriter</a:t>
                      </a:r>
                      <a:endParaRPr lang="en-US" sz="1500"/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Suitable For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Images, audio, video, PDFs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Text files, documents, logs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Portability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Lower for text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Higher for text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1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Conversion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 encoding conversion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Handles encoding/decoding</a:t>
                      </a:r>
                    </a:p>
                  </a:txBody>
                  <a:tcPr marL="74616" marR="74616" marT="37292" marB="372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0686" name="TextBox 4">
            <a:extLst>
              <a:ext uri="{FF2B5EF4-FFF2-40B4-BE49-F238E27FC236}">
                <a16:creationId xmlns:a16="http://schemas.microsoft.com/office/drawing/2014/main" id="{C5B6C5F2-8495-ED74-B71B-2BE1446D1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-33338"/>
            <a:ext cx="1612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Differences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7E4FCB1512840BAD4581AEB2993C3" ma:contentTypeVersion="3" ma:contentTypeDescription="Create a new document." ma:contentTypeScope="" ma:versionID="324425fce7a942132883d4f789ce0353">
  <xsd:schema xmlns:xsd="http://www.w3.org/2001/XMLSchema" xmlns:xs="http://www.w3.org/2001/XMLSchema" xmlns:p="http://schemas.microsoft.com/office/2006/metadata/properties" xmlns:ns2="e8abe1e0-1045-4bfa-861e-7a9dbaef2821" targetNamespace="http://schemas.microsoft.com/office/2006/metadata/properties" ma:root="true" ma:fieldsID="38e4dca0b9b8fb153f01297bae77524f" ns2:_="">
    <xsd:import namespace="e8abe1e0-1045-4bfa-861e-7a9dbaef28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be1e0-1045-4bfa-861e-7a9dbaef2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29FAD2-8E49-436D-BE57-1DAD8F9AE7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be1e0-1045-4bfa-861e-7a9dbaef28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53DB5B-F776-4940-9316-45F1C5AEB5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java_introduction_2013</Template>
  <TotalTime>9638</TotalTime>
  <Words>2988</Words>
  <Application>Microsoft Office PowerPoint</Application>
  <PresentationFormat>On-screen Show (4:3)</PresentationFormat>
  <Paragraphs>525</Paragraphs>
  <Slides>65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Standarddesign</vt:lpstr>
      <vt:lpstr>IO Streams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Byte stream</vt:lpstr>
      <vt:lpstr>Character 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Virginia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Swing</dc:title>
  <dc:subject>cs3724</dc:subject>
  <dc:creator>Chris North</dc:creator>
  <cp:lastModifiedBy>Manjula K. Shenoy [MAHE-MIT]</cp:lastModifiedBy>
  <cp:revision>651</cp:revision>
  <dcterms:created xsi:type="dcterms:W3CDTF">1601-01-01T00:00:00Z</dcterms:created>
  <dcterms:modified xsi:type="dcterms:W3CDTF">2026-02-02T08:51:33Z</dcterms:modified>
</cp:coreProperties>
</file>