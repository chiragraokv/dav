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1"/>
  </p:notesMasterIdLst>
  <p:sldIdLst>
    <p:sldId id="306" r:id="rId5"/>
    <p:sldId id="307" r:id="rId6"/>
    <p:sldId id="349" r:id="rId7"/>
    <p:sldId id="308" r:id="rId8"/>
    <p:sldId id="309" r:id="rId9"/>
    <p:sldId id="310" r:id="rId10"/>
    <p:sldId id="357" r:id="rId11"/>
    <p:sldId id="358" r:id="rId12"/>
    <p:sldId id="359" r:id="rId13"/>
    <p:sldId id="360" r:id="rId14"/>
    <p:sldId id="302" r:id="rId15"/>
    <p:sldId id="303" r:id="rId16"/>
    <p:sldId id="304" r:id="rId17"/>
    <p:sldId id="305" r:id="rId18"/>
    <p:sldId id="313" r:id="rId19"/>
    <p:sldId id="314" r:id="rId20"/>
    <p:sldId id="315" r:id="rId21"/>
    <p:sldId id="316" r:id="rId22"/>
    <p:sldId id="345" r:id="rId23"/>
    <p:sldId id="347" r:id="rId24"/>
    <p:sldId id="319" r:id="rId25"/>
    <p:sldId id="260" r:id="rId26"/>
    <p:sldId id="261" r:id="rId27"/>
    <p:sldId id="262" r:id="rId28"/>
    <p:sldId id="263" r:id="rId29"/>
    <p:sldId id="264" r:id="rId30"/>
    <p:sldId id="265" r:id="rId31"/>
    <p:sldId id="323" r:id="rId32"/>
    <p:sldId id="324" r:id="rId33"/>
    <p:sldId id="325" r:id="rId34"/>
    <p:sldId id="365" r:id="rId35"/>
    <p:sldId id="364" r:id="rId36"/>
    <p:sldId id="326" r:id="rId37"/>
    <p:sldId id="327" r:id="rId38"/>
    <p:sldId id="328" r:id="rId39"/>
    <p:sldId id="366" r:id="rId40"/>
    <p:sldId id="329" r:id="rId41"/>
    <p:sldId id="331" r:id="rId42"/>
    <p:sldId id="332" r:id="rId43"/>
    <p:sldId id="333" r:id="rId44"/>
    <p:sldId id="334" r:id="rId45"/>
    <p:sldId id="373" r:id="rId46"/>
    <p:sldId id="375" r:id="rId47"/>
    <p:sldId id="335" r:id="rId48"/>
    <p:sldId id="336" r:id="rId49"/>
    <p:sldId id="337"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474" autoAdjust="0"/>
  </p:normalViewPr>
  <p:slideViewPr>
    <p:cSldViewPr>
      <p:cViewPr varScale="1">
        <p:scale>
          <a:sx n="48" d="100"/>
          <a:sy n="48" d="100"/>
        </p:scale>
        <p:origin x="1728" y="2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7D2FAA-5F23-42C5-8FF7-A1A82FD3A0DB}" type="datetimeFigureOut">
              <a:rPr lang="en-US" smtClean="0"/>
              <a:t>3/17/2026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2999FA-DDB4-469E-A0D7-A73C5E2467D3}" type="slidenum">
              <a:rPr lang="en-US" smtClean="0"/>
              <a:t>‹#›</a:t>
            </a:fld>
            <a:endParaRPr lang="en-US"/>
          </a:p>
        </p:txBody>
      </p:sp>
    </p:spTree>
    <p:extLst>
      <p:ext uri="{BB962C8B-B14F-4D97-AF65-F5344CB8AC3E}">
        <p14:creationId xmlns:p14="http://schemas.microsoft.com/office/powerpoint/2010/main" val="22243250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272999FA-DDB4-469E-A0D7-A73C5E2467D3}" type="slidenum">
              <a:rPr lang="en-US" smtClean="0"/>
              <a:t>2</a:t>
            </a:fld>
            <a:endParaRPr lang="en-US"/>
          </a:p>
        </p:txBody>
      </p:sp>
    </p:spTree>
    <p:extLst>
      <p:ext uri="{BB962C8B-B14F-4D97-AF65-F5344CB8AC3E}">
        <p14:creationId xmlns:p14="http://schemas.microsoft.com/office/powerpoint/2010/main" val="34387106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What is type safety in Java example?</a:t>
            </a:r>
          </a:p>
          <a:p>
            <a:r>
              <a:rPr lang="en-US" sz="1200" b="0" i="0" kern="1200" dirty="0">
                <a:solidFill>
                  <a:schemeClr val="tx1"/>
                </a:solidFill>
                <a:effectLst/>
                <a:latin typeface="+mn-lt"/>
                <a:ea typeface="+mn-ea"/>
                <a:cs typeface="+mn-cs"/>
              </a:rPr>
              <a:t>Type-Safety. Arrays are always type-safe that is we can give the guarantee for the type of elements present inside the array. For example, if our programming requirement is to hold String type of objects it is recommended to use String array</a:t>
            </a:r>
            <a:endParaRPr lang="en-IN" dirty="0"/>
          </a:p>
        </p:txBody>
      </p:sp>
      <p:sp>
        <p:nvSpPr>
          <p:cNvPr id="4" name="Slide Number Placeholder 3"/>
          <p:cNvSpPr>
            <a:spLocks noGrp="1"/>
          </p:cNvSpPr>
          <p:nvPr>
            <p:ph type="sldNum" sz="quarter" idx="10"/>
          </p:nvPr>
        </p:nvSpPr>
        <p:spPr/>
        <p:txBody>
          <a:bodyPr/>
          <a:lstStyle/>
          <a:p>
            <a:fld id="{272999FA-DDB4-469E-A0D7-A73C5E2467D3}" type="slidenum">
              <a:rPr lang="en-US" smtClean="0"/>
              <a:t>4</a:t>
            </a:fld>
            <a:endParaRPr lang="en-US"/>
          </a:p>
        </p:txBody>
      </p:sp>
    </p:spTree>
    <p:extLst>
      <p:ext uri="{BB962C8B-B14F-4D97-AF65-F5344CB8AC3E}">
        <p14:creationId xmlns:p14="http://schemas.microsoft.com/office/powerpoint/2010/main" val="34575869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err="1">
                <a:solidFill>
                  <a:schemeClr val="tx1"/>
                </a:solidFill>
                <a:effectLst/>
                <a:latin typeface="+mn-lt"/>
                <a:ea typeface="+mn-ea"/>
                <a:cs typeface="+mn-cs"/>
              </a:rPr>
              <a:t>ReferenceType</a:t>
            </a:r>
            <a:r>
              <a:rPr lang="en-US" sz="1200" b="0" i="0" kern="1200" dirty="0">
                <a:solidFill>
                  <a:schemeClr val="tx1"/>
                </a:solidFill>
                <a:effectLst/>
                <a:latin typeface="+mn-lt"/>
                <a:ea typeface="+mn-ea"/>
                <a:cs typeface="+mn-cs"/>
              </a:rPr>
              <a:t> encompasses classes, interfaces, and array types as defined in The Java™ Language Specification . All </a:t>
            </a:r>
            <a:r>
              <a:rPr lang="en-US" sz="1200" b="0" i="0" kern="1200" dirty="0" err="1">
                <a:solidFill>
                  <a:schemeClr val="tx1"/>
                </a:solidFill>
                <a:effectLst/>
                <a:latin typeface="+mn-lt"/>
                <a:ea typeface="+mn-ea"/>
                <a:cs typeface="+mn-cs"/>
              </a:rPr>
              <a:t>ReferenceType</a:t>
            </a:r>
            <a:r>
              <a:rPr lang="en-US" sz="1200" b="0" i="0" kern="1200" dirty="0">
                <a:solidFill>
                  <a:schemeClr val="tx1"/>
                </a:solidFill>
                <a:effectLst/>
                <a:latin typeface="+mn-lt"/>
                <a:ea typeface="+mn-ea"/>
                <a:cs typeface="+mn-cs"/>
              </a:rPr>
              <a:t> objects belong to one of the following </a:t>
            </a:r>
            <a:r>
              <a:rPr lang="en-US" sz="1200" b="0" i="0" kern="1200" dirty="0" err="1">
                <a:solidFill>
                  <a:schemeClr val="tx1"/>
                </a:solidFill>
                <a:effectLst/>
                <a:latin typeface="+mn-lt"/>
                <a:ea typeface="+mn-ea"/>
                <a:cs typeface="+mn-cs"/>
              </a:rPr>
              <a:t>subinterfaces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ClassType</a:t>
            </a:r>
            <a:r>
              <a:rPr lang="en-US" sz="1200" b="0" i="0" kern="1200" dirty="0">
                <a:solidFill>
                  <a:schemeClr val="tx1"/>
                </a:solidFill>
                <a:effectLst/>
                <a:latin typeface="+mn-lt"/>
                <a:ea typeface="+mn-ea"/>
                <a:cs typeface="+mn-cs"/>
              </a:rPr>
              <a:t> for classes, </a:t>
            </a:r>
            <a:r>
              <a:rPr lang="en-US" sz="1200" b="0" i="0" kern="1200" dirty="0" err="1">
                <a:solidFill>
                  <a:schemeClr val="tx1"/>
                </a:solidFill>
                <a:effectLst/>
                <a:latin typeface="+mn-lt"/>
                <a:ea typeface="+mn-ea"/>
                <a:cs typeface="+mn-cs"/>
              </a:rPr>
              <a:t>InterfaceType</a:t>
            </a:r>
            <a:r>
              <a:rPr lang="en-US" sz="1200" b="0" i="0" kern="1200" dirty="0">
                <a:solidFill>
                  <a:schemeClr val="tx1"/>
                </a:solidFill>
                <a:effectLst/>
                <a:latin typeface="+mn-lt"/>
                <a:ea typeface="+mn-ea"/>
                <a:cs typeface="+mn-cs"/>
              </a:rPr>
              <a:t> for interfaces, and </a:t>
            </a:r>
            <a:r>
              <a:rPr lang="en-US" sz="1200" b="0" i="0" kern="1200" dirty="0" err="1">
                <a:solidFill>
                  <a:schemeClr val="tx1"/>
                </a:solidFill>
                <a:effectLst/>
                <a:latin typeface="+mn-lt"/>
                <a:ea typeface="+mn-ea"/>
                <a:cs typeface="+mn-cs"/>
              </a:rPr>
              <a:t>ArrayType</a:t>
            </a:r>
            <a:r>
              <a:rPr lang="en-US" sz="1200" b="0" i="0" kern="1200" dirty="0">
                <a:solidFill>
                  <a:schemeClr val="tx1"/>
                </a:solidFill>
                <a:effectLst/>
                <a:latin typeface="+mn-lt"/>
                <a:ea typeface="+mn-ea"/>
                <a:cs typeface="+mn-cs"/>
              </a:rPr>
              <a:t> for arrays.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Reference datatypes in java are those which contains reference/address of dynamically created objects. These are not predefined like primitive data types. Following are the reference types in Java. class types − This reference type points to an object of a class. array types − This reference type points to an array</a:t>
            </a:r>
            <a:endParaRPr lang="en-IN" dirty="0"/>
          </a:p>
        </p:txBody>
      </p:sp>
      <p:sp>
        <p:nvSpPr>
          <p:cNvPr id="4" name="Slide Number Placeholder 3"/>
          <p:cNvSpPr>
            <a:spLocks noGrp="1"/>
          </p:cNvSpPr>
          <p:nvPr>
            <p:ph type="sldNum" sz="quarter" idx="10"/>
          </p:nvPr>
        </p:nvSpPr>
        <p:spPr/>
        <p:txBody>
          <a:bodyPr/>
          <a:lstStyle/>
          <a:p>
            <a:fld id="{272999FA-DDB4-469E-A0D7-A73C5E2467D3}" type="slidenum">
              <a:rPr lang="en-US" smtClean="0"/>
              <a:t>7</a:t>
            </a:fld>
            <a:endParaRPr lang="en-US"/>
          </a:p>
        </p:txBody>
      </p:sp>
    </p:spTree>
    <p:extLst>
      <p:ext uri="{BB962C8B-B14F-4D97-AF65-F5344CB8AC3E}">
        <p14:creationId xmlns:p14="http://schemas.microsoft.com/office/powerpoint/2010/main" val="2694572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err="1">
                <a:solidFill>
                  <a:schemeClr val="tx1"/>
                </a:solidFill>
                <a:effectLst/>
                <a:latin typeface="+mn-lt"/>
                <a:ea typeface="+mn-ea"/>
                <a:cs typeface="+mn-cs"/>
              </a:rPr>
              <a:t>ReferenceType</a:t>
            </a:r>
            <a:r>
              <a:rPr lang="en-US" sz="1200" b="0" i="0" kern="1200" dirty="0">
                <a:solidFill>
                  <a:schemeClr val="tx1"/>
                </a:solidFill>
                <a:effectLst/>
                <a:latin typeface="+mn-lt"/>
                <a:ea typeface="+mn-ea"/>
                <a:cs typeface="+mn-cs"/>
              </a:rPr>
              <a:t> encompasses classes, interfaces, and array types as defined in The Java™ Language Specification . All </a:t>
            </a:r>
            <a:r>
              <a:rPr lang="en-US" sz="1200" b="0" i="0" kern="1200" dirty="0" err="1">
                <a:solidFill>
                  <a:schemeClr val="tx1"/>
                </a:solidFill>
                <a:effectLst/>
                <a:latin typeface="+mn-lt"/>
                <a:ea typeface="+mn-ea"/>
                <a:cs typeface="+mn-cs"/>
              </a:rPr>
              <a:t>ReferenceType</a:t>
            </a:r>
            <a:r>
              <a:rPr lang="en-US" sz="1200" b="0" i="0" kern="1200" dirty="0">
                <a:solidFill>
                  <a:schemeClr val="tx1"/>
                </a:solidFill>
                <a:effectLst/>
                <a:latin typeface="+mn-lt"/>
                <a:ea typeface="+mn-ea"/>
                <a:cs typeface="+mn-cs"/>
              </a:rPr>
              <a:t> objects belong to one of the following </a:t>
            </a:r>
            <a:r>
              <a:rPr lang="en-US" sz="1200" b="0" i="0" kern="1200" dirty="0" err="1">
                <a:solidFill>
                  <a:schemeClr val="tx1"/>
                </a:solidFill>
                <a:effectLst/>
                <a:latin typeface="+mn-lt"/>
                <a:ea typeface="+mn-ea"/>
                <a:cs typeface="+mn-cs"/>
              </a:rPr>
              <a:t>subinterfaces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ClassType</a:t>
            </a:r>
            <a:r>
              <a:rPr lang="en-US" sz="1200" b="0" i="0" kern="1200" dirty="0">
                <a:solidFill>
                  <a:schemeClr val="tx1"/>
                </a:solidFill>
                <a:effectLst/>
                <a:latin typeface="+mn-lt"/>
                <a:ea typeface="+mn-ea"/>
                <a:cs typeface="+mn-cs"/>
              </a:rPr>
              <a:t> for classes, </a:t>
            </a:r>
            <a:r>
              <a:rPr lang="en-US" sz="1200" b="0" i="0" kern="1200" dirty="0" err="1">
                <a:solidFill>
                  <a:schemeClr val="tx1"/>
                </a:solidFill>
                <a:effectLst/>
                <a:latin typeface="+mn-lt"/>
                <a:ea typeface="+mn-ea"/>
                <a:cs typeface="+mn-cs"/>
              </a:rPr>
              <a:t>InterfaceType</a:t>
            </a:r>
            <a:r>
              <a:rPr lang="en-US" sz="1200" b="0" i="0" kern="1200" dirty="0">
                <a:solidFill>
                  <a:schemeClr val="tx1"/>
                </a:solidFill>
                <a:effectLst/>
                <a:latin typeface="+mn-lt"/>
                <a:ea typeface="+mn-ea"/>
                <a:cs typeface="+mn-cs"/>
              </a:rPr>
              <a:t> for interfaces, and </a:t>
            </a:r>
            <a:r>
              <a:rPr lang="en-US" sz="1200" b="0" i="0" kern="1200" dirty="0" err="1">
                <a:solidFill>
                  <a:schemeClr val="tx1"/>
                </a:solidFill>
                <a:effectLst/>
                <a:latin typeface="+mn-lt"/>
                <a:ea typeface="+mn-ea"/>
                <a:cs typeface="+mn-cs"/>
              </a:rPr>
              <a:t>ArrayType</a:t>
            </a:r>
            <a:r>
              <a:rPr lang="en-US" sz="1200" b="0" i="0" kern="1200" dirty="0">
                <a:solidFill>
                  <a:schemeClr val="tx1"/>
                </a:solidFill>
                <a:effectLst/>
                <a:latin typeface="+mn-lt"/>
                <a:ea typeface="+mn-ea"/>
                <a:cs typeface="+mn-cs"/>
              </a:rPr>
              <a:t> for arrays.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Reference datatypes in java are those which contains reference/address of dynamically created objects. These are not predefined like primitive data types. Following are the reference types in Java. class types − This reference type points to an object of a class. array types − This reference type points to an array</a:t>
            </a:r>
            <a:endParaRPr lang="en-IN" dirty="0"/>
          </a:p>
        </p:txBody>
      </p:sp>
      <p:sp>
        <p:nvSpPr>
          <p:cNvPr id="4" name="Slide Number Placeholder 3"/>
          <p:cNvSpPr>
            <a:spLocks noGrp="1"/>
          </p:cNvSpPr>
          <p:nvPr>
            <p:ph type="sldNum" sz="quarter" idx="10"/>
          </p:nvPr>
        </p:nvSpPr>
        <p:spPr/>
        <p:txBody>
          <a:bodyPr/>
          <a:lstStyle/>
          <a:p>
            <a:fld id="{272999FA-DDB4-469E-A0D7-A73C5E2467D3}" type="slidenum">
              <a:rPr lang="en-US" smtClean="0"/>
              <a:t>8</a:t>
            </a:fld>
            <a:endParaRPr lang="en-US"/>
          </a:p>
        </p:txBody>
      </p:sp>
    </p:spTree>
    <p:extLst>
      <p:ext uri="{BB962C8B-B14F-4D97-AF65-F5344CB8AC3E}">
        <p14:creationId xmlns:p14="http://schemas.microsoft.com/office/powerpoint/2010/main" val="3673159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err="1">
                <a:solidFill>
                  <a:schemeClr val="tx1"/>
                </a:solidFill>
                <a:effectLst/>
                <a:latin typeface="+mn-lt"/>
                <a:ea typeface="+mn-ea"/>
                <a:cs typeface="+mn-cs"/>
              </a:rPr>
              <a:t>ReferenceType</a:t>
            </a:r>
            <a:r>
              <a:rPr lang="en-US" sz="1200" b="0" i="0" kern="1200" dirty="0">
                <a:solidFill>
                  <a:schemeClr val="tx1"/>
                </a:solidFill>
                <a:effectLst/>
                <a:latin typeface="+mn-lt"/>
                <a:ea typeface="+mn-ea"/>
                <a:cs typeface="+mn-cs"/>
              </a:rPr>
              <a:t> encompasses classes, interfaces, and array types as defined in The Java™ Language Specification . All </a:t>
            </a:r>
            <a:r>
              <a:rPr lang="en-US" sz="1200" b="0" i="0" kern="1200" dirty="0" err="1">
                <a:solidFill>
                  <a:schemeClr val="tx1"/>
                </a:solidFill>
                <a:effectLst/>
                <a:latin typeface="+mn-lt"/>
                <a:ea typeface="+mn-ea"/>
                <a:cs typeface="+mn-cs"/>
              </a:rPr>
              <a:t>ReferenceType</a:t>
            </a:r>
            <a:r>
              <a:rPr lang="en-US" sz="1200" b="0" i="0" kern="1200" dirty="0">
                <a:solidFill>
                  <a:schemeClr val="tx1"/>
                </a:solidFill>
                <a:effectLst/>
                <a:latin typeface="+mn-lt"/>
                <a:ea typeface="+mn-ea"/>
                <a:cs typeface="+mn-cs"/>
              </a:rPr>
              <a:t> objects belong to one of the following </a:t>
            </a:r>
            <a:r>
              <a:rPr lang="en-US" sz="1200" b="0" i="0" kern="1200" dirty="0" err="1">
                <a:solidFill>
                  <a:schemeClr val="tx1"/>
                </a:solidFill>
                <a:effectLst/>
                <a:latin typeface="+mn-lt"/>
                <a:ea typeface="+mn-ea"/>
                <a:cs typeface="+mn-cs"/>
              </a:rPr>
              <a:t>subinterfaces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ClassType</a:t>
            </a:r>
            <a:r>
              <a:rPr lang="en-US" sz="1200" b="0" i="0" kern="1200" dirty="0">
                <a:solidFill>
                  <a:schemeClr val="tx1"/>
                </a:solidFill>
                <a:effectLst/>
                <a:latin typeface="+mn-lt"/>
                <a:ea typeface="+mn-ea"/>
                <a:cs typeface="+mn-cs"/>
              </a:rPr>
              <a:t> for classes, </a:t>
            </a:r>
            <a:r>
              <a:rPr lang="en-US" sz="1200" b="0" i="0" kern="1200" dirty="0" err="1">
                <a:solidFill>
                  <a:schemeClr val="tx1"/>
                </a:solidFill>
                <a:effectLst/>
                <a:latin typeface="+mn-lt"/>
                <a:ea typeface="+mn-ea"/>
                <a:cs typeface="+mn-cs"/>
              </a:rPr>
              <a:t>InterfaceType</a:t>
            </a:r>
            <a:r>
              <a:rPr lang="en-US" sz="1200" b="0" i="0" kern="1200" dirty="0">
                <a:solidFill>
                  <a:schemeClr val="tx1"/>
                </a:solidFill>
                <a:effectLst/>
                <a:latin typeface="+mn-lt"/>
                <a:ea typeface="+mn-ea"/>
                <a:cs typeface="+mn-cs"/>
              </a:rPr>
              <a:t> for interfaces, and </a:t>
            </a:r>
            <a:r>
              <a:rPr lang="en-US" sz="1200" b="0" i="0" kern="1200" dirty="0" err="1">
                <a:solidFill>
                  <a:schemeClr val="tx1"/>
                </a:solidFill>
                <a:effectLst/>
                <a:latin typeface="+mn-lt"/>
                <a:ea typeface="+mn-ea"/>
                <a:cs typeface="+mn-cs"/>
              </a:rPr>
              <a:t>ArrayType</a:t>
            </a:r>
            <a:r>
              <a:rPr lang="en-US" sz="1200" b="0" i="0" kern="1200" dirty="0">
                <a:solidFill>
                  <a:schemeClr val="tx1"/>
                </a:solidFill>
                <a:effectLst/>
                <a:latin typeface="+mn-lt"/>
                <a:ea typeface="+mn-ea"/>
                <a:cs typeface="+mn-cs"/>
              </a:rPr>
              <a:t> for arrays.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Reference datatypes in java are those which contains reference/address of dynamically created objects. These are not predefined like primitive data types. Following are the reference types in Java. class types − This reference type points to an object of a class. array types − This reference type points to an array</a:t>
            </a:r>
          </a:p>
          <a:p>
            <a:r>
              <a:rPr lang="en-US" sz="1200" b="0" i="0" kern="1200" dirty="0">
                <a:solidFill>
                  <a:schemeClr val="tx1"/>
                </a:solidFill>
                <a:effectLst/>
                <a:latin typeface="+mn-lt"/>
                <a:ea typeface="+mn-ea"/>
                <a:cs typeface="+mn-cs"/>
              </a:rPr>
              <a:t>Integer wrapper class:</a:t>
            </a:r>
          </a:p>
          <a:p>
            <a:r>
              <a:rPr lang="en-IN" dirty="0"/>
              <a:t>Syntax</a:t>
            </a:r>
            <a:r>
              <a:rPr lang="en-IN" b="1" dirty="0"/>
              <a:t>:      public Integer(</a:t>
            </a:r>
            <a:r>
              <a:rPr lang="en-IN" b="1" dirty="0" err="1"/>
              <a:t>int</a:t>
            </a:r>
            <a:r>
              <a:rPr lang="en-IN" b="1" dirty="0"/>
              <a:t> b)</a:t>
            </a:r>
          </a:p>
          <a:p>
            <a:endParaRPr lang="en-US" b="1" dirty="0"/>
          </a:p>
          <a:p>
            <a:pPr fontAlgn="base"/>
            <a:r>
              <a:rPr lang="en-US" sz="1200" b="1" i="0" kern="1200" dirty="0">
                <a:solidFill>
                  <a:schemeClr val="tx1"/>
                </a:solidFill>
                <a:effectLst/>
                <a:latin typeface="+mn-lt"/>
                <a:ea typeface="+mn-ea"/>
                <a:cs typeface="+mn-cs"/>
              </a:rPr>
              <a:t>Constructors:</a:t>
            </a:r>
            <a:r>
              <a:rPr lang="en-US" sz="1200" b="0" i="0" kern="1200" dirty="0">
                <a:solidFill>
                  <a:schemeClr val="tx1"/>
                </a:solidFill>
                <a:effectLst/>
                <a:latin typeface="+mn-lt"/>
                <a:ea typeface="+mn-ea"/>
                <a:cs typeface="+mn-cs"/>
              </a:rPr>
              <a:t> </a:t>
            </a:r>
          </a:p>
          <a:p>
            <a:pPr fontAlgn="base"/>
            <a:r>
              <a:rPr lang="en-US" sz="1200" b="1" i="0" kern="1200" dirty="0">
                <a:solidFill>
                  <a:schemeClr val="tx1"/>
                </a:solidFill>
                <a:effectLst/>
                <a:latin typeface="+mn-lt"/>
                <a:ea typeface="+mn-ea"/>
                <a:cs typeface="+mn-cs"/>
              </a:rPr>
              <a:t>Integer(</a:t>
            </a:r>
            <a:r>
              <a:rPr lang="en-US" sz="1200" b="1" i="0" kern="1200" dirty="0" err="1">
                <a:solidFill>
                  <a:schemeClr val="tx1"/>
                </a:solidFill>
                <a:effectLst/>
                <a:latin typeface="+mn-lt"/>
                <a:ea typeface="+mn-ea"/>
                <a:cs typeface="+mn-cs"/>
              </a:rPr>
              <a:t>int</a:t>
            </a:r>
            <a:r>
              <a:rPr lang="en-US" sz="1200" b="1" i="0" kern="1200" dirty="0">
                <a:solidFill>
                  <a:schemeClr val="tx1"/>
                </a:solidFill>
                <a:effectLst/>
                <a:latin typeface="+mn-lt"/>
                <a:ea typeface="+mn-ea"/>
                <a:cs typeface="+mn-cs"/>
              </a:rPr>
              <a:t> b): </a:t>
            </a:r>
            <a:r>
              <a:rPr lang="en-US" sz="1200" b="0" i="0" kern="1200" dirty="0">
                <a:solidFill>
                  <a:schemeClr val="tx1"/>
                </a:solidFill>
                <a:effectLst/>
                <a:latin typeface="+mn-lt"/>
                <a:ea typeface="+mn-ea"/>
                <a:cs typeface="+mn-cs"/>
              </a:rPr>
              <a:t>Creates an Integer object initialized with the value provided.</a:t>
            </a:r>
          </a:p>
          <a:p>
            <a:endParaRPr lang="en-IN" b="1" dirty="0"/>
          </a:p>
        </p:txBody>
      </p:sp>
      <p:sp>
        <p:nvSpPr>
          <p:cNvPr id="4" name="Slide Number Placeholder 3"/>
          <p:cNvSpPr>
            <a:spLocks noGrp="1"/>
          </p:cNvSpPr>
          <p:nvPr>
            <p:ph type="sldNum" sz="quarter" idx="10"/>
          </p:nvPr>
        </p:nvSpPr>
        <p:spPr/>
        <p:txBody>
          <a:bodyPr/>
          <a:lstStyle/>
          <a:p>
            <a:fld id="{272999FA-DDB4-469E-A0D7-A73C5E2467D3}" type="slidenum">
              <a:rPr lang="en-US" smtClean="0"/>
              <a:t>9</a:t>
            </a:fld>
            <a:endParaRPr lang="en-US"/>
          </a:p>
        </p:txBody>
      </p:sp>
    </p:spTree>
    <p:extLst>
      <p:ext uri="{BB962C8B-B14F-4D97-AF65-F5344CB8AC3E}">
        <p14:creationId xmlns:p14="http://schemas.microsoft.com/office/powerpoint/2010/main" val="42864169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err="1">
                <a:solidFill>
                  <a:schemeClr val="tx1"/>
                </a:solidFill>
                <a:effectLst/>
                <a:latin typeface="+mn-lt"/>
                <a:ea typeface="+mn-ea"/>
                <a:cs typeface="+mn-cs"/>
              </a:rPr>
              <a:t>ReferenceType</a:t>
            </a:r>
            <a:r>
              <a:rPr lang="en-US" sz="1200" b="0" i="0" kern="1200" dirty="0">
                <a:solidFill>
                  <a:schemeClr val="tx1"/>
                </a:solidFill>
                <a:effectLst/>
                <a:latin typeface="+mn-lt"/>
                <a:ea typeface="+mn-ea"/>
                <a:cs typeface="+mn-cs"/>
              </a:rPr>
              <a:t> encompasses classes, interfaces, and array types as defined in The Java™ Language Specification . All </a:t>
            </a:r>
            <a:r>
              <a:rPr lang="en-US" sz="1200" b="0" i="0" kern="1200" dirty="0" err="1">
                <a:solidFill>
                  <a:schemeClr val="tx1"/>
                </a:solidFill>
                <a:effectLst/>
                <a:latin typeface="+mn-lt"/>
                <a:ea typeface="+mn-ea"/>
                <a:cs typeface="+mn-cs"/>
              </a:rPr>
              <a:t>ReferenceType</a:t>
            </a:r>
            <a:r>
              <a:rPr lang="en-US" sz="1200" b="0" i="0" kern="1200" dirty="0">
                <a:solidFill>
                  <a:schemeClr val="tx1"/>
                </a:solidFill>
                <a:effectLst/>
                <a:latin typeface="+mn-lt"/>
                <a:ea typeface="+mn-ea"/>
                <a:cs typeface="+mn-cs"/>
              </a:rPr>
              <a:t> objects belong to one of the following </a:t>
            </a:r>
            <a:r>
              <a:rPr lang="en-US" sz="1200" b="0" i="0" kern="1200" dirty="0" err="1">
                <a:solidFill>
                  <a:schemeClr val="tx1"/>
                </a:solidFill>
                <a:effectLst/>
                <a:latin typeface="+mn-lt"/>
                <a:ea typeface="+mn-ea"/>
                <a:cs typeface="+mn-cs"/>
              </a:rPr>
              <a:t>subinterfaces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ClassType</a:t>
            </a:r>
            <a:r>
              <a:rPr lang="en-US" sz="1200" b="0" i="0" kern="1200" dirty="0">
                <a:solidFill>
                  <a:schemeClr val="tx1"/>
                </a:solidFill>
                <a:effectLst/>
                <a:latin typeface="+mn-lt"/>
                <a:ea typeface="+mn-ea"/>
                <a:cs typeface="+mn-cs"/>
              </a:rPr>
              <a:t> for classes, </a:t>
            </a:r>
            <a:r>
              <a:rPr lang="en-US" sz="1200" b="0" i="0" kern="1200" dirty="0" err="1">
                <a:solidFill>
                  <a:schemeClr val="tx1"/>
                </a:solidFill>
                <a:effectLst/>
                <a:latin typeface="+mn-lt"/>
                <a:ea typeface="+mn-ea"/>
                <a:cs typeface="+mn-cs"/>
              </a:rPr>
              <a:t>InterfaceType</a:t>
            </a:r>
            <a:r>
              <a:rPr lang="en-US" sz="1200" b="0" i="0" kern="1200" dirty="0">
                <a:solidFill>
                  <a:schemeClr val="tx1"/>
                </a:solidFill>
                <a:effectLst/>
                <a:latin typeface="+mn-lt"/>
                <a:ea typeface="+mn-ea"/>
                <a:cs typeface="+mn-cs"/>
              </a:rPr>
              <a:t> for interfaces, and </a:t>
            </a:r>
            <a:r>
              <a:rPr lang="en-US" sz="1200" b="0" i="0" kern="1200" dirty="0" err="1">
                <a:solidFill>
                  <a:schemeClr val="tx1"/>
                </a:solidFill>
                <a:effectLst/>
                <a:latin typeface="+mn-lt"/>
                <a:ea typeface="+mn-ea"/>
                <a:cs typeface="+mn-cs"/>
              </a:rPr>
              <a:t>ArrayType</a:t>
            </a:r>
            <a:r>
              <a:rPr lang="en-US" sz="1200" b="0" i="0" kern="1200" dirty="0">
                <a:solidFill>
                  <a:schemeClr val="tx1"/>
                </a:solidFill>
                <a:effectLst/>
                <a:latin typeface="+mn-lt"/>
                <a:ea typeface="+mn-ea"/>
                <a:cs typeface="+mn-cs"/>
              </a:rPr>
              <a:t> for arrays.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Reference datatypes in java are those which contains reference/address of dynamically created objects. These are not predefined like primitive data types. Following are the reference types in Java. class types − This reference type points to an object of a class. array types − This reference type points to an array</a:t>
            </a:r>
            <a:endParaRPr lang="en-IN" dirty="0"/>
          </a:p>
        </p:txBody>
      </p:sp>
      <p:sp>
        <p:nvSpPr>
          <p:cNvPr id="4" name="Slide Number Placeholder 3"/>
          <p:cNvSpPr>
            <a:spLocks noGrp="1"/>
          </p:cNvSpPr>
          <p:nvPr>
            <p:ph type="sldNum" sz="quarter" idx="10"/>
          </p:nvPr>
        </p:nvSpPr>
        <p:spPr/>
        <p:txBody>
          <a:bodyPr/>
          <a:lstStyle/>
          <a:p>
            <a:fld id="{272999FA-DDB4-469E-A0D7-A73C5E2467D3}" type="slidenum">
              <a:rPr lang="en-US" smtClean="0"/>
              <a:t>10</a:t>
            </a:fld>
            <a:endParaRPr lang="en-US"/>
          </a:p>
        </p:txBody>
      </p:sp>
    </p:spTree>
    <p:extLst>
      <p:ext uri="{BB962C8B-B14F-4D97-AF65-F5344CB8AC3E}">
        <p14:creationId xmlns:p14="http://schemas.microsoft.com/office/powerpoint/2010/main" val="33900661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a:t>getclass</a:t>
            </a:r>
            <a:r>
              <a:rPr lang="en-US" b="1" dirty="0"/>
              <a:t>() </a:t>
            </a:r>
            <a:r>
              <a:rPr lang="en-US" dirty="0"/>
              <a:t>is the method of </a:t>
            </a:r>
            <a:r>
              <a:rPr lang="en-US" b="1" dirty="0"/>
              <a:t>Object</a:t>
            </a:r>
            <a:r>
              <a:rPr lang="en-US" dirty="0"/>
              <a:t> class that returns a</a:t>
            </a:r>
            <a:r>
              <a:rPr lang="en-US" baseline="0" dirty="0"/>
              <a:t> </a:t>
            </a:r>
            <a:r>
              <a:rPr lang="en-US" b="1" baseline="0" dirty="0"/>
              <a:t>Class</a:t>
            </a:r>
            <a:r>
              <a:rPr lang="en-US" baseline="0" dirty="0"/>
              <a:t> object that corresponds to the </a:t>
            </a:r>
            <a:r>
              <a:rPr lang="en-US" b="1" baseline="0" dirty="0"/>
              <a:t>class type </a:t>
            </a:r>
            <a:r>
              <a:rPr lang="en-US" baseline="0" dirty="0"/>
              <a:t>of the </a:t>
            </a:r>
            <a:r>
              <a:rPr lang="en-US" b="1" baseline="0" dirty="0"/>
              <a:t>object</a:t>
            </a:r>
            <a:r>
              <a:rPr lang="en-US" baseline="0" dirty="0"/>
              <a:t> on which it is called.</a:t>
            </a:r>
          </a:p>
          <a:p>
            <a:endParaRPr lang="en-US" baseline="0" dirty="0"/>
          </a:p>
          <a:p>
            <a:r>
              <a:rPr lang="en-US" b="1" baseline="0" dirty="0"/>
              <a:t>Class</a:t>
            </a:r>
            <a:r>
              <a:rPr lang="en-US" baseline="0" dirty="0"/>
              <a:t> is a class defined within</a:t>
            </a:r>
            <a:r>
              <a:rPr lang="en-US" b="1" baseline="0" dirty="0"/>
              <a:t> </a:t>
            </a:r>
            <a:r>
              <a:rPr lang="en-US" b="1" baseline="0" dirty="0" err="1"/>
              <a:t>java.lang</a:t>
            </a:r>
            <a:r>
              <a:rPr lang="en-US" b="1" baseline="0" dirty="0"/>
              <a:t> </a:t>
            </a:r>
            <a:r>
              <a:rPr lang="en-US" baseline="0" dirty="0"/>
              <a:t>that encapsulates information about the class. </a:t>
            </a:r>
            <a:r>
              <a:rPr lang="en-US" b="1" baseline="0" dirty="0"/>
              <a:t> </a:t>
            </a:r>
            <a:r>
              <a:rPr lang="en-US" b="1" baseline="0" dirty="0" err="1"/>
              <a:t>getName</a:t>
            </a:r>
            <a:r>
              <a:rPr lang="en-US" b="1" baseline="0" dirty="0"/>
              <a:t>() </a:t>
            </a:r>
            <a:r>
              <a:rPr lang="en-US" baseline="0" dirty="0"/>
              <a:t>is a method of Class, which returns a string( name) representation of the class.</a:t>
            </a:r>
            <a:endParaRPr lang="en-IN" dirty="0"/>
          </a:p>
        </p:txBody>
      </p:sp>
      <p:sp>
        <p:nvSpPr>
          <p:cNvPr id="4" name="Slide Number Placeholder 3"/>
          <p:cNvSpPr>
            <a:spLocks noGrp="1"/>
          </p:cNvSpPr>
          <p:nvPr>
            <p:ph type="sldNum" sz="quarter" idx="10"/>
          </p:nvPr>
        </p:nvSpPr>
        <p:spPr/>
        <p:txBody>
          <a:bodyPr/>
          <a:lstStyle/>
          <a:p>
            <a:fld id="{272999FA-DDB4-469E-A0D7-A73C5E2467D3}" type="slidenum">
              <a:rPr lang="en-US" smtClean="0"/>
              <a:t>12</a:t>
            </a:fld>
            <a:endParaRPr lang="en-US"/>
          </a:p>
        </p:txBody>
      </p:sp>
    </p:spTree>
    <p:extLst>
      <p:ext uri="{BB962C8B-B14F-4D97-AF65-F5344CB8AC3E}">
        <p14:creationId xmlns:p14="http://schemas.microsoft.com/office/powerpoint/2010/main" val="8744296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err="1">
                <a:solidFill>
                  <a:schemeClr val="tx1"/>
                </a:solidFill>
                <a:effectLst/>
                <a:latin typeface="+mn-lt"/>
                <a:ea typeface="+mn-ea"/>
                <a:cs typeface="+mn-cs"/>
              </a:rPr>
              <a:t>Autoboxing</a:t>
            </a:r>
            <a:r>
              <a:rPr lang="en-US" sz="1200" b="0" i="0" kern="1200" dirty="0">
                <a:solidFill>
                  <a:schemeClr val="tx1"/>
                </a:solidFill>
                <a:effectLst/>
                <a:latin typeface="+mn-lt"/>
                <a:ea typeface="+mn-ea"/>
                <a:cs typeface="+mn-cs"/>
              </a:rPr>
              <a:t> is the automatic conversion that the Java compiler makes between the primitive types and their corresponding object wrapper classes. For example, converting an </a:t>
            </a:r>
            <a:r>
              <a:rPr lang="en-US" sz="1200" b="0" i="0" kern="1200" dirty="0" err="1">
                <a:solidFill>
                  <a:schemeClr val="tx1"/>
                </a:solidFill>
                <a:effectLst/>
                <a:latin typeface="+mn-lt"/>
                <a:ea typeface="+mn-ea"/>
                <a:cs typeface="+mn-cs"/>
              </a:rPr>
              <a:t>int</a:t>
            </a:r>
            <a:r>
              <a:rPr lang="en-US" sz="1200" b="0" i="0" kern="1200" dirty="0">
                <a:solidFill>
                  <a:schemeClr val="tx1"/>
                </a:solidFill>
                <a:effectLst/>
                <a:latin typeface="+mn-lt"/>
                <a:ea typeface="+mn-ea"/>
                <a:cs typeface="+mn-cs"/>
              </a:rPr>
              <a:t> to an Integer, a double to a Double, and so on. If the conversion goes the other way, this is called unboxing.</a:t>
            </a:r>
            <a:endParaRPr lang="en-IN" dirty="0"/>
          </a:p>
        </p:txBody>
      </p:sp>
      <p:sp>
        <p:nvSpPr>
          <p:cNvPr id="4" name="Slide Number Placeholder 3"/>
          <p:cNvSpPr>
            <a:spLocks noGrp="1"/>
          </p:cNvSpPr>
          <p:nvPr>
            <p:ph type="sldNum" sz="quarter" idx="10"/>
          </p:nvPr>
        </p:nvSpPr>
        <p:spPr/>
        <p:txBody>
          <a:bodyPr/>
          <a:lstStyle/>
          <a:p>
            <a:fld id="{272999FA-DDB4-469E-A0D7-A73C5E2467D3}" type="slidenum">
              <a:rPr lang="en-US" smtClean="0"/>
              <a:t>13</a:t>
            </a:fld>
            <a:endParaRPr lang="en-US"/>
          </a:p>
        </p:txBody>
      </p:sp>
    </p:spTree>
    <p:extLst>
      <p:ext uri="{BB962C8B-B14F-4D97-AF65-F5344CB8AC3E}">
        <p14:creationId xmlns:p14="http://schemas.microsoft.com/office/powerpoint/2010/main" val="376575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a:t>
            </a:r>
          </a:p>
          <a:p>
            <a:r>
              <a:rPr lang="en-US" dirty="0"/>
              <a:t>Array </a:t>
            </a:r>
            <a:r>
              <a:rPr lang="en-US" dirty="0" err="1"/>
              <a:t>integerArray</a:t>
            </a:r>
            <a:r>
              <a:rPr lang="en-US" dirty="0"/>
              <a:t> contains: 1 2 3 4 5</a:t>
            </a:r>
          </a:p>
          <a:p>
            <a:r>
              <a:rPr lang="en-US" dirty="0"/>
              <a:t> Array </a:t>
            </a:r>
            <a:r>
              <a:rPr lang="en-US" dirty="0" err="1"/>
              <a:t>doubleArray</a:t>
            </a:r>
            <a:r>
              <a:rPr lang="en-US" dirty="0"/>
              <a:t> contains: 1.1 2.2 3.3 4.4</a:t>
            </a:r>
          </a:p>
          <a:p>
            <a:endParaRPr lang="en-US" dirty="0"/>
          </a:p>
          <a:p>
            <a:r>
              <a:rPr lang="en-US" dirty="0"/>
              <a:t>Array </a:t>
            </a:r>
            <a:r>
              <a:rPr lang="en-US" dirty="0" err="1"/>
              <a:t>characterArray</a:t>
            </a:r>
            <a:r>
              <a:rPr lang="en-US" dirty="0"/>
              <a:t> contains: H E L </a:t>
            </a:r>
            <a:r>
              <a:rPr lang="en-US" dirty="0" err="1"/>
              <a:t>L</a:t>
            </a:r>
            <a:r>
              <a:rPr lang="en-US" dirty="0"/>
              <a:t> O</a:t>
            </a:r>
            <a:endParaRPr lang="en-IN" dirty="0"/>
          </a:p>
        </p:txBody>
      </p:sp>
      <p:sp>
        <p:nvSpPr>
          <p:cNvPr id="4" name="Slide Number Placeholder 3"/>
          <p:cNvSpPr>
            <a:spLocks noGrp="1"/>
          </p:cNvSpPr>
          <p:nvPr>
            <p:ph type="sldNum" sz="quarter" idx="10"/>
          </p:nvPr>
        </p:nvSpPr>
        <p:spPr/>
        <p:txBody>
          <a:bodyPr/>
          <a:lstStyle/>
          <a:p>
            <a:fld id="{272999FA-DDB4-469E-A0D7-A73C5E2467D3}" type="slidenum">
              <a:rPr lang="en-US" smtClean="0"/>
              <a:t>30</a:t>
            </a:fld>
            <a:endParaRPr lang="en-US"/>
          </a:p>
        </p:txBody>
      </p:sp>
    </p:spTree>
    <p:extLst>
      <p:ext uri="{BB962C8B-B14F-4D97-AF65-F5344CB8AC3E}">
        <p14:creationId xmlns:p14="http://schemas.microsoft.com/office/powerpoint/2010/main" val="3533141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a:t>
            </a:r>
          </a:p>
          <a:p>
            <a:r>
              <a:rPr lang="en-US" dirty="0"/>
              <a:t>Array </a:t>
            </a:r>
            <a:r>
              <a:rPr lang="en-US" dirty="0" err="1"/>
              <a:t>integerArray</a:t>
            </a:r>
            <a:r>
              <a:rPr lang="en-US" dirty="0"/>
              <a:t> contains: 1 2 3 4 5</a:t>
            </a:r>
          </a:p>
          <a:p>
            <a:r>
              <a:rPr lang="en-US" dirty="0"/>
              <a:t> Array </a:t>
            </a:r>
            <a:r>
              <a:rPr lang="en-US" dirty="0" err="1"/>
              <a:t>doubleArray</a:t>
            </a:r>
            <a:r>
              <a:rPr lang="en-US" dirty="0"/>
              <a:t> contains: 1.1 2.2 3.3 4.4</a:t>
            </a:r>
          </a:p>
          <a:p>
            <a:endParaRPr lang="en-US" dirty="0"/>
          </a:p>
          <a:p>
            <a:r>
              <a:rPr lang="en-US" dirty="0"/>
              <a:t>Array </a:t>
            </a:r>
            <a:r>
              <a:rPr lang="en-US" dirty="0" err="1"/>
              <a:t>characterArray</a:t>
            </a:r>
            <a:r>
              <a:rPr lang="en-US" dirty="0"/>
              <a:t> contains: H E L </a:t>
            </a:r>
            <a:r>
              <a:rPr lang="en-US" dirty="0" err="1"/>
              <a:t>L</a:t>
            </a:r>
            <a:r>
              <a:rPr lang="en-US" dirty="0"/>
              <a:t> O</a:t>
            </a:r>
            <a:endParaRPr lang="en-IN" dirty="0"/>
          </a:p>
        </p:txBody>
      </p:sp>
      <p:sp>
        <p:nvSpPr>
          <p:cNvPr id="4" name="Slide Number Placeholder 3"/>
          <p:cNvSpPr>
            <a:spLocks noGrp="1"/>
          </p:cNvSpPr>
          <p:nvPr>
            <p:ph type="sldNum" sz="quarter" idx="10"/>
          </p:nvPr>
        </p:nvSpPr>
        <p:spPr/>
        <p:txBody>
          <a:bodyPr/>
          <a:lstStyle/>
          <a:p>
            <a:fld id="{272999FA-DDB4-469E-A0D7-A73C5E2467D3}" type="slidenum">
              <a:rPr lang="en-US" smtClean="0"/>
              <a:t>31</a:t>
            </a:fld>
            <a:endParaRPr lang="en-US"/>
          </a:p>
        </p:txBody>
      </p:sp>
    </p:spTree>
    <p:extLst>
      <p:ext uri="{BB962C8B-B14F-4D97-AF65-F5344CB8AC3E}">
        <p14:creationId xmlns:p14="http://schemas.microsoft.com/office/powerpoint/2010/main" val="5534128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We can use == operators for reference comparison (</a:t>
            </a:r>
            <a:r>
              <a:rPr lang="en-US" sz="1200" b="1" i="0" kern="1200" dirty="0">
                <a:solidFill>
                  <a:schemeClr val="tx1"/>
                </a:solidFill>
                <a:effectLst/>
                <a:latin typeface="+mn-lt"/>
                <a:ea typeface="+mn-ea"/>
                <a:cs typeface="+mn-cs"/>
              </a:rPr>
              <a:t>address comparison</a:t>
            </a:r>
            <a:r>
              <a:rPr lang="en-US" sz="1200" b="0" i="0" kern="1200" dirty="0">
                <a:solidFill>
                  <a:schemeClr val="tx1"/>
                </a:solidFill>
                <a:effectLst/>
                <a:latin typeface="+mn-lt"/>
                <a:ea typeface="+mn-ea"/>
                <a:cs typeface="+mn-cs"/>
              </a:rPr>
              <a:t>) and .equals() method for </a:t>
            </a:r>
            <a:r>
              <a:rPr lang="en-US" sz="1200" b="1" i="0" kern="1200" dirty="0">
                <a:solidFill>
                  <a:schemeClr val="tx1"/>
                </a:solidFill>
                <a:effectLst/>
                <a:latin typeface="+mn-lt"/>
                <a:ea typeface="+mn-ea"/>
                <a:cs typeface="+mn-cs"/>
              </a:rPr>
              <a:t>content comparison</a:t>
            </a:r>
            <a:r>
              <a:rPr lang="en-US" sz="1200" b="0" i="0" kern="1200" dirty="0">
                <a:solidFill>
                  <a:schemeClr val="tx1"/>
                </a:solidFill>
                <a:effectLst/>
                <a:latin typeface="+mn-lt"/>
                <a:ea typeface="+mn-ea"/>
                <a:cs typeface="+mn-cs"/>
              </a:rPr>
              <a:t>. In simple words, == checks if both objects point to the same memory location whereas .equals() evaluates to the comparison of values in the objects.</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equals</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Object</a:t>
            </a:r>
            <a:r>
              <a:rPr lang="en-US" sz="1200" b="0" i="0" kern="1200" dirty="0">
                <a:solidFill>
                  <a:schemeClr val="tx1"/>
                </a:solidFill>
                <a:effectLst/>
                <a:latin typeface="+mn-lt"/>
                <a:ea typeface="+mn-ea"/>
                <a:cs typeface="+mn-cs"/>
              </a:rPr>
              <a:t>[] a, </a:t>
            </a:r>
            <a:r>
              <a:rPr lang="en-US" sz="1200" b="1" i="0" kern="1200" dirty="0">
                <a:solidFill>
                  <a:schemeClr val="tx1"/>
                </a:solidFill>
                <a:effectLst/>
                <a:latin typeface="+mn-lt"/>
                <a:ea typeface="+mn-ea"/>
                <a:cs typeface="+mn-cs"/>
              </a:rPr>
              <a:t>Object</a:t>
            </a:r>
            <a:r>
              <a:rPr lang="en-US" sz="1200" b="0" i="0" kern="1200" dirty="0">
                <a:solidFill>
                  <a:schemeClr val="tx1"/>
                </a:solidFill>
                <a:effectLst/>
                <a:latin typeface="+mn-lt"/>
                <a:ea typeface="+mn-ea"/>
                <a:cs typeface="+mn-cs"/>
              </a:rPr>
              <a:t>[] a2) </a:t>
            </a:r>
            <a:r>
              <a:rPr lang="en-US" sz="1200" b="1" i="0" kern="1200" dirty="0">
                <a:solidFill>
                  <a:schemeClr val="tx1"/>
                </a:solidFill>
                <a:effectLst/>
                <a:latin typeface="+mn-lt"/>
                <a:ea typeface="+mn-ea"/>
                <a:cs typeface="+mn-cs"/>
              </a:rPr>
              <a:t>method</a:t>
            </a:r>
            <a:r>
              <a:rPr lang="en-US" sz="1200" b="0" i="0" kern="1200" dirty="0">
                <a:solidFill>
                  <a:schemeClr val="tx1"/>
                </a:solidFill>
                <a:effectLst/>
                <a:latin typeface="+mn-lt"/>
                <a:ea typeface="+mn-ea"/>
                <a:cs typeface="+mn-cs"/>
              </a:rPr>
              <a:t> returns true if the two specified </a:t>
            </a:r>
            <a:r>
              <a:rPr lang="en-US" sz="1200" b="1" i="0" kern="1200" dirty="0">
                <a:solidFill>
                  <a:schemeClr val="tx1"/>
                </a:solidFill>
                <a:effectLst/>
                <a:latin typeface="+mn-lt"/>
                <a:ea typeface="+mn-ea"/>
                <a:cs typeface="+mn-cs"/>
              </a:rPr>
              <a:t>arrays of objects</a:t>
            </a:r>
            <a:r>
              <a:rPr lang="en-US" sz="1200" b="0" i="0" kern="1200" dirty="0">
                <a:solidFill>
                  <a:schemeClr val="tx1"/>
                </a:solidFill>
                <a:effectLst/>
                <a:latin typeface="+mn-lt"/>
                <a:ea typeface="+mn-ea"/>
                <a:cs typeface="+mn-cs"/>
              </a:rPr>
              <a:t> are </a:t>
            </a:r>
            <a:r>
              <a:rPr lang="en-US" sz="1200" b="1" i="0" kern="1200" dirty="0">
                <a:solidFill>
                  <a:schemeClr val="tx1"/>
                </a:solidFill>
                <a:effectLst/>
                <a:latin typeface="+mn-lt"/>
                <a:ea typeface="+mn-ea"/>
                <a:cs typeface="+mn-cs"/>
              </a:rPr>
              <a:t>equal</a:t>
            </a:r>
            <a:r>
              <a:rPr lang="en-US" sz="1200" b="0" i="0" kern="1200" dirty="0">
                <a:solidFill>
                  <a:schemeClr val="tx1"/>
                </a:solidFill>
                <a:effectLst/>
                <a:latin typeface="+mn-lt"/>
                <a:ea typeface="+mn-ea"/>
                <a:cs typeface="+mn-cs"/>
              </a:rPr>
              <a:t> to one another. The two </a:t>
            </a:r>
            <a:r>
              <a:rPr lang="en-US" sz="1200" b="1" i="0" kern="1200" dirty="0">
                <a:solidFill>
                  <a:schemeClr val="tx1"/>
                </a:solidFill>
                <a:effectLst/>
                <a:latin typeface="+mn-lt"/>
                <a:ea typeface="+mn-ea"/>
                <a:cs typeface="+mn-cs"/>
              </a:rPr>
              <a:t>arrays</a:t>
            </a:r>
            <a:r>
              <a:rPr lang="en-US" sz="1200" b="0" i="0" kern="1200" dirty="0">
                <a:solidFill>
                  <a:schemeClr val="tx1"/>
                </a:solidFill>
                <a:effectLst/>
                <a:latin typeface="+mn-lt"/>
                <a:ea typeface="+mn-ea"/>
                <a:cs typeface="+mn-cs"/>
              </a:rPr>
              <a:t> are considered </a:t>
            </a:r>
            <a:r>
              <a:rPr lang="en-US" sz="1200" b="1" i="0" kern="1200" dirty="0">
                <a:solidFill>
                  <a:schemeClr val="tx1"/>
                </a:solidFill>
                <a:effectLst/>
                <a:latin typeface="+mn-lt"/>
                <a:ea typeface="+mn-ea"/>
                <a:cs typeface="+mn-cs"/>
              </a:rPr>
              <a:t>equal</a:t>
            </a:r>
            <a:r>
              <a:rPr lang="en-US" sz="1200" b="0" i="0" kern="1200" dirty="0">
                <a:solidFill>
                  <a:schemeClr val="tx1"/>
                </a:solidFill>
                <a:effectLst/>
                <a:latin typeface="+mn-lt"/>
                <a:ea typeface="+mn-ea"/>
                <a:cs typeface="+mn-cs"/>
              </a:rPr>
              <a:t> if both </a:t>
            </a:r>
            <a:r>
              <a:rPr lang="en-US" sz="1200" b="1" i="0" kern="1200" dirty="0">
                <a:solidFill>
                  <a:schemeClr val="tx1"/>
                </a:solidFill>
                <a:effectLst/>
                <a:latin typeface="+mn-lt"/>
                <a:ea typeface="+mn-ea"/>
                <a:cs typeface="+mn-cs"/>
              </a:rPr>
              <a:t>arrays</a:t>
            </a:r>
            <a:r>
              <a:rPr lang="en-US" sz="1200" b="0" i="0" kern="1200" dirty="0">
                <a:solidFill>
                  <a:schemeClr val="tx1"/>
                </a:solidFill>
                <a:effectLst/>
                <a:latin typeface="+mn-lt"/>
                <a:ea typeface="+mn-ea"/>
                <a:cs typeface="+mn-cs"/>
              </a:rPr>
              <a:t> contain the same number of elements, and all corresponding pairs of elements in the two </a:t>
            </a:r>
            <a:r>
              <a:rPr lang="en-US" sz="1200" b="1" i="0" kern="1200" dirty="0">
                <a:solidFill>
                  <a:schemeClr val="tx1"/>
                </a:solidFill>
                <a:effectLst/>
                <a:latin typeface="+mn-lt"/>
                <a:ea typeface="+mn-ea"/>
                <a:cs typeface="+mn-cs"/>
              </a:rPr>
              <a:t>arrays</a:t>
            </a:r>
            <a:r>
              <a:rPr lang="en-US" sz="1200" b="0" i="0" kern="1200" dirty="0">
                <a:solidFill>
                  <a:schemeClr val="tx1"/>
                </a:solidFill>
                <a:effectLst/>
                <a:latin typeface="+mn-lt"/>
                <a:ea typeface="+mn-ea"/>
                <a:cs typeface="+mn-cs"/>
              </a:rPr>
              <a:t> are </a:t>
            </a:r>
            <a:r>
              <a:rPr lang="en-US" sz="1200" b="1" i="0" kern="1200" dirty="0">
                <a:solidFill>
                  <a:schemeClr val="tx1"/>
                </a:solidFill>
                <a:effectLst/>
                <a:latin typeface="+mn-lt"/>
                <a:ea typeface="+mn-ea"/>
                <a:cs typeface="+mn-cs"/>
              </a:rPr>
              <a:t>equal</a:t>
            </a:r>
            <a:r>
              <a:rPr lang="en-US" sz="1200" b="0" i="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272999FA-DDB4-469E-A0D7-A73C5E2467D3}" type="slidenum">
              <a:rPr lang="en-US" smtClean="0"/>
              <a:t>38</a:t>
            </a:fld>
            <a:endParaRPr lang="en-US"/>
          </a:p>
        </p:txBody>
      </p:sp>
    </p:spTree>
    <p:extLst>
      <p:ext uri="{BB962C8B-B14F-4D97-AF65-F5344CB8AC3E}">
        <p14:creationId xmlns:p14="http://schemas.microsoft.com/office/powerpoint/2010/main" val="1622263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a:t>
            </a:r>
            <a:r>
              <a:rPr lang="en-US" b="1" dirty="0"/>
              <a:t>static void </a:t>
            </a:r>
            <a:r>
              <a:rPr lang="en-US" b="1" dirty="0" err="1"/>
              <a:t>getx</a:t>
            </a:r>
            <a:r>
              <a:rPr lang="en-US" b="1" dirty="0"/>
              <a:t>(T x) </a:t>
            </a:r>
            <a:r>
              <a:rPr lang="en-US" b="0" dirty="0"/>
              <a:t>is invalid : </a:t>
            </a:r>
            <a:r>
              <a:rPr lang="en-US" b="1" dirty="0"/>
              <a:t>error “</a:t>
            </a:r>
            <a:r>
              <a:rPr lang="en-US" dirty="0"/>
              <a:t>Cannot make a static reference to the non-static type T”</a:t>
            </a:r>
            <a:endParaRPr lang="en-US" b="0" dirty="0"/>
          </a:p>
        </p:txBody>
      </p:sp>
      <p:sp>
        <p:nvSpPr>
          <p:cNvPr id="4" name="Slide Number Placeholder 3"/>
          <p:cNvSpPr>
            <a:spLocks noGrp="1"/>
          </p:cNvSpPr>
          <p:nvPr>
            <p:ph type="sldNum" sz="quarter" idx="10"/>
          </p:nvPr>
        </p:nvSpPr>
        <p:spPr/>
        <p:txBody>
          <a:bodyPr/>
          <a:lstStyle/>
          <a:p>
            <a:fld id="{272999FA-DDB4-469E-A0D7-A73C5E2467D3}" type="slidenum">
              <a:rPr lang="en-US" smtClean="0"/>
              <a:t>42</a:t>
            </a:fld>
            <a:endParaRPr lang="en-US"/>
          </a:p>
        </p:txBody>
      </p:sp>
    </p:spTree>
    <p:extLst>
      <p:ext uri="{BB962C8B-B14F-4D97-AF65-F5344CB8AC3E}">
        <p14:creationId xmlns:p14="http://schemas.microsoft.com/office/powerpoint/2010/main" val="34922289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a:t>
            </a:r>
            <a:r>
              <a:rPr lang="en-US" b="1" dirty="0"/>
              <a:t>static void </a:t>
            </a:r>
            <a:r>
              <a:rPr lang="en-US" b="1" dirty="0" err="1"/>
              <a:t>getx</a:t>
            </a:r>
            <a:r>
              <a:rPr lang="en-US" b="1" dirty="0"/>
              <a:t>(T x) </a:t>
            </a:r>
            <a:r>
              <a:rPr lang="en-US" b="0" dirty="0"/>
              <a:t>is invalid : </a:t>
            </a:r>
            <a:r>
              <a:rPr lang="en-US" b="1" dirty="0"/>
              <a:t>error “</a:t>
            </a:r>
            <a:r>
              <a:rPr lang="en-US" dirty="0"/>
              <a:t>Cannot make a static reference to the non-static type T”</a:t>
            </a:r>
            <a:endParaRPr lang="en-US" b="0" dirty="0"/>
          </a:p>
        </p:txBody>
      </p:sp>
      <p:sp>
        <p:nvSpPr>
          <p:cNvPr id="4" name="Slide Number Placeholder 3"/>
          <p:cNvSpPr>
            <a:spLocks noGrp="1"/>
          </p:cNvSpPr>
          <p:nvPr>
            <p:ph type="sldNum" sz="quarter" idx="10"/>
          </p:nvPr>
        </p:nvSpPr>
        <p:spPr/>
        <p:txBody>
          <a:bodyPr/>
          <a:lstStyle/>
          <a:p>
            <a:fld id="{272999FA-DDB4-469E-A0D7-A73C5E2467D3}" type="slidenum">
              <a:rPr lang="en-US" smtClean="0"/>
              <a:t>44</a:t>
            </a:fld>
            <a:endParaRPr lang="en-US"/>
          </a:p>
        </p:txBody>
      </p:sp>
    </p:spTree>
    <p:extLst>
      <p:ext uri="{BB962C8B-B14F-4D97-AF65-F5344CB8AC3E}">
        <p14:creationId xmlns:p14="http://schemas.microsoft.com/office/powerpoint/2010/main" val="41067686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43E1EE2-2362-405A-8A67-31C948B7C205}"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79347E-E034-4D1E-B311-65ECE5BBA6E2}" type="slidenum">
              <a:rPr lang="en-US" smtClean="0"/>
              <a:t>‹#›</a:t>
            </a:fld>
            <a:endParaRPr lang="en-US"/>
          </a:p>
        </p:txBody>
      </p:sp>
    </p:spTree>
    <p:extLst>
      <p:ext uri="{BB962C8B-B14F-4D97-AF65-F5344CB8AC3E}">
        <p14:creationId xmlns:p14="http://schemas.microsoft.com/office/powerpoint/2010/main" val="24744347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3E1EE2-2362-405A-8A67-31C948B7C205}"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79347E-E034-4D1E-B311-65ECE5BBA6E2}" type="slidenum">
              <a:rPr lang="en-US" smtClean="0"/>
              <a:t>‹#›</a:t>
            </a:fld>
            <a:endParaRPr lang="en-US"/>
          </a:p>
        </p:txBody>
      </p:sp>
    </p:spTree>
    <p:extLst>
      <p:ext uri="{BB962C8B-B14F-4D97-AF65-F5344CB8AC3E}">
        <p14:creationId xmlns:p14="http://schemas.microsoft.com/office/powerpoint/2010/main" val="7046795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43E1EE2-2362-405A-8A67-31C948B7C205}"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79347E-E034-4D1E-B311-65ECE5BBA6E2}" type="slidenum">
              <a:rPr lang="en-US" smtClean="0"/>
              <a:t>‹#›</a:t>
            </a:fld>
            <a:endParaRPr lang="en-US"/>
          </a:p>
        </p:txBody>
      </p:sp>
    </p:spTree>
    <p:extLst>
      <p:ext uri="{BB962C8B-B14F-4D97-AF65-F5344CB8AC3E}">
        <p14:creationId xmlns:p14="http://schemas.microsoft.com/office/powerpoint/2010/main" val="15322249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43E1EE2-2362-405A-8A67-31C948B7C205}"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79347E-E034-4D1E-B311-65ECE5BBA6E2}" type="slidenum">
              <a:rPr lang="en-US" smtClean="0"/>
              <a:t>‹#›</a:t>
            </a:fld>
            <a:endParaRPr lang="en-US"/>
          </a:p>
        </p:txBody>
      </p:sp>
    </p:spTree>
    <p:extLst>
      <p:ext uri="{BB962C8B-B14F-4D97-AF65-F5344CB8AC3E}">
        <p14:creationId xmlns:p14="http://schemas.microsoft.com/office/powerpoint/2010/main" val="27867588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3E1EE2-2362-405A-8A67-31C948B7C205}" type="datetimeFigureOut">
              <a:rPr lang="en-US" smtClean="0"/>
              <a:t>3/17/2026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479347E-E034-4D1E-B311-65ECE5BBA6E2}" type="slidenum">
              <a:rPr lang="en-US" smtClean="0"/>
              <a:t>‹#›</a:t>
            </a:fld>
            <a:endParaRPr lang="en-US"/>
          </a:p>
        </p:txBody>
      </p:sp>
    </p:spTree>
    <p:extLst>
      <p:ext uri="{BB962C8B-B14F-4D97-AF65-F5344CB8AC3E}">
        <p14:creationId xmlns:p14="http://schemas.microsoft.com/office/powerpoint/2010/main" val="12563178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43E1EE2-2362-405A-8A67-31C948B7C205}" type="datetimeFigureOut">
              <a:rPr lang="en-US" smtClean="0"/>
              <a:t>3/17/2026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479347E-E034-4D1E-B311-65ECE5BBA6E2}" type="slidenum">
              <a:rPr lang="en-US" smtClean="0"/>
              <a:t>‹#›</a:t>
            </a:fld>
            <a:endParaRPr lang="en-US"/>
          </a:p>
        </p:txBody>
      </p:sp>
    </p:spTree>
    <p:extLst>
      <p:ext uri="{BB962C8B-B14F-4D97-AF65-F5344CB8AC3E}">
        <p14:creationId xmlns:p14="http://schemas.microsoft.com/office/powerpoint/2010/main" val="2021625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3E1EE2-2362-405A-8A67-31C948B7C205}" type="datetimeFigureOut">
              <a:rPr lang="en-US" smtClean="0"/>
              <a:t>3/17/2026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479347E-E034-4D1E-B311-65ECE5BBA6E2}" type="slidenum">
              <a:rPr lang="en-US" smtClean="0"/>
              <a:t>‹#›</a:t>
            </a:fld>
            <a:endParaRPr lang="en-US"/>
          </a:p>
        </p:txBody>
      </p:sp>
    </p:spTree>
    <p:extLst>
      <p:ext uri="{BB962C8B-B14F-4D97-AF65-F5344CB8AC3E}">
        <p14:creationId xmlns:p14="http://schemas.microsoft.com/office/powerpoint/2010/main" val="2105567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3E1EE2-2362-405A-8A67-31C948B7C205}"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79347E-E034-4D1E-B311-65ECE5BBA6E2}" type="slidenum">
              <a:rPr lang="en-US" smtClean="0"/>
              <a:t>‹#›</a:t>
            </a:fld>
            <a:endParaRPr lang="en-US"/>
          </a:p>
        </p:txBody>
      </p:sp>
    </p:spTree>
    <p:extLst>
      <p:ext uri="{BB962C8B-B14F-4D97-AF65-F5344CB8AC3E}">
        <p14:creationId xmlns:p14="http://schemas.microsoft.com/office/powerpoint/2010/main" val="2829251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3E1EE2-2362-405A-8A67-31C948B7C205}"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79347E-E034-4D1E-B311-65ECE5BBA6E2}" type="slidenum">
              <a:rPr lang="en-US" smtClean="0"/>
              <a:t>‹#›</a:t>
            </a:fld>
            <a:endParaRPr lang="en-US"/>
          </a:p>
        </p:txBody>
      </p:sp>
    </p:spTree>
    <p:extLst>
      <p:ext uri="{BB962C8B-B14F-4D97-AF65-F5344CB8AC3E}">
        <p14:creationId xmlns:p14="http://schemas.microsoft.com/office/powerpoint/2010/main" val="36945539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3E1EE2-2362-405A-8A67-31C948B7C205}"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79347E-E034-4D1E-B311-65ECE5BBA6E2}" type="slidenum">
              <a:rPr lang="en-US" smtClean="0"/>
              <a:t>‹#›</a:t>
            </a:fld>
            <a:endParaRPr lang="en-US"/>
          </a:p>
        </p:txBody>
      </p:sp>
    </p:spTree>
    <p:extLst>
      <p:ext uri="{BB962C8B-B14F-4D97-AF65-F5344CB8AC3E}">
        <p14:creationId xmlns:p14="http://schemas.microsoft.com/office/powerpoint/2010/main" val="3430550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3E1EE2-2362-405A-8A67-31C948B7C205}"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79347E-E034-4D1E-B311-65ECE5BBA6E2}" type="slidenum">
              <a:rPr lang="en-US" smtClean="0"/>
              <a:t>‹#›</a:t>
            </a:fld>
            <a:endParaRPr lang="en-US"/>
          </a:p>
        </p:txBody>
      </p:sp>
    </p:spTree>
    <p:extLst>
      <p:ext uri="{BB962C8B-B14F-4D97-AF65-F5344CB8AC3E}">
        <p14:creationId xmlns:p14="http://schemas.microsoft.com/office/powerpoint/2010/main" val="3892376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3E1EE2-2362-405A-8A67-31C948B7C205}" type="datetimeFigureOut">
              <a:rPr lang="en-US" smtClean="0"/>
              <a:t>3/17/2026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79347E-E034-4D1E-B311-65ECE5BBA6E2}" type="slidenum">
              <a:rPr lang="en-US" smtClean="0"/>
              <a:t>‹#›</a:t>
            </a:fld>
            <a:endParaRPr lang="en-US"/>
          </a:p>
        </p:txBody>
      </p:sp>
    </p:spTree>
    <p:extLst>
      <p:ext uri="{BB962C8B-B14F-4D97-AF65-F5344CB8AC3E}">
        <p14:creationId xmlns:p14="http://schemas.microsoft.com/office/powerpoint/2010/main" val="1208150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s://www.javatpoint.com/java-long" TargetMode="External"/><Relationship Id="rId3" Type="http://schemas.openxmlformats.org/officeDocument/2006/relationships/hyperlink" Target="https://www.javatpoint.com/java-boolean" TargetMode="External"/><Relationship Id="rId7" Type="http://schemas.openxmlformats.org/officeDocument/2006/relationships/hyperlink" Target="https://www.javatpoint.com/java-integer"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www.javatpoint.com/java-short" TargetMode="External"/><Relationship Id="rId5" Type="http://schemas.openxmlformats.org/officeDocument/2006/relationships/hyperlink" Target="https://www.javatpoint.com/java-byte" TargetMode="External"/><Relationship Id="rId10" Type="http://schemas.openxmlformats.org/officeDocument/2006/relationships/hyperlink" Target="https://www.javatpoint.com/java-double" TargetMode="External"/><Relationship Id="rId4" Type="http://schemas.openxmlformats.org/officeDocument/2006/relationships/hyperlink" Target="https://www.javatpoint.com/post/java-character" TargetMode="External"/><Relationship Id="rId9" Type="http://schemas.openxmlformats.org/officeDocument/2006/relationships/hyperlink" Target="https://www.javatpoint.com/java-float"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geeksforgeeks.org/arraylist-in-java/"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www.geeksforgeeks.org/vector-vs-arraylist-java/"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ChangeArrowheads="1"/>
          </p:cNvSpPr>
          <p:nvPr>
            <p:ph type="ctrTitle"/>
          </p:nvPr>
        </p:nvSpPr>
        <p:spPr>
          <a:xfrm>
            <a:off x="457200" y="838200"/>
            <a:ext cx="8458200" cy="1470025"/>
          </a:xfrm>
        </p:spPr>
        <p:txBody>
          <a:bodyPr/>
          <a:lstStyle/>
          <a:p>
            <a:pPr eaLnBrk="1" hangingPunct="1"/>
            <a:endParaRPr lang="en-US" altLang="en-US" dirty="0">
              <a:ea typeface="ＭＳ Ｐゴシック" panose="020B0600070205080204" pitchFamily="34" charset="-128"/>
            </a:endParaRPr>
          </a:p>
        </p:txBody>
      </p:sp>
      <p:sp>
        <p:nvSpPr>
          <p:cNvPr id="13314" name="Rectangle 3"/>
          <p:cNvSpPr>
            <a:spLocks noGrp="1" noChangeArrowheads="1"/>
          </p:cNvSpPr>
          <p:nvPr>
            <p:ph type="subTitle" idx="1"/>
          </p:nvPr>
        </p:nvSpPr>
        <p:spPr>
          <a:xfrm>
            <a:off x="2481263" y="2640012"/>
            <a:ext cx="4953000" cy="1752600"/>
          </a:xfrm>
        </p:spPr>
        <p:txBody>
          <a:bodyPr>
            <a:normAutofit/>
          </a:bodyPr>
          <a:lstStyle/>
          <a:p>
            <a:pPr marL="63500" eaLnBrk="1" hangingPunct="1"/>
            <a:r>
              <a:rPr lang="en-US" altLang="en-US" sz="4000" b="1" dirty="0">
                <a:solidFill>
                  <a:schemeClr val="tx1"/>
                </a:solidFill>
                <a:ea typeface="ＭＳ Ｐゴシック" panose="020B0600070205080204" pitchFamily="34" charset="-128"/>
              </a:rPr>
              <a:t>Generics</a:t>
            </a:r>
          </a:p>
        </p:txBody>
      </p:sp>
      <p:sp>
        <p:nvSpPr>
          <p:cNvPr id="13315" name="Text Box 48"/>
          <p:cNvSpPr txBox="1">
            <a:spLocks noChangeArrowheads="1"/>
          </p:cNvSpPr>
          <p:nvPr/>
        </p:nvSpPr>
        <p:spPr bwMode="auto">
          <a:xfrm>
            <a:off x="304800" y="6477000"/>
            <a:ext cx="46529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984" tIns="40492" rIns="80984" bIns="40492">
            <a:spAutoFit/>
          </a:bodyPr>
          <a:lstStyle>
            <a:lvl1pPr defTabSz="809625">
              <a:defRPr sz="2400">
                <a:solidFill>
                  <a:schemeClr val="tx1"/>
                </a:solidFill>
                <a:latin typeface="Arial" panose="020B0604020202020204" pitchFamily="34" charset="0"/>
                <a:ea typeface="ＭＳ Ｐゴシック" panose="020B0600070205080204" pitchFamily="34" charset="-128"/>
              </a:defRPr>
            </a:lvl1pPr>
            <a:lvl2pPr marL="742950" indent="-285750" defTabSz="809625">
              <a:defRPr sz="2400">
                <a:solidFill>
                  <a:schemeClr val="tx1"/>
                </a:solidFill>
                <a:latin typeface="Arial" panose="020B0604020202020204" pitchFamily="34" charset="0"/>
                <a:ea typeface="ＭＳ Ｐゴシック" panose="020B0600070205080204" pitchFamily="34" charset="-128"/>
              </a:defRPr>
            </a:lvl2pPr>
            <a:lvl3pPr marL="1143000" indent="-228600" defTabSz="809625">
              <a:defRPr sz="2400">
                <a:solidFill>
                  <a:schemeClr val="tx1"/>
                </a:solidFill>
                <a:latin typeface="Arial" panose="020B0604020202020204" pitchFamily="34" charset="0"/>
                <a:ea typeface="ＭＳ Ｐゴシック" panose="020B0600070205080204" pitchFamily="34" charset="-128"/>
              </a:defRPr>
            </a:lvl3pPr>
            <a:lvl4pPr marL="1600200" indent="-228600" defTabSz="809625">
              <a:defRPr sz="2400">
                <a:solidFill>
                  <a:schemeClr val="tx1"/>
                </a:solidFill>
                <a:latin typeface="Arial" panose="020B0604020202020204" pitchFamily="34" charset="0"/>
                <a:ea typeface="ＭＳ Ｐゴシック" panose="020B0600070205080204" pitchFamily="34" charset="-128"/>
              </a:defRPr>
            </a:lvl4pPr>
            <a:lvl5pPr marL="2057400" indent="-228600" defTabSz="809625">
              <a:defRPr sz="2400">
                <a:solidFill>
                  <a:schemeClr val="tx1"/>
                </a:solidFill>
                <a:latin typeface="Arial" panose="020B0604020202020204" pitchFamily="34" charset="0"/>
                <a:ea typeface="ＭＳ Ｐゴシック" panose="020B0600070205080204" pitchFamily="34" charset="-128"/>
              </a:defRPr>
            </a:lvl5pPr>
            <a:lvl6pPr marL="25146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spcBef>
                <a:spcPct val="20000"/>
              </a:spcBef>
              <a:buClr>
                <a:schemeClr val="hlink"/>
              </a:buClr>
              <a:buSzPct val="70000"/>
              <a:buFont typeface="Wingdings" panose="05000000000000000000" pitchFamily="2" charset="2"/>
              <a:buNone/>
            </a:pPr>
            <a:r>
              <a:rPr lang="en-US" altLang="en-US" sz="1000" b="1" i="1">
                <a:latin typeface="Book Antiqua" panose="02040602050305030304" pitchFamily="18" charset="0"/>
              </a:rPr>
              <a:t>Copyright © 2013 by The McGraw-Hill Companies, Inc.  All rights reserved. </a:t>
            </a:r>
            <a:endParaRPr lang="en-US" altLang="en-US">
              <a:latin typeface="Times New Roman" panose="02020603050405020304" pitchFamily="18" charset="0"/>
            </a:endParaRPr>
          </a:p>
        </p:txBody>
      </p:sp>
    </p:spTree>
    <p:extLst>
      <p:ext uri="{BB962C8B-B14F-4D97-AF65-F5344CB8AC3E}">
        <p14:creationId xmlns:p14="http://schemas.microsoft.com/office/powerpoint/2010/main" val="1274158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ChangeArrowheads="1"/>
          </p:cNvSpPr>
          <p:nvPr>
            <p:ph type="title"/>
          </p:nvPr>
        </p:nvSpPr>
        <p:spPr>
          <a:xfrm>
            <a:off x="304800" y="152400"/>
            <a:ext cx="8229600" cy="822326"/>
          </a:xfrm>
        </p:spPr>
        <p:txBody>
          <a:bodyPr/>
          <a:lstStyle/>
          <a:p>
            <a:pPr eaLnBrk="1" hangingPunct="1"/>
            <a:r>
              <a:rPr lang="en-US" altLang="en-US" dirty="0">
                <a:ea typeface="ＭＳ Ｐゴシック" panose="020B0600070205080204" pitchFamily="34" charset="-128"/>
              </a:rPr>
              <a:t>Generics </a:t>
            </a:r>
          </a:p>
        </p:txBody>
      </p:sp>
      <p:sp>
        <p:nvSpPr>
          <p:cNvPr id="14338" name="Rectangle 3"/>
          <p:cNvSpPr>
            <a:spLocks noGrp="1" noChangeArrowheads="1"/>
          </p:cNvSpPr>
          <p:nvPr>
            <p:ph idx="1"/>
          </p:nvPr>
        </p:nvSpPr>
        <p:spPr>
          <a:xfrm>
            <a:off x="304800" y="966520"/>
            <a:ext cx="8686800" cy="5510480"/>
          </a:xfrm>
        </p:spPr>
        <p:txBody>
          <a:bodyPr>
            <a:normAutofit fontScale="92500" lnSpcReduction="10000"/>
          </a:bodyPr>
          <a:lstStyle/>
          <a:p>
            <a:pPr marL="0" indent="0" fontAlgn="base">
              <a:buNone/>
            </a:pPr>
            <a:endParaRPr lang="en-US" sz="3400" dirty="0"/>
          </a:p>
          <a:p>
            <a:pPr marL="0" indent="0" fontAlgn="base">
              <a:buNone/>
            </a:pPr>
            <a:endParaRPr lang="en-US" sz="3400" dirty="0"/>
          </a:p>
          <a:p>
            <a:pPr marL="0" indent="0" fontAlgn="base">
              <a:buNone/>
            </a:pPr>
            <a:r>
              <a:rPr lang="en-US" sz="3400" dirty="0"/>
              <a:t>A classes, methods and interfaces that use type parameter is called</a:t>
            </a:r>
            <a:r>
              <a:rPr lang="en-US" sz="3400" b="1" dirty="0"/>
              <a:t> generic.</a:t>
            </a:r>
          </a:p>
          <a:p>
            <a:pPr marL="0" indent="0" fontAlgn="base">
              <a:buNone/>
            </a:pPr>
            <a:endParaRPr lang="en-US" sz="3400" dirty="0"/>
          </a:p>
          <a:p>
            <a:pPr marL="0" indent="0" fontAlgn="base">
              <a:buNone/>
            </a:pPr>
            <a:r>
              <a:rPr lang="en-US" sz="3400" dirty="0"/>
              <a:t>Java has always supported for generalized classes, methods and interfaces by operating through references of type </a:t>
            </a:r>
            <a:r>
              <a:rPr lang="en-US" sz="3400" b="1" dirty="0"/>
              <a:t>Object.</a:t>
            </a:r>
          </a:p>
          <a:p>
            <a:pPr marL="0" indent="0" fontAlgn="base">
              <a:buNone/>
            </a:pPr>
            <a:endParaRPr lang="en-US" sz="3400" dirty="0"/>
          </a:p>
          <a:p>
            <a:pPr marL="0" indent="0" fontAlgn="base">
              <a:buNone/>
            </a:pPr>
            <a:r>
              <a:rPr lang="en-US" sz="3400" b="1" dirty="0"/>
              <a:t>Object</a:t>
            </a:r>
            <a:r>
              <a:rPr lang="en-US" sz="3400" dirty="0"/>
              <a:t> is the superclass of all other classes, and </a:t>
            </a:r>
            <a:r>
              <a:rPr lang="en-US" sz="3400" b="1" dirty="0"/>
              <a:t>Object </a:t>
            </a:r>
            <a:r>
              <a:rPr lang="en-US" sz="3400" dirty="0"/>
              <a:t>reference can refer to any object. </a:t>
            </a:r>
          </a:p>
          <a:p>
            <a:pPr marL="0" indent="0" fontAlgn="base">
              <a:buNone/>
            </a:pPr>
            <a:endParaRPr lang="en-US" sz="3400" dirty="0"/>
          </a:p>
          <a:p>
            <a:pPr marL="0" indent="0" fontAlgn="base">
              <a:buNone/>
            </a:pPr>
            <a:endParaRPr lang="en-US" sz="3400" dirty="0"/>
          </a:p>
          <a:p>
            <a:pPr algn="just" eaLnBrk="1" hangingPunct="1"/>
            <a:endParaRPr lang="en-US" altLang="en-US" dirty="0">
              <a:ea typeface="ＭＳ Ｐゴシック" panose="020B0600070205080204" pitchFamily="34" charset="-128"/>
            </a:endParaRPr>
          </a:p>
        </p:txBody>
      </p:sp>
      <p:sp>
        <p:nvSpPr>
          <p:cNvPr id="14339" name="Text Box 48"/>
          <p:cNvSpPr txBox="1">
            <a:spLocks noChangeArrowheads="1"/>
          </p:cNvSpPr>
          <p:nvPr/>
        </p:nvSpPr>
        <p:spPr bwMode="auto">
          <a:xfrm>
            <a:off x="304800" y="6477000"/>
            <a:ext cx="46529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984" tIns="40492" rIns="80984" bIns="40492">
            <a:spAutoFit/>
          </a:bodyPr>
          <a:lstStyle>
            <a:lvl1pPr defTabSz="809625">
              <a:defRPr sz="2400">
                <a:solidFill>
                  <a:schemeClr val="tx1"/>
                </a:solidFill>
                <a:latin typeface="Arial" panose="020B0604020202020204" pitchFamily="34" charset="0"/>
                <a:ea typeface="ＭＳ Ｐゴシック" panose="020B0600070205080204" pitchFamily="34" charset="-128"/>
              </a:defRPr>
            </a:lvl1pPr>
            <a:lvl2pPr marL="742950" indent="-285750" defTabSz="809625">
              <a:defRPr sz="2400">
                <a:solidFill>
                  <a:schemeClr val="tx1"/>
                </a:solidFill>
                <a:latin typeface="Arial" panose="020B0604020202020204" pitchFamily="34" charset="0"/>
                <a:ea typeface="ＭＳ Ｐゴシック" panose="020B0600070205080204" pitchFamily="34" charset="-128"/>
              </a:defRPr>
            </a:lvl2pPr>
            <a:lvl3pPr marL="1143000" indent="-228600" defTabSz="809625">
              <a:defRPr sz="2400">
                <a:solidFill>
                  <a:schemeClr val="tx1"/>
                </a:solidFill>
                <a:latin typeface="Arial" panose="020B0604020202020204" pitchFamily="34" charset="0"/>
                <a:ea typeface="ＭＳ Ｐゴシック" panose="020B0600070205080204" pitchFamily="34" charset="-128"/>
              </a:defRPr>
            </a:lvl3pPr>
            <a:lvl4pPr marL="1600200" indent="-228600" defTabSz="809625">
              <a:defRPr sz="2400">
                <a:solidFill>
                  <a:schemeClr val="tx1"/>
                </a:solidFill>
                <a:latin typeface="Arial" panose="020B0604020202020204" pitchFamily="34" charset="0"/>
                <a:ea typeface="ＭＳ Ｐゴシック" panose="020B0600070205080204" pitchFamily="34" charset="-128"/>
              </a:defRPr>
            </a:lvl4pPr>
            <a:lvl5pPr marL="2057400" indent="-228600" defTabSz="809625">
              <a:defRPr sz="2400">
                <a:solidFill>
                  <a:schemeClr val="tx1"/>
                </a:solidFill>
                <a:latin typeface="Arial" panose="020B0604020202020204" pitchFamily="34" charset="0"/>
                <a:ea typeface="ＭＳ Ｐゴシック" panose="020B0600070205080204" pitchFamily="34" charset="-128"/>
              </a:defRPr>
            </a:lvl5pPr>
            <a:lvl6pPr marL="25146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spcBef>
                <a:spcPct val="20000"/>
              </a:spcBef>
              <a:buClr>
                <a:schemeClr val="hlink"/>
              </a:buClr>
              <a:buSzPct val="70000"/>
              <a:buFont typeface="Wingdings" panose="05000000000000000000" pitchFamily="2" charset="2"/>
              <a:buNone/>
            </a:pPr>
            <a:r>
              <a:rPr lang="en-US" altLang="en-US" sz="1000" b="1" i="1">
                <a:latin typeface="Book Antiqua" panose="02040602050305030304" pitchFamily="18" charset="0"/>
              </a:rPr>
              <a:t>Copyright © 2013 by The McGraw-Hill Companies, Inc.  All rights reserved. </a:t>
            </a:r>
            <a:endParaRPr lang="en-US" altLang="en-US">
              <a:latin typeface="Times New Roman" panose="02020603050405020304" pitchFamily="18" charset="0"/>
            </a:endParaRPr>
          </a:p>
        </p:txBody>
      </p:sp>
    </p:spTree>
    <p:extLst>
      <p:ext uri="{BB962C8B-B14F-4D97-AF65-F5344CB8AC3E}">
        <p14:creationId xmlns:p14="http://schemas.microsoft.com/office/powerpoint/2010/main" val="2435326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ChangeArrowheads="1"/>
          </p:cNvSpPr>
          <p:nvPr>
            <p:ph type="title"/>
          </p:nvPr>
        </p:nvSpPr>
        <p:spPr>
          <a:xfrm>
            <a:off x="304800" y="126207"/>
            <a:ext cx="8229600" cy="1066800"/>
          </a:xfrm>
        </p:spPr>
        <p:txBody>
          <a:bodyPr/>
          <a:lstStyle/>
          <a:p>
            <a:pPr eaLnBrk="1" hangingPunct="1"/>
            <a:r>
              <a:rPr lang="en-US" altLang="en-US" dirty="0">
                <a:ea typeface="ＭＳ Ｐゴシック" panose="020B0600070205080204" pitchFamily="34" charset="-128"/>
              </a:rPr>
              <a:t>Generics (Parameterized Types)</a:t>
            </a:r>
          </a:p>
        </p:txBody>
      </p:sp>
      <p:sp>
        <p:nvSpPr>
          <p:cNvPr id="14338" name="Rectangle 3"/>
          <p:cNvSpPr>
            <a:spLocks noGrp="1" noChangeArrowheads="1"/>
          </p:cNvSpPr>
          <p:nvPr>
            <p:ph idx="1"/>
          </p:nvPr>
        </p:nvSpPr>
        <p:spPr>
          <a:xfrm>
            <a:off x="457200" y="838200"/>
            <a:ext cx="8229600" cy="4324350"/>
          </a:xfrm>
        </p:spPr>
        <p:txBody>
          <a:bodyPr>
            <a:normAutofit fontScale="85000" lnSpcReduction="10000"/>
          </a:bodyPr>
          <a:lstStyle/>
          <a:p>
            <a:pPr algn="just" eaLnBrk="1" hangingPunct="1"/>
            <a:endParaRPr lang="en-US" altLang="en-US" dirty="0">
              <a:ea typeface="ＭＳ Ｐゴシック" panose="020B0600070205080204" pitchFamily="34" charset="-128"/>
            </a:endParaRPr>
          </a:p>
          <a:p>
            <a:pPr algn="just" eaLnBrk="1" hangingPunct="1"/>
            <a:r>
              <a:rPr lang="en-US" altLang="en-US" dirty="0">
                <a:ea typeface="ＭＳ Ｐゴシック" panose="020B0600070205080204" pitchFamily="34" charset="-128"/>
              </a:rPr>
              <a:t>The </a:t>
            </a:r>
            <a:r>
              <a:rPr lang="en-US" altLang="en-US" b="1" dirty="0">
                <a:ea typeface="ＭＳ Ｐゴシック" panose="020B0600070205080204" pitchFamily="34" charset="-128"/>
              </a:rPr>
              <a:t>advantage</a:t>
            </a:r>
            <a:r>
              <a:rPr lang="en-US" altLang="en-US" dirty="0">
                <a:ea typeface="ＭＳ Ｐゴシック" panose="020B0600070205080204" pitchFamily="34" charset="-128"/>
              </a:rPr>
              <a:t> of Generics is it provide</a:t>
            </a:r>
            <a:r>
              <a:rPr lang="en-US" altLang="en-US" b="1" dirty="0">
                <a:ea typeface="ＭＳ Ｐゴシック" panose="020B0600070205080204" pitchFamily="34" charset="-128"/>
              </a:rPr>
              <a:t> high level of reusability and type safety</a:t>
            </a:r>
          </a:p>
          <a:p>
            <a:pPr algn="just" eaLnBrk="1" hangingPunct="1"/>
            <a:endParaRPr lang="en-US" altLang="en-US" b="1" dirty="0">
              <a:ea typeface="ＭＳ Ｐゴシック" panose="020B0600070205080204" pitchFamily="34" charset="-128"/>
            </a:endParaRPr>
          </a:p>
          <a:p>
            <a:pPr algn="just" eaLnBrk="1" hangingPunct="1"/>
            <a:r>
              <a:rPr lang="en-US" altLang="en-US" dirty="0">
                <a:ea typeface="ＭＳ Ｐゴシック" panose="020B0600070205080204" pitchFamily="34" charset="-128"/>
              </a:rPr>
              <a:t>In old code, many classes and methods used </a:t>
            </a:r>
            <a:r>
              <a:rPr lang="en-US" altLang="en-US" b="1" dirty="0">
                <a:ea typeface="ＭＳ Ｐゴシック" panose="020B0600070205080204" pitchFamily="34" charset="-128"/>
              </a:rPr>
              <a:t>Object</a:t>
            </a:r>
            <a:r>
              <a:rPr lang="en-US" altLang="en-US" dirty="0">
                <a:ea typeface="ＭＳ Ｐゴシック" panose="020B0600070205080204" pitchFamily="34" charset="-128"/>
              </a:rPr>
              <a:t> as the type of data they operated on.</a:t>
            </a:r>
          </a:p>
          <a:p>
            <a:pPr algn="just" eaLnBrk="1" hangingPunct="1"/>
            <a:endParaRPr lang="en-US" altLang="en-US" dirty="0">
              <a:ea typeface="ＭＳ Ｐゴシック" panose="020B0600070205080204" pitchFamily="34" charset="-128"/>
            </a:endParaRPr>
          </a:p>
          <a:p>
            <a:pPr algn="just" eaLnBrk="1" hangingPunct="1"/>
            <a:r>
              <a:rPr lang="en-US" altLang="en-US" dirty="0">
                <a:ea typeface="ＭＳ Ｐゴシック" panose="020B0600070205080204" pitchFamily="34" charset="-128"/>
              </a:rPr>
              <a:t>The </a:t>
            </a:r>
            <a:r>
              <a:rPr lang="en-US" altLang="en-US" dirty="0">
                <a:solidFill>
                  <a:srgbClr val="000000"/>
                </a:solidFill>
                <a:ea typeface="ＭＳ Ｐゴシック" panose="020B0600070205080204" pitchFamily="34" charset="-128"/>
              </a:rPr>
              <a:t>disadvantage of the old approach </a:t>
            </a:r>
            <a:r>
              <a:rPr lang="en-US" altLang="en-US" dirty="0">
                <a:ea typeface="ＭＳ Ｐゴシック" panose="020B0600070205080204" pitchFamily="34" charset="-128"/>
              </a:rPr>
              <a:t>is that explicit conversion with typecasting is often necessary to convert to the actual type of the data.</a:t>
            </a:r>
          </a:p>
        </p:txBody>
      </p:sp>
      <p:sp>
        <p:nvSpPr>
          <p:cNvPr id="14339" name="Text Box 48"/>
          <p:cNvSpPr txBox="1">
            <a:spLocks noChangeArrowheads="1"/>
          </p:cNvSpPr>
          <p:nvPr/>
        </p:nvSpPr>
        <p:spPr bwMode="auto">
          <a:xfrm>
            <a:off x="304800" y="6477000"/>
            <a:ext cx="46529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984" tIns="40492" rIns="80984" bIns="40492">
            <a:spAutoFit/>
          </a:bodyPr>
          <a:lstStyle>
            <a:lvl1pPr defTabSz="809625">
              <a:defRPr sz="2400">
                <a:solidFill>
                  <a:schemeClr val="tx1"/>
                </a:solidFill>
                <a:latin typeface="Arial" panose="020B0604020202020204" pitchFamily="34" charset="0"/>
                <a:ea typeface="ＭＳ Ｐゴシック" panose="020B0600070205080204" pitchFamily="34" charset="-128"/>
              </a:defRPr>
            </a:lvl1pPr>
            <a:lvl2pPr marL="742950" indent="-285750" defTabSz="809625">
              <a:defRPr sz="2400">
                <a:solidFill>
                  <a:schemeClr val="tx1"/>
                </a:solidFill>
                <a:latin typeface="Arial" panose="020B0604020202020204" pitchFamily="34" charset="0"/>
                <a:ea typeface="ＭＳ Ｐゴシック" panose="020B0600070205080204" pitchFamily="34" charset="-128"/>
              </a:defRPr>
            </a:lvl2pPr>
            <a:lvl3pPr marL="1143000" indent="-228600" defTabSz="809625">
              <a:defRPr sz="2400">
                <a:solidFill>
                  <a:schemeClr val="tx1"/>
                </a:solidFill>
                <a:latin typeface="Arial" panose="020B0604020202020204" pitchFamily="34" charset="0"/>
                <a:ea typeface="ＭＳ Ｐゴシック" panose="020B0600070205080204" pitchFamily="34" charset="-128"/>
              </a:defRPr>
            </a:lvl3pPr>
            <a:lvl4pPr marL="1600200" indent="-228600" defTabSz="809625">
              <a:defRPr sz="2400">
                <a:solidFill>
                  <a:schemeClr val="tx1"/>
                </a:solidFill>
                <a:latin typeface="Arial" panose="020B0604020202020204" pitchFamily="34" charset="0"/>
                <a:ea typeface="ＭＳ Ｐゴシック" panose="020B0600070205080204" pitchFamily="34" charset="-128"/>
              </a:defRPr>
            </a:lvl4pPr>
            <a:lvl5pPr marL="2057400" indent="-228600" defTabSz="809625">
              <a:defRPr sz="2400">
                <a:solidFill>
                  <a:schemeClr val="tx1"/>
                </a:solidFill>
                <a:latin typeface="Arial" panose="020B0604020202020204" pitchFamily="34" charset="0"/>
                <a:ea typeface="ＭＳ Ｐゴシック" panose="020B0600070205080204" pitchFamily="34" charset="-128"/>
              </a:defRPr>
            </a:lvl5pPr>
            <a:lvl6pPr marL="25146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spcBef>
                <a:spcPct val="20000"/>
              </a:spcBef>
              <a:buClr>
                <a:schemeClr val="hlink"/>
              </a:buClr>
              <a:buSzPct val="70000"/>
              <a:buFont typeface="Wingdings" panose="05000000000000000000" pitchFamily="2" charset="2"/>
              <a:buNone/>
            </a:pPr>
            <a:r>
              <a:rPr lang="en-US" altLang="en-US" sz="1000" b="1" i="1">
                <a:latin typeface="Book Antiqua" panose="02040602050305030304" pitchFamily="18" charset="0"/>
              </a:rPr>
              <a:t>Copyright © 2013 by The McGraw-Hill Companies, Inc.  All rights reserved. </a:t>
            </a:r>
            <a:endParaRPr lang="en-US" altLang="en-US">
              <a:latin typeface="Times New Roman" panose="02020603050405020304" pitchFamily="18" charset="0"/>
            </a:endParaRPr>
          </a:p>
        </p:txBody>
      </p:sp>
    </p:spTree>
    <p:extLst>
      <p:ext uri="{BB962C8B-B14F-4D97-AF65-F5344CB8AC3E}">
        <p14:creationId xmlns:p14="http://schemas.microsoft.com/office/powerpoint/2010/main" val="26147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title"/>
          </p:nvPr>
        </p:nvSpPr>
        <p:spPr>
          <a:xfrm>
            <a:off x="304800" y="0"/>
            <a:ext cx="8229600" cy="1066800"/>
          </a:xfrm>
        </p:spPr>
        <p:txBody>
          <a:bodyPr/>
          <a:lstStyle/>
          <a:p>
            <a:pPr eaLnBrk="1" hangingPunct="1"/>
            <a:r>
              <a:rPr lang="en-US" altLang="en-US" dirty="0">
                <a:ea typeface="ＭＳ Ｐゴシック" panose="020B0600070205080204" pitchFamily="34" charset="-128"/>
              </a:rPr>
              <a:t>Example Without Generics</a:t>
            </a:r>
          </a:p>
        </p:txBody>
      </p:sp>
      <p:sp>
        <p:nvSpPr>
          <p:cNvPr id="15362" name="Rectangle 3"/>
          <p:cNvSpPr>
            <a:spLocks noGrp="1" noChangeArrowheads="1"/>
          </p:cNvSpPr>
          <p:nvPr>
            <p:ph idx="1"/>
          </p:nvPr>
        </p:nvSpPr>
        <p:spPr>
          <a:xfrm>
            <a:off x="304800" y="1295400"/>
            <a:ext cx="8686800" cy="4876800"/>
          </a:xfrm>
        </p:spPr>
        <p:txBody>
          <a:bodyPr>
            <a:noAutofit/>
          </a:bodyPr>
          <a:lstStyle/>
          <a:p>
            <a:pPr marL="107950" indent="0" eaLnBrk="1" hangingPunct="1">
              <a:buFont typeface="Georgia" panose="02040502050405020303" pitchFamily="18" charset="0"/>
              <a:buNone/>
            </a:pP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class </a:t>
            </a:r>
            <a:r>
              <a:rPr lang="en-US" altLang="en-US" sz="2000" dirty="0" err="1">
                <a:latin typeface="Courier New" panose="02070309020205020404" pitchFamily="49" charset="0"/>
                <a:ea typeface="ＭＳ Ｐゴシック" panose="020B0600070205080204" pitchFamily="34" charset="-128"/>
                <a:cs typeface="Courier New" panose="02070309020205020404" pitchFamily="49" charset="0"/>
              </a:rPr>
              <a:t>KVPair</a:t>
            </a: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a:t>
            </a:r>
          </a:p>
          <a:p>
            <a:pPr marL="107950" indent="0" eaLnBrk="1" hangingPunct="1">
              <a:buFont typeface="Georgia" panose="02040502050405020303" pitchFamily="18" charset="0"/>
              <a:buNone/>
            </a:pP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Object key, value;</a:t>
            </a:r>
          </a:p>
          <a:p>
            <a:pPr marL="107950" indent="0" eaLnBrk="1" hangingPunct="1">
              <a:buFont typeface="Georgia" panose="02040502050405020303" pitchFamily="18" charset="0"/>
              <a:buNone/>
            </a:pPr>
            <a:endParaRPr lang="en-US" altLang="en-US" sz="2000" dirty="0">
              <a:latin typeface="Courier New" panose="02070309020205020404" pitchFamily="49" charset="0"/>
              <a:ea typeface="ＭＳ Ｐゴシック" panose="020B0600070205080204" pitchFamily="34" charset="-128"/>
              <a:cs typeface="Courier New" panose="02070309020205020404" pitchFamily="49" charset="0"/>
            </a:endParaRPr>
          </a:p>
          <a:p>
            <a:pPr marL="107950" indent="0" eaLnBrk="1" hangingPunct="1">
              <a:buFont typeface="Georgia" panose="02040502050405020303" pitchFamily="18" charset="0"/>
              <a:buNone/>
            </a:pP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Object </a:t>
            </a:r>
            <a:r>
              <a:rPr lang="en-US" altLang="en-US" sz="2000" dirty="0" err="1">
                <a:latin typeface="Courier New" panose="02070309020205020404" pitchFamily="49" charset="0"/>
                <a:ea typeface="ＭＳ Ｐゴシック" panose="020B0600070205080204" pitchFamily="34" charset="-128"/>
                <a:cs typeface="Courier New" panose="02070309020205020404" pitchFamily="49" charset="0"/>
              </a:rPr>
              <a:t>getKey</a:t>
            </a: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 return key; }</a:t>
            </a:r>
          </a:p>
          <a:p>
            <a:pPr marL="107950" indent="0" eaLnBrk="1" hangingPunct="1">
              <a:buFont typeface="Georgia" panose="02040502050405020303" pitchFamily="18" charset="0"/>
              <a:buNone/>
            </a:pP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Object </a:t>
            </a:r>
            <a:r>
              <a:rPr lang="en-US" altLang="en-US" sz="2000" dirty="0" err="1">
                <a:latin typeface="Courier New" panose="02070309020205020404" pitchFamily="49" charset="0"/>
                <a:ea typeface="ＭＳ Ｐゴシック" panose="020B0600070205080204" pitchFamily="34" charset="-128"/>
                <a:cs typeface="Courier New" panose="02070309020205020404" pitchFamily="49" charset="0"/>
              </a:rPr>
              <a:t>getValue</a:t>
            </a: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 return value; }</a:t>
            </a:r>
          </a:p>
          <a:p>
            <a:pPr marL="107950" indent="0" eaLnBrk="1" hangingPunct="1">
              <a:buFont typeface="Georgia" panose="02040502050405020303" pitchFamily="18" charset="0"/>
              <a:buNone/>
            </a:pP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void </a:t>
            </a:r>
            <a:r>
              <a:rPr lang="en-US" altLang="en-US" sz="2000" dirty="0" err="1">
                <a:latin typeface="Courier New" panose="02070309020205020404" pitchFamily="49" charset="0"/>
                <a:ea typeface="ＭＳ Ｐゴシック" panose="020B0600070205080204" pitchFamily="34" charset="-128"/>
                <a:cs typeface="Courier New" panose="02070309020205020404" pitchFamily="49" charset="0"/>
              </a:rPr>
              <a:t>setKey</a:t>
            </a: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(Object </a:t>
            </a:r>
            <a:r>
              <a:rPr lang="en-US" altLang="en-US" sz="2000" dirty="0" err="1">
                <a:latin typeface="Courier New" panose="02070309020205020404" pitchFamily="49" charset="0"/>
                <a:ea typeface="ＭＳ Ｐゴシック" panose="020B0600070205080204" pitchFamily="34" charset="-128"/>
                <a:cs typeface="Courier New" panose="02070309020205020404" pitchFamily="49" charset="0"/>
              </a:rPr>
              <a:t>ob</a:t>
            </a: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 key = </a:t>
            </a:r>
            <a:r>
              <a:rPr lang="en-US" altLang="en-US" sz="2000" dirty="0" err="1">
                <a:latin typeface="Courier New" panose="02070309020205020404" pitchFamily="49" charset="0"/>
                <a:ea typeface="ＭＳ Ｐゴシック" panose="020B0600070205080204" pitchFamily="34" charset="-128"/>
                <a:cs typeface="Courier New" panose="02070309020205020404" pitchFamily="49" charset="0"/>
              </a:rPr>
              <a:t>ob</a:t>
            </a: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a:t>
            </a:r>
          </a:p>
          <a:p>
            <a:pPr marL="107950" indent="0" eaLnBrk="1" hangingPunct="1">
              <a:buFont typeface="Georgia" panose="02040502050405020303" pitchFamily="18" charset="0"/>
              <a:buNone/>
            </a:pP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void </a:t>
            </a:r>
            <a:r>
              <a:rPr lang="en-US" altLang="en-US" sz="2000" dirty="0" err="1">
                <a:latin typeface="Courier New" panose="02070309020205020404" pitchFamily="49" charset="0"/>
                <a:ea typeface="ＭＳ Ｐゴシック" panose="020B0600070205080204" pitchFamily="34" charset="-128"/>
                <a:cs typeface="Courier New" panose="02070309020205020404" pitchFamily="49" charset="0"/>
              </a:rPr>
              <a:t>setValue</a:t>
            </a: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(Object </a:t>
            </a:r>
            <a:r>
              <a:rPr lang="en-US" altLang="en-US" sz="2000" dirty="0" err="1">
                <a:latin typeface="Courier New" panose="02070309020205020404" pitchFamily="49" charset="0"/>
                <a:ea typeface="ＭＳ Ｐゴシック" panose="020B0600070205080204" pitchFamily="34" charset="-128"/>
                <a:cs typeface="Courier New" panose="02070309020205020404" pitchFamily="49" charset="0"/>
              </a:rPr>
              <a:t>ob</a:t>
            </a: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 value = </a:t>
            </a:r>
            <a:r>
              <a:rPr lang="en-US" altLang="en-US" sz="2000" dirty="0" err="1">
                <a:latin typeface="Courier New" panose="02070309020205020404" pitchFamily="49" charset="0"/>
                <a:ea typeface="ＭＳ Ｐゴシック" panose="020B0600070205080204" pitchFamily="34" charset="-128"/>
                <a:cs typeface="Courier New" panose="02070309020205020404" pitchFamily="49" charset="0"/>
              </a:rPr>
              <a:t>ob</a:t>
            </a: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a:t>
            </a:r>
          </a:p>
          <a:p>
            <a:pPr marL="107950" indent="0" eaLnBrk="1" hangingPunct="1">
              <a:buFont typeface="Georgia" panose="02040502050405020303" pitchFamily="18" charset="0"/>
              <a:buNone/>
            </a:pP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a:t>
            </a:r>
          </a:p>
          <a:p>
            <a:pPr marL="107950" indent="0" eaLnBrk="1" hangingPunct="1">
              <a:buFont typeface="Georgia" panose="02040502050405020303" pitchFamily="18" charset="0"/>
              <a:buNone/>
            </a:pPr>
            <a:endParaRPr lang="en-US" altLang="en-US" sz="2000" dirty="0">
              <a:latin typeface="Courier New" panose="02070309020205020404" pitchFamily="49" charset="0"/>
              <a:ea typeface="ＭＳ Ｐゴシック" panose="020B0600070205080204" pitchFamily="34" charset="-128"/>
              <a:cs typeface="Courier New" panose="02070309020205020404" pitchFamily="49" charset="0"/>
            </a:endParaRPr>
          </a:p>
          <a:p>
            <a:pPr marL="107950" indent="0" eaLnBrk="1" hangingPunct="1">
              <a:buFont typeface="Georgia" panose="02040502050405020303" pitchFamily="18" charset="0"/>
              <a:buNone/>
            </a:pP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Usage: </a:t>
            </a:r>
            <a:r>
              <a:rPr lang="en-US" altLang="en-US" sz="2000" dirty="0" err="1">
                <a:latin typeface="Courier New" panose="02070309020205020404" pitchFamily="49" charset="0"/>
                <a:ea typeface="ＭＳ Ｐゴシック" panose="020B0600070205080204" pitchFamily="34" charset="-128"/>
                <a:cs typeface="Courier New" panose="02070309020205020404" pitchFamily="49" charset="0"/>
              </a:rPr>
              <a:t>KVPair</a:t>
            </a: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pair = new </a:t>
            </a:r>
            <a:r>
              <a:rPr lang="en-US" altLang="en-US" sz="2000" dirty="0" err="1">
                <a:latin typeface="Courier New" panose="02070309020205020404" pitchFamily="49" charset="0"/>
                <a:ea typeface="ＭＳ Ｐゴシック" panose="020B0600070205080204" pitchFamily="34" charset="-128"/>
                <a:cs typeface="Courier New" panose="02070309020205020404" pitchFamily="49" charset="0"/>
              </a:rPr>
              <a:t>KVPair</a:t>
            </a: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a:t>
            </a:r>
          </a:p>
          <a:p>
            <a:pPr marL="107950" indent="0" eaLnBrk="1" hangingPunct="1">
              <a:buFont typeface="Georgia" panose="02040502050405020303" pitchFamily="18" charset="0"/>
              <a:buNone/>
            </a:pP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a:t>
            </a:r>
            <a:r>
              <a:rPr lang="en-US" altLang="en-US" sz="2000" dirty="0" err="1">
                <a:latin typeface="Courier New" panose="02070309020205020404" pitchFamily="49" charset="0"/>
                <a:ea typeface="ＭＳ Ｐゴシック" panose="020B0600070205080204" pitchFamily="34" charset="-128"/>
                <a:cs typeface="Courier New" panose="02070309020205020404" pitchFamily="49" charset="0"/>
              </a:rPr>
              <a:t>pair.setValue</a:t>
            </a: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("Address");</a:t>
            </a:r>
          </a:p>
          <a:p>
            <a:pPr marL="107950" indent="0" eaLnBrk="1" hangingPunct="1">
              <a:buFont typeface="Georgia" panose="02040502050405020303" pitchFamily="18" charset="0"/>
              <a:buNone/>
            </a:pP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String v = (String) </a:t>
            </a:r>
            <a:r>
              <a:rPr lang="en-US" altLang="en-US" sz="2000" dirty="0" err="1">
                <a:latin typeface="Courier New" panose="02070309020205020404" pitchFamily="49" charset="0"/>
                <a:ea typeface="ＭＳ Ｐゴシック" panose="020B0600070205080204" pitchFamily="34" charset="-128"/>
                <a:cs typeface="Courier New" panose="02070309020205020404" pitchFamily="49" charset="0"/>
              </a:rPr>
              <a:t>pair.getValue</a:t>
            </a: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 explicit typecast</a:t>
            </a:r>
          </a:p>
          <a:p>
            <a:pPr marL="107950" indent="0" eaLnBrk="1" hangingPunct="1">
              <a:buFont typeface="Georgia" panose="02040502050405020303" pitchFamily="18" charset="0"/>
              <a:buNone/>
            </a:pP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a:t>
            </a:r>
          </a:p>
        </p:txBody>
      </p:sp>
    </p:spTree>
    <p:extLst>
      <p:ext uri="{BB962C8B-B14F-4D97-AF65-F5344CB8AC3E}">
        <p14:creationId xmlns:p14="http://schemas.microsoft.com/office/powerpoint/2010/main" val="2500626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ChangeArrowheads="1"/>
          </p:cNvSpPr>
          <p:nvPr>
            <p:ph type="title"/>
          </p:nvPr>
        </p:nvSpPr>
        <p:spPr>
          <a:xfrm>
            <a:off x="457200" y="762000"/>
            <a:ext cx="8229600" cy="1066800"/>
          </a:xfrm>
        </p:spPr>
        <p:txBody>
          <a:bodyPr/>
          <a:lstStyle/>
          <a:p>
            <a:pPr eaLnBrk="1" hangingPunct="1"/>
            <a:r>
              <a:rPr lang="en-US" altLang="en-US">
                <a:ea typeface="ＭＳ Ｐゴシック" panose="020B0600070205080204" pitchFamily="34" charset="-128"/>
              </a:rPr>
              <a:t>Example with Generics</a:t>
            </a:r>
          </a:p>
        </p:txBody>
      </p:sp>
      <p:sp>
        <p:nvSpPr>
          <p:cNvPr id="16386" name="Rectangle 3"/>
          <p:cNvSpPr>
            <a:spLocks noGrp="1" noChangeArrowheads="1"/>
          </p:cNvSpPr>
          <p:nvPr>
            <p:ph idx="1"/>
          </p:nvPr>
        </p:nvSpPr>
        <p:spPr>
          <a:xfrm>
            <a:off x="304800" y="1868488"/>
            <a:ext cx="8534400" cy="4379912"/>
          </a:xfrm>
        </p:spPr>
        <p:txBody>
          <a:bodyPr>
            <a:normAutofit fontScale="92500" lnSpcReduction="20000"/>
          </a:bodyPr>
          <a:lstStyle/>
          <a:p>
            <a:pPr marL="107950" indent="0" eaLnBrk="1" hangingPunct="1">
              <a:buFont typeface="Georgia" panose="02040502050405020303" pitchFamily="18" charset="0"/>
              <a:buNone/>
            </a:pP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class </a:t>
            </a:r>
            <a:r>
              <a:rPr lang="en-US" altLang="en-US" sz="2000" dirty="0" err="1">
                <a:latin typeface="Courier New" panose="02070309020205020404" pitchFamily="49" charset="0"/>
                <a:ea typeface="ＭＳ Ｐゴシック" panose="020B0600070205080204" pitchFamily="34" charset="-128"/>
                <a:cs typeface="Courier New" panose="02070309020205020404" pitchFamily="49" charset="0"/>
              </a:rPr>
              <a:t>KVPair</a:t>
            </a: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&lt;T&gt;{</a:t>
            </a:r>
          </a:p>
          <a:p>
            <a:pPr marL="107950" indent="0" eaLnBrk="1" hangingPunct="1">
              <a:buFont typeface="Georgia" panose="02040502050405020303" pitchFamily="18" charset="0"/>
              <a:buNone/>
            </a:pP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T key, value;</a:t>
            </a:r>
          </a:p>
          <a:p>
            <a:pPr marL="107950" indent="0" eaLnBrk="1" hangingPunct="1">
              <a:buFont typeface="Georgia" panose="02040502050405020303" pitchFamily="18" charset="0"/>
              <a:buNone/>
            </a:pPr>
            <a:endParaRPr lang="en-US" altLang="en-US" sz="2000" dirty="0">
              <a:latin typeface="Courier New" panose="02070309020205020404" pitchFamily="49" charset="0"/>
              <a:ea typeface="ＭＳ Ｐゴシック" panose="020B0600070205080204" pitchFamily="34" charset="-128"/>
              <a:cs typeface="Courier New" panose="02070309020205020404" pitchFamily="49" charset="0"/>
            </a:endParaRPr>
          </a:p>
          <a:p>
            <a:pPr marL="107950" indent="0" eaLnBrk="1" hangingPunct="1">
              <a:buFont typeface="Georgia" panose="02040502050405020303" pitchFamily="18" charset="0"/>
              <a:buNone/>
            </a:pP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T </a:t>
            </a:r>
            <a:r>
              <a:rPr lang="en-US" altLang="en-US" sz="2000" dirty="0" err="1">
                <a:latin typeface="Courier New" panose="02070309020205020404" pitchFamily="49" charset="0"/>
                <a:ea typeface="ＭＳ Ｐゴシック" panose="020B0600070205080204" pitchFamily="34" charset="-128"/>
                <a:cs typeface="Courier New" panose="02070309020205020404" pitchFamily="49" charset="0"/>
              </a:rPr>
              <a:t>getKey</a:t>
            </a: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 return key; }</a:t>
            </a:r>
          </a:p>
          <a:p>
            <a:pPr marL="107950" indent="0" eaLnBrk="1" hangingPunct="1">
              <a:buFont typeface="Georgia" panose="02040502050405020303" pitchFamily="18" charset="0"/>
              <a:buNone/>
            </a:pP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T </a:t>
            </a:r>
            <a:r>
              <a:rPr lang="en-US" altLang="en-US" sz="2000" dirty="0" err="1">
                <a:latin typeface="Courier New" panose="02070309020205020404" pitchFamily="49" charset="0"/>
                <a:ea typeface="ＭＳ Ｐゴシック" panose="020B0600070205080204" pitchFamily="34" charset="-128"/>
                <a:cs typeface="Courier New" panose="02070309020205020404" pitchFamily="49" charset="0"/>
              </a:rPr>
              <a:t>getValue</a:t>
            </a: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 return value; }</a:t>
            </a:r>
          </a:p>
          <a:p>
            <a:pPr marL="107950" indent="0" eaLnBrk="1" hangingPunct="1">
              <a:buFont typeface="Georgia" panose="02040502050405020303" pitchFamily="18" charset="0"/>
              <a:buNone/>
            </a:pP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void </a:t>
            </a:r>
            <a:r>
              <a:rPr lang="en-US" altLang="en-US" sz="2000" dirty="0" err="1">
                <a:latin typeface="Courier New" panose="02070309020205020404" pitchFamily="49" charset="0"/>
                <a:ea typeface="ＭＳ Ｐゴシック" panose="020B0600070205080204" pitchFamily="34" charset="-128"/>
                <a:cs typeface="Courier New" panose="02070309020205020404" pitchFamily="49" charset="0"/>
              </a:rPr>
              <a:t>setKey</a:t>
            </a: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(T </a:t>
            </a:r>
            <a:r>
              <a:rPr lang="en-US" altLang="en-US" sz="2000" dirty="0" err="1">
                <a:latin typeface="Courier New" panose="02070309020205020404" pitchFamily="49" charset="0"/>
                <a:ea typeface="ＭＳ Ｐゴシック" panose="020B0600070205080204" pitchFamily="34" charset="-128"/>
                <a:cs typeface="Courier New" panose="02070309020205020404" pitchFamily="49" charset="0"/>
              </a:rPr>
              <a:t>ob</a:t>
            </a: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 key = </a:t>
            </a:r>
            <a:r>
              <a:rPr lang="en-US" altLang="en-US" sz="2000" dirty="0" err="1">
                <a:latin typeface="Courier New" panose="02070309020205020404" pitchFamily="49" charset="0"/>
                <a:ea typeface="ＭＳ Ｐゴシック" panose="020B0600070205080204" pitchFamily="34" charset="-128"/>
                <a:cs typeface="Courier New" panose="02070309020205020404" pitchFamily="49" charset="0"/>
              </a:rPr>
              <a:t>ob</a:t>
            </a: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a:t>
            </a:r>
          </a:p>
          <a:p>
            <a:pPr marL="107950" indent="0" eaLnBrk="1" hangingPunct="1">
              <a:buFont typeface="Georgia" panose="02040502050405020303" pitchFamily="18" charset="0"/>
              <a:buNone/>
            </a:pP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void </a:t>
            </a:r>
            <a:r>
              <a:rPr lang="en-US" altLang="en-US" sz="2000" dirty="0" err="1">
                <a:latin typeface="Courier New" panose="02070309020205020404" pitchFamily="49" charset="0"/>
                <a:ea typeface="ＭＳ Ｐゴシック" panose="020B0600070205080204" pitchFamily="34" charset="-128"/>
                <a:cs typeface="Courier New" panose="02070309020205020404" pitchFamily="49" charset="0"/>
              </a:rPr>
              <a:t>setValue</a:t>
            </a: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(T </a:t>
            </a:r>
            <a:r>
              <a:rPr lang="en-US" altLang="en-US" sz="2000" dirty="0" err="1">
                <a:latin typeface="Courier New" panose="02070309020205020404" pitchFamily="49" charset="0"/>
                <a:ea typeface="ＭＳ Ｐゴシック" panose="020B0600070205080204" pitchFamily="34" charset="-128"/>
                <a:cs typeface="Courier New" panose="02070309020205020404" pitchFamily="49" charset="0"/>
              </a:rPr>
              <a:t>ob</a:t>
            </a: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 value = </a:t>
            </a:r>
            <a:r>
              <a:rPr lang="en-US" altLang="en-US" sz="2000" dirty="0" err="1">
                <a:latin typeface="Courier New" panose="02070309020205020404" pitchFamily="49" charset="0"/>
                <a:ea typeface="ＭＳ Ｐゴシック" panose="020B0600070205080204" pitchFamily="34" charset="-128"/>
                <a:cs typeface="Courier New" panose="02070309020205020404" pitchFamily="49" charset="0"/>
              </a:rPr>
              <a:t>ob</a:t>
            </a: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a:t>
            </a:r>
          </a:p>
          <a:p>
            <a:pPr marL="107950" indent="0" eaLnBrk="1" hangingPunct="1">
              <a:buFont typeface="Georgia" panose="02040502050405020303" pitchFamily="18" charset="0"/>
              <a:buNone/>
            </a:pP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a:t>
            </a:r>
          </a:p>
          <a:p>
            <a:pPr marL="107950" indent="0" eaLnBrk="1" hangingPunct="1">
              <a:buFont typeface="Georgia" panose="02040502050405020303" pitchFamily="18" charset="0"/>
              <a:buNone/>
            </a:pPr>
            <a:endParaRPr lang="en-US" altLang="en-US" sz="2000" dirty="0">
              <a:latin typeface="Courier New" panose="02070309020205020404" pitchFamily="49" charset="0"/>
              <a:ea typeface="ＭＳ Ｐゴシック" panose="020B0600070205080204" pitchFamily="34" charset="-128"/>
              <a:cs typeface="Courier New" panose="02070309020205020404" pitchFamily="49" charset="0"/>
            </a:endParaRPr>
          </a:p>
          <a:p>
            <a:pPr marL="107950" indent="0" eaLnBrk="1" hangingPunct="1">
              <a:buFont typeface="Georgia" panose="02040502050405020303" pitchFamily="18" charset="0"/>
              <a:buNone/>
            </a:pP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Usage: </a:t>
            </a:r>
            <a:r>
              <a:rPr lang="en-US" altLang="en-US" sz="2000" dirty="0" err="1">
                <a:latin typeface="Courier New" panose="02070309020205020404" pitchFamily="49" charset="0"/>
                <a:ea typeface="ＭＳ Ｐゴシック" panose="020B0600070205080204" pitchFamily="34" charset="-128"/>
                <a:cs typeface="Courier New" panose="02070309020205020404" pitchFamily="49" charset="0"/>
              </a:rPr>
              <a:t>KVPair</a:t>
            </a: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&lt;String&gt; pair = new </a:t>
            </a:r>
            <a:r>
              <a:rPr lang="en-US" altLang="en-US" sz="2000" dirty="0" err="1">
                <a:latin typeface="Courier New" panose="02070309020205020404" pitchFamily="49" charset="0"/>
                <a:ea typeface="ＭＳ Ｐゴシック" panose="020B0600070205080204" pitchFamily="34" charset="-128"/>
                <a:cs typeface="Courier New" panose="02070309020205020404" pitchFamily="49" charset="0"/>
              </a:rPr>
              <a:t>KVPair</a:t>
            </a: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&lt;String&gt;();</a:t>
            </a:r>
          </a:p>
          <a:p>
            <a:pPr marL="107950" indent="0" eaLnBrk="1" hangingPunct="1">
              <a:buFont typeface="Georgia" panose="02040502050405020303" pitchFamily="18" charset="0"/>
              <a:buNone/>
            </a:pP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a:t>
            </a:r>
            <a:r>
              <a:rPr lang="en-US" altLang="en-US" sz="2000" dirty="0" err="1">
                <a:latin typeface="Courier New" panose="02070309020205020404" pitchFamily="49" charset="0"/>
                <a:ea typeface="ＭＳ Ｐゴシック" panose="020B0600070205080204" pitchFamily="34" charset="-128"/>
                <a:cs typeface="Courier New" panose="02070309020205020404" pitchFamily="49" charset="0"/>
              </a:rPr>
              <a:t>pair.setValue</a:t>
            </a: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("Address");</a:t>
            </a:r>
          </a:p>
          <a:p>
            <a:pPr marL="107950" indent="0" eaLnBrk="1" hangingPunct="1">
              <a:buFont typeface="Georgia" panose="02040502050405020303" pitchFamily="18" charset="0"/>
              <a:buNone/>
            </a:pP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String v = </a:t>
            </a:r>
            <a:r>
              <a:rPr lang="en-US" altLang="en-US" sz="2000" dirty="0" err="1">
                <a:latin typeface="Courier New" panose="02070309020205020404" pitchFamily="49" charset="0"/>
                <a:ea typeface="ＭＳ Ｐゴシック" panose="020B0600070205080204" pitchFamily="34" charset="-128"/>
                <a:cs typeface="Courier New" panose="02070309020205020404" pitchFamily="49" charset="0"/>
              </a:rPr>
              <a:t>pair.getValue</a:t>
            </a: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 no typecast</a:t>
            </a:r>
          </a:p>
          <a:p>
            <a:pPr marL="107950" indent="0" eaLnBrk="1" hangingPunct="1">
              <a:buFont typeface="Georgia" panose="02040502050405020303" pitchFamily="18" charset="0"/>
              <a:buNone/>
            </a:pP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a:t>
            </a:r>
          </a:p>
          <a:p>
            <a:pPr marL="107950" indent="0" eaLnBrk="1" hangingPunct="1">
              <a:buFont typeface="Georgia" panose="02040502050405020303" pitchFamily="18" charset="0"/>
              <a:buNone/>
            </a:pPr>
            <a:r>
              <a:rPr lang="en-US" altLang="en-US" sz="2000" dirty="0">
                <a:latin typeface="Courier New" panose="02070309020205020404" pitchFamily="49" charset="0"/>
                <a:ea typeface="ＭＳ Ｐゴシック" panose="020B0600070205080204" pitchFamily="34" charset="-128"/>
                <a:cs typeface="Courier New" panose="02070309020205020404" pitchFamily="49" charset="0"/>
              </a:rPr>
              <a:t>  </a:t>
            </a:r>
          </a:p>
        </p:txBody>
      </p:sp>
      <p:sp>
        <p:nvSpPr>
          <p:cNvPr id="16387" name="Text Box 48"/>
          <p:cNvSpPr txBox="1">
            <a:spLocks noChangeArrowheads="1"/>
          </p:cNvSpPr>
          <p:nvPr/>
        </p:nvSpPr>
        <p:spPr bwMode="auto">
          <a:xfrm>
            <a:off x="304800" y="6477000"/>
            <a:ext cx="46529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984" tIns="40492" rIns="80984" bIns="40492">
            <a:spAutoFit/>
          </a:bodyPr>
          <a:lstStyle>
            <a:lvl1pPr defTabSz="809625">
              <a:defRPr sz="2400">
                <a:solidFill>
                  <a:schemeClr val="tx1"/>
                </a:solidFill>
                <a:latin typeface="Arial" panose="020B0604020202020204" pitchFamily="34" charset="0"/>
                <a:ea typeface="ＭＳ Ｐゴシック" panose="020B0600070205080204" pitchFamily="34" charset="-128"/>
              </a:defRPr>
            </a:lvl1pPr>
            <a:lvl2pPr marL="742950" indent="-285750" defTabSz="809625">
              <a:defRPr sz="2400">
                <a:solidFill>
                  <a:schemeClr val="tx1"/>
                </a:solidFill>
                <a:latin typeface="Arial" panose="020B0604020202020204" pitchFamily="34" charset="0"/>
                <a:ea typeface="ＭＳ Ｐゴシック" panose="020B0600070205080204" pitchFamily="34" charset="-128"/>
              </a:defRPr>
            </a:lvl2pPr>
            <a:lvl3pPr marL="1143000" indent="-228600" defTabSz="809625">
              <a:defRPr sz="2400">
                <a:solidFill>
                  <a:schemeClr val="tx1"/>
                </a:solidFill>
                <a:latin typeface="Arial" panose="020B0604020202020204" pitchFamily="34" charset="0"/>
                <a:ea typeface="ＭＳ Ｐゴシック" panose="020B0600070205080204" pitchFamily="34" charset="-128"/>
              </a:defRPr>
            </a:lvl3pPr>
            <a:lvl4pPr marL="1600200" indent="-228600" defTabSz="809625">
              <a:defRPr sz="2400">
                <a:solidFill>
                  <a:schemeClr val="tx1"/>
                </a:solidFill>
                <a:latin typeface="Arial" panose="020B0604020202020204" pitchFamily="34" charset="0"/>
                <a:ea typeface="ＭＳ Ｐゴシック" panose="020B0600070205080204" pitchFamily="34" charset="-128"/>
              </a:defRPr>
            </a:lvl4pPr>
            <a:lvl5pPr marL="2057400" indent="-228600" defTabSz="809625">
              <a:defRPr sz="2400">
                <a:solidFill>
                  <a:schemeClr val="tx1"/>
                </a:solidFill>
                <a:latin typeface="Arial" panose="020B0604020202020204" pitchFamily="34" charset="0"/>
                <a:ea typeface="ＭＳ Ｐゴシック" panose="020B0600070205080204" pitchFamily="34" charset="-128"/>
              </a:defRPr>
            </a:lvl5pPr>
            <a:lvl6pPr marL="25146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spcBef>
                <a:spcPct val="20000"/>
              </a:spcBef>
              <a:buClr>
                <a:schemeClr val="hlink"/>
              </a:buClr>
              <a:buSzPct val="70000"/>
              <a:buFont typeface="Wingdings" panose="05000000000000000000" pitchFamily="2" charset="2"/>
              <a:buNone/>
            </a:pPr>
            <a:r>
              <a:rPr lang="en-US" altLang="en-US" sz="1000" b="1" i="1">
                <a:latin typeface="Book Antiqua" panose="02040602050305030304" pitchFamily="18" charset="0"/>
              </a:rPr>
              <a:t>Copyright © 2013 by The McGraw-Hill Companies, Inc.  All rights reserved. </a:t>
            </a:r>
            <a:endParaRPr lang="en-US" altLang="en-US">
              <a:latin typeface="Times New Roman" panose="02020603050405020304" pitchFamily="18" charset="0"/>
            </a:endParaRPr>
          </a:p>
        </p:txBody>
      </p:sp>
    </p:spTree>
    <p:extLst>
      <p:ext uri="{BB962C8B-B14F-4D97-AF65-F5344CB8AC3E}">
        <p14:creationId xmlns:p14="http://schemas.microsoft.com/office/powerpoint/2010/main" val="307759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a:xfrm>
            <a:off x="457200" y="274638"/>
            <a:ext cx="8229600" cy="487362"/>
          </a:xfrm>
        </p:spPr>
        <p:txBody>
          <a:bodyPr>
            <a:normAutofit fontScale="90000"/>
          </a:bodyPr>
          <a:lstStyle/>
          <a:p>
            <a:pPr eaLnBrk="1" hangingPunct="1"/>
            <a:r>
              <a:rPr lang="en-US" altLang="en-US" dirty="0">
                <a:ea typeface="ＭＳ Ｐゴシック" panose="020B0600070205080204" pitchFamily="34" charset="-128"/>
              </a:rPr>
              <a:t>Example Explained</a:t>
            </a:r>
          </a:p>
        </p:txBody>
      </p:sp>
      <p:sp>
        <p:nvSpPr>
          <p:cNvPr id="17410" name="Rectangle 3"/>
          <p:cNvSpPr>
            <a:spLocks noGrp="1" noChangeArrowheads="1"/>
          </p:cNvSpPr>
          <p:nvPr>
            <p:ph idx="1"/>
          </p:nvPr>
        </p:nvSpPr>
        <p:spPr>
          <a:xfrm>
            <a:off x="304800" y="1143000"/>
            <a:ext cx="8229600" cy="5334000"/>
          </a:xfrm>
        </p:spPr>
        <p:txBody>
          <a:bodyPr>
            <a:normAutofit/>
          </a:bodyPr>
          <a:lstStyle/>
          <a:p>
            <a:r>
              <a:rPr lang="en-US" altLang="en-US" dirty="0">
                <a:latin typeface="Courier New" panose="02070309020205020404" pitchFamily="49" charset="0"/>
                <a:ea typeface="ＭＳ Ｐゴシック" panose="020B0600070205080204" pitchFamily="34" charset="-128"/>
                <a:cs typeface="Courier New" panose="02070309020205020404" pitchFamily="49" charset="0"/>
              </a:rPr>
              <a:t>class </a:t>
            </a:r>
            <a:r>
              <a:rPr lang="en-US" altLang="en-US" dirty="0" err="1">
                <a:latin typeface="Courier New" panose="02070309020205020404" pitchFamily="49" charset="0"/>
                <a:ea typeface="ＭＳ Ｐゴシック" panose="020B0600070205080204" pitchFamily="34" charset="-128"/>
                <a:cs typeface="Courier New" panose="02070309020205020404" pitchFamily="49" charset="0"/>
              </a:rPr>
              <a:t>KVPair</a:t>
            </a:r>
            <a:r>
              <a:rPr lang="en-US" altLang="en-US" dirty="0">
                <a:latin typeface="Courier New" panose="02070309020205020404" pitchFamily="49" charset="0"/>
                <a:ea typeface="ＭＳ Ｐゴシック" panose="020B0600070205080204" pitchFamily="34" charset="-128"/>
                <a:cs typeface="Courier New" panose="02070309020205020404" pitchFamily="49" charset="0"/>
              </a:rPr>
              <a:t>&lt;T&gt;</a:t>
            </a:r>
          </a:p>
          <a:p>
            <a:pPr eaLnBrk="1" hangingPunct="1"/>
            <a:r>
              <a:rPr lang="en-US" altLang="en-US" dirty="0">
                <a:ea typeface="ＭＳ Ｐゴシック" panose="020B0600070205080204" pitchFamily="34" charset="-128"/>
              </a:rPr>
              <a:t>The </a:t>
            </a:r>
            <a:r>
              <a:rPr lang="en-US" altLang="en-US" b="1" dirty="0">
                <a:ea typeface="ＭＳ Ｐゴシック" panose="020B0600070205080204" pitchFamily="34" charset="-128"/>
              </a:rPr>
              <a:t>&lt;T&gt; </a:t>
            </a:r>
            <a:r>
              <a:rPr lang="en-US" altLang="en-US" dirty="0">
                <a:ea typeface="ＭＳ Ｐゴシック" panose="020B0600070205080204" pitchFamily="34" charset="-128"/>
              </a:rPr>
              <a:t>syntax indicates that </a:t>
            </a:r>
            <a:r>
              <a:rPr lang="en-US" altLang="en-US" b="1" dirty="0">
                <a:ea typeface="ＭＳ Ｐゴシック" panose="020B0600070205080204" pitchFamily="34" charset="-128"/>
              </a:rPr>
              <a:t>T</a:t>
            </a:r>
            <a:r>
              <a:rPr lang="en-US" altLang="en-US" dirty="0">
                <a:ea typeface="ＭＳ Ｐゴシック" panose="020B0600070205080204" pitchFamily="34" charset="-128"/>
              </a:rPr>
              <a:t> is name of a </a:t>
            </a:r>
            <a:r>
              <a:rPr lang="en-US" altLang="en-US" i="1" dirty="0">
                <a:ea typeface="ＭＳ Ｐゴシック" panose="020B0600070205080204" pitchFamily="34" charset="-128"/>
              </a:rPr>
              <a:t>type parameter.</a:t>
            </a:r>
            <a:endParaRPr lang="en-US" altLang="en-US" dirty="0">
              <a:ea typeface="ＭＳ Ｐゴシック" panose="020B0600070205080204" pitchFamily="34" charset="-128"/>
            </a:endParaRPr>
          </a:p>
          <a:p>
            <a:pPr eaLnBrk="1" hangingPunct="1"/>
            <a:r>
              <a:rPr lang="en-US" altLang="en-US" dirty="0">
                <a:ea typeface="ＭＳ Ｐゴシック" panose="020B0600070205080204" pitchFamily="34" charset="-128"/>
              </a:rPr>
              <a:t>Any valid identifier can be used in place of T, but usage of T is traditional.</a:t>
            </a:r>
          </a:p>
          <a:p>
            <a:pPr eaLnBrk="1" hangingPunct="1"/>
            <a:r>
              <a:rPr lang="en-US" altLang="en-US" dirty="0">
                <a:ea typeface="ＭＳ Ｐゴシック" panose="020B0600070205080204" pitchFamily="34" charset="-128"/>
              </a:rPr>
              <a:t>Use of generics allows us to avoid the type casting.</a:t>
            </a:r>
          </a:p>
          <a:p>
            <a:pPr eaLnBrk="1" hangingPunct="1"/>
            <a:r>
              <a:rPr lang="en-US" altLang="en-US" dirty="0">
                <a:ea typeface="ＭＳ Ｐゴシック" panose="020B0600070205080204" pitchFamily="34" charset="-128"/>
              </a:rPr>
              <a:t>That is, generics </a:t>
            </a:r>
            <a:r>
              <a:rPr lang="en-US" altLang="en-US" b="1" dirty="0">
                <a:ea typeface="ＭＳ Ｐゴシック" panose="020B0600070205080204" pitchFamily="34" charset="-128"/>
              </a:rPr>
              <a:t>makes type casts automatic and implicit, and therefore add type safety</a:t>
            </a:r>
            <a:r>
              <a:rPr lang="en-US" altLang="en-US" dirty="0">
                <a:ea typeface="ＭＳ Ｐゴシック" panose="020B0600070205080204" pitchFamily="34" charset="-128"/>
              </a:rPr>
              <a:t>.</a:t>
            </a:r>
          </a:p>
        </p:txBody>
      </p:sp>
      <p:sp>
        <p:nvSpPr>
          <p:cNvPr id="17411" name="Text Box 48"/>
          <p:cNvSpPr txBox="1">
            <a:spLocks noChangeArrowheads="1"/>
          </p:cNvSpPr>
          <p:nvPr/>
        </p:nvSpPr>
        <p:spPr bwMode="auto">
          <a:xfrm>
            <a:off x="304800" y="6477000"/>
            <a:ext cx="46529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984" tIns="40492" rIns="80984" bIns="40492">
            <a:spAutoFit/>
          </a:bodyPr>
          <a:lstStyle>
            <a:lvl1pPr defTabSz="809625">
              <a:defRPr sz="2400">
                <a:solidFill>
                  <a:schemeClr val="tx1"/>
                </a:solidFill>
                <a:latin typeface="Arial" panose="020B0604020202020204" pitchFamily="34" charset="0"/>
                <a:ea typeface="ＭＳ Ｐゴシック" panose="020B0600070205080204" pitchFamily="34" charset="-128"/>
              </a:defRPr>
            </a:lvl1pPr>
            <a:lvl2pPr marL="742950" indent="-285750" defTabSz="809625">
              <a:defRPr sz="2400">
                <a:solidFill>
                  <a:schemeClr val="tx1"/>
                </a:solidFill>
                <a:latin typeface="Arial" panose="020B0604020202020204" pitchFamily="34" charset="0"/>
                <a:ea typeface="ＭＳ Ｐゴシック" panose="020B0600070205080204" pitchFamily="34" charset="-128"/>
              </a:defRPr>
            </a:lvl2pPr>
            <a:lvl3pPr marL="1143000" indent="-228600" defTabSz="809625">
              <a:defRPr sz="2400">
                <a:solidFill>
                  <a:schemeClr val="tx1"/>
                </a:solidFill>
                <a:latin typeface="Arial" panose="020B0604020202020204" pitchFamily="34" charset="0"/>
                <a:ea typeface="ＭＳ Ｐゴシック" panose="020B0600070205080204" pitchFamily="34" charset="-128"/>
              </a:defRPr>
            </a:lvl3pPr>
            <a:lvl4pPr marL="1600200" indent="-228600" defTabSz="809625">
              <a:defRPr sz="2400">
                <a:solidFill>
                  <a:schemeClr val="tx1"/>
                </a:solidFill>
                <a:latin typeface="Arial" panose="020B0604020202020204" pitchFamily="34" charset="0"/>
                <a:ea typeface="ＭＳ Ｐゴシック" panose="020B0600070205080204" pitchFamily="34" charset="-128"/>
              </a:defRPr>
            </a:lvl4pPr>
            <a:lvl5pPr marL="2057400" indent="-228600" defTabSz="809625">
              <a:defRPr sz="2400">
                <a:solidFill>
                  <a:schemeClr val="tx1"/>
                </a:solidFill>
                <a:latin typeface="Arial" panose="020B0604020202020204" pitchFamily="34" charset="0"/>
                <a:ea typeface="ＭＳ Ｐゴシック" panose="020B0600070205080204" pitchFamily="34" charset="-128"/>
              </a:defRPr>
            </a:lvl5pPr>
            <a:lvl6pPr marL="25146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spcBef>
                <a:spcPct val="20000"/>
              </a:spcBef>
              <a:buClr>
                <a:schemeClr val="hlink"/>
              </a:buClr>
              <a:buSzPct val="70000"/>
              <a:buFont typeface="Wingdings" panose="05000000000000000000" pitchFamily="2" charset="2"/>
              <a:buNone/>
            </a:pPr>
            <a:r>
              <a:rPr lang="en-US" altLang="en-US" sz="1000" b="1" i="1">
                <a:latin typeface="Book Antiqua" panose="02040602050305030304" pitchFamily="18" charset="0"/>
              </a:rPr>
              <a:t>Copyright © 2013 by The McGraw-Hill Companies, Inc.  All rights reserved. </a:t>
            </a:r>
            <a:endParaRPr lang="en-US" altLang="en-US">
              <a:latin typeface="Times New Roman" panose="02020603050405020304" pitchFamily="18" charset="0"/>
            </a:endParaRPr>
          </a:p>
        </p:txBody>
      </p:sp>
    </p:spTree>
    <p:extLst>
      <p:ext uri="{BB962C8B-B14F-4D97-AF65-F5344CB8AC3E}">
        <p14:creationId xmlns:p14="http://schemas.microsoft.com/office/powerpoint/2010/main" val="2767039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3728"/>
            <a:ext cx="8915400" cy="457200"/>
          </a:xfrm>
        </p:spPr>
        <p:txBody>
          <a:bodyPr>
            <a:normAutofit fontScale="90000"/>
          </a:bodyPr>
          <a:lstStyle/>
          <a:p>
            <a:br>
              <a:rPr lang="en-IN" dirty="0"/>
            </a:br>
            <a:r>
              <a:rPr lang="en-IN" sz="3600" dirty="0"/>
              <a:t>Generics Work Only with Reference Types</a:t>
            </a:r>
          </a:p>
        </p:txBody>
      </p:sp>
      <p:sp>
        <p:nvSpPr>
          <p:cNvPr id="3" name="Content Placeholder 2"/>
          <p:cNvSpPr>
            <a:spLocks noGrp="1"/>
          </p:cNvSpPr>
          <p:nvPr>
            <p:ph idx="1"/>
          </p:nvPr>
        </p:nvSpPr>
        <p:spPr>
          <a:xfrm>
            <a:off x="171450" y="762000"/>
            <a:ext cx="8572500" cy="5257800"/>
          </a:xfrm>
        </p:spPr>
        <p:txBody>
          <a:bodyPr>
            <a:normAutofit/>
          </a:bodyPr>
          <a:lstStyle/>
          <a:p>
            <a:pPr marL="0" indent="0">
              <a:buNone/>
            </a:pPr>
            <a:endParaRPr lang="en-US" sz="2800" dirty="0"/>
          </a:p>
          <a:p>
            <a:r>
              <a:rPr lang="en-US" sz="2800" dirty="0"/>
              <a:t>Reference datatypes in java are those which contains reference/address of dynamically created objects. These are not predefined like primitive data types.</a:t>
            </a:r>
          </a:p>
          <a:p>
            <a:pPr marL="0" indent="0">
              <a:buNone/>
            </a:pPr>
            <a:r>
              <a:rPr lang="en-US" sz="2800" dirty="0"/>
              <a:t>Thus,</a:t>
            </a:r>
            <a:endParaRPr lang="en-IN" sz="2800" dirty="0"/>
          </a:p>
          <a:p>
            <a:pPr marL="0" indent="0">
              <a:buNone/>
            </a:pPr>
            <a:r>
              <a:rPr lang="en-IN" sz="2800" dirty="0"/>
              <a:t>Gen&lt;</a:t>
            </a:r>
            <a:r>
              <a:rPr lang="en-IN" sz="2800" dirty="0" err="1"/>
              <a:t>int</a:t>
            </a:r>
            <a:r>
              <a:rPr lang="en-IN" sz="2800" dirty="0"/>
              <a:t>&gt; </a:t>
            </a:r>
            <a:r>
              <a:rPr lang="en-IN" sz="2800" dirty="0" err="1"/>
              <a:t>intOb</a:t>
            </a:r>
            <a:r>
              <a:rPr lang="en-IN" sz="2800" dirty="0"/>
              <a:t> = new Gen&lt;</a:t>
            </a:r>
            <a:r>
              <a:rPr lang="en-IN" sz="2800" dirty="0" err="1"/>
              <a:t>int</a:t>
            </a:r>
            <a:r>
              <a:rPr lang="en-IN" sz="2800" dirty="0"/>
              <a:t>&gt;(53); // compile Error</a:t>
            </a:r>
          </a:p>
          <a:p>
            <a:pPr marL="0" indent="0">
              <a:buNone/>
            </a:pPr>
            <a:r>
              <a:rPr lang="en-IN" sz="2800" dirty="0"/>
              <a:t>Because generics can't use primitive type such as </a:t>
            </a:r>
            <a:r>
              <a:rPr lang="en-IN" sz="2800" dirty="0" err="1"/>
              <a:t>int</a:t>
            </a:r>
            <a:r>
              <a:rPr lang="en-IN" sz="2800" dirty="0"/>
              <a:t>, or char.</a:t>
            </a:r>
          </a:p>
          <a:p>
            <a:r>
              <a:rPr lang="en-US" sz="2800" dirty="0"/>
              <a:t>To handle this problem we must use </a:t>
            </a:r>
            <a:r>
              <a:rPr lang="en-US" sz="2800" b="1" dirty="0"/>
              <a:t>type wrappers </a:t>
            </a:r>
            <a:r>
              <a:rPr lang="en-US" sz="2800" dirty="0"/>
              <a:t>to encapsulate </a:t>
            </a:r>
            <a:r>
              <a:rPr lang="en-US" sz="2800" b="1" dirty="0"/>
              <a:t>primitive type</a:t>
            </a:r>
            <a:r>
              <a:rPr lang="en-US" sz="2800" dirty="0"/>
              <a:t>.</a:t>
            </a:r>
          </a:p>
          <a:p>
            <a:endParaRPr lang="en-IN" sz="2800" dirty="0"/>
          </a:p>
          <a:p>
            <a:pPr marL="0" indent="0">
              <a:buNone/>
            </a:pPr>
            <a:endParaRPr lang="en-IN" b="1" dirty="0"/>
          </a:p>
        </p:txBody>
      </p:sp>
    </p:spTree>
    <p:extLst>
      <p:ext uri="{BB962C8B-B14F-4D97-AF65-F5344CB8AC3E}">
        <p14:creationId xmlns:p14="http://schemas.microsoft.com/office/powerpoint/2010/main" val="12694305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65" y="0"/>
            <a:ext cx="8915400" cy="990600"/>
          </a:xfrm>
        </p:spPr>
        <p:txBody>
          <a:bodyPr>
            <a:normAutofit/>
          </a:bodyPr>
          <a:lstStyle/>
          <a:p>
            <a:r>
              <a:rPr lang="en-IN" sz="3600" dirty="0"/>
              <a:t>Wrapper Class</a:t>
            </a:r>
          </a:p>
        </p:txBody>
      </p:sp>
      <p:sp>
        <p:nvSpPr>
          <p:cNvPr id="3" name="Content Placeholder 2"/>
          <p:cNvSpPr>
            <a:spLocks noGrp="1"/>
          </p:cNvSpPr>
          <p:nvPr>
            <p:ph idx="1"/>
          </p:nvPr>
        </p:nvSpPr>
        <p:spPr>
          <a:xfrm>
            <a:off x="181535" y="762000"/>
            <a:ext cx="8534400" cy="6096000"/>
          </a:xfrm>
        </p:spPr>
        <p:txBody>
          <a:bodyPr>
            <a:normAutofit/>
          </a:bodyPr>
          <a:lstStyle/>
          <a:p>
            <a:r>
              <a:rPr lang="en-US" sz="2800" dirty="0"/>
              <a:t>A Wrapper class in Java is a class whose object wraps or contains primitive data types. </a:t>
            </a:r>
          </a:p>
          <a:p>
            <a:r>
              <a:rPr lang="en-US" sz="2800" dirty="0"/>
              <a:t>When we create an object to a wrapper class, it contains a field and in this field, we can store primitive data types.</a:t>
            </a:r>
          </a:p>
          <a:p>
            <a:r>
              <a:rPr lang="en-US" sz="2800" dirty="0"/>
              <a:t> In other words, we can wrap a primitive value into a wrapper class object. </a:t>
            </a:r>
          </a:p>
          <a:p>
            <a:r>
              <a:rPr lang="en-US" sz="2800" dirty="0"/>
              <a:t>The wrapper class in Java provides the mechanism to convert </a:t>
            </a:r>
            <a:r>
              <a:rPr lang="en-US" sz="2800" b="1" dirty="0"/>
              <a:t>primitive into object </a:t>
            </a:r>
            <a:r>
              <a:rPr lang="en-US" sz="2800" dirty="0"/>
              <a:t>and </a:t>
            </a:r>
            <a:r>
              <a:rPr lang="en-US" sz="2800" b="1" dirty="0"/>
              <a:t>object into primitive</a:t>
            </a:r>
            <a:r>
              <a:rPr lang="en-US" sz="2800" dirty="0"/>
              <a:t>.</a:t>
            </a:r>
          </a:p>
          <a:p>
            <a:r>
              <a:rPr lang="en-US" sz="2800" dirty="0"/>
              <a:t>The automatic conversion of primitive into an object is known as </a:t>
            </a:r>
            <a:r>
              <a:rPr lang="en-US" sz="2800" b="1" dirty="0" err="1"/>
              <a:t>autoboxing</a:t>
            </a:r>
            <a:r>
              <a:rPr lang="en-US" sz="2800" b="1" dirty="0"/>
              <a:t> </a:t>
            </a:r>
            <a:r>
              <a:rPr lang="en-US" sz="2800" dirty="0"/>
              <a:t>and vice-versa </a:t>
            </a:r>
            <a:r>
              <a:rPr lang="en-US" sz="2800" b="1" dirty="0"/>
              <a:t>unboxing</a:t>
            </a:r>
            <a:r>
              <a:rPr lang="en-US" sz="2800" dirty="0"/>
              <a:t>.</a:t>
            </a:r>
            <a:endParaRPr lang="en-IN" sz="2800" dirty="0"/>
          </a:p>
        </p:txBody>
      </p:sp>
    </p:spTree>
    <p:extLst>
      <p:ext uri="{BB962C8B-B14F-4D97-AF65-F5344CB8AC3E}">
        <p14:creationId xmlns:p14="http://schemas.microsoft.com/office/powerpoint/2010/main" val="3479247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4800"/>
            <a:ext cx="8915400" cy="990600"/>
          </a:xfrm>
        </p:spPr>
        <p:txBody>
          <a:bodyPr>
            <a:noAutofit/>
          </a:bodyPr>
          <a:lstStyle/>
          <a:p>
            <a:pPr fontAlgn="base"/>
            <a:r>
              <a:rPr lang="en-US" sz="2800" dirty="0"/>
              <a:t>Primitive Data Types and their Corresponding Wrapper Class</a:t>
            </a:r>
          </a:p>
        </p:txBody>
      </p:sp>
      <p:graphicFrame>
        <p:nvGraphicFramePr>
          <p:cNvPr id="4" name="Content Placeholder 3"/>
          <p:cNvGraphicFramePr>
            <a:graphicFrameLocks noGrp="1"/>
          </p:cNvGraphicFramePr>
          <p:nvPr>
            <p:ph idx="1"/>
          </p:nvPr>
        </p:nvGraphicFramePr>
        <p:xfrm>
          <a:off x="372035" y="1524000"/>
          <a:ext cx="8153400" cy="4777740"/>
        </p:xfrm>
        <a:graphic>
          <a:graphicData uri="http://schemas.openxmlformats.org/drawingml/2006/table">
            <a:tbl>
              <a:tblPr/>
              <a:tblGrid>
                <a:gridCol w="4076700">
                  <a:extLst>
                    <a:ext uri="{9D8B030D-6E8A-4147-A177-3AD203B41FA5}">
                      <a16:colId xmlns:a16="http://schemas.microsoft.com/office/drawing/2014/main" val="2839029277"/>
                    </a:ext>
                  </a:extLst>
                </a:gridCol>
                <a:gridCol w="4076700">
                  <a:extLst>
                    <a:ext uri="{9D8B030D-6E8A-4147-A177-3AD203B41FA5}">
                      <a16:colId xmlns:a16="http://schemas.microsoft.com/office/drawing/2014/main" val="3910343481"/>
                    </a:ext>
                  </a:extLst>
                </a:gridCol>
              </a:tblGrid>
              <a:tr h="613484">
                <a:tc>
                  <a:txBody>
                    <a:bodyPr/>
                    <a:lstStyle/>
                    <a:p>
                      <a:pPr algn="l" fontAlgn="t"/>
                      <a:r>
                        <a:rPr lang="en-IN" dirty="0">
                          <a:solidFill>
                            <a:srgbClr val="000000"/>
                          </a:solidFill>
                          <a:effectLst/>
                          <a:latin typeface="times new roman" panose="02020603050405020304" pitchFamily="18" charset="0"/>
                        </a:rPr>
                        <a:t>Primitive Type</a:t>
                      </a:r>
                    </a:p>
                  </a:txBody>
                  <a:tcPr marL="114300" marR="114300" marT="114300" marB="114300">
                    <a:lnL w="9525" cap="flat" cmpd="sng" algn="ctr">
                      <a:solidFill>
                        <a:srgbClr val="3073B0"/>
                      </a:solidFill>
                      <a:prstDash val="solid"/>
                      <a:round/>
                      <a:headEnd type="none" w="med" len="med"/>
                      <a:tailEnd type="none" w="med" len="med"/>
                    </a:lnL>
                    <a:lnR w="9525" cap="flat" cmpd="sng" algn="ctr">
                      <a:solidFill>
                        <a:srgbClr val="3073B0"/>
                      </a:solidFill>
                      <a:prstDash val="solid"/>
                      <a:round/>
                      <a:headEnd type="none" w="med" len="med"/>
                      <a:tailEnd type="none" w="med" len="med"/>
                    </a:lnR>
                    <a:lnT w="9525" cap="flat" cmpd="sng" algn="ctr">
                      <a:solidFill>
                        <a:srgbClr val="3073B0"/>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Wrapper class</a:t>
                      </a:r>
                    </a:p>
                  </a:txBody>
                  <a:tcPr marL="114300" marR="114300" marT="114300" marB="114300">
                    <a:lnL w="9525" cap="flat" cmpd="sng" algn="ctr">
                      <a:solidFill>
                        <a:srgbClr val="3073B0"/>
                      </a:solidFill>
                      <a:prstDash val="solid"/>
                      <a:round/>
                      <a:headEnd type="none" w="med" len="med"/>
                      <a:tailEnd type="none" w="med" len="med"/>
                    </a:lnL>
                    <a:lnR w="9525" cap="flat" cmpd="sng" algn="ctr">
                      <a:solidFill>
                        <a:srgbClr val="3073B0"/>
                      </a:solidFill>
                      <a:prstDash val="solid"/>
                      <a:round/>
                      <a:headEnd type="none" w="med" len="med"/>
                      <a:tailEnd type="none" w="med" len="med"/>
                    </a:lnR>
                    <a:lnT w="9525" cap="flat" cmpd="sng" algn="ctr">
                      <a:solidFill>
                        <a:srgbClr val="3073B0"/>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49814361"/>
                  </a:ext>
                </a:extLst>
              </a:tr>
              <a:tr h="520532">
                <a:tc>
                  <a:txBody>
                    <a:bodyPr/>
                    <a:lstStyle/>
                    <a:p>
                      <a:pPr algn="just" fontAlgn="t"/>
                      <a:r>
                        <a:rPr lang="en-IN">
                          <a:solidFill>
                            <a:srgbClr val="333333"/>
                          </a:solidFill>
                          <a:effectLst/>
                          <a:latin typeface="inter-regular"/>
                        </a:rPr>
                        <a:t>boolean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u="none" strike="noStrike">
                          <a:solidFill>
                            <a:srgbClr val="008000"/>
                          </a:solidFill>
                          <a:effectLst/>
                          <a:latin typeface="inter-regular"/>
                          <a:hlinkClick r:id="rId3"/>
                        </a:rPr>
                        <a:t>Boolean</a:t>
                      </a:r>
                      <a:endParaRPr lang="en-IN">
                        <a:solidFill>
                          <a:srgbClr val="333333"/>
                        </a:solidFill>
                        <a:effectLst/>
                        <a:latin typeface="inter-regular"/>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192591011"/>
                  </a:ext>
                </a:extLst>
              </a:tr>
              <a:tr h="520532">
                <a:tc>
                  <a:txBody>
                    <a:bodyPr/>
                    <a:lstStyle/>
                    <a:p>
                      <a:pPr algn="just" fontAlgn="t"/>
                      <a:r>
                        <a:rPr lang="en-IN" dirty="0">
                          <a:solidFill>
                            <a:srgbClr val="333333"/>
                          </a:solidFill>
                          <a:effectLst/>
                          <a:latin typeface="inter-regular"/>
                        </a:rPr>
                        <a:t>char</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u="none" strike="noStrike">
                          <a:solidFill>
                            <a:srgbClr val="008000"/>
                          </a:solidFill>
                          <a:effectLst/>
                          <a:latin typeface="inter-regular"/>
                          <a:hlinkClick r:id="rId4"/>
                        </a:rPr>
                        <a:t>Character</a:t>
                      </a:r>
                      <a:endParaRPr lang="en-IN">
                        <a:solidFill>
                          <a:srgbClr val="333333"/>
                        </a:solidFill>
                        <a:effectLst/>
                        <a:latin typeface="inter-regular"/>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13619132"/>
                  </a:ext>
                </a:extLst>
              </a:tr>
              <a:tr h="520532">
                <a:tc>
                  <a:txBody>
                    <a:bodyPr/>
                    <a:lstStyle/>
                    <a:p>
                      <a:pPr algn="just" fontAlgn="t"/>
                      <a:r>
                        <a:rPr lang="en-IN">
                          <a:solidFill>
                            <a:srgbClr val="333333"/>
                          </a:solidFill>
                          <a:effectLst/>
                          <a:latin typeface="inter-regular"/>
                        </a:rPr>
                        <a:t>byte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u="none" strike="noStrike">
                          <a:solidFill>
                            <a:srgbClr val="008000"/>
                          </a:solidFill>
                          <a:effectLst/>
                          <a:latin typeface="inter-regular"/>
                          <a:hlinkClick r:id="rId5"/>
                        </a:rPr>
                        <a:t>Byte</a:t>
                      </a:r>
                      <a:endParaRPr lang="en-IN">
                        <a:solidFill>
                          <a:srgbClr val="333333"/>
                        </a:solidFill>
                        <a:effectLst/>
                        <a:latin typeface="inter-regular"/>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622925590"/>
                  </a:ext>
                </a:extLst>
              </a:tr>
              <a:tr h="520532">
                <a:tc>
                  <a:txBody>
                    <a:bodyPr/>
                    <a:lstStyle/>
                    <a:p>
                      <a:pPr algn="just" fontAlgn="t"/>
                      <a:r>
                        <a:rPr lang="en-IN">
                          <a:solidFill>
                            <a:srgbClr val="333333"/>
                          </a:solidFill>
                          <a:effectLst/>
                          <a:latin typeface="inter-regular"/>
                        </a:rPr>
                        <a:t>short</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u="none" strike="noStrike">
                          <a:solidFill>
                            <a:srgbClr val="008000"/>
                          </a:solidFill>
                          <a:effectLst/>
                          <a:latin typeface="inter-regular"/>
                          <a:hlinkClick r:id="rId6"/>
                        </a:rPr>
                        <a:t>Short</a:t>
                      </a:r>
                      <a:endParaRPr lang="en-IN">
                        <a:solidFill>
                          <a:srgbClr val="333333"/>
                        </a:solidFill>
                        <a:effectLst/>
                        <a:latin typeface="inter-regular"/>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10695436"/>
                  </a:ext>
                </a:extLst>
              </a:tr>
              <a:tr h="520532">
                <a:tc>
                  <a:txBody>
                    <a:bodyPr/>
                    <a:lstStyle/>
                    <a:p>
                      <a:pPr algn="just" fontAlgn="t"/>
                      <a:r>
                        <a:rPr lang="en-IN">
                          <a:solidFill>
                            <a:srgbClr val="333333"/>
                          </a:solidFill>
                          <a:effectLst/>
                          <a:latin typeface="inter-regular"/>
                        </a:rPr>
                        <a:t>int</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u="none" strike="noStrike">
                          <a:solidFill>
                            <a:srgbClr val="008000"/>
                          </a:solidFill>
                          <a:effectLst/>
                          <a:latin typeface="inter-regular"/>
                          <a:hlinkClick r:id="rId7"/>
                        </a:rPr>
                        <a:t>Integer</a:t>
                      </a:r>
                      <a:endParaRPr lang="en-IN">
                        <a:solidFill>
                          <a:srgbClr val="333333"/>
                        </a:solidFill>
                        <a:effectLst/>
                        <a:latin typeface="inter-regular"/>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823600825"/>
                  </a:ext>
                </a:extLst>
              </a:tr>
              <a:tr h="520532">
                <a:tc>
                  <a:txBody>
                    <a:bodyPr/>
                    <a:lstStyle/>
                    <a:p>
                      <a:pPr algn="just" fontAlgn="t"/>
                      <a:r>
                        <a:rPr lang="en-IN">
                          <a:solidFill>
                            <a:srgbClr val="333333"/>
                          </a:solidFill>
                          <a:effectLst/>
                          <a:latin typeface="inter-regular"/>
                        </a:rPr>
                        <a:t>long</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u="none" strike="noStrike">
                          <a:solidFill>
                            <a:srgbClr val="008000"/>
                          </a:solidFill>
                          <a:effectLst/>
                          <a:latin typeface="inter-regular"/>
                          <a:hlinkClick r:id="rId8"/>
                        </a:rPr>
                        <a:t>Long</a:t>
                      </a:r>
                      <a:endParaRPr lang="en-IN">
                        <a:solidFill>
                          <a:srgbClr val="333333"/>
                        </a:solidFill>
                        <a:effectLst/>
                        <a:latin typeface="inter-regular"/>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743400273"/>
                  </a:ext>
                </a:extLst>
              </a:tr>
              <a:tr h="520532">
                <a:tc>
                  <a:txBody>
                    <a:bodyPr/>
                    <a:lstStyle/>
                    <a:p>
                      <a:pPr algn="just" fontAlgn="t"/>
                      <a:r>
                        <a:rPr lang="en-IN">
                          <a:solidFill>
                            <a:srgbClr val="333333"/>
                          </a:solidFill>
                          <a:effectLst/>
                          <a:latin typeface="inter-regular"/>
                        </a:rPr>
                        <a:t>float</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u="none" strike="noStrike">
                          <a:solidFill>
                            <a:srgbClr val="008000"/>
                          </a:solidFill>
                          <a:effectLst/>
                          <a:latin typeface="inter-regular"/>
                          <a:hlinkClick r:id="rId9"/>
                        </a:rPr>
                        <a:t>Float</a:t>
                      </a:r>
                      <a:endParaRPr lang="en-IN">
                        <a:solidFill>
                          <a:srgbClr val="333333"/>
                        </a:solidFill>
                        <a:effectLst/>
                        <a:latin typeface="inter-regular"/>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410325835"/>
                  </a:ext>
                </a:extLst>
              </a:tr>
              <a:tr h="520532">
                <a:tc>
                  <a:txBody>
                    <a:bodyPr/>
                    <a:lstStyle/>
                    <a:p>
                      <a:pPr algn="just" fontAlgn="t"/>
                      <a:r>
                        <a:rPr lang="en-IN">
                          <a:solidFill>
                            <a:srgbClr val="333333"/>
                          </a:solidFill>
                          <a:effectLst/>
                          <a:latin typeface="inter-regular"/>
                        </a:rPr>
                        <a:t>double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u="none" strike="noStrike" dirty="0">
                          <a:solidFill>
                            <a:srgbClr val="008000"/>
                          </a:solidFill>
                          <a:effectLst/>
                          <a:latin typeface="inter-regular"/>
                          <a:hlinkClick r:id="rId10"/>
                        </a:rPr>
                        <a:t>Double</a:t>
                      </a:r>
                      <a:endParaRPr lang="en-IN" dirty="0">
                        <a:solidFill>
                          <a:srgbClr val="333333"/>
                        </a:solidFill>
                        <a:effectLst/>
                        <a:latin typeface="inter-regular"/>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4032033723"/>
                  </a:ext>
                </a:extLst>
              </a:tr>
            </a:tbl>
          </a:graphicData>
        </a:graphic>
      </p:graphicFrame>
    </p:spTree>
    <p:extLst>
      <p:ext uri="{BB962C8B-B14F-4D97-AF65-F5344CB8AC3E}">
        <p14:creationId xmlns:p14="http://schemas.microsoft.com/office/powerpoint/2010/main" val="24808967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724900" cy="5791200"/>
          </a:xfrm>
        </p:spPr>
        <p:txBody>
          <a:bodyPr>
            <a:normAutofit/>
          </a:bodyPr>
          <a:lstStyle/>
          <a:p>
            <a:pPr marL="0" indent="0" fontAlgn="base">
              <a:buNone/>
            </a:pPr>
            <a:r>
              <a:rPr lang="en-US" b="1" dirty="0"/>
              <a:t>Need of Wrapper Classes</a:t>
            </a:r>
            <a:endParaRPr lang="en-US" sz="3000" dirty="0"/>
          </a:p>
          <a:p>
            <a:pPr fontAlgn="base"/>
            <a:r>
              <a:rPr lang="en-US" sz="3000" dirty="0"/>
              <a:t>The classes in </a:t>
            </a:r>
            <a:r>
              <a:rPr lang="en-US" sz="3000" dirty="0" err="1"/>
              <a:t>java.util</a:t>
            </a:r>
            <a:r>
              <a:rPr lang="en-US" sz="3000" dirty="0"/>
              <a:t> package handles only objects and hence wrapper classes help in this case also.</a:t>
            </a:r>
          </a:p>
          <a:p>
            <a:pPr fontAlgn="base"/>
            <a:r>
              <a:rPr lang="en-US" sz="3000" dirty="0"/>
              <a:t>Data structures in the Collection framework, such as </a:t>
            </a:r>
            <a:r>
              <a:rPr lang="en-US" sz="3000" dirty="0" err="1">
                <a:hlinkClick r:id="rId3"/>
              </a:rPr>
              <a:t>ArrayList</a:t>
            </a:r>
            <a:r>
              <a:rPr lang="en-US" sz="3000" dirty="0"/>
              <a:t> and </a:t>
            </a:r>
            <a:r>
              <a:rPr lang="en-US" sz="3000" dirty="0">
                <a:hlinkClick r:id="rId4"/>
              </a:rPr>
              <a:t>Vector</a:t>
            </a:r>
            <a:r>
              <a:rPr lang="en-US" sz="3000" dirty="0"/>
              <a:t>, store only objects (reference types) and not primitive types.</a:t>
            </a:r>
          </a:p>
          <a:p>
            <a:pPr fontAlgn="base"/>
            <a:r>
              <a:rPr lang="en-US" sz="3000" dirty="0"/>
              <a:t>An object is needed to support synchronization in multithreading.</a:t>
            </a:r>
          </a:p>
        </p:txBody>
      </p:sp>
    </p:spTree>
    <p:extLst>
      <p:ext uri="{BB962C8B-B14F-4D97-AF65-F5344CB8AC3E}">
        <p14:creationId xmlns:p14="http://schemas.microsoft.com/office/powerpoint/2010/main" val="2930216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br>
              <a:rPr lang="en-IN" dirty="0"/>
            </a:br>
            <a:r>
              <a:rPr lang="en-IN" dirty="0"/>
              <a:t>Another Generics Example</a:t>
            </a:r>
          </a:p>
        </p:txBody>
      </p:sp>
      <p:pic>
        <p:nvPicPr>
          <p:cNvPr id="7" name="Picture 6"/>
          <p:cNvPicPr>
            <a:picLocks noChangeAspect="1"/>
          </p:cNvPicPr>
          <p:nvPr/>
        </p:nvPicPr>
        <p:blipFill>
          <a:blip r:embed="rId2"/>
          <a:stretch>
            <a:fillRect/>
          </a:stretch>
        </p:blipFill>
        <p:spPr>
          <a:xfrm>
            <a:off x="723900" y="1295400"/>
            <a:ext cx="7696200" cy="5029200"/>
          </a:xfrm>
          <a:prstGeom prst="rect">
            <a:avLst/>
          </a:prstGeom>
        </p:spPr>
      </p:pic>
    </p:spTree>
    <p:extLst>
      <p:ext uri="{BB962C8B-B14F-4D97-AF65-F5344CB8AC3E}">
        <p14:creationId xmlns:p14="http://schemas.microsoft.com/office/powerpoint/2010/main" val="2459952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a:stretch>
            <a:fillRect/>
          </a:stretch>
        </p:blipFill>
        <p:spPr>
          <a:xfrm>
            <a:off x="609600" y="310125"/>
            <a:ext cx="7924800" cy="5410199"/>
          </a:xfrm>
          <a:prstGeom prst="rect">
            <a:avLst/>
          </a:prstGeom>
        </p:spPr>
      </p:pic>
      <p:pic>
        <p:nvPicPr>
          <p:cNvPr id="3" name="Content Placeholder 3"/>
          <p:cNvPicPr>
            <a:picLocks noChangeAspect="1"/>
          </p:cNvPicPr>
          <p:nvPr/>
        </p:nvPicPr>
        <p:blipFill>
          <a:blip r:embed="rId3"/>
          <a:stretch>
            <a:fillRect/>
          </a:stretch>
        </p:blipFill>
        <p:spPr>
          <a:xfrm>
            <a:off x="762000" y="462525"/>
            <a:ext cx="7924800" cy="5410199"/>
          </a:xfrm>
          <a:prstGeom prst="rect">
            <a:avLst/>
          </a:prstGeom>
        </p:spPr>
      </p:pic>
    </p:spTree>
    <p:extLst>
      <p:ext uri="{BB962C8B-B14F-4D97-AF65-F5344CB8AC3E}">
        <p14:creationId xmlns:p14="http://schemas.microsoft.com/office/powerpoint/2010/main" val="21450020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3"/>
          <a:stretch>
            <a:fillRect/>
          </a:stretch>
        </p:blipFill>
        <p:spPr>
          <a:xfrm>
            <a:off x="0" y="260571"/>
            <a:ext cx="8991600" cy="6354762"/>
          </a:xfrm>
          <a:prstGeom prst="rect">
            <a:avLst/>
          </a:prstGeom>
        </p:spPr>
      </p:pic>
    </p:spTree>
    <p:extLst>
      <p:ext uri="{BB962C8B-B14F-4D97-AF65-F5344CB8AC3E}">
        <p14:creationId xmlns:p14="http://schemas.microsoft.com/office/powerpoint/2010/main" val="289014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1066800" y="1066800"/>
            <a:ext cx="7848600" cy="4419600"/>
          </a:xfrm>
          <a:prstGeom prst="rect">
            <a:avLst/>
          </a:prstGeom>
        </p:spPr>
      </p:pic>
    </p:spTree>
    <p:extLst>
      <p:ext uri="{BB962C8B-B14F-4D97-AF65-F5344CB8AC3E}">
        <p14:creationId xmlns:p14="http://schemas.microsoft.com/office/powerpoint/2010/main" val="3685019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81000"/>
            <a:ext cx="8839200" cy="685800"/>
          </a:xfrm>
        </p:spPr>
        <p:txBody>
          <a:bodyPr>
            <a:normAutofit/>
          </a:bodyPr>
          <a:lstStyle/>
          <a:p>
            <a:pPr algn="l"/>
            <a:r>
              <a:rPr lang="en-IN" sz="3200" dirty="0"/>
              <a:t>Generic Types Differ Based on Their Type Arguments</a:t>
            </a:r>
            <a:endParaRPr lang="en-IN" sz="3600" dirty="0"/>
          </a:p>
        </p:txBody>
      </p:sp>
      <p:sp>
        <p:nvSpPr>
          <p:cNvPr id="3" name="Content Placeholder 2"/>
          <p:cNvSpPr>
            <a:spLocks noGrp="1"/>
          </p:cNvSpPr>
          <p:nvPr>
            <p:ph idx="1"/>
          </p:nvPr>
        </p:nvSpPr>
        <p:spPr>
          <a:xfrm>
            <a:off x="304800" y="1371600"/>
            <a:ext cx="8229600" cy="4525963"/>
          </a:xfrm>
        </p:spPr>
        <p:txBody>
          <a:bodyPr/>
          <a:lstStyle/>
          <a:p>
            <a:pPr marL="0" indent="0">
              <a:buNone/>
            </a:pPr>
            <a:r>
              <a:rPr lang="en-IN" dirty="0"/>
              <a:t>		</a:t>
            </a:r>
            <a:r>
              <a:rPr lang="en-IN" dirty="0" err="1"/>
              <a:t>iOb</a:t>
            </a:r>
            <a:r>
              <a:rPr lang="en-IN" dirty="0"/>
              <a:t> = </a:t>
            </a:r>
            <a:r>
              <a:rPr lang="en-IN" dirty="0" err="1"/>
              <a:t>strOb</a:t>
            </a:r>
            <a:r>
              <a:rPr lang="en-IN" dirty="0"/>
              <a:t>; // Wrong! </a:t>
            </a:r>
          </a:p>
          <a:p>
            <a:r>
              <a:rPr lang="en-IN" dirty="0"/>
              <a:t>Even though both </a:t>
            </a:r>
            <a:r>
              <a:rPr lang="en-IN" b="1" dirty="0" err="1"/>
              <a:t>iOb</a:t>
            </a:r>
            <a:r>
              <a:rPr lang="en-IN" b="1" dirty="0"/>
              <a:t> </a:t>
            </a:r>
            <a:r>
              <a:rPr lang="en-IN" dirty="0"/>
              <a:t>and </a:t>
            </a:r>
            <a:r>
              <a:rPr lang="en-IN" b="1" dirty="0" err="1"/>
              <a:t>strOb</a:t>
            </a:r>
            <a:r>
              <a:rPr lang="en-IN" b="1" dirty="0"/>
              <a:t> </a:t>
            </a:r>
            <a:r>
              <a:rPr lang="en-IN" dirty="0"/>
              <a:t>are of type </a:t>
            </a:r>
            <a:r>
              <a:rPr lang="en-IN" b="1" dirty="0"/>
              <a:t>Gen&lt;T&gt;</a:t>
            </a:r>
            <a:r>
              <a:rPr lang="en-IN" dirty="0"/>
              <a:t>, they are references to different types because their type arguments differ. This is part of the way that generics add type safety and prevent errors. </a:t>
            </a:r>
          </a:p>
        </p:txBody>
      </p:sp>
    </p:spTree>
    <p:extLst>
      <p:ext uri="{BB962C8B-B14F-4D97-AF65-F5344CB8AC3E}">
        <p14:creationId xmlns:p14="http://schemas.microsoft.com/office/powerpoint/2010/main" val="19444273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p:nvPr>
        </p:nvSpPr>
        <p:spPr>
          <a:xfrm>
            <a:off x="457200" y="609600"/>
            <a:ext cx="8229600" cy="1066800"/>
          </a:xfrm>
        </p:spPr>
        <p:txBody>
          <a:bodyPr/>
          <a:lstStyle/>
          <a:p>
            <a:pPr eaLnBrk="1" hangingPunct="1"/>
            <a:r>
              <a:rPr lang="en-US" altLang="en-US" dirty="0">
                <a:ea typeface="ＭＳ Ｐゴシック" panose="020B0600070205080204" pitchFamily="34" charset="-128"/>
              </a:rPr>
              <a:t>Generics with two Type Parameters</a:t>
            </a:r>
          </a:p>
        </p:txBody>
      </p:sp>
      <p:sp>
        <p:nvSpPr>
          <p:cNvPr id="13314" name="Rectangle 3"/>
          <p:cNvSpPr>
            <a:spLocks noGrp="1" noChangeArrowheads="1"/>
          </p:cNvSpPr>
          <p:nvPr>
            <p:ph idx="1"/>
          </p:nvPr>
        </p:nvSpPr>
        <p:spPr>
          <a:xfrm>
            <a:off x="457200" y="1716088"/>
            <a:ext cx="8229600" cy="4684712"/>
          </a:xfrm>
        </p:spPr>
        <p:txBody>
          <a:bodyPr>
            <a:normAutofit lnSpcReduction="10000"/>
          </a:bodyPr>
          <a:lstStyle/>
          <a:p>
            <a:pPr eaLnBrk="1" hangingPunct="1">
              <a:buFont typeface="Georgia" charset="0"/>
              <a:buChar char="•"/>
              <a:defRPr/>
            </a:pPr>
            <a:r>
              <a:rPr lang="en-US" dirty="0"/>
              <a:t>You can use two or more type parameters:</a:t>
            </a:r>
          </a:p>
          <a:p>
            <a:pPr marL="109537" indent="0" eaLnBrk="1" hangingPunct="1">
              <a:buFont typeface="Georgia" charset="0"/>
              <a:buNone/>
              <a:defRPr/>
            </a:pPr>
            <a:r>
              <a:rPr lang="en-US" sz="2000" dirty="0">
                <a:solidFill>
                  <a:prstClr val="black"/>
                </a:solidFill>
                <a:latin typeface="Courier New"/>
                <a:cs typeface="Courier New"/>
              </a:rPr>
              <a:t>  class </a:t>
            </a:r>
            <a:r>
              <a:rPr lang="en-US" sz="2000" dirty="0" err="1">
                <a:solidFill>
                  <a:prstClr val="black"/>
                </a:solidFill>
                <a:latin typeface="Courier New"/>
                <a:cs typeface="Courier New"/>
              </a:rPr>
              <a:t>KVPair</a:t>
            </a:r>
            <a:r>
              <a:rPr lang="en-US" sz="2000" dirty="0">
                <a:solidFill>
                  <a:prstClr val="black"/>
                </a:solidFill>
                <a:latin typeface="Courier New"/>
                <a:cs typeface="Courier New"/>
              </a:rPr>
              <a:t>&lt;K,V&gt;{</a:t>
            </a:r>
          </a:p>
          <a:p>
            <a:pPr marL="109537" indent="0" eaLnBrk="1" hangingPunct="1">
              <a:buFont typeface="Georgia" charset="0"/>
              <a:buNone/>
              <a:defRPr/>
            </a:pPr>
            <a:r>
              <a:rPr lang="en-US" sz="2000" dirty="0">
                <a:solidFill>
                  <a:prstClr val="black"/>
                </a:solidFill>
                <a:latin typeface="Courier New"/>
                <a:cs typeface="Courier New"/>
              </a:rPr>
              <a:t>    K key;</a:t>
            </a:r>
          </a:p>
          <a:p>
            <a:pPr marL="109537" indent="0" eaLnBrk="1" hangingPunct="1">
              <a:buFont typeface="Georgia" charset="0"/>
              <a:buNone/>
              <a:defRPr/>
            </a:pPr>
            <a:r>
              <a:rPr lang="en-US" sz="2000" dirty="0">
                <a:solidFill>
                  <a:prstClr val="black"/>
                </a:solidFill>
                <a:latin typeface="Courier New"/>
                <a:cs typeface="Courier New"/>
              </a:rPr>
              <a:t>    V value;</a:t>
            </a:r>
          </a:p>
          <a:p>
            <a:pPr marL="109537" indent="0" eaLnBrk="1" hangingPunct="1">
              <a:buFont typeface="Georgia" charset="0"/>
              <a:buNone/>
              <a:defRPr/>
            </a:pPr>
            <a:endParaRPr lang="en-US" sz="2000" dirty="0">
              <a:solidFill>
                <a:prstClr val="black"/>
              </a:solidFill>
              <a:latin typeface="Courier New"/>
              <a:cs typeface="Courier New"/>
            </a:endParaRPr>
          </a:p>
          <a:p>
            <a:pPr marL="109537" indent="0" eaLnBrk="1" hangingPunct="1">
              <a:buFont typeface="Georgia" charset="0"/>
              <a:buNone/>
              <a:defRPr/>
            </a:pPr>
            <a:r>
              <a:rPr lang="en-US" sz="2000" dirty="0">
                <a:solidFill>
                  <a:prstClr val="black"/>
                </a:solidFill>
                <a:latin typeface="Courier New"/>
                <a:cs typeface="Courier New"/>
              </a:rPr>
              <a:t>    K </a:t>
            </a:r>
            <a:r>
              <a:rPr lang="en-US" sz="2000" dirty="0" err="1">
                <a:solidFill>
                  <a:prstClr val="black"/>
                </a:solidFill>
                <a:latin typeface="Courier New"/>
                <a:cs typeface="Courier New"/>
              </a:rPr>
              <a:t>getKey</a:t>
            </a:r>
            <a:r>
              <a:rPr lang="en-US" sz="2000" dirty="0">
                <a:solidFill>
                  <a:prstClr val="black"/>
                </a:solidFill>
                <a:latin typeface="Courier New"/>
                <a:cs typeface="Courier New"/>
              </a:rPr>
              <a:t>() { return key; }</a:t>
            </a:r>
          </a:p>
          <a:p>
            <a:pPr marL="109537" indent="0" eaLnBrk="1" hangingPunct="1">
              <a:buFont typeface="Georgia" charset="0"/>
              <a:buNone/>
              <a:defRPr/>
            </a:pPr>
            <a:r>
              <a:rPr lang="en-US" sz="2000" dirty="0">
                <a:solidFill>
                  <a:prstClr val="black"/>
                </a:solidFill>
                <a:latin typeface="Courier New"/>
                <a:cs typeface="Courier New"/>
              </a:rPr>
              <a:t>    V </a:t>
            </a:r>
            <a:r>
              <a:rPr lang="en-US" sz="2000" dirty="0" err="1">
                <a:solidFill>
                  <a:prstClr val="black"/>
                </a:solidFill>
                <a:latin typeface="Courier New"/>
                <a:cs typeface="Courier New"/>
              </a:rPr>
              <a:t>getValue</a:t>
            </a:r>
            <a:r>
              <a:rPr lang="en-US" sz="2000" dirty="0">
                <a:solidFill>
                  <a:prstClr val="black"/>
                </a:solidFill>
                <a:latin typeface="Courier New"/>
                <a:cs typeface="Courier New"/>
              </a:rPr>
              <a:t>() { return value; }</a:t>
            </a:r>
          </a:p>
          <a:p>
            <a:pPr marL="109537" indent="0" eaLnBrk="1" hangingPunct="1">
              <a:buFont typeface="Georgia" charset="0"/>
              <a:buNone/>
              <a:defRPr/>
            </a:pPr>
            <a:r>
              <a:rPr lang="en-US" sz="2000" dirty="0">
                <a:solidFill>
                  <a:prstClr val="black"/>
                </a:solidFill>
                <a:latin typeface="Courier New"/>
                <a:cs typeface="Courier New"/>
              </a:rPr>
              <a:t>    void </a:t>
            </a:r>
            <a:r>
              <a:rPr lang="en-US" sz="2000" dirty="0" err="1">
                <a:solidFill>
                  <a:prstClr val="black"/>
                </a:solidFill>
                <a:latin typeface="Courier New"/>
                <a:cs typeface="Courier New"/>
              </a:rPr>
              <a:t>setKey</a:t>
            </a:r>
            <a:r>
              <a:rPr lang="en-US" sz="2000" dirty="0">
                <a:solidFill>
                  <a:prstClr val="black"/>
                </a:solidFill>
                <a:latin typeface="Courier New"/>
                <a:cs typeface="Courier New"/>
              </a:rPr>
              <a:t>(K ob) { key = ob; }</a:t>
            </a:r>
          </a:p>
          <a:p>
            <a:pPr marL="109537" indent="0" eaLnBrk="1" hangingPunct="1">
              <a:buFont typeface="Georgia" charset="0"/>
              <a:buNone/>
              <a:defRPr/>
            </a:pPr>
            <a:r>
              <a:rPr lang="en-US" sz="2000" dirty="0">
                <a:solidFill>
                  <a:prstClr val="black"/>
                </a:solidFill>
                <a:latin typeface="Courier New"/>
                <a:cs typeface="Courier New"/>
              </a:rPr>
              <a:t>    void </a:t>
            </a:r>
            <a:r>
              <a:rPr lang="en-US" sz="2000" dirty="0" err="1">
                <a:solidFill>
                  <a:prstClr val="black"/>
                </a:solidFill>
                <a:latin typeface="Courier New"/>
                <a:cs typeface="Courier New"/>
              </a:rPr>
              <a:t>setValue</a:t>
            </a:r>
            <a:r>
              <a:rPr lang="en-US" sz="2000" dirty="0">
                <a:solidFill>
                  <a:prstClr val="black"/>
                </a:solidFill>
                <a:latin typeface="Courier New"/>
                <a:cs typeface="Courier New"/>
              </a:rPr>
              <a:t>(V ob) { value = ob; }</a:t>
            </a:r>
          </a:p>
          <a:p>
            <a:pPr marL="109537" indent="0" eaLnBrk="1" hangingPunct="1">
              <a:buFont typeface="Georgia" charset="0"/>
              <a:buNone/>
              <a:defRPr/>
            </a:pPr>
            <a:r>
              <a:rPr lang="en-US" sz="2000" dirty="0">
                <a:solidFill>
                  <a:prstClr val="black"/>
                </a:solidFill>
                <a:latin typeface="Courier New"/>
                <a:cs typeface="Courier New"/>
              </a:rPr>
              <a:t>  } </a:t>
            </a:r>
          </a:p>
          <a:p>
            <a:pPr marL="109537" indent="0" eaLnBrk="1" hangingPunct="1">
              <a:buFont typeface="Georgia" charset="0"/>
              <a:buNone/>
              <a:defRPr/>
            </a:pPr>
            <a:r>
              <a:rPr lang="en-US" sz="2000" dirty="0">
                <a:solidFill>
                  <a:prstClr val="black"/>
                </a:solidFill>
                <a:latin typeface="Courier New"/>
                <a:cs typeface="Courier New"/>
              </a:rPr>
              <a:t> </a:t>
            </a:r>
            <a:endParaRPr lang="en-US" dirty="0"/>
          </a:p>
          <a:p>
            <a:pPr marL="109537" indent="0" eaLnBrk="1" hangingPunct="1">
              <a:buFont typeface="Georgia" charset="0"/>
              <a:buNone/>
              <a:defRPr/>
            </a:pPr>
            <a:r>
              <a:rPr lang="en-US" sz="2000" dirty="0">
                <a:solidFill>
                  <a:prstClr val="black"/>
                </a:solidFill>
                <a:cs typeface="Courier New"/>
              </a:rPr>
              <a:t>     USAGE:   </a:t>
            </a:r>
            <a:r>
              <a:rPr lang="en-US" sz="2000" dirty="0" err="1">
                <a:solidFill>
                  <a:prstClr val="black"/>
                </a:solidFill>
                <a:latin typeface="Courier New"/>
                <a:cs typeface="Courier New"/>
              </a:rPr>
              <a:t>KVPair</a:t>
            </a:r>
            <a:r>
              <a:rPr lang="en-US" sz="2000" dirty="0">
                <a:solidFill>
                  <a:prstClr val="black"/>
                </a:solidFill>
                <a:latin typeface="Courier New"/>
                <a:cs typeface="Courier New"/>
              </a:rPr>
              <a:t>&lt;</a:t>
            </a:r>
            <a:r>
              <a:rPr lang="en-US" sz="2000" dirty="0" err="1">
                <a:solidFill>
                  <a:prstClr val="black"/>
                </a:solidFill>
                <a:latin typeface="Courier New"/>
                <a:cs typeface="Courier New"/>
              </a:rPr>
              <a:t>String,Integer</a:t>
            </a:r>
            <a:r>
              <a:rPr lang="en-US" sz="2000" dirty="0">
                <a:solidFill>
                  <a:prstClr val="black"/>
                </a:solidFill>
                <a:latin typeface="Courier New"/>
                <a:cs typeface="Courier New"/>
              </a:rPr>
              <a:t>&gt; pair =</a:t>
            </a:r>
          </a:p>
          <a:p>
            <a:pPr marL="109537" indent="0" eaLnBrk="1" hangingPunct="1">
              <a:buFont typeface="Georgia" charset="0"/>
              <a:buNone/>
              <a:defRPr/>
            </a:pPr>
            <a:r>
              <a:rPr lang="en-US" sz="2000" dirty="0">
                <a:solidFill>
                  <a:prstClr val="black"/>
                </a:solidFill>
                <a:latin typeface="Courier New"/>
                <a:cs typeface="Courier New"/>
              </a:rPr>
              <a:t>                     new </a:t>
            </a:r>
            <a:r>
              <a:rPr lang="en-US" sz="2000" dirty="0" err="1">
                <a:solidFill>
                  <a:prstClr val="black"/>
                </a:solidFill>
                <a:latin typeface="Courier New"/>
                <a:cs typeface="Courier New"/>
              </a:rPr>
              <a:t>KVPair</a:t>
            </a:r>
            <a:r>
              <a:rPr lang="en-US" sz="2000" dirty="0">
                <a:solidFill>
                  <a:prstClr val="black"/>
                </a:solidFill>
                <a:latin typeface="Courier New"/>
                <a:cs typeface="Courier New"/>
              </a:rPr>
              <a:t>&lt;</a:t>
            </a:r>
            <a:r>
              <a:rPr lang="en-US" sz="2000" dirty="0" err="1">
                <a:solidFill>
                  <a:prstClr val="black"/>
                </a:solidFill>
                <a:latin typeface="Courier New"/>
                <a:cs typeface="Courier New"/>
              </a:rPr>
              <a:t>String,Integer</a:t>
            </a:r>
            <a:r>
              <a:rPr lang="en-US" sz="2000" dirty="0">
                <a:solidFill>
                  <a:prstClr val="black"/>
                </a:solidFill>
                <a:latin typeface="Courier New"/>
                <a:cs typeface="Courier New"/>
              </a:rPr>
              <a:t>&gt;();</a:t>
            </a:r>
          </a:p>
        </p:txBody>
      </p:sp>
      <p:sp>
        <p:nvSpPr>
          <p:cNvPr id="19459" name="Text Box 48"/>
          <p:cNvSpPr txBox="1">
            <a:spLocks noChangeArrowheads="1"/>
          </p:cNvSpPr>
          <p:nvPr/>
        </p:nvSpPr>
        <p:spPr bwMode="auto">
          <a:xfrm>
            <a:off x="304800" y="6477000"/>
            <a:ext cx="46529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984" tIns="40492" rIns="80984" bIns="40492">
            <a:spAutoFit/>
          </a:bodyPr>
          <a:lstStyle>
            <a:lvl1pPr defTabSz="809625">
              <a:defRPr sz="2400">
                <a:solidFill>
                  <a:schemeClr val="tx1"/>
                </a:solidFill>
                <a:latin typeface="Arial" panose="020B0604020202020204" pitchFamily="34" charset="0"/>
                <a:ea typeface="ＭＳ Ｐゴシック" panose="020B0600070205080204" pitchFamily="34" charset="-128"/>
              </a:defRPr>
            </a:lvl1pPr>
            <a:lvl2pPr marL="742950" indent="-285750" defTabSz="809625">
              <a:defRPr sz="2400">
                <a:solidFill>
                  <a:schemeClr val="tx1"/>
                </a:solidFill>
                <a:latin typeface="Arial" panose="020B0604020202020204" pitchFamily="34" charset="0"/>
                <a:ea typeface="ＭＳ Ｐゴシック" panose="020B0600070205080204" pitchFamily="34" charset="-128"/>
              </a:defRPr>
            </a:lvl2pPr>
            <a:lvl3pPr marL="1143000" indent="-228600" defTabSz="809625">
              <a:defRPr sz="2400">
                <a:solidFill>
                  <a:schemeClr val="tx1"/>
                </a:solidFill>
                <a:latin typeface="Arial" panose="020B0604020202020204" pitchFamily="34" charset="0"/>
                <a:ea typeface="ＭＳ Ｐゴシック" panose="020B0600070205080204" pitchFamily="34" charset="-128"/>
              </a:defRPr>
            </a:lvl3pPr>
            <a:lvl4pPr marL="1600200" indent="-228600" defTabSz="809625">
              <a:defRPr sz="2400">
                <a:solidFill>
                  <a:schemeClr val="tx1"/>
                </a:solidFill>
                <a:latin typeface="Arial" panose="020B0604020202020204" pitchFamily="34" charset="0"/>
                <a:ea typeface="ＭＳ Ｐゴシック" panose="020B0600070205080204" pitchFamily="34" charset="-128"/>
              </a:defRPr>
            </a:lvl4pPr>
            <a:lvl5pPr marL="2057400" indent="-228600" defTabSz="809625">
              <a:defRPr sz="2400">
                <a:solidFill>
                  <a:schemeClr val="tx1"/>
                </a:solidFill>
                <a:latin typeface="Arial" panose="020B0604020202020204" pitchFamily="34" charset="0"/>
                <a:ea typeface="ＭＳ Ｐゴシック" panose="020B0600070205080204" pitchFamily="34" charset="-128"/>
              </a:defRPr>
            </a:lvl5pPr>
            <a:lvl6pPr marL="25146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spcBef>
                <a:spcPct val="20000"/>
              </a:spcBef>
              <a:buClr>
                <a:schemeClr val="hlink"/>
              </a:buClr>
              <a:buSzPct val="70000"/>
              <a:buFont typeface="Wingdings" panose="05000000000000000000" pitchFamily="2" charset="2"/>
              <a:buNone/>
            </a:pPr>
            <a:r>
              <a:rPr lang="en-US" altLang="en-US" sz="1000" b="1" i="1">
                <a:latin typeface="Book Antiqua" panose="02040602050305030304" pitchFamily="18" charset="0"/>
              </a:rPr>
              <a:t>Copyright © 2013 by The McGraw-Hill Companies, Inc.  All rights reserved. </a:t>
            </a:r>
            <a:endParaRPr lang="en-US" altLang="en-US">
              <a:latin typeface="Times New Roman" panose="02020603050405020304" pitchFamily="18" charset="0"/>
            </a:endParaRPr>
          </a:p>
        </p:txBody>
      </p:sp>
    </p:spTree>
    <p:extLst>
      <p:ext uri="{BB962C8B-B14F-4D97-AF65-F5344CB8AC3E}">
        <p14:creationId xmlns:p14="http://schemas.microsoft.com/office/powerpoint/2010/main" val="1650506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The General Form of a Generic Class</a:t>
            </a:r>
          </a:p>
        </p:txBody>
      </p:sp>
      <p:sp>
        <p:nvSpPr>
          <p:cNvPr id="3" name="Content Placeholder 2"/>
          <p:cNvSpPr>
            <a:spLocks noGrp="1"/>
          </p:cNvSpPr>
          <p:nvPr>
            <p:ph idx="1"/>
          </p:nvPr>
        </p:nvSpPr>
        <p:spPr/>
        <p:txBody>
          <a:bodyPr/>
          <a:lstStyle/>
          <a:p>
            <a:r>
              <a:rPr lang="en-IN" dirty="0"/>
              <a:t>class </a:t>
            </a:r>
            <a:r>
              <a:rPr lang="en-IN" i="1" dirty="0"/>
              <a:t>class-name</a:t>
            </a:r>
            <a:r>
              <a:rPr lang="en-IN" dirty="0"/>
              <a:t>&lt;</a:t>
            </a:r>
            <a:r>
              <a:rPr lang="en-IN" i="1" dirty="0"/>
              <a:t>type-</a:t>
            </a:r>
            <a:r>
              <a:rPr lang="en-IN" i="1" dirty="0" err="1"/>
              <a:t>param</a:t>
            </a:r>
            <a:r>
              <a:rPr lang="en-IN" i="1" dirty="0"/>
              <a:t>-list</a:t>
            </a:r>
            <a:r>
              <a:rPr lang="en-IN" dirty="0"/>
              <a:t>&gt; { // ...</a:t>
            </a:r>
          </a:p>
          <a:p>
            <a:r>
              <a:rPr lang="en-IN" dirty="0"/>
              <a:t>Here is the full syntax for declaring a reference to a generic class and creating a generic instance:</a:t>
            </a:r>
          </a:p>
          <a:p>
            <a:r>
              <a:rPr lang="en-IN" i="1" dirty="0"/>
              <a:t>class-name</a:t>
            </a:r>
            <a:r>
              <a:rPr lang="en-IN" dirty="0"/>
              <a:t>&lt;</a:t>
            </a:r>
            <a:r>
              <a:rPr lang="en-IN" i="1" dirty="0"/>
              <a:t>type-</a:t>
            </a:r>
            <a:r>
              <a:rPr lang="en-IN" i="1" dirty="0" err="1"/>
              <a:t>arg</a:t>
            </a:r>
            <a:r>
              <a:rPr lang="en-IN" i="1" dirty="0"/>
              <a:t>-list</a:t>
            </a:r>
            <a:r>
              <a:rPr lang="en-IN" dirty="0"/>
              <a:t>&gt; </a:t>
            </a:r>
            <a:r>
              <a:rPr lang="en-IN" i="1" dirty="0" err="1"/>
              <a:t>var</a:t>
            </a:r>
            <a:r>
              <a:rPr lang="en-IN" i="1" dirty="0"/>
              <a:t>-name </a:t>
            </a:r>
            <a:r>
              <a:rPr lang="en-IN" dirty="0"/>
              <a:t>= new </a:t>
            </a:r>
            <a:r>
              <a:rPr lang="en-IN" i="1" dirty="0"/>
              <a:t>class-name</a:t>
            </a:r>
            <a:r>
              <a:rPr lang="en-IN" dirty="0"/>
              <a:t>&lt;</a:t>
            </a:r>
            <a:r>
              <a:rPr lang="en-IN" i="1" dirty="0"/>
              <a:t>type-</a:t>
            </a:r>
            <a:r>
              <a:rPr lang="en-IN" i="1" dirty="0" err="1"/>
              <a:t>arg</a:t>
            </a:r>
            <a:r>
              <a:rPr lang="en-IN" i="1" dirty="0"/>
              <a:t>-list</a:t>
            </a:r>
            <a:r>
              <a:rPr lang="en-IN" dirty="0"/>
              <a:t>&gt;(</a:t>
            </a:r>
            <a:r>
              <a:rPr lang="en-IN" i="1" dirty="0"/>
              <a:t>cons-</a:t>
            </a:r>
            <a:r>
              <a:rPr lang="en-IN" i="1" dirty="0" err="1"/>
              <a:t>arg</a:t>
            </a:r>
            <a:r>
              <a:rPr lang="en-IN" i="1" dirty="0"/>
              <a:t>-list</a:t>
            </a:r>
            <a:r>
              <a:rPr lang="en-IN" dirty="0"/>
              <a:t>); </a:t>
            </a:r>
          </a:p>
        </p:txBody>
      </p:sp>
    </p:spTree>
    <p:extLst>
      <p:ext uri="{BB962C8B-B14F-4D97-AF65-F5344CB8AC3E}">
        <p14:creationId xmlns:p14="http://schemas.microsoft.com/office/powerpoint/2010/main" val="20857336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Bounded Types </a:t>
            </a:r>
          </a:p>
        </p:txBody>
      </p:sp>
      <p:sp>
        <p:nvSpPr>
          <p:cNvPr id="3" name="Content Placeholder 2"/>
          <p:cNvSpPr>
            <a:spLocks noGrp="1"/>
          </p:cNvSpPr>
          <p:nvPr>
            <p:ph idx="1"/>
          </p:nvPr>
        </p:nvSpPr>
        <p:spPr/>
        <p:txBody>
          <a:bodyPr/>
          <a:lstStyle/>
          <a:p>
            <a:pPr>
              <a:buFont typeface="Georgia" charset="0"/>
              <a:buChar char="•"/>
              <a:defRPr/>
            </a:pPr>
            <a:r>
              <a:rPr lang="en-IN" dirty="0"/>
              <a:t>a class/method that operates on numbers might only want to accept instances of Number or its subclasses. </a:t>
            </a:r>
          </a:p>
        </p:txBody>
      </p:sp>
    </p:spTree>
    <p:extLst>
      <p:ext uri="{BB962C8B-B14F-4D97-AF65-F5344CB8AC3E}">
        <p14:creationId xmlns:p14="http://schemas.microsoft.com/office/powerpoint/2010/main" val="1285737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Class Number hierarchy</a:t>
            </a:r>
          </a:p>
        </p:txBody>
      </p:sp>
      <p:pic>
        <p:nvPicPr>
          <p:cNvPr id="4" name="Content Placeholder 3"/>
          <p:cNvPicPr>
            <a:picLocks noGrp="1" noChangeAspect="1"/>
          </p:cNvPicPr>
          <p:nvPr>
            <p:ph idx="1"/>
          </p:nvPr>
        </p:nvPicPr>
        <p:blipFill>
          <a:blip r:embed="rId2"/>
          <a:stretch>
            <a:fillRect/>
          </a:stretch>
        </p:blipFill>
        <p:spPr>
          <a:xfrm>
            <a:off x="990600" y="1752600"/>
            <a:ext cx="6705599" cy="2734469"/>
          </a:xfrm>
          <a:prstGeom prst="rect">
            <a:avLst/>
          </a:prstGeom>
        </p:spPr>
      </p:pic>
    </p:spTree>
    <p:extLst>
      <p:ext uri="{BB962C8B-B14F-4D97-AF65-F5344CB8AC3E}">
        <p14:creationId xmlns:p14="http://schemas.microsoft.com/office/powerpoint/2010/main" val="1525424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err="1"/>
              <a:t>doubleValue</a:t>
            </a:r>
            <a:r>
              <a:rPr lang="en-IN" dirty="0"/>
              <a:t>() method of Double class</a:t>
            </a:r>
          </a:p>
        </p:txBody>
      </p:sp>
      <p:sp>
        <p:nvSpPr>
          <p:cNvPr id="4" name="Rectangle 1"/>
          <p:cNvSpPr>
            <a:spLocks noGrp="1" noChangeArrowheads="1"/>
          </p:cNvSpPr>
          <p:nvPr>
            <p:ph idx="1"/>
          </p:nvPr>
        </p:nvSpPr>
        <p:spPr bwMode="auto">
          <a:xfrm>
            <a:off x="452718" y="1449014"/>
            <a:ext cx="8077200" cy="369331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Double a = </a:t>
            </a:r>
            <a:r>
              <a:rPr lang="en-US" altLang="en-US" sz="2000" dirty="0">
                <a:solidFill>
                  <a:srgbClr val="009900"/>
                </a:solidFill>
                <a:latin typeface="Consolas" panose="020B0609020204030204" pitchFamily="49" charset="0"/>
              </a:rPr>
              <a:t>10.5</a:t>
            </a:r>
            <a:r>
              <a:rPr kumimoji="0" lang="en-US" altLang="en-US" sz="2000" b="0" i="0" u="none" strike="noStrike" cap="none" normalizeH="0" baseline="0" dirty="0">
                <a:ln>
                  <a:noFill/>
                </a:ln>
                <a:solidFill>
                  <a:srgbClr val="000000"/>
                </a:solidFill>
                <a:effectLst/>
                <a:latin typeface="Consolas" panose="020B0609020204030204" pitchFamily="49" charset="0"/>
              </a:rPr>
              <a:t>;// Wrapper class Double ( boxing)</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8200"/>
                </a:solidFill>
                <a:effectLst/>
                <a:latin typeface="Consolas" panose="020B0609020204030204" pitchFamily="49" charset="0"/>
              </a:rPr>
              <a:t>// wrapping the Double value</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8200"/>
                </a:solidFill>
                <a:effectLst/>
                <a:latin typeface="Consolas" panose="020B0609020204030204" pitchFamily="49" charset="0"/>
              </a:rPr>
              <a:t>// in the wrapper class Double</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Double b = </a:t>
            </a:r>
            <a:r>
              <a:rPr kumimoji="0" lang="en-US" altLang="en-US" sz="2000" b="1" i="0" u="none" strike="noStrike" cap="none" normalizeH="0" baseline="0" dirty="0">
                <a:ln>
                  <a:noFill/>
                </a:ln>
                <a:solidFill>
                  <a:srgbClr val="006699"/>
                </a:solidFill>
                <a:effectLst/>
                <a:latin typeface="Consolas" panose="020B0609020204030204" pitchFamily="49" charset="0"/>
              </a:rPr>
              <a:t>new</a:t>
            </a: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Double(a);</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8200"/>
                </a:solidFill>
                <a:effectLst/>
                <a:latin typeface="Consolas" panose="020B0609020204030204" pitchFamily="49" charset="0"/>
              </a:rPr>
              <a:t>// </a:t>
            </a:r>
            <a:r>
              <a:rPr kumimoji="0" lang="en-US" altLang="en-US" sz="2000" b="0" i="0" u="none" strike="noStrike" cap="none" normalizeH="0" baseline="0" dirty="0" err="1">
                <a:ln>
                  <a:noFill/>
                </a:ln>
                <a:solidFill>
                  <a:srgbClr val="008200"/>
                </a:solidFill>
                <a:effectLst/>
                <a:latin typeface="Consolas" panose="020B0609020204030204" pitchFamily="49" charset="0"/>
              </a:rPr>
              <a:t>doubleValue</a:t>
            </a:r>
            <a:r>
              <a:rPr kumimoji="0" lang="en-US" altLang="en-US" sz="2000" b="0" i="0" u="none" strike="noStrike" cap="none" normalizeH="0" baseline="0" dirty="0">
                <a:ln>
                  <a:noFill/>
                </a:ln>
                <a:solidFill>
                  <a:srgbClr val="008200"/>
                </a:solidFill>
                <a:effectLst/>
                <a:latin typeface="Consolas" panose="020B0609020204030204" pitchFamily="49" charset="0"/>
              </a:rPr>
              <a:t> of the Double Object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1" i="0" u="none" strike="noStrike" cap="none" normalizeH="0" baseline="0" dirty="0">
                <a:ln>
                  <a:noFill/>
                </a:ln>
                <a:solidFill>
                  <a:srgbClr val="006699"/>
                </a:solidFill>
                <a:effectLst/>
                <a:latin typeface="Consolas" panose="020B0609020204030204" pitchFamily="49" charset="0"/>
              </a:rPr>
              <a:t>double</a:t>
            </a:r>
            <a:r>
              <a:rPr kumimoji="0" lang="en-US" altLang="en-US" sz="2000" b="0" i="0" u="none" strike="noStrike" cap="none" normalizeH="0" baseline="0" dirty="0">
                <a:ln>
                  <a:noFill/>
                </a:ln>
                <a:solidFill>
                  <a:srgbClr val="273239"/>
                </a:solidFill>
                <a:effectLst/>
                <a:latin typeface="Consolas" panose="020B0609020204030204" pitchFamily="49" charset="0"/>
              </a:rPr>
              <a:t> </a:t>
            </a:r>
            <a:r>
              <a:rPr lang="en-US" altLang="en-US" sz="2000" dirty="0">
                <a:solidFill>
                  <a:srgbClr val="000000"/>
                </a:solidFill>
                <a:latin typeface="Consolas" panose="020B0609020204030204" pitchFamily="49" charset="0"/>
              </a:rPr>
              <a:t>res</a:t>
            </a:r>
            <a:r>
              <a:rPr kumimoji="0" lang="en-US" altLang="en-US" sz="2000" b="0" i="0" u="none" strike="noStrike" cap="none" normalizeH="0" baseline="0" dirty="0">
                <a:ln>
                  <a:noFill/>
                </a:ln>
                <a:solidFill>
                  <a:srgbClr val="000000"/>
                </a:solidFill>
                <a:effectLst/>
                <a:latin typeface="Consolas" panose="020B0609020204030204" pitchFamily="49" charset="0"/>
              </a:rPr>
              <a:t> = </a:t>
            </a:r>
            <a:r>
              <a:rPr kumimoji="0" lang="en-US" altLang="en-US" sz="2000" b="0" i="0" u="none" strike="noStrike" cap="none" normalizeH="0" baseline="0" dirty="0" err="1">
                <a:ln>
                  <a:noFill/>
                </a:ln>
                <a:solidFill>
                  <a:srgbClr val="000000"/>
                </a:solidFill>
                <a:effectLst/>
                <a:latin typeface="Consolas" panose="020B0609020204030204" pitchFamily="49" charset="0"/>
              </a:rPr>
              <a:t>b.doubleValue</a:t>
            </a: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8200"/>
                </a:solidFill>
                <a:effectLst/>
                <a:latin typeface="Consolas" panose="020B0609020204030204" pitchFamily="49" charset="0"/>
              </a:rPr>
              <a:t>// </a:t>
            </a:r>
            <a:r>
              <a:rPr kumimoji="0" lang="en-US" altLang="en-US" sz="2000" b="0" i="0" u="none" strike="noStrike" cap="none" normalizeH="0" baseline="0" dirty="0" err="1">
                <a:ln>
                  <a:noFill/>
                </a:ln>
                <a:solidFill>
                  <a:srgbClr val="008200"/>
                </a:solidFill>
                <a:effectLst/>
                <a:latin typeface="Consolas" panose="020B0609020204030204" pitchFamily="49" charset="0"/>
              </a:rPr>
              <a:t>prdoubleing</a:t>
            </a:r>
            <a:r>
              <a:rPr kumimoji="0" lang="en-US" altLang="en-US" sz="2000" b="0" i="0" u="none" strike="noStrike" cap="none" normalizeH="0" baseline="0" dirty="0">
                <a:ln>
                  <a:noFill/>
                </a:ln>
                <a:solidFill>
                  <a:srgbClr val="008200"/>
                </a:solidFill>
                <a:effectLst/>
                <a:latin typeface="Consolas" panose="020B0609020204030204" pitchFamily="49" charset="0"/>
              </a:rPr>
              <a:t> the output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err="1">
                <a:ln>
                  <a:noFill/>
                </a:ln>
                <a:solidFill>
                  <a:srgbClr val="000000"/>
                </a:solidFill>
                <a:effectLst/>
                <a:latin typeface="Consolas" panose="020B0609020204030204" pitchFamily="49" charset="0"/>
              </a:rPr>
              <a:t>System.out.println</a:t>
            </a: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0" i="0" u="none" strike="noStrike" cap="none" normalizeH="0" baseline="0" dirty="0">
                <a:ln>
                  <a:noFill/>
                </a:ln>
                <a:solidFill>
                  <a:srgbClr val="0000FF"/>
                </a:solidFill>
                <a:effectLst/>
                <a:latin typeface="Consolas" panose="020B0609020204030204" pitchFamily="49" charset="0"/>
              </a:rPr>
              <a:t>"Double value of "</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 b + </a:t>
            </a:r>
            <a:r>
              <a:rPr kumimoji="0" lang="en-US" altLang="en-US" sz="2000" b="0" i="0" u="none" strike="noStrike" cap="none" normalizeH="0" baseline="0" dirty="0">
                <a:ln>
                  <a:noFill/>
                </a:ln>
                <a:solidFill>
                  <a:srgbClr val="0000FF"/>
                </a:solidFill>
                <a:effectLst/>
                <a:latin typeface="Consolas" panose="020B0609020204030204" pitchFamily="49" charset="0"/>
              </a:rPr>
              <a:t>" is : "</a:t>
            </a: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 res);</a:t>
            </a:r>
            <a:endParaRPr kumimoji="0" lang="en-US" altLang="en-US" sz="2000" b="0" i="0" u="none" strike="noStrike" cap="none" normalizeH="0" baseline="0" dirty="0">
              <a:ln>
                <a:noFill/>
              </a:ln>
              <a:solidFill>
                <a:schemeClr val="tx1"/>
              </a:solidFill>
              <a:effectLst/>
            </a:endParaRPr>
          </a:p>
        </p:txBody>
      </p:sp>
      <p:sp>
        <p:nvSpPr>
          <p:cNvPr id="5" name="Rectangle 2"/>
          <p:cNvSpPr>
            <a:spLocks noChangeArrowheads="1"/>
          </p:cNvSpPr>
          <p:nvPr/>
        </p:nvSpPr>
        <p:spPr bwMode="auto">
          <a:xfrm>
            <a:off x="757518" y="5410200"/>
            <a:ext cx="7467600" cy="82840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8887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273239"/>
                </a:solidFill>
                <a:effectLst/>
                <a:latin typeface="urw-din"/>
              </a:rPr>
              <a:t>Output: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73239"/>
                </a:solidFill>
                <a:effectLst/>
                <a:latin typeface="Consolas" panose="020B0609020204030204" pitchFamily="49" charset="0"/>
              </a:rPr>
              <a:t>Double value of 17.47 is : 17.47</a:t>
            </a:r>
            <a:r>
              <a:rPr kumimoji="0" lang="en-US" altLang="en-US" sz="24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32085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altLang="en-US">
                <a:ea typeface="ＭＳ Ｐゴシック" panose="020B0600070205080204" pitchFamily="34" charset="-128"/>
              </a:rPr>
              <a:t>Bounded Types Explained</a:t>
            </a:r>
          </a:p>
        </p:txBody>
      </p:sp>
      <p:sp>
        <p:nvSpPr>
          <p:cNvPr id="21506" name="Rectangle 3"/>
          <p:cNvSpPr>
            <a:spLocks noGrp="1" noChangeArrowheads="1"/>
          </p:cNvSpPr>
          <p:nvPr>
            <p:ph idx="1"/>
          </p:nvPr>
        </p:nvSpPr>
        <p:spPr/>
        <p:txBody>
          <a:bodyPr>
            <a:normAutofit/>
          </a:bodyPr>
          <a:lstStyle/>
          <a:p>
            <a:pPr eaLnBrk="1" hangingPunct="1"/>
            <a:r>
              <a:rPr lang="en-US" altLang="en-US" dirty="0">
                <a:ea typeface="ＭＳ Ｐゴシック" panose="020B0600070205080204" pitchFamily="34" charset="-128"/>
              </a:rPr>
              <a:t>The notation </a:t>
            </a:r>
            <a:r>
              <a:rPr lang="en-US" altLang="en-US" b="1" dirty="0">
                <a:ea typeface="ＭＳ Ｐゴシック" panose="020B0600070205080204" pitchFamily="34" charset="-128"/>
              </a:rPr>
              <a:t>T extends Number</a:t>
            </a:r>
            <a:r>
              <a:rPr lang="en-US" altLang="en-US" dirty="0">
                <a:ea typeface="ＭＳ Ｐゴシック" panose="020B0600070205080204" pitchFamily="34" charset="-128"/>
              </a:rPr>
              <a:t> means that </a:t>
            </a:r>
            <a:r>
              <a:rPr lang="en-US" altLang="en-US" b="1" dirty="0">
                <a:ea typeface="ＭＳ Ｐゴシック" panose="020B0600070205080204" pitchFamily="34" charset="-128"/>
              </a:rPr>
              <a:t>T</a:t>
            </a:r>
            <a:r>
              <a:rPr lang="en-US" altLang="en-US" dirty="0">
                <a:ea typeface="ＭＳ Ｐゴシック" panose="020B0600070205080204" pitchFamily="34" charset="-128"/>
              </a:rPr>
              <a:t> must be a </a:t>
            </a:r>
            <a:r>
              <a:rPr lang="en-US" altLang="en-US" b="1" dirty="0">
                <a:ea typeface="ＭＳ Ｐゴシック" panose="020B0600070205080204" pitchFamily="34" charset="-128"/>
              </a:rPr>
              <a:t>Number</a:t>
            </a:r>
            <a:r>
              <a:rPr lang="en-US" altLang="en-US" dirty="0">
                <a:ea typeface="ＭＳ Ｐゴシック" panose="020B0600070205080204" pitchFamily="34" charset="-128"/>
              </a:rPr>
              <a:t> or a subclass of </a:t>
            </a:r>
            <a:r>
              <a:rPr lang="en-US" altLang="en-US" b="1" dirty="0">
                <a:ea typeface="ＭＳ Ｐゴシック" panose="020B0600070205080204" pitchFamily="34" charset="-128"/>
              </a:rPr>
              <a:t>Number</a:t>
            </a:r>
            <a:r>
              <a:rPr lang="en-US" altLang="en-US" dirty="0">
                <a:ea typeface="ＭＳ Ｐゴシック" panose="020B0600070205080204" pitchFamily="34" charset="-128"/>
              </a:rPr>
              <a:t>.</a:t>
            </a:r>
          </a:p>
          <a:p>
            <a:r>
              <a:rPr lang="en-US" dirty="0"/>
              <a:t>Byte, Double, Float, </a:t>
            </a:r>
            <a:r>
              <a:rPr lang="en-US" b="1" dirty="0"/>
              <a:t>Integer</a:t>
            </a:r>
            <a:r>
              <a:rPr lang="en-US" dirty="0"/>
              <a:t>, Long, and Short are subclasses of Number</a:t>
            </a:r>
            <a:endParaRPr lang="en-US" altLang="en-US" dirty="0">
              <a:ea typeface="ＭＳ Ｐゴシック" panose="020B0600070205080204" pitchFamily="34" charset="-128"/>
            </a:endParaRPr>
          </a:p>
          <a:p>
            <a:pPr eaLnBrk="1" hangingPunct="1"/>
            <a:r>
              <a:rPr lang="en-US" altLang="en-US" dirty="0">
                <a:ea typeface="ＭＳ Ｐゴシック" panose="020B0600070205080204" pitchFamily="34" charset="-128"/>
              </a:rPr>
              <a:t>Other option:</a:t>
            </a:r>
          </a:p>
          <a:p>
            <a:pPr lvl="1" eaLnBrk="1" hangingPunct="1"/>
            <a:r>
              <a:rPr lang="en-US" altLang="en-US" b="1" dirty="0">
                <a:ea typeface="ＭＳ Ｐゴシック" panose="020B0600070205080204" pitchFamily="34" charset="-128"/>
              </a:rPr>
              <a:t>&lt;T, K extends T&gt; </a:t>
            </a:r>
            <a:r>
              <a:rPr lang="en-US" altLang="en-US" dirty="0">
                <a:ea typeface="ＭＳ Ｐゴシック" panose="020B0600070205080204" pitchFamily="34" charset="-128"/>
              </a:rPr>
              <a:t>means that the second type parameter must be the same as the first parameter or a subclass of the first parameter.</a:t>
            </a:r>
          </a:p>
        </p:txBody>
      </p:sp>
      <p:sp>
        <p:nvSpPr>
          <p:cNvPr id="21507" name="Text Box 48"/>
          <p:cNvSpPr txBox="1">
            <a:spLocks noChangeArrowheads="1"/>
          </p:cNvSpPr>
          <p:nvPr/>
        </p:nvSpPr>
        <p:spPr bwMode="auto">
          <a:xfrm>
            <a:off x="304800" y="6477000"/>
            <a:ext cx="46529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984" tIns="40492" rIns="80984" bIns="40492">
            <a:spAutoFit/>
          </a:bodyPr>
          <a:lstStyle>
            <a:lvl1pPr defTabSz="809625">
              <a:defRPr sz="2400">
                <a:solidFill>
                  <a:schemeClr val="tx1"/>
                </a:solidFill>
                <a:latin typeface="Arial" panose="020B0604020202020204" pitchFamily="34" charset="0"/>
                <a:ea typeface="ＭＳ Ｐゴシック" panose="020B0600070205080204" pitchFamily="34" charset="-128"/>
              </a:defRPr>
            </a:lvl1pPr>
            <a:lvl2pPr marL="742950" indent="-285750" defTabSz="809625">
              <a:defRPr sz="2400">
                <a:solidFill>
                  <a:schemeClr val="tx1"/>
                </a:solidFill>
                <a:latin typeface="Arial" panose="020B0604020202020204" pitchFamily="34" charset="0"/>
                <a:ea typeface="ＭＳ Ｐゴシック" panose="020B0600070205080204" pitchFamily="34" charset="-128"/>
              </a:defRPr>
            </a:lvl2pPr>
            <a:lvl3pPr marL="1143000" indent="-228600" defTabSz="809625">
              <a:defRPr sz="2400">
                <a:solidFill>
                  <a:schemeClr val="tx1"/>
                </a:solidFill>
                <a:latin typeface="Arial" panose="020B0604020202020204" pitchFamily="34" charset="0"/>
                <a:ea typeface="ＭＳ Ｐゴシック" panose="020B0600070205080204" pitchFamily="34" charset="-128"/>
              </a:defRPr>
            </a:lvl3pPr>
            <a:lvl4pPr marL="1600200" indent="-228600" defTabSz="809625">
              <a:defRPr sz="2400">
                <a:solidFill>
                  <a:schemeClr val="tx1"/>
                </a:solidFill>
                <a:latin typeface="Arial" panose="020B0604020202020204" pitchFamily="34" charset="0"/>
                <a:ea typeface="ＭＳ Ｐゴシック" panose="020B0600070205080204" pitchFamily="34" charset="-128"/>
              </a:defRPr>
            </a:lvl4pPr>
            <a:lvl5pPr marL="2057400" indent="-228600" defTabSz="809625">
              <a:defRPr sz="2400">
                <a:solidFill>
                  <a:schemeClr val="tx1"/>
                </a:solidFill>
                <a:latin typeface="Arial" panose="020B0604020202020204" pitchFamily="34" charset="0"/>
                <a:ea typeface="ＭＳ Ｐゴシック" panose="020B0600070205080204" pitchFamily="34" charset="-128"/>
              </a:defRPr>
            </a:lvl5pPr>
            <a:lvl6pPr marL="25146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spcBef>
                <a:spcPct val="20000"/>
              </a:spcBef>
              <a:buClr>
                <a:schemeClr val="hlink"/>
              </a:buClr>
              <a:buSzPct val="70000"/>
              <a:buFont typeface="Wingdings" panose="05000000000000000000" pitchFamily="2" charset="2"/>
              <a:buNone/>
            </a:pPr>
            <a:r>
              <a:rPr lang="en-US" altLang="en-US" sz="1000" b="1" i="1">
                <a:latin typeface="Book Antiqua" panose="02040602050305030304" pitchFamily="18" charset="0"/>
              </a:rPr>
              <a:t>Copyright © 2013 by The McGraw-Hill Companies, Inc.  All rights reserved. </a:t>
            </a:r>
            <a:endParaRPr lang="en-US" altLang="en-US">
              <a:latin typeface="Times New Roman" panose="02020603050405020304" pitchFamily="18" charset="0"/>
            </a:endParaRPr>
          </a:p>
        </p:txBody>
      </p:sp>
    </p:spTree>
    <p:extLst>
      <p:ext uri="{BB962C8B-B14F-4D97-AF65-F5344CB8AC3E}">
        <p14:creationId xmlns:p14="http://schemas.microsoft.com/office/powerpoint/2010/main" val="36791319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0"/>
            <a:ext cx="90678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53769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2400"/>
            <a:ext cx="9144000" cy="670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677029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13211"/>
            <a:ext cx="8839200" cy="701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52022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81"/>
            <a:ext cx="9067800" cy="5104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5105400"/>
            <a:ext cx="8915400" cy="157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9702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0"/>
            <a:ext cx="891540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1524000"/>
            <a:ext cx="4038600" cy="2238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4572000"/>
            <a:ext cx="8077200" cy="175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747598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533400"/>
            <a:ext cx="7924800" cy="5926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652717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12895"/>
            <a:ext cx="8229600" cy="1066800"/>
          </a:xfrm>
        </p:spPr>
        <p:txBody>
          <a:bodyPr/>
          <a:lstStyle/>
          <a:p>
            <a:pPr eaLnBrk="1" hangingPunct="1"/>
            <a:r>
              <a:rPr lang="en-US" altLang="en-US" dirty="0">
                <a:ea typeface="ＭＳ Ｐゴシック" panose="020B0600070205080204" pitchFamily="34" charset="-128"/>
              </a:rPr>
              <a:t>Generic Methods</a:t>
            </a:r>
          </a:p>
        </p:txBody>
      </p:sp>
      <p:sp>
        <p:nvSpPr>
          <p:cNvPr id="28675" name="Text Box 48"/>
          <p:cNvSpPr txBox="1">
            <a:spLocks noChangeArrowheads="1"/>
          </p:cNvSpPr>
          <p:nvPr/>
        </p:nvSpPr>
        <p:spPr bwMode="auto">
          <a:xfrm>
            <a:off x="304800" y="6477000"/>
            <a:ext cx="46529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984" tIns="40492" rIns="80984" bIns="40492">
            <a:spAutoFit/>
          </a:bodyPr>
          <a:lstStyle>
            <a:lvl1pPr defTabSz="809625">
              <a:defRPr>
                <a:solidFill>
                  <a:schemeClr val="tx1"/>
                </a:solidFill>
                <a:latin typeface="Arial" panose="020B0604020202020204" pitchFamily="34" charset="0"/>
                <a:ea typeface="ＭＳ Ｐゴシック" panose="020B0600070205080204" pitchFamily="34" charset="-128"/>
              </a:defRPr>
            </a:lvl1pPr>
            <a:lvl2pPr marL="742950" indent="-285750" defTabSz="809625">
              <a:defRPr>
                <a:solidFill>
                  <a:schemeClr val="tx1"/>
                </a:solidFill>
                <a:latin typeface="Arial" panose="020B0604020202020204" pitchFamily="34" charset="0"/>
                <a:ea typeface="ＭＳ Ｐゴシック" panose="020B0600070205080204" pitchFamily="34" charset="-128"/>
              </a:defRPr>
            </a:lvl2pPr>
            <a:lvl3pPr marL="1143000" indent="-228600" defTabSz="809625">
              <a:defRPr>
                <a:solidFill>
                  <a:schemeClr val="tx1"/>
                </a:solidFill>
                <a:latin typeface="Arial" panose="020B0604020202020204" pitchFamily="34" charset="0"/>
                <a:ea typeface="ＭＳ Ｐゴシック" panose="020B0600070205080204" pitchFamily="34" charset="-128"/>
              </a:defRPr>
            </a:lvl3pPr>
            <a:lvl4pPr marL="1600200" indent="-228600" defTabSz="809625">
              <a:defRPr>
                <a:solidFill>
                  <a:schemeClr val="tx1"/>
                </a:solidFill>
                <a:latin typeface="Arial" panose="020B0604020202020204" pitchFamily="34" charset="0"/>
                <a:ea typeface="ＭＳ Ｐゴシック" panose="020B0600070205080204" pitchFamily="34" charset="-128"/>
              </a:defRPr>
            </a:lvl4pPr>
            <a:lvl5pPr marL="2057400" indent="-228600" defTabSz="809625">
              <a:defRPr>
                <a:solidFill>
                  <a:schemeClr val="tx1"/>
                </a:solidFill>
                <a:latin typeface="Arial" panose="020B0604020202020204" pitchFamily="34" charset="0"/>
                <a:ea typeface="ＭＳ Ｐゴシック" panose="020B0600070205080204" pitchFamily="34" charset="-128"/>
              </a:defRPr>
            </a:lvl5pPr>
            <a:lvl6pPr marL="25146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eaLnBrk="1" hangingPunct="1">
              <a:spcBef>
                <a:spcPct val="20000"/>
              </a:spcBef>
              <a:buClr>
                <a:schemeClr val="hlink"/>
              </a:buClr>
              <a:buSzPct val="70000"/>
              <a:buFont typeface="Wingdings" panose="05000000000000000000" pitchFamily="2" charset="2"/>
              <a:buNone/>
            </a:pPr>
            <a:r>
              <a:rPr lang="en-US" altLang="en-US" sz="1000" b="1" i="1">
                <a:latin typeface="Book Antiqua" panose="02040602050305030304" pitchFamily="18" charset="0"/>
              </a:rPr>
              <a:t>Copyright © 2013 by The McGraw-Hill Companies, Inc.  All rights reserved. </a:t>
            </a:r>
            <a:endParaRPr lang="en-US" altLang="en-US" sz="2400">
              <a:latin typeface="Times New Roman" panose="02020603050405020304" pitchFamily="18" charset="0"/>
            </a:endParaRPr>
          </a:p>
        </p:txBody>
      </p:sp>
      <p:sp>
        <p:nvSpPr>
          <p:cNvPr id="28676" name="Rectangle 1"/>
          <p:cNvSpPr>
            <a:spLocks noChangeArrowheads="1"/>
          </p:cNvSpPr>
          <p:nvPr/>
        </p:nvSpPr>
        <p:spPr bwMode="auto">
          <a:xfrm>
            <a:off x="288010" y="1069363"/>
            <a:ext cx="8077200"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buFont typeface="Arial" panose="020B0604020202020204" pitchFamily="34" charset="0"/>
              <a:buChar char="•"/>
            </a:pPr>
            <a:r>
              <a:rPr lang="en-US" altLang="en-US" sz="2400" dirty="0"/>
              <a:t>You can write a single generic method declaration that can be called with arguments of different types.</a:t>
            </a:r>
          </a:p>
          <a:p>
            <a:pPr marL="0" indent="0"/>
            <a:r>
              <a:rPr lang="en-US" altLang="en-US" sz="2400" dirty="0"/>
              <a:t> </a:t>
            </a:r>
          </a:p>
          <a:p>
            <a:pPr>
              <a:buFont typeface="Arial" panose="020B0604020202020204" pitchFamily="34" charset="0"/>
              <a:buChar char="•"/>
            </a:pPr>
            <a:r>
              <a:rPr lang="en-US" altLang="en-US" sz="2400" dirty="0"/>
              <a:t>Based on the types of the arguments passed to the generic method, the compiler handles each method call appropriately.</a:t>
            </a:r>
          </a:p>
          <a:p>
            <a:pPr marL="0" indent="0"/>
            <a:r>
              <a:rPr lang="en-US" sz="2400" dirty="0"/>
              <a:t> </a:t>
            </a:r>
            <a:endParaRPr lang="en-US" altLang="en-US" sz="2400" dirty="0"/>
          </a:p>
          <a:p>
            <a:pPr>
              <a:buFont typeface="Arial" panose="020B0604020202020204" pitchFamily="34" charset="0"/>
              <a:buChar char="•"/>
            </a:pPr>
            <a:endParaRPr lang="en-US" altLang="en-US" sz="2400" dirty="0"/>
          </a:p>
        </p:txBody>
      </p:sp>
    </p:spTree>
    <p:extLst>
      <p:ext uri="{BB962C8B-B14F-4D97-AF65-F5344CB8AC3E}">
        <p14:creationId xmlns:p14="http://schemas.microsoft.com/office/powerpoint/2010/main" val="33133402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48"/>
          <p:cNvSpPr txBox="1">
            <a:spLocks noChangeArrowheads="1"/>
          </p:cNvSpPr>
          <p:nvPr/>
        </p:nvSpPr>
        <p:spPr bwMode="auto">
          <a:xfrm>
            <a:off x="304800" y="6477000"/>
            <a:ext cx="46529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984" tIns="40492" rIns="80984" bIns="40492">
            <a:spAutoFit/>
          </a:bodyPr>
          <a:lstStyle>
            <a:lvl1pPr defTabSz="809625">
              <a:defRPr>
                <a:solidFill>
                  <a:schemeClr val="tx1"/>
                </a:solidFill>
                <a:latin typeface="Arial" panose="020B0604020202020204" pitchFamily="34" charset="0"/>
                <a:ea typeface="ＭＳ Ｐゴシック" panose="020B0600070205080204" pitchFamily="34" charset="-128"/>
              </a:defRPr>
            </a:lvl1pPr>
            <a:lvl2pPr marL="742950" indent="-285750" defTabSz="809625">
              <a:defRPr>
                <a:solidFill>
                  <a:schemeClr val="tx1"/>
                </a:solidFill>
                <a:latin typeface="Arial" panose="020B0604020202020204" pitchFamily="34" charset="0"/>
                <a:ea typeface="ＭＳ Ｐゴシック" panose="020B0600070205080204" pitchFamily="34" charset="-128"/>
              </a:defRPr>
            </a:lvl2pPr>
            <a:lvl3pPr marL="1143000" indent="-228600" defTabSz="809625">
              <a:defRPr>
                <a:solidFill>
                  <a:schemeClr val="tx1"/>
                </a:solidFill>
                <a:latin typeface="Arial" panose="020B0604020202020204" pitchFamily="34" charset="0"/>
                <a:ea typeface="ＭＳ Ｐゴシック" panose="020B0600070205080204" pitchFamily="34" charset="-128"/>
              </a:defRPr>
            </a:lvl3pPr>
            <a:lvl4pPr marL="1600200" indent="-228600" defTabSz="809625">
              <a:defRPr>
                <a:solidFill>
                  <a:schemeClr val="tx1"/>
                </a:solidFill>
                <a:latin typeface="Arial" panose="020B0604020202020204" pitchFamily="34" charset="0"/>
                <a:ea typeface="ＭＳ Ｐゴシック" panose="020B0600070205080204" pitchFamily="34" charset="-128"/>
              </a:defRPr>
            </a:lvl4pPr>
            <a:lvl5pPr marL="2057400" indent="-228600" defTabSz="809625">
              <a:defRPr>
                <a:solidFill>
                  <a:schemeClr val="tx1"/>
                </a:solidFill>
                <a:latin typeface="Arial" panose="020B0604020202020204" pitchFamily="34" charset="0"/>
                <a:ea typeface="ＭＳ Ｐゴシック" panose="020B0600070205080204" pitchFamily="34" charset="-128"/>
              </a:defRPr>
            </a:lvl5pPr>
            <a:lvl6pPr marL="25146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eaLnBrk="1" hangingPunct="1">
              <a:spcBef>
                <a:spcPct val="20000"/>
              </a:spcBef>
              <a:buClr>
                <a:schemeClr val="hlink"/>
              </a:buClr>
              <a:buSzPct val="70000"/>
              <a:buFont typeface="Wingdings" panose="05000000000000000000" pitchFamily="2" charset="2"/>
              <a:buNone/>
            </a:pPr>
            <a:r>
              <a:rPr lang="en-US" altLang="en-US" sz="1000" b="1" i="1">
                <a:latin typeface="Book Antiqua" panose="02040602050305030304" pitchFamily="18" charset="0"/>
              </a:rPr>
              <a:t>Copyright © 2013 by The McGraw-Hill Companies, Inc.  All rights reserved. </a:t>
            </a:r>
            <a:endParaRPr lang="en-US" altLang="en-US" sz="2400">
              <a:latin typeface="Times New Roman" panose="02020603050405020304" pitchFamily="18" charset="0"/>
            </a:endParaRPr>
          </a:p>
        </p:txBody>
      </p:sp>
      <p:sp>
        <p:nvSpPr>
          <p:cNvPr id="29699" name="Rectangle 4"/>
          <p:cNvSpPr>
            <a:spLocks noChangeArrowheads="1"/>
          </p:cNvSpPr>
          <p:nvPr/>
        </p:nvSpPr>
        <p:spPr bwMode="auto">
          <a:xfrm>
            <a:off x="533400" y="1143000"/>
            <a:ext cx="8305800"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dirty="0"/>
              <a:t>Following example illustrates how we can print an array of different type using a single Generic method −</a:t>
            </a:r>
          </a:p>
          <a:p>
            <a:endParaRPr lang="en-US" altLang="en-US" sz="2400" dirty="0"/>
          </a:p>
          <a:p>
            <a:r>
              <a:rPr lang="en-US" altLang="en-US" sz="2400" dirty="0"/>
              <a:t>public class </a:t>
            </a:r>
            <a:r>
              <a:rPr lang="en-US" altLang="en-US" sz="2400" dirty="0" err="1"/>
              <a:t>GenericMethodTest</a:t>
            </a:r>
            <a:r>
              <a:rPr lang="en-US" altLang="en-US" sz="2400" dirty="0"/>
              <a:t> {</a:t>
            </a:r>
          </a:p>
          <a:p>
            <a:r>
              <a:rPr lang="en-US" altLang="en-US" sz="2400" dirty="0"/>
              <a:t>   // generic method </a:t>
            </a:r>
            <a:r>
              <a:rPr lang="en-US" altLang="en-US" sz="2400" dirty="0" err="1"/>
              <a:t>printArray</a:t>
            </a:r>
            <a:endParaRPr lang="en-US" altLang="en-US" sz="2400" dirty="0"/>
          </a:p>
          <a:p>
            <a:r>
              <a:rPr lang="en-US" altLang="en-US" sz="2400" dirty="0"/>
              <a:t>   public static &lt; E &gt; void </a:t>
            </a:r>
            <a:r>
              <a:rPr lang="en-US" altLang="en-US" sz="2400" dirty="0" err="1"/>
              <a:t>printArray</a:t>
            </a:r>
            <a:r>
              <a:rPr lang="en-US" altLang="en-US" sz="2400" dirty="0"/>
              <a:t>( E[ ] </a:t>
            </a:r>
            <a:r>
              <a:rPr lang="en-US" altLang="en-US" sz="2400" dirty="0" err="1"/>
              <a:t>inputArray</a:t>
            </a:r>
            <a:r>
              <a:rPr lang="en-US" altLang="en-US" sz="2400" dirty="0"/>
              <a:t> ) {</a:t>
            </a:r>
          </a:p>
          <a:p>
            <a:r>
              <a:rPr lang="en-US" altLang="en-US" sz="2400" dirty="0"/>
              <a:t>      // Display array elements</a:t>
            </a:r>
          </a:p>
          <a:p>
            <a:r>
              <a:rPr lang="en-US" altLang="en-US" sz="2400" dirty="0"/>
              <a:t>      for(E element : </a:t>
            </a:r>
            <a:r>
              <a:rPr lang="en-US" altLang="en-US" sz="2400" dirty="0" err="1"/>
              <a:t>inputArray</a:t>
            </a:r>
            <a:r>
              <a:rPr lang="en-US" altLang="en-US" sz="2400" dirty="0"/>
              <a:t>) {</a:t>
            </a:r>
          </a:p>
          <a:p>
            <a:r>
              <a:rPr lang="en-US" altLang="en-US" sz="2400" dirty="0"/>
              <a:t>         </a:t>
            </a:r>
            <a:r>
              <a:rPr lang="en-US" altLang="en-US" sz="2400" dirty="0" err="1"/>
              <a:t>System.out.print</a:t>
            </a:r>
            <a:r>
              <a:rPr lang="en-US" altLang="en-US" sz="2400" dirty="0"/>
              <a:t>(“ “+ element);</a:t>
            </a:r>
          </a:p>
          <a:p>
            <a:r>
              <a:rPr lang="en-US" altLang="en-US" sz="2400" dirty="0"/>
              <a:t>      }</a:t>
            </a:r>
          </a:p>
          <a:p>
            <a:r>
              <a:rPr lang="en-US" altLang="en-US" sz="2400" dirty="0"/>
              <a:t>      </a:t>
            </a:r>
            <a:r>
              <a:rPr lang="en-US" altLang="en-US" sz="2400" dirty="0" err="1"/>
              <a:t>System.out.println</a:t>
            </a:r>
            <a:r>
              <a:rPr lang="en-US" altLang="en-US" sz="2400" dirty="0"/>
              <a:t>();</a:t>
            </a:r>
          </a:p>
          <a:p>
            <a:r>
              <a:rPr lang="en-US" altLang="en-US" sz="2400" dirty="0"/>
              <a:t>   }</a:t>
            </a:r>
          </a:p>
          <a:p>
            <a:endParaRPr lang="en-US" altLang="en-US" sz="2400" dirty="0"/>
          </a:p>
          <a:p>
            <a:r>
              <a:rPr lang="en-US" altLang="en-US" sz="2400" dirty="0"/>
              <a:t>   </a:t>
            </a:r>
          </a:p>
        </p:txBody>
      </p:sp>
    </p:spTree>
    <p:extLst>
      <p:ext uri="{BB962C8B-B14F-4D97-AF65-F5344CB8AC3E}">
        <p14:creationId xmlns:p14="http://schemas.microsoft.com/office/powerpoint/2010/main" val="42780573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48"/>
          <p:cNvSpPr txBox="1">
            <a:spLocks noChangeArrowheads="1"/>
          </p:cNvSpPr>
          <p:nvPr/>
        </p:nvSpPr>
        <p:spPr bwMode="auto">
          <a:xfrm>
            <a:off x="304800" y="6477000"/>
            <a:ext cx="46529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984" tIns="40492" rIns="80984" bIns="40492">
            <a:spAutoFit/>
          </a:bodyPr>
          <a:lstStyle>
            <a:lvl1pPr defTabSz="809625">
              <a:defRPr>
                <a:solidFill>
                  <a:schemeClr val="tx1"/>
                </a:solidFill>
                <a:latin typeface="Arial" panose="020B0604020202020204" pitchFamily="34" charset="0"/>
                <a:ea typeface="ＭＳ Ｐゴシック" panose="020B0600070205080204" pitchFamily="34" charset="-128"/>
              </a:defRPr>
            </a:lvl1pPr>
            <a:lvl2pPr marL="742950" indent="-285750" defTabSz="809625">
              <a:defRPr>
                <a:solidFill>
                  <a:schemeClr val="tx1"/>
                </a:solidFill>
                <a:latin typeface="Arial" panose="020B0604020202020204" pitchFamily="34" charset="0"/>
                <a:ea typeface="ＭＳ Ｐゴシック" panose="020B0600070205080204" pitchFamily="34" charset="-128"/>
              </a:defRPr>
            </a:lvl2pPr>
            <a:lvl3pPr marL="1143000" indent="-228600" defTabSz="809625">
              <a:defRPr>
                <a:solidFill>
                  <a:schemeClr val="tx1"/>
                </a:solidFill>
                <a:latin typeface="Arial" panose="020B0604020202020204" pitchFamily="34" charset="0"/>
                <a:ea typeface="ＭＳ Ｐゴシック" panose="020B0600070205080204" pitchFamily="34" charset="-128"/>
              </a:defRPr>
            </a:lvl3pPr>
            <a:lvl4pPr marL="1600200" indent="-228600" defTabSz="809625">
              <a:defRPr>
                <a:solidFill>
                  <a:schemeClr val="tx1"/>
                </a:solidFill>
                <a:latin typeface="Arial" panose="020B0604020202020204" pitchFamily="34" charset="0"/>
                <a:ea typeface="ＭＳ Ｐゴシック" panose="020B0600070205080204" pitchFamily="34" charset="-128"/>
              </a:defRPr>
            </a:lvl4pPr>
            <a:lvl5pPr marL="2057400" indent="-228600" defTabSz="809625">
              <a:defRPr>
                <a:solidFill>
                  <a:schemeClr val="tx1"/>
                </a:solidFill>
                <a:latin typeface="Arial" panose="020B0604020202020204" pitchFamily="34" charset="0"/>
                <a:ea typeface="ＭＳ Ｐゴシック" panose="020B0600070205080204" pitchFamily="34" charset="-128"/>
              </a:defRPr>
            </a:lvl5pPr>
            <a:lvl6pPr marL="25146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eaLnBrk="1" hangingPunct="1">
              <a:spcBef>
                <a:spcPct val="20000"/>
              </a:spcBef>
              <a:buClr>
                <a:schemeClr val="hlink"/>
              </a:buClr>
              <a:buSzPct val="70000"/>
              <a:buFont typeface="Wingdings" panose="05000000000000000000" pitchFamily="2" charset="2"/>
              <a:buNone/>
            </a:pPr>
            <a:r>
              <a:rPr lang="en-US" altLang="en-US" sz="1000" b="1" i="1">
                <a:latin typeface="Book Antiqua" panose="02040602050305030304" pitchFamily="18" charset="0"/>
              </a:rPr>
              <a:t>Copyright © 2013 by The McGraw-Hill Companies, Inc.  All rights reserved. </a:t>
            </a:r>
            <a:endParaRPr lang="en-US" altLang="en-US" sz="2400">
              <a:latin typeface="Times New Roman" panose="02020603050405020304" pitchFamily="18" charset="0"/>
            </a:endParaRPr>
          </a:p>
        </p:txBody>
      </p:sp>
      <p:sp>
        <p:nvSpPr>
          <p:cNvPr id="30723" name="Rectangle 1"/>
          <p:cNvSpPr>
            <a:spLocks noChangeArrowheads="1"/>
          </p:cNvSpPr>
          <p:nvPr/>
        </p:nvSpPr>
        <p:spPr bwMode="auto">
          <a:xfrm>
            <a:off x="363538" y="590550"/>
            <a:ext cx="8763000" cy="627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dirty="0"/>
          </a:p>
          <a:p>
            <a:r>
              <a:rPr lang="en-US" altLang="en-US" dirty="0"/>
              <a:t>   </a:t>
            </a:r>
            <a:r>
              <a:rPr lang="en-US" altLang="en-US" sz="2400" dirty="0"/>
              <a:t>public static void main(String </a:t>
            </a:r>
            <a:r>
              <a:rPr lang="en-US" altLang="en-US" sz="2400" dirty="0" err="1"/>
              <a:t>args</a:t>
            </a:r>
            <a:r>
              <a:rPr lang="en-US" altLang="en-US" sz="2400" dirty="0"/>
              <a:t>[]) {</a:t>
            </a:r>
          </a:p>
          <a:p>
            <a:r>
              <a:rPr lang="en-US" altLang="en-US" sz="2400" dirty="0"/>
              <a:t>      // Create arrays of Integer, Double and Character</a:t>
            </a:r>
          </a:p>
          <a:p>
            <a:r>
              <a:rPr lang="en-US" altLang="en-US" sz="2400" dirty="0"/>
              <a:t>      Integer[] </a:t>
            </a:r>
            <a:r>
              <a:rPr lang="en-US" altLang="en-US" sz="2400" dirty="0" err="1"/>
              <a:t>intArray</a:t>
            </a:r>
            <a:r>
              <a:rPr lang="en-US" altLang="en-US" sz="2400" dirty="0"/>
              <a:t> = { 1, 2, 3, 4, 5 };</a:t>
            </a:r>
          </a:p>
          <a:p>
            <a:r>
              <a:rPr lang="en-US" altLang="en-US" sz="2400" dirty="0"/>
              <a:t>      Double[] </a:t>
            </a:r>
            <a:r>
              <a:rPr lang="en-US" altLang="en-US" sz="2400" dirty="0" err="1"/>
              <a:t>doubleArray</a:t>
            </a:r>
            <a:r>
              <a:rPr lang="en-US" altLang="en-US" sz="2400" dirty="0"/>
              <a:t> = { 1.1, 2.2, 3.3, 4.4 };</a:t>
            </a:r>
          </a:p>
          <a:p>
            <a:r>
              <a:rPr lang="en-US" altLang="en-US" sz="2400" dirty="0"/>
              <a:t>      Character[] </a:t>
            </a:r>
            <a:r>
              <a:rPr lang="en-US" altLang="en-US" sz="2400" dirty="0" err="1"/>
              <a:t>charArray</a:t>
            </a:r>
            <a:r>
              <a:rPr lang="en-US" altLang="en-US" sz="2400" dirty="0"/>
              <a:t> = { 'H', 'E', 'L', 'L', 'O' };</a:t>
            </a:r>
          </a:p>
          <a:p>
            <a:endParaRPr lang="en-US" altLang="en-US" sz="2400" dirty="0"/>
          </a:p>
          <a:p>
            <a:r>
              <a:rPr lang="en-US" altLang="en-US" sz="2400" dirty="0"/>
              <a:t>      </a:t>
            </a:r>
            <a:r>
              <a:rPr lang="en-US" altLang="en-US" sz="2400" dirty="0" err="1"/>
              <a:t>System.out.println</a:t>
            </a:r>
            <a:r>
              <a:rPr lang="en-US" altLang="en-US" sz="2400" dirty="0"/>
              <a:t>("Array </a:t>
            </a:r>
            <a:r>
              <a:rPr lang="en-US" altLang="en-US" sz="2400" dirty="0" err="1"/>
              <a:t>integerArray</a:t>
            </a:r>
            <a:r>
              <a:rPr lang="en-US" altLang="en-US" sz="2400" dirty="0"/>
              <a:t> contains:");</a:t>
            </a:r>
          </a:p>
          <a:p>
            <a:r>
              <a:rPr lang="en-US" altLang="en-US" sz="2400" dirty="0"/>
              <a:t>      </a:t>
            </a:r>
            <a:r>
              <a:rPr lang="en-US" altLang="en-US" sz="2400" dirty="0" err="1"/>
              <a:t>printArray</a:t>
            </a:r>
            <a:r>
              <a:rPr lang="en-US" altLang="en-US" sz="2400" dirty="0"/>
              <a:t>(</a:t>
            </a:r>
            <a:r>
              <a:rPr lang="en-US" altLang="en-US" sz="2400" dirty="0" err="1"/>
              <a:t>intArray</a:t>
            </a:r>
            <a:r>
              <a:rPr lang="en-US" altLang="en-US" sz="2400" dirty="0"/>
              <a:t>);   // pass an Integer array</a:t>
            </a:r>
          </a:p>
          <a:p>
            <a:endParaRPr lang="en-US" altLang="en-US" sz="2400" dirty="0"/>
          </a:p>
          <a:p>
            <a:r>
              <a:rPr lang="en-US" altLang="en-US" sz="2400" dirty="0"/>
              <a:t>      </a:t>
            </a:r>
            <a:r>
              <a:rPr lang="en-US" altLang="en-US" sz="2400" dirty="0" err="1"/>
              <a:t>System.out.println</a:t>
            </a:r>
            <a:r>
              <a:rPr lang="en-US" altLang="en-US" sz="2400" dirty="0"/>
              <a:t>("\</a:t>
            </a:r>
            <a:r>
              <a:rPr lang="en-US" altLang="en-US" sz="2400" dirty="0" err="1"/>
              <a:t>nArray</a:t>
            </a:r>
            <a:r>
              <a:rPr lang="en-US" altLang="en-US" sz="2400" dirty="0"/>
              <a:t> </a:t>
            </a:r>
            <a:r>
              <a:rPr lang="en-US" altLang="en-US" sz="2400" dirty="0" err="1"/>
              <a:t>doubleArray</a:t>
            </a:r>
            <a:r>
              <a:rPr lang="en-US" altLang="en-US" sz="2400" dirty="0"/>
              <a:t> contains:");</a:t>
            </a:r>
          </a:p>
          <a:p>
            <a:r>
              <a:rPr lang="en-US" altLang="en-US" sz="2400" dirty="0"/>
              <a:t>      </a:t>
            </a:r>
            <a:r>
              <a:rPr lang="en-US" altLang="en-US" sz="2400" dirty="0" err="1"/>
              <a:t>printArray</a:t>
            </a:r>
            <a:r>
              <a:rPr lang="en-US" altLang="en-US" sz="2400" dirty="0"/>
              <a:t>(</a:t>
            </a:r>
            <a:r>
              <a:rPr lang="en-US" altLang="en-US" sz="2400" dirty="0" err="1"/>
              <a:t>doubleArray</a:t>
            </a:r>
            <a:r>
              <a:rPr lang="en-US" altLang="en-US" sz="2400" dirty="0"/>
              <a:t>);   // pass a Double array</a:t>
            </a:r>
          </a:p>
          <a:p>
            <a:endParaRPr lang="en-US" altLang="en-US" sz="2400" dirty="0"/>
          </a:p>
          <a:p>
            <a:r>
              <a:rPr lang="en-US" altLang="en-US" sz="2400" dirty="0"/>
              <a:t>      </a:t>
            </a:r>
            <a:r>
              <a:rPr lang="en-US" altLang="en-US" sz="2400" dirty="0" err="1"/>
              <a:t>System.out.println</a:t>
            </a:r>
            <a:r>
              <a:rPr lang="en-US" altLang="en-US" sz="2400" dirty="0"/>
              <a:t>("\</a:t>
            </a:r>
            <a:r>
              <a:rPr lang="en-US" altLang="en-US" sz="2400" dirty="0" err="1"/>
              <a:t>nArray</a:t>
            </a:r>
            <a:r>
              <a:rPr lang="en-US" altLang="en-US" sz="2400" dirty="0"/>
              <a:t> </a:t>
            </a:r>
            <a:r>
              <a:rPr lang="en-US" altLang="en-US" sz="2400" dirty="0" err="1"/>
              <a:t>characterArray</a:t>
            </a:r>
            <a:r>
              <a:rPr lang="en-US" altLang="en-US" sz="2400" dirty="0"/>
              <a:t> contains:");</a:t>
            </a:r>
          </a:p>
          <a:p>
            <a:r>
              <a:rPr lang="en-US" altLang="en-US" sz="2400" dirty="0"/>
              <a:t>      </a:t>
            </a:r>
            <a:r>
              <a:rPr lang="en-US" altLang="en-US" sz="2400" dirty="0" err="1"/>
              <a:t>printArray</a:t>
            </a:r>
            <a:r>
              <a:rPr lang="en-US" altLang="en-US" sz="2400" dirty="0"/>
              <a:t>(</a:t>
            </a:r>
            <a:r>
              <a:rPr lang="en-US" altLang="en-US" sz="2400" dirty="0" err="1"/>
              <a:t>charArray</a:t>
            </a:r>
            <a:r>
              <a:rPr lang="en-US" altLang="en-US" sz="2400" dirty="0"/>
              <a:t>);   // pass a Character array</a:t>
            </a:r>
          </a:p>
          <a:p>
            <a:r>
              <a:rPr lang="en-US" altLang="en-US" sz="2400" dirty="0"/>
              <a:t>   }</a:t>
            </a:r>
          </a:p>
          <a:p>
            <a:r>
              <a:rPr lang="en-US" altLang="en-US" sz="2400" dirty="0"/>
              <a:t>}</a:t>
            </a:r>
          </a:p>
        </p:txBody>
      </p:sp>
    </p:spTree>
    <p:extLst>
      <p:ext uri="{BB962C8B-B14F-4D97-AF65-F5344CB8AC3E}">
        <p14:creationId xmlns:p14="http://schemas.microsoft.com/office/powerpoint/2010/main" val="25502874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48"/>
          <p:cNvSpPr txBox="1">
            <a:spLocks noChangeArrowheads="1"/>
          </p:cNvSpPr>
          <p:nvPr/>
        </p:nvSpPr>
        <p:spPr bwMode="auto">
          <a:xfrm>
            <a:off x="304800" y="6477000"/>
            <a:ext cx="46529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984" tIns="40492" rIns="80984" bIns="40492">
            <a:spAutoFit/>
          </a:bodyPr>
          <a:lstStyle>
            <a:lvl1pPr defTabSz="809625">
              <a:defRPr>
                <a:solidFill>
                  <a:schemeClr val="tx1"/>
                </a:solidFill>
                <a:latin typeface="Arial" panose="020B0604020202020204" pitchFamily="34" charset="0"/>
                <a:ea typeface="ＭＳ Ｐゴシック" panose="020B0600070205080204" pitchFamily="34" charset="-128"/>
              </a:defRPr>
            </a:lvl1pPr>
            <a:lvl2pPr marL="742950" indent="-285750" defTabSz="809625">
              <a:defRPr>
                <a:solidFill>
                  <a:schemeClr val="tx1"/>
                </a:solidFill>
                <a:latin typeface="Arial" panose="020B0604020202020204" pitchFamily="34" charset="0"/>
                <a:ea typeface="ＭＳ Ｐゴシック" panose="020B0600070205080204" pitchFamily="34" charset="-128"/>
              </a:defRPr>
            </a:lvl2pPr>
            <a:lvl3pPr marL="1143000" indent="-228600" defTabSz="809625">
              <a:defRPr>
                <a:solidFill>
                  <a:schemeClr val="tx1"/>
                </a:solidFill>
                <a:latin typeface="Arial" panose="020B0604020202020204" pitchFamily="34" charset="0"/>
                <a:ea typeface="ＭＳ Ｐゴシック" panose="020B0600070205080204" pitchFamily="34" charset="-128"/>
              </a:defRPr>
            </a:lvl3pPr>
            <a:lvl4pPr marL="1600200" indent="-228600" defTabSz="809625">
              <a:defRPr>
                <a:solidFill>
                  <a:schemeClr val="tx1"/>
                </a:solidFill>
                <a:latin typeface="Arial" panose="020B0604020202020204" pitchFamily="34" charset="0"/>
                <a:ea typeface="ＭＳ Ｐゴシック" panose="020B0600070205080204" pitchFamily="34" charset="-128"/>
              </a:defRPr>
            </a:lvl4pPr>
            <a:lvl5pPr marL="2057400" indent="-228600" defTabSz="809625">
              <a:defRPr>
                <a:solidFill>
                  <a:schemeClr val="tx1"/>
                </a:solidFill>
                <a:latin typeface="Arial" panose="020B0604020202020204" pitchFamily="34" charset="0"/>
                <a:ea typeface="ＭＳ Ｐゴシック" panose="020B0600070205080204" pitchFamily="34" charset="-128"/>
              </a:defRPr>
            </a:lvl5pPr>
            <a:lvl6pPr marL="25146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eaLnBrk="1" hangingPunct="1">
              <a:spcBef>
                <a:spcPct val="20000"/>
              </a:spcBef>
              <a:buClr>
                <a:schemeClr val="hlink"/>
              </a:buClr>
              <a:buSzPct val="70000"/>
              <a:buFont typeface="Wingdings" panose="05000000000000000000" pitchFamily="2" charset="2"/>
              <a:buNone/>
            </a:pPr>
            <a:r>
              <a:rPr lang="en-US" altLang="en-US" sz="1000" b="1" i="1">
                <a:latin typeface="Book Antiqua" panose="02040602050305030304" pitchFamily="18" charset="0"/>
              </a:rPr>
              <a:t>Copyright © 2013 by The McGraw-Hill Companies, Inc.  All rights reserved. </a:t>
            </a:r>
            <a:endParaRPr lang="en-US" altLang="en-US" sz="2400">
              <a:latin typeface="Times New Roman" panose="02020603050405020304" pitchFamily="18" charset="0"/>
            </a:endParaRPr>
          </a:p>
        </p:txBody>
      </p:sp>
      <p:sp>
        <p:nvSpPr>
          <p:cNvPr id="30723" name="Rectangle 1"/>
          <p:cNvSpPr>
            <a:spLocks noChangeArrowheads="1"/>
          </p:cNvSpPr>
          <p:nvPr/>
        </p:nvSpPr>
        <p:spPr bwMode="auto">
          <a:xfrm>
            <a:off x="533400" y="487025"/>
            <a:ext cx="8229600" cy="637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t>   </a:t>
            </a:r>
            <a:r>
              <a:rPr lang="en-IN" sz="2000" dirty="0"/>
              <a:t>/*The </a:t>
            </a:r>
            <a:r>
              <a:rPr lang="en-IN" sz="2000" dirty="0" err="1"/>
              <a:t>Util</a:t>
            </a:r>
            <a:r>
              <a:rPr lang="en-IN" sz="2000" dirty="0"/>
              <a:t> class includes a generic method, compare, which compares two Pair objects:*/</a:t>
            </a:r>
          </a:p>
          <a:p>
            <a:r>
              <a:rPr lang="en-IN" sz="2000" b="1" dirty="0"/>
              <a:t>public class </a:t>
            </a:r>
            <a:r>
              <a:rPr lang="en-IN" sz="2000" b="1" dirty="0" err="1"/>
              <a:t>Util</a:t>
            </a:r>
            <a:r>
              <a:rPr lang="en-IN" sz="2000" b="1" dirty="0"/>
              <a:t> </a:t>
            </a:r>
            <a:r>
              <a:rPr lang="en-IN" sz="2000" dirty="0"/>
              <a:t>{</a:t>
            </a:r>
            <a:endParaRPr lang="en-IN" sz="2000" dirty="0">
              <a:solidFill>
                <a:srgbClr val="FF0000"/>
              </a:solidFill>
            </a:endParaRPr>
          </a:p>
          <a:p>
            <a:r>
              <a:rPr lang="en-IN" sz="2000" dirty="0">
                <a:solidFill>
                  <a:srgbClr val="FF0000"/>
                </a:solidFill>
              </a:rPr>
              <a:t>public static &lt;K, V&gt; </a:t>
            </a:r>
            <a:r>
              <a:rPr lang="en-IN" sz="2000" dirty="0" err="1">
                <a:solidFill>
                  <a:srgbClr val="FF0000"/>
                </a:solidFill>
              </a:rPr>
              <a:t>boolean</a:t>
            </a:r>
            <a:r>
              <a:rPr lang="en-IN" sz="2000" dirty="0">
                <a:solidFill>
                  <a:srgbClr val="FF0000"/>
                </a:solidFill>
              </a:rPr>
              <a:t> compare(Pair&lt;K, V&gt; p1, Pair&lt;K, V&gt; p2) </a:t>
            </a:r>
            <a:r>
              <a:rPr lang="en-IN" sz="2000" dirty="0"/>
              <a:t>{</a:t>
            </a:r>
          </a:p>
          <a:p>
            <a:r>
              <a:rPr lang="en-IN" sz="2000" dirty="0"/>
              <a:t> return p1.getKey().equals(p2.getKey()) &amp;&amp;</a:t>
            </a:r>
          </a:p>
          <a:p>
            <a:r>
              <a:rPr lang="en-IN" sz="2000" dirty="0"/>
              <a:t>          p1.getValue().equals(p2.getValue());</a:t>
            </a:r>
          </a:p>
          <a:p>
            <a:r>
              <a:rPr lang="en-IN" sz="2000" dirty="0"/>
              <a:t>    }</a:t>
            </a:r>
          </a:p>
          <a:p>
            <a:r>
              <a:rPr lang="en-IN" sz="2000" dirty="0"/>
              <a:t>}</a:t>
            </a:r>
          </a:p>
          <a:p>
            <a:endParaRPr lang="en-US" sz="2000" dirty="0"/>
          </a:p>
          <a:p>
            <a:r>
              <a:rPr lang="en-IN" sz="2000" b="1" dirty="0"/>
              <a:t>public class Pair&lt;K, V&gt; </a:t>
            </a:r>
            <a:r>
              <a:rPr lang="en-IN" sz="2000" dirty="0"/>
              <a:t>{</a:t>
            </a:r>
          </a:p>
          <a:p>
            <a:r>
              <a:rPr lang="en-IN" sz="2000" dirty="0"/>
              <a:t>    private K key; private V value;</a:t>
            </a:r>
          </a:p>
          <a:p>
            <a:r>
              <a:rPr lang="en-IN" sz="2000" dirty="0"/>
              <a:t>    public Pair(K key, V value) {</a:t>
            </a:r>
          </a:p>
          <a:p>
            <a:r>
              <a:rPr lang="en-IN" sz="2000" dirty="0"/>
              <a:t>        </a:t>
            </a:r>
            <a:r>
              <a:rPr lang="en-IN" sz="2000" dirty="0" err="1"/>
              <a:t>this.key</a:t>
            </a:r>
            <a:r>
              <a:rPr lang="en-IN" sz="2000" dirty="0"/>
              <a:t> = key;</a:t>
            </a:r>
          </a:p>
          <a:p>
            <a:r>
              <a:rPr lang="en-IN" sz="2000" dirty="0"/>
              <a:t>        </a:t>
            </a:r>
            <a:r>
              <a:rPr lang="en-IN" sz="2000" dirty="0" err="1"/>
              <a:t>this.value</a:t>
            </a:r>
            <a:r>
              <a:rPr lang="en-IN" sz="2000" dirty="0"/>
              <a:t> = value;</a:t>
            </a:r>
          </a:p>
          <a:p>
            <a:r>
              <a:rPr lang="en-IN" sz="2000" dirty="0"/>
              <a:t>    }</a:t>
            </a:r>
          </a:p>
          <a:p>
            <a:r>
              <a:rPr lang="en-IN" sz="2000" dirty="0"/>
              <a:t>    public void </a:t>
            </a:r>
            <a:r>
              <a:rPr lang="en-IN" sz="2000" dirty="0" err="1"/>
              <a:t>setKey</a:t>
            </a:r>
            <a:r>
              <a:rPr lang="en-IN" sz="2000" dirty="0"/>
              <a:t>(K key) { </a:t>
            </a:r>
            <a:r>
              <a:rPr lang="en-IN" sz="2000" dirty="0" err="1"/>
              <a:t>this.key</a:t>
            </a:r>
            <a:r>
              <a:rPr lang="en-IN" sz="2000" dirty="0"/>
              <a:t> = key; }</a:t>
            </a:r>
          </a:p>
          <a:p>
            <a:r>
              <a:rPr lang="en-IN" sz="2000" dirty="0"/>
              <a:t>    public void </a:t>
            </a:r>
            <a:r>
              <a:rPr lang="en-IN" sz="2000" dirty="0" err="1"/>
              <a:t>setValue</a:t>
            </a:r>
            <a:r>
              <a:rPr lang="en-IN" sz="2000" dirty="0"/>
              <a:t>(V value) { </a:t>
            </a:r>
            <a:r>
              <a:rPr lang="en-IN" sz="2000" dirty="0" err="1"/>
              <a:t>this.value</a:t>
            </a:r>
            <a:r>
              <a:rPr lang="en-IN" sz="2000" dirty="0"/>
              <a:t> = value; }</a:t>
            </a:r>
          </a:p>
          <a:p>
            <a:r>
              <a:rPr lang="en-IN" sz="2000" dirty="0"/>
              <a:t>    public K </a:t>
            </a:r>
            <a:r>
              <a:rPr lang="en-IN" sz="2000" dirty="0" err="1"/>
              <a:t>getKey</a:t>
            </a:r>
            <a:r>
              <a:rPr lang="en-IN" sz="2000" dirty="0"/>
              <a:t>()   { return key; }</a:t>
            </a:r>
          </a:p>
          <a:p>
            <a:r>
              <a:rPr lang="en-IN" sz="2000" dirty="0"/>
              <a:t>    public V </a:t>
            </a:r>
            <a:r>
              <a:rPr lang="en-IN" sz="2000" dirty="0" err="1"/>
              <a:t>getValue</a:t>
            </a:r>
            <a:r>
              <a:rPr lang="en-IN" sz="2000" dirty="0"/>
              <a:t>() { return value; }</a:t>
            </a:r>
          </a:p>
          <a:p>
            <a:r>
              <a:rPr lang="en-IN" sz="2000" dirty="0"/>
              <a:t>}</a:t>
            </a:r>
          </a:p>
        </p:txBody>
      </p:sp>
    </p:spTree>
    <p:extLst>
      <p:ext uri="{BB962C8B-B14F-4D97-AF65-F5344CB8AC3E}">
        <p14:creationId xmlns:p14="http://schemas.microsoft.com/office/powerpoint/2010/main" val="1815370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1624"/>
            <a:ext cx="8229600" cy="487362"/>
          </a:xfrm>
        </p:spPr>
        <p:txBody>
          <a:bodyPr>
            <a:normAutofit fontScale="90000"/>
          </a:bodyPr>
          <a:lstStyle/>
          <a:p>
            <a:r>
              <a:rPr lang="en-US" dirty="0"/>
              <a:t>Example</a:t>
            </a:r>
            <a:endParaRPr lang="en-IN" dirty="0"/>
          </a:p>
        </p:txBody>
      </p:sp>
      <p:sp>
        <p:nvSpPr>
          <p:cNvPr id="3" name="Content Placeholder 2"/>
          <p:cNvSpPr>
            <a:spLocks noGrp="1"/>
          </p:cNvSpPr>
          <p:nvPr>
            <p:ph sz="half" idx="1"/>
          </p:nvPr>
        </p:nvSpPr>
        <p:spPr>
          <a:xfrm>
            <a:off x="76200" y="685800"/>
            <a:ext cx="8382000" cy="5715000"/>
          </a:xfrm>
        </p:spPr>
        <p:txBody>
          <a:bodyPr>
            <a:normAutofit fontScale="92500" lnSpcReduction="20000"/>
          </a:bodyPr>
          <a:lstStyle/>
          <a:p>
            <a:pPr marL="0" indent="0">
              <a:buNone/>
            </a:pPr>
            <a:r>
              <a:rPr lang="en-US" dirty="0"/>
              <a:t>The complete syntax for invoking this method would be:</a:t>
            </a:r>
          </a:p>
          <a:p>
            <a:pPr marL="0" indent="0">
              <a:buNone/>
            </a:pPr>
            <a:endParaRPr lang="en-US" sz="2200" dirty="0">
              <a:latin typeface="Arial" panose="020B0604020202020204" pitchFamily="34" charset="0"/>
              <a:ea typeface="ＭＳ Ｐゴシック" panose="020B0600070205080204" pitchFamily="34" charset="-128"/>
            </a:endParaRPr>
          </a:p>
          <a:p>
            <a:pPr marL="0" indent="0">
              <a:buNone/>
            </a:pPr>
            <a:r>
              <a:rPr lang="en-US" sz="2200" dirty="0">
                <a:latin typeface="Arial" panose="020B0604020202020204" pitchFamily="34" charset="0"/>
                <a:ea typeface="ＭＳ Ｐゴシック" panose="020B0600070205080204" pitchFamily="34" charset="-128"/>
              </a:rPr>
              <a:t>   Pair&lt;Integer, String&gt; p1 = new Pair&lt;&gt;(1, "apple");</a:t>
            </a:r>
          </a:p>
          <a:p>
            <a:pPr marL="0" indent="0">
              <a:buNone/>
            </a:pPr>
            <a:r>
              <a:rPr lang="en-US" sz="2200" dirty="0">
                <a:latin typeface="Arial" panose="020B0604020202020204" pitchFamily="34" charset="0"/>
                <a:ea typeface="ＭＳ Ｐゴシック" panose="020B0600070205080204" pitchFamily="34" charset="-128"/>
              </a:rPr>
              <a:t>   Pair&lt;Integer, String&gt; p2 = new Pair&lt;&gt;(2, "pear");</a:t>
            </a:r>
          </a:p>
          <a:p>
            <a:pPr marL="0" indent="0">
              <a:buNone/>
            </a:pPr>
            <a:r>
              <a:rPr lang="en-US" sz="2200" dirty="0">
                <a:latin typeface="Arial" panose="020B0604020202020204" pitchFamily="34" charset="0"/>
                <a:ea typeface="ＭＳ Ｐゴシック" panose="020B0600070205080204" pitchFamily="34" charset="-128"/>
              </a:rPr>
              <a:t>   </a:t>
            </a:r>
            <a:r>
              <a:rPr lang="en-US" sz="2200" dirty="0" err="1">
                <a:latin typeface="Arial" panose="020B0604020202020204" pitchFamily="34" charset="0"/>
                <a:ea typeface="ＭＳ Ｐゴシック" panose="020B0600070205080204" pitchFamily="34" charset="-128"/>
              </a:rPr>
              <a:t>boolean</a:t>
            </a:r>
            <a:r>
              <a:rPr lang="en-US" sz="2200" dirty="0">
                <a:latin typeface="Arial" panose="020B0604020202020204" pitchFamily="34" charset="0"/>
                <a:ea typeface="ＭＳ Ｐゴシック" panose="020B0600070205080204" pitchFamily="34" charset="-128"/>
              </a:rPr>
              <a:t> same = Util.&lt;</a:t>
            </a:r>
            <a:r>
              <a:rPr lang="en-US" sz="2200" b="1" dirty="0">
                <a:latin typeface="Arial" panose="020B0604020202020204" pitchFamily="34" charset="0"/>
                <a:ea typeface="ＭＳ Ｐゴシック" panose="020B0600070205080204" pitchFamily="34" charset="-128"/>
              </a:rPr>
              <a:t>Integer, String</a:t>
            </a:r>
            <a:r>
              <a:rPr lang="en-US" sz="2200" dirty="0">
                <a:latin typeface="Arial" panose="020B0604020202020204" pitchFamily="34" charset="0"/>
                <a:ea typeface="ＭＳ Ｐゴシック" panose="020B0600070205080204" pitchFamily="34" charset="-128"/>
              </a:rPr>
              <a:t>&gt; compare(p1, p2);</a:t>
            </a:r>
          </a:p>
          <a:p>
            <a:pPr marL="0" indent="0">
              <a:buNone/>
            </a:pPr>
            <a:r>
              <a:rPr lang="en-US" dirty="0">
                <a:solidFill>
                  <a:srgbClr val="FF0000"/>
                </a:solidFill>
              </a:rPr>
              <a:t>Here, the type has been explicitly provided, as shown in bold. </a:t>
            </a:r>
          </a:p>
          <a:p>
            <a:pPr marL="0" indent="0">
              <a:buNone/>
            </a:pPr>
            <a:r>
              <a:rPr lang="en-US" dirty="0"/>
              <a:t>Generally, this can be left out and the compiler will infer the type that is needed:</a:t>
            </a:r>
          </a:p>
          <a:p>
            <a:pPr marL="0" indent="0">
              <a:buNone/>
            </a:pPr>
            <a:r>
              <a:rPr lang="en-US" dirty="0"/>
              <a:t> </a:t>
            </a:r>
            <a:r>
              <a:rPr lang="en-US" sz="2200" dirty="0">
                <a:latin typeface="Arial" panose="020B0604020202020204" pitchFamily="34" charset="0"/>
                <a:ea typeface="ＭＳ Ｐゴシック" panose="020B0600070205080204" pitchFamily="34" charset="-128"/>
              </a:rPr>
              <a:t>Pair&lt;Integer, String&gt; p1 = new Pair&lt;&gt;(1, "apple");</a:t>
            </a:r>
          </a:p>
          <a:p>
            <a:pPr marL="0" indent="0">
              <a:buNone/>
            </a:pPr>
            <a:r>
              <a:rPr lang="en-US" sz="2200" dirty="0">
                <a:latin typeface="Arial" panose="020B0604020202020204" pitchFamily="34" charset="0"/>
                <a:ea typeface="ＭＳ Ｐゴシック" panose="020B0600070205080204" pitchFamily="34" charset="-128"/>
              </a:rPr>
              <a:t> Pair&lt;Integer, String&gt; p2 = new Pair&lt;&gt;(2, "pear");</a:t>
            </a:r>
          </a:p>
          <a:p>
            <a:pPr marL="0" indent="0">
              <a:buNone/>
            </a:pPr>
            <a:r>
              <a:rPr lang="en-US" sz="2200" dirty="0">
                <a:latin typeface="Arial" panose="020B0604020202020204" pitchFamily="34" charset="0"/>
                <a:ea typeface="ＭＳ Ｐゴシック" panose="020B0600070205080204" pitchFamily="34" charset="-128"/>
              </a:rPr>
              <a:t> </a:t>
            </a:r>
            <a:r>
              <a:rPr lang="en-US" sz="2200" dirty="0" err="1">
                <a:latin typeface="Arial" panose="020B0604020202020204" pitchFamily="34" charset="0"/>
                <a:ea typeface="ＭＳ Ｐゴシック" panose="020B0600070205080204" pitchFamily="34" charset="-128"/>
              </a:rPr>
              <a:t>boolean</a:t>
            </a:r>
            <a:r>
              <a:rPr lang="en-US" sz="2200" dirty="0">
                <a:latin typeface="Arial" panose="020B0604020202020204" pitchFamily="34" charset="0"/>
                <a:ea typeface="ＭＳ Ｐゴシック" panose="020B0600070205080204" pitchFamily="34" charset="-128"/>
              </a:rPr>
              <a:t> same = </a:t>
            </a:r>
            <a:r>
              <a:rPr lang="en-US" sz="2200" dirty="0" err="1">
                <a:latin typeface="Arial" panose="020B0604020202020204" pitchFamily="34" charset="0"/>
                <a:ea typeface="ＭＳ Ｐゴシック" panose="020B0600070205080204" pitchFamily="34" charset="-128"/>
              </a:rPr>
              <a:t>Util.compare</a:t>
            </a:r>
            <a:r>
              <a:rPr lang="en-US" sz="2200" dirty="0">
                <a:latin typeface="Arial" panose="020B0604020202020204" pitchFamily="34" charset="0"/>
                <a:ea typeface="ＭＳ Ｐゴシック" panose="020B0600070205080204" pitchFamily="34" charset="-128"/>
              </a:rPr>
              <a:t>(p1, p2);</a:t>
            </a:r>
          </a:p>
          <a:p>
            <a:pPr marL="0" indent="0">
              <a:buNone/>
            </a:pPr>
            <a:endParaRPr lang="en-US" dirty="0"/>
          </a:p>
          <a:p>
            <a:pPr marL="0" indent="0">
              <a:buNone/>
            </a:pPr>
            <a:r>
              <a:rPr lang="en-US" dirty="0"/>
              <a:t>This feature, known as </a:t>
            </a:r>
            <a:r>
              <a:rPr lang="en-US" b="1" dirty="0"/>
              <a:t>type inference</a:t>
            </a:r>
            <a:r>
              <a:rPr lang="en-US" dirty="0"/>
              <a:t>, allows you to invoke a generic method as an ordinary method, without specifying a type between angle brackets. </a:t>
            </a:r>
            <a:endParaRPr lang="en-IN" dirty="0"/>
          </a:p>
        </p:txBody>
      </p:sp>
    </p:spTree>
    <p:extLst>
      <p:ext uri="{BB962C8B-B14F-4D97-AF65-F5344CB8AC3E}">
        <p14:creationId xmlns:p14="http://schemas.microsoft.com/office/powerpoint/2010/main" val="28436937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152400"/>
            <a:ext cx="7315200" cy="609600"/>
          </a:xfrm>
        </p:spPr>
        <p:txBody>
          <a:bodyPr>
            <a:normAutofit fontScale="90000"/>
          </a:bodyPr>
          <a:lstStyle/>
          <a:p>
            <a:r>
              <a:rPr lang="en-US" altLang="en-US" dirty="0">
                <a:ea typeface="ＭＳ Ｐゴシック" panose="020B0600070205080204" pitchFamily="34" charset="-128"/>
              </a:rPr>
              <a:t>Generic </a:t>
            </a:r>
            <a:r>
              <a:rPr lang="en-US" dirty="0"/>
              <a:t>Constructor</a:t>
            </a:r>
            <a:endParaRPr lang="en-US" altLang="en-US" dirty="0">
              <a:ea typeface="ＭＳ Ｐゴシック" panose="020B0600070205080204" pitchFamily="34" charset="-128"/>
            </a:endParaRPr>
          </a:p>
        </p:txBody>
      </p:sp>
      <p:sp>
        <p:nvSpPr>
          <p:cNvPr id="28675" name="Text Box 48"/>
          <p:cNvSpPr txBox="1">
            <a:spLocks noChangeArrowheads="1"/>
          </p:cNvSpPr>
          <p:nvPr/>
        </p:nvSpPr>
        <p:spPr bwMode="auto">
          <a:xfrm>
            <a:off x="304800" y="6477000"/>
            <a:ext cx="46529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984" tIns="40492" rIns="80984" bIns="40492">
            <a:spAutoFit/>
          </a:bodyPr>
          <a:lstStyle>
            <a:lvl1pPr defTabSz="809625">
              <a:defRPr>
                <a:solidFill>
                  <a:schemeClr val="tx1"/>
                </a:solidFill>
                <a:latin typeface="Arial" panose="020B0604020202020204" pitchFamily="34" charset="0"/>
                <a:ea typeface="ＭＳ Ｐゴシック" panose="020B0600070205080204" pitchFamily="34" charset="-128"/>
              </a:defRPr>
            </a:lvl1pPr>
            <a:lvl2pPr marL="742950" indent="-285750" defTabSz="809625">
              <a:defRPr>
                <a:solidFill>
                  <a:schemeClr val="tx1"/>
                </a:solidFill>
                <a:latin typeface="Arial" panose="020B0604020202020204" pitchFamily="34" charset="0"/>
                <a:ea typeface="ＭＳ Ｐゴシック" panose="020B0600070205080204" pitchFamily="34" charset="-128"/>
              </a:defRPr>
            </a:lvl2pPr>
            <a:lvl3pPr marL="1143000" indent="-228600" defTabSz="809625">
              <a:defRPr>
                <a:solidFill>
                  <a:schemeClr val="tx1"/>
                </a:solidFill>
                <a:latin typeface="Arial" panose="020B0604020202020204" pitchFamily="34" charset="0"/>
                <a:ea typeface="ＭＳ Ｐゴシック" panose="020B0600070205080204" pitchFamily="34" charset="-128"/>
              </a:defRPr>
            </a:lvl3pPr>
            <a:lvl4pPr marL="1600200" indent="-228600" defTabSz="809625">
              <a:defRPr>
                <a:solidFill>
                  <a:schemeClr val="tx1"/>
                </a:solidFill>
                <a:latin typeface="Arial" panose="020B0604020202020204" pitchFamily="34" charset="0"/>
                <a:ea typeface="ＭＳ Ｐゴシック" panose="020B0600070205080204" pitchFamily="34" charset="-128"/>
              </a:defRPr>
            </a:lvl4pPr>
            <a:lvl5pPr marL="2057400" indent="-228600" defTabSz="809625">
              <a:defRPr>
                <a:solidFill>
                  <a:schemeClr val="tx1"/>
                </a:solidFill>
                <a:latin typeface="Arial" panose="020B0604020202020204" pitchFamily="34" charset="0"/>
                <a:ea typeface="ＭＳ Ｐゴシック" panose="020B0600070205080204" pitchFamily="34" charset="-128"/>
              </a:defRPr>
            </a:lvl5pPr>
            <a:lvl6pPr marL="25146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eaLnBrk="1" hangingPunct="1">
              <a:spcBef>
                <a:spcPct val="20000"/>
              </a:spcBef>
              <a:buClr>
                <a:schemeClr val="hlink"/>
              </a:buClr>
              <a:buSzPct val="70000"/>
              <a:buFont typeface="Wingdings" panose="05000000000000000000" pitchFamily="2" charset="2"/>
              <a:buNone/>
            </a:pPr>
            <a:r>
              <a:rPr lang="en-US" altLang="en-US" sz="1000" b="1" i="1">
                <a:latin typeface="Book Antiqua" panose="02040602050305030304" pitchFamily="18" charset="0"/>
              </a:rPr>
              <a:t>Copyright © 2013 by The McGraw-Hill Companies, Inc.  All rights reserved. </a:t>
            </a:r>
            <a:endParaRPr lang="en-US" altLang="en-US" sz="2400">
              <a:latin typeface="Times New Roman" panose="02020603050405020304" pitchFamily="18" charset="0"/>
            </a:endParaRPr>
          </a:p>
        </p:txBody>
      </p:sp>
      <p:sp>
        <p:nvSpPr>
          <p:cNvPr id="2" name="Rectangle 1"/>
          <p:cNvSpPr/>
          <p:nvPr/>
        </p:nvSpPr>
        <p:spPr>
          <a:xfrm>
            <a:off x="152400" y="914400"/>
            <a:ext cx="8915400" cy="1938992"/>
          </a:xfrm>
          <a:prstGeom prst="rect">
            <a:avLst/>
          </a:prstGeom>
        </p:spPr>
        <p:txBody>
          <a:bodyPr wrap="square">
            <a:spAutoFit/>
          </a:bodyPr>
          <a:lstStyle/>
          <a:p>
            <a:pPr algn="just"/>
            <a:r>
              <a:rPr lang="en-US" sz="2400" dirty="0"/>
              <a:t>A constructor can be generic, even if its class is not.</a:t>
            </a:r>
          </a:p>
          <a:p>
            <a:pPr algn="just">
              <a:buFont typeface="Arial" panose="020B0604020202020204" pitchFamily="34" charset="0"/>
              <a:buChar char="•"/>
            </a:pPr>
            <a:r>
              <a:rPr lang="en-US" sz="2400" dirty="0"/>
              <a:t> For example, in the following program, the class Summation is not generic, but its constructor is.</a:t>
            </a:r>
          </a:p>
          <a:p>
            <a:pPr algn="just"/>
            <a:endParaRPr lang="en-US" sz="2400" dirty="0"/>
          </a:p>
          <a:p>
            <a:pPr algn="just"/>
            <a:endParaRPr lang="en-US" altLang="en-US" sz="2400" dirty="0"/>
          </a:p>
        </p:txBody>
      </p:sp>
    </p:spTree>
    <p:extLst>
      <p:ext uri="{BB962C8B-B14F-4D97-AF65-F5344CB8AC3E}">
        <p14:creationId xmlns:p14="http://schemas.microsoft.com/office/powerpoint/2010/main" val="31574149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69850"/>
            <a:ext cx="7315200" cy="609600"/>
          </a:xfrm>
        </p:spPr>
        <p:txBody>
          <a:bodyPr>
            <a:normAutofit fontScale="90000"/>
          </a:bodyPr>
          <a:lstStyle/>
          <a:p>
            <a:r>
              <a:rPr lang="en-US" altLang="en-US" dirty="0">
                <a:ea typeface="ＭＳ Ｐゴシック" panose="020B0600070205080204" pitchFamily="34" charset="-128"/>
              </a:rPr>
              <a:t>Generic </a:t>
            </a:r>
            <a:r>
              <a:rPr lang="en-US" dirty="0"/>
              <a:t>Constructor</a:t>
            </a:r>
            <a:endParaRPr lang="en-US" altLang="en-US" dirty="0">
              <a:ea typeface="ＭＳ Ｐゴシック" panose="020B0600070205080204" pitchFamily="34" charset="-128"/>
            </a:endParaRPr>
          </a:p>
        </p:txBody>
      </p:sp>
      <p:sp>
        <p:nvSpPr>
          <p:cNvPr id="28675" name="Text Box 48"/>
          <p:cNvSpPr txBox="1">
            <a:spLocks noChangeArrowheads="1"/>
          </p:cNvSpPr>
          <p:nvPr/>
        </p:nvSpPr>
        <p:spPr bwMode="auto">
          <a:xfrm>
            <a:off x="304800" y="6477000"/>
            <a:ext cx="46529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984" tIns="40492" rIns="80984" bIns="40492">
            <a:spAutoFit/>
          </a:bodyPr>
          <a:lstStyle>
            <a:lvl1pPr defTabSz="809625">
              <a:defRPr>
                <a:solidFill>
                  <a:schemeClr val="tx1"/>
                </a:solidFill>
                <a:latin typeface="Arial" panose="020B0604020202020204" pitchFamily="34" charset="0"/>
                <a:ea typeface="ＭＳ Ｐゴシック" panose="020B0600070205080204" pitchFamily="34" charset="-128"/>
              </a:defRPr>
            </a:lvl1pPr>
            <a:lvl2pPr marL="742950" indent="-285750" defTabSz="809625">
              <a:defRPr>
                <a:solidFill>
                  <a:schemeClr val="tx1"/>
                </a:solidFill>
                <a:latin typeface="Arial" panose="020B0604020202020204" pitchFamily="34" charset="0"/>
                <a:ea typeface="ＭＳ Ｐゴシック" panose="020B0600070205080204" pitchFamily="34" charset="-128"/>
              </a:defRPr>
            </a:lvl2pPr>
            <a:lvl3pPr marL="1143000" indent="-228600" defTabSz="809625">
              <a:defRPr>
                <a:solidFill>
                  <a:schemeClr val="tx1"/>
                </a:solidFill>
                <a:latin typeface="Arial" panose="020B0604020202020204" pitchFamily="34" charset="0"/>
                <a:ea typeface="ＭＳ Ｐゴシック" panose="020B0600070205080204" pitchFamily="34" charset="-128"/>
              </a:defRPr>
            </a:lvl3pPr>
            <a:lvl4pPr marL="1600200" indent="-228600" defTabSz="809625">
              <a:defRPr>
                <a:solidFill>
                  <a:schemeClr val="tx1"/>
                </a:solidFill>
                <a:latin typeface="Arial" panose="020B0604020202020204" pitchFamily="34" charset="0"/>
                <a:ea typeface="ＭＳ Ｐゴシック" panose="020B0600070205080204" pitchFamily="34" charset="-128"/>
              </a:defRPr>
            </a:lvl4pPr>
            <a:lvl5pPr marL="2057400" indent="-228600" defTabSz="809625">
              <a:defRPr>
                <a:solidFill>
                  <a:schemeClr val="tx1"/>
                </a:solidFill>
                <a:latin typeface="Arial" panose="020B0604020202020204" pitchFamily="34" charset="0"/>
                <a:ea typeface="ＭＳ Ｐゴシック" panose="020B0600070205080204" pitchFamily="34" charset="-128"/>
              </a:defRPr>
            </a:lvl5pPr>
            <a:lvl6pPr marL="25146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eaLnBrk="1" hangingPunct="1">
              <a:spcBef>
                <a:spcPct val="20000"/>
              </a:spcBef>
              <a:buClr>
                <a:schemeClr val="hlink"/>
              </a:buClr>
              <a:buSzPct val="70000"/>
              <a:buFont typeface="Wingdings" panose="05000000000000000000" pitchFamily="2" charset="2"/>
              <a:buNone/>
            </a:pPr>
            <a:r>
              <a:rPr lang="en-US" altLang="en-US" sz="1000" b="1" i="1">
                <a:latin typeface="Book Antiqua" panose="02040602050305030304" pitchFamily="18" charset="0"/>
              </a:rPr>
              <a:t>Copyright © 2013 by The McGraw-Hill Companies, Inc.  All rights reserved. </a:t>
            </a:r>
            <a:endParaRPr lang="en-US" altLang="en-US" sz="2400">
              <a:latin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914400"/>
            <a:ext cx="8610600" cy="5562600"/>
          </a:xfrm>
          <a:prstGeom prst="rect">
            <a:avLst/>
          </a:prstGeom>
        </p:spPr>
      </p:pic>
    </p:spTree>
    <p:extLst>
      <p:ext uri="{BB962C8B-B14F-4D97-AF65-F5344CB8AC3E}">
        <p14:creationId xmlns:p14="http://schemas.microsoft.com/office/powerpoint/2010/main" val="4681037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p:nvPr>
        </p:nvSpPr>
        <p:spPr>
          <a:xfrm>
            <a:off x="457200" y="274638"/>
            <a:ext cx="8229600" cy="563562"/>
          </a:xfrm>
        </p:spPr>
        <p:txBody>
          <a:bodyPr>
            <a:normAutofit fontScale="90000"/>
          </a:bodyPr>
          <a:lstStyle/>
          <a:p>
            <a:pPr eaLnBrk="1" hangingPunct="1"/>
            <a:r>
              <a:rPr lang="en-US" altLang="en-US" dirty="0">
                <a:ea typeface="ＭＳ Ｐゴシック" panose="020B0600070205080204" pitchFamily="34" charset="-128"/>
              </a:rPr>
              <a:t>Inheritance and Generics</a:t>
            </a:r>
          </a:p>
        </p:txBody>
      </p:sp>
      <p:sp>
        <p:nvSpPr>
          <p:cNvPr id="24578" name="Rectangle 3"/>
          <p:cNvSpPr>
            <a:spLocks noGrp="1" noChangeArrowheads="1"/>
          </p:cNvSpPr>
          <p:nvPr>
            <p:ph idx="1"/>
          </p:nvPr>
        </p:nvSpPr>
        <p:spPr>
          <a:xfrm>
            <a:off x="304800" y="838200"/>
            <a:ext cx="8229600" cy="5486400"/>
          </a:xfrm>
        </p:spPr>
        <p:txBody>
          <a:bodyPr>
            <a:normAutofit/>
          </a:bodyPr>
          <a:lstStyle/>
          <a:p>
            <a:pPr eaLnBrk="1" hangingPunct="1">
              <a:buFont typeface="Georgia" charset="0"/>
              <a:buChar char="•"/>
              <a:defRPr/>
            </a:pPr>
            <a:r>
              <a:rPr lang="en-US" dirty="0"/>
              <a:t>A generic class can be a part of class hierarchy as any non-generic class.</a:t>
            </a:r>
          </a:p>
          <a:p>
            <a:pPr eaLnBrk="1" hangingPunct="1">
              <a:buFont typeface="Georgia" charset="0"/>
              <a:buChar char="•"/>
              <a:defRPr/>
            </a:pPr>
            <a:r>
              <a:rPr lang="en-US" dirty="0"/>
              <a:t>A generic class can be a superclass or subclass.</a:t>
            </a:r>
          </a:p>
          <a:p>
            <a:pPr eaLnBrk="1" hangingPunct="1">
              <a:buFont typeface="Georgia" charset="0"/>
              <a:buChar char="•"/>
              <a:defRPr/>
            </a:pPr>
            <a:r>
              <a:rPr lang="en-US" dirty="0"/>
              <a:t>In a generic class any type arguments needed must be passes up by all subclasses. </a:t>
            </a:r>
          </a:p>
          <a:p>
            <a:pPr eaLnBrk="1" hangingPunct="1">
              <a:buFont typeface="Georgia" charset="0"/>
              <a:buChar char="•"/>
              <a:defRPr/>
            </a:pPr>
            <a:r>
              <a:rPr lang="en-US" dirty="0"/>
              <a:t>Example:</a:t>
            </a:r>
          </a:p>
          <a:p>
            <a:pPr marL="109537" indent="0" eaLnBrk="1" hangingPunct="1">
              <a:buFont typeface="Georgia" charset="0"/>
              <a:buNone/>
              <a:defRPr/>
            </a:pPr>
            <a:r>
              <a:rPr lang="en-US" dirty="0">
                <a:latin typeface="Courier New" charset="0"/>
                <a:cs typeface="Courier New" charset="0"/>
              </a:rPr>
              <a:t> class Sub&lt;T,V&gt; extends Sup&lt;T&gt; {</a:t>
            </a:r>
          </a:p>
          <a:p>
            <a:pPr marL="109537" indent="0" eaLnBrk="1" hangingPunct="1">
              <a:buFont typeface="Georgia" charset="0"/>
              <a:buNone/>
              <a:defRPr/>
            </a:pPr>
            <a:r>
              <a:rPr lang="en-US" dirty="0">
                <a:latin typeface="Courier New" charset="0"/>
                <a:cs typeface="Courier New" charset="0"/>
              </a:rPr>
              <a:t>   ...</a:t>
            </a:r>
          </a:p>
          <a:p>
            <a:pPr marL="109537" indent="0" eaLnBrk="1" hangingPunct="1">
              <a:buFont typeface="Georgia" charset="0"/>
              <a:buNone/>
              <a:defRPr/>
            </a:pPr>
            <a:r>
              <a:rPr lang="en-US" dirty="0">
                <a:latin typeface="Courier New" charset="0"/>
                <a:cs typeface="Courier New" charset="0"/>
              </a:rPr>
              <a:t> }</a:t>
            </a:r>
          </a:p>
          <a:p>
            <a:pPr marL="109537" indent="0" eaLnBrk="1" hangingPunct="1">
              <a:buFont typeface="Georgia" charset="0"/>
              <a:buNone/>
              <a:defRPr/>
            </a:pPr>
            <a:endParaRPr lang="en-US" dirty="0"/>
          </a:p>
        </p:txBody>
      </p:sp>
      <p:sp>
        <p:nvSpPr>
          <p:cNvPr id="24579" name="Text Box 48"/>
          <p:cNvSpPr txBox="1">
            <a:spLocks noChangeArrowheads="1"/>
          </p:cNvSpPr>
          <p:nvPr/>
        </p:nvSpPr>
        <p:spPr bwMode="auto">
          <a:xfrm>
            <a:off x="304800" y="6477000"/>
            <a:ext cx="46529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984" tIns="40492" rIns="80984" bIns="40492">
            <a:spAutoFit/>
          </a:bodyPr>
          <a:lstStyle>
            <a:lvl1pPr defTabSz="809625">
              <a:defRPr sz="2400">
                <a:solidFill>
                  <a:schemeClr val="tx1"/>
                </a:solidFill>
                <a:latin typeface="Arial" panose="020B0604020202020204" pitchFamily="34" charset="0"/>
                <a:ea typeface="ＭＳ Ｐゴシック" panose="020B0600070205080204" pitchFamily="34" charset="-128"/>
              </a:defRPr>
            </a:lvl1pPr>
            <a:lvl2pPr marL="742950" indent="-285750" defTabSz="809625">
              <a:defRPr sz="2400">
                <a:solidFill>
                  <a:schemeClr val="tx1"/>
                </a:solidFill>
                <a:latin typeface="Arial" panose="020B0604020202020204" pitchFamily="34" charset="0"/>
                <a:ea typeface="ＭＳ Ｐゴシック" panose="020B0600070205080204" pitchFamily="34" charset="-128"/>
              </a:defRPr>
            </a:lvl2pPr>
            <a:lvl3pPr marL="1143000" indent="-228600" defTabSz="809625">
              <a:defRPr sz="2400">
                <a:solidFill>
                  <a:schemeClr val="tx1"/>
                </a:solidFill>
                <a:latin typeface="Arial" panose="020B0604020202020204" pitchFamily="34" charset="0"/>
                <a:ea typeface="ＭＳ Ｐゴシック" panose="020B0600070205080204" pitchFamily="34" charset="-128"/>
              </a:defRPr>
            </a:lvl3pPr>
            <a:lvl4pPr marL="1600200" indent="-228600" defTabSz="809625">
              <a:defRPr sz="2400">
                <a:solidFill>
                  <a:schemeClr val="tx1"/>
                </a:solidFill>
                <a:latin typeface="Arial" panose="020B0604020202020204" pitchFamily="34" charset="0"/>
                <a:ea typeface="ＭＳ Ｐゴシック" panose="020B0600070205080204" pitchFamily="34" charset="-128"/>
              </a:defRPr>
            </a:lvl4pPr>
            <a:lvl5pPr marL="2057400" indent="-228600" defTabSz="809625">
              <a:defRPr sz="2400">
                <a:solidFill>
                  <a:schemeClr val="tx1"/>
                </a:solidFill>
                <a:latin typeface="Arial" panose="020B0604020202020204" pitchFamily="34" charset="0"/>
                <a:ea typeface="ＭＳ Ｐゴシック" panose="020B0600070205080204" pitchFamily="34" charset="-128"/>
              </a:defRPr>
            </a:lvl5pPr>
            <a:lvl6pPr marL="25146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spcBef>
                <a:spcPct val="20000"/>
              </a:spcBef>
              <a:buClr>
                <a:schemeClr val="hlink"/>
              </a:buClr>
              <a:buSzPct val="70000"/>
              <a:buFont typeface="Wingdings" panose="05000000000000000000" pitchFamily="2" charset="2"/>
              <a:buNone/>
            </a:pPr>
            <a:r>
              <a:rPr lang="en-US" altLang="en-US" sz="1000" b="1" i="1">
                <a:latin typeface="Book Antiqua" panose="02040602050305030304" pitchFamily="18" charset="0"/>
              </a:rPr>
              <a:t>Copyright © 2013 by The McGraw-Hill Companies, Inc.  All rights reserved. </a:t>
            </a:r>
            <a:endParaRPr lang="en-US" altLang="en-US">
              <a:latin typeface="Times New Roman" panose="02020603050405020304" pitchFamily="18" charset="0"/>
            </a:endParaRPr>
          </a:p>
        </p:txBody>
      </p:sp>
    </p:spTree>
    <p:extLst>
      <p:ext uri="{BB962C8B-B14F-4D97-AF65-F5344CB8AC3E}">
        <p14:creationId xmlns:p14="http://schemas.microsoft.com/office/powerpoint/2010/main" val="11735167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p:nvPr>
        </p:nvSpPr>
        <p:spPr>
          <a:xfrm>
            <a:off x="457200" y="274638"/>
            <a:ext cx="8229600" cy="563562"/>
          </a:xfrm>
        </p:spPr>
        <p:txBody>
          <a:bodyPr>
            <a:normAutofit fontScale="90000"/>
          </a:bodyPr>
          <a:lstStyle/>
          <a:p>
            <a:pPr eaLnBrk="1" hangingPunct="1"/>
            <a:r>
              <a:rPr lang="en-US" altLang="en-US" dirty="0">
                <a:ea typeface="ＭＳ Ｐゴシック" panose="020B0600070205080204" pitchFamily="34" charset="-128"/>
              </a:rPr>
              <a:t>Inheritance and Generics</a:t>
            </a:r>
          </a:p>
        </p:txBody>
      </p:sp>
      <p:sp>
        <p:nvSpPr>
          <p:cNvPr id="24578" name="Rectangle 3"/>
          <p:cNvSpPr>
            <a:spLocks noGrp="1" noChangeArrowheads="1"/>
          </p:cNvSpPr>
          <p:nvPr>
            <p:ph idx="1"/>
          </p:nvPr>
        </p:nvSpPr>
        <p:spPr>
          <a:xfrm>
            <a:off x="304800" y="838200"/>
            <a:ext cx="8229600" cy="4525963"/>
          </a:xfrm>
        </p:spPr>
        <p:txBody>
          <a:bodyPr/>
          <a:lstStyle/>
          <a:p>
            <a:pPr eaLnBrk="1" hangingPunct="1">
              <a:buFont typeface="Georgia" charset="0"/>
              <a:buChar char="•"/>
              <a:defRPr/>
            </a:pPr>
            <a:r>
              <a:rPr lang="en-US" dirty="0"/>
              <a:t>If a subclass of generic class does not need to be a generic, it still must specify the type parameter(s) required by its generic superclass.</a:t>
            </a:r>
          </a:p>
          <a:p>
            <a:pPr eaLnBrk="1" hangingPunct="1">
              <a:buFont typeface="Georgia" charset="0"/>
              <a:buChar char="•"/>
              <a:defRPr/>
            </a:pPr>
            <a:r>
              <a:rPr lang="en-US" dirty="0"/>
              <a:t>A subclass is also free to add its own type parameter, if needed.</a:t>
            </a:r>
          </a:p>
          <a:p>
            <a:pPr eaLnBrk="1" hangingPunct="1">
              <a:buFont typeface="Georgia" charset="0"/>
              <a:buChar char="•"/>
              <a:defRPr/>
            </a:pPr>
            <a:r>
              <a:rPr lang="en-US" dirty="0"/>
              <a:t>A non-generic class can also be a superclass of a </a:t>
            </a:r>
            <a:r>
              <a:rPr lang="en-US"/>
              <a:t>generic class.</a:t>
            </a:r>
            <a:endParaRPr lang="en-US" dirty="0"/>
          </a:p>
        </p:txBody>
      </p:sp>
      <p:sp>
        <p:nvSpPr>
          <p:cNvPr id="24579" name="Text Box 48"/>
          <p:cNvSpPr txBox="1">
            <a:spLocks noChangeArrowheads="1"/>
          </p:cNvSpPr>
          <p:nvPr/>
        </p:nvSpPr>
        <p:spPr bwMode="auto">
          <a:xfrm>
            <a:off x="304800" y="6477000"/>
            <a:ext cx="46529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984" tIns="40492" rIns="80984" bIns="40492">
            <a:spAutoFit/>
          </a:bodyPr>
          <a:lstStyle>
            <a:lvl1pPr defTabSz="809625">
              <a:defRPr sz="2400">
                <a:solidFill>
                  <a:schemeClr val="tx1"/>
                </a:solidFill>
                <a:latin typeface="Arial" panose="020B0604020202020204" pitchFamily="34" charset="0"/>
                <a:ea typeface="ＭＳ Ｐゴシック" panose="020B0600070205080204" pitchFamily="34" charset="-128"/>
              </a:defRPr>
            </a:lvl1pPr>
            <a:lvl2pPr marL="742950" indent="-285750" defTabSz="809625">
              <a:defRPr sz="2400">
                <a:solidFill>
                  <a:schemeClr val="tx1"/>
                </a:solidFill>
                <a:latin typeface="Arial" panose="020B0604020202020204" pitchFamily="34" charset="0"/>
                <a:ea typeface="ＭＳ Ｐゴシック" panose="020B0600070205080204" pitchFamily="34" charset="-128"/>
              </a:defRPr>
            </a:lvl2pPr>
            <a:lvl3pPr marL="1143000" indent="-228600" defTabSz="809625">
              <a:defRPr sz="2400">
                <a:solidFill>
                  <a:schemeClr val="tx1"/>
                </a:solidFill>
                <a:latin typeface="Arial" panose="020B0604020202020204" pitchFamily="34" charset="0"/>
                <a:ea typeface="ＭＳ Ｐゴシック" panose="020B0600070205080204" pitchFamily="34" charset="-128"/>
              </a:defRPr>
            </a:lvl3pPr>
            <a:lvl4pPr marL="1600200" indent="-228600" defTabSz="809625">
              <a:defRPr sz="2400">
                <a:solidFill>
                  <a:schemeClr val="tx1"/>
                </a:solidFill>
                <a:latin typeface="Arial" panose="020B0604020202020204" pitchFamily="34" charset="0"/>
                <a:ea typeface="ＭＳ Ｐゴシック" panose="020B0600070205080204" pitchFamily="34" charset="-128"/>
              </a:defRPr>
            </a:lvl4pPr>
            <a:lvl5pPr marL="2057400" indent="-228600" defTabSz="809625">
              <a:defRPr sz="2400">
                <a:solidFill>
                  <a:schemeClr val="tx1"/>
                </a:solidFill>
                <a:latin typeface="Arial" panose="020B0604020202020204" pitchFamily="34" charset="0"/>
                <a:ea typeface="ＭＳ Ｐゴシック" panose="020B0600070205080204" pitchFamily="34" charset="-128"/>
              </a:defRPr>
            </a:lvl5pPr>
            <a:lvl6pPr marL="25146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spcBef>
                <a:spcPct val="20000"/>
              </a:spcBef>
              <a:buClr>
                <a:schemeClr val="hlink"/>
              </a:buClr>
              <a:buSzPct val="70000"/>
              <a:buFont typeface="Wingdings" panose="05000000000000000000" pitchFamily="2" charset="2"/>
              <a:buNone/>
            </a:pPr>
            <a:r>
              <a:rPr lang="en-US" altLang="en-US" sz="1000" b="1" i="1">
                <a:latin typeface="Book Antiqua" panose="02040602050305030304" pitchFamily="18" charset="0"/>
              </a:rPr>
              <a:t>Copyright © 2013 by The McGraw-Hill Companies, Inc.  All rights reserved. </a:t>
            </a:r>
            <a:endParaRPr lang="en-US" altLang="en-US">
              <a:latin typeface="Times New Roman" panose="02020603050405020304" pitchFamily="18" charset="0"/>
            </a:endParaRPr>
          </a:p>
        </p:txBody>
      </p:sp>
    </p:spTree>
    <p:extLst>
      <p:ext uri="{BB962C8B-B14F-4D97-AF65-F5344CB8AC3E}">
        <p14:creationId xmlns:p14="http://schemas.microsoft.com/office/powerpoint/2010/main" val="18907471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p:txBody>
          <a:bodyPr/>
          <a:lstStyle/>
          <a:p>
            <a:pPr eaLnBrk="1" hangingPunct="1"/>
            <a:r>
              <a:rPr lang="en-US" altLang="en-US">
                <a:ea typeface="ＭＳ Ｐゴシック" panose="020B0600070205080204" pitchFamily="34" charset="-128"/>
              </a:rPr>
              <a:t>Interfaces and Generics</a:t>
            </a:r>
          </a:p>
        </p:txBody>
      </p:sp>
      <p:sp>
        <p:nvSpPr>
          <p:cNvPr id="24578" name="Rectangle 3"/>
          <p:cNvSpPr>
            <a:spLocks noGrp="1" noChangeArrowheads="1"/>
          </p:cNvSpPr>
          <p:nvPr>
            <p:ph idx="1"/>
          </p:nvPr>
        </p:nvSpPr>
        <p:spPr/>
        <p:txBody>
          <a:bodyPr>
            <a:normAutofit lnSpcReduction="10000"/>
          </a:bodyPr>
          <a:lstStyle/>
          <a:p>
            <a:pPr eaLnBrk="1" hangingPunct="1">
              <a:buFont typeface="Georgia" charset="0"/>
              <a:buChar char="•"/>
              <a:defRPr/>
            </a:pPr>
            <a:r>
              <a:rPr lang="en-US" dirty="0"/>
              <a:t>Interfaces can also be generic.</a:t>
            </a:r>
          </a:p>
          <a:p>
            <a:pPr eaLnBrk="1" hangingPunct="1">
              <a:buFont typeface="Georgia" charset="0"/>
              <a:buChar char="•"/>
              <a:defRPr/>
            </a:pPr>
            <a:r>
              <a:rPr lang="en-US" dirty="0"/>
              <a:t>Any class that implements a generic interface must also be </a:t>
            </a:r>
            <a:r>
              <a:rPr lang="en-US" dirty="0">
                <a:solidFill>
                  <a:srgbClr val="000000"/>
                </a:solidFill>
              </a:rPr>
              <a:t>generic unless it implements a specific type of the interface.</a:t>
            </a:r>
          </a:p>
          <a:p>
            <a:pPr eaLnBrk="1" hangingPunct="1">
              <a:buFont typeface="Georgia" charset="0"/>
              <a:buChar char="•"/>
              <a:defRPr/>
            </a:pPr>
            <a:r>
              <a:rPr lang="en-US" dirty="0"/>
              <a:t>Examples:</a:t>
            </a:r>
          </a:p>
          <a:p>
            <a:pPr marL="109537" indent="0" eaLnBrk="1" hangingPunct="1">
              <a:buFont typeface="Georgia" charset="0"/>
              <a:buNone/>
              <a:defRPr/>
            </a:pPr>
            <a:r>
              <a:rPr lang="en-US" dirty="0">
                <a:latin typeface="Courier New" charset="0"/>
                <a:cs typeface="Courier New" charset="0"/>
              </a:rPr>
              <a:t> class C&lt;T&gt; implements I&lt;T&gt; { ... }</a:t>
            </a:r>
          </a:p>
          <a:p>
            <a:pPr marL="109537" indent="0" eaLnBrk="1" hangingPunct="1">
              <a:buFont typeface="Georgia" charset="0"/>
              <a:buNone/>
              <a:defRPr/>
            </a:pPr>
            <a:r>
              <a:rPr lang="en-US" dirty="0">
                <a:latin typeface="Courier New" charset="0"/>
                <a:cs typeface="Courier New" charset="0"/>
              </a:rPr>
              <a:t> class D implements I&lt;String&gt; { ... }</a:t>
            </a:r>
          </a:p>
        </p:txBody>
      </p:sp>
      <p:sp>
        <p:nvSpPr>
          <p:cNvPr id="25603" name="Text Box 48"/>
          <p:cNvSpPr txBox="1">
            <a:spLocks noChangeArrowheads="1"/>
          </p:cNvSpPr>
          <p:nvPr/>
        </p:nvSpPr>
        <p:spPr bwMode="auto">
          <a:xfrm>
            <a:off x="304800" y="6477000"/>
            <a:ext cx="46529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984" tIns="40492" rIns="80984" bIns="40492">
            <a:spAutoFit/>
          </a:bodyPr>
          <a:lstStyle>
            <a:lvl1pPr defTabSz="809625">
              <a:defRPr sz="2400">
                <a:solidFill>
                  <a:schemeClr val="tx1"/>
                </a:solidFill>
                <a:latin typeface="Arial" panose="020B0604020202020204" pitchFamily="34" charset="0"/>
                <a:ea typeface="ＭＳ Ｐゴシック" panose="020B0600070205080204" pitchFamily="34" charset="-128"/>
              </a:defRPr>
            </a:lvl1pPr>
            <a:lvl2pPr marL="742950" indent="-285750" defTabSz="809625">
              <a:defRPr sz="2400">
                <a:solidFill>
                  <a:schemeClr val="tx1"/>
                </a:solidFill>
                <a:latin typeface="Arial" panose="020B0604020202020204" pitchFamily="34" charset="0"/>
                <a:ea typeface="ＭＳ Ｐゴシック" panose="020B0600070205080204" pitchFamily="34" charset="-128"/>
              </a:defRPr>
            </a:lvl2pPr>
            <a:lvl3pPr marL="1143000" indent="-228600" defTabSz="809625">
              <a:defRPr sz="2400">
                <a:solidFill>
                  <a:schemeClr val="tx1"/>
                </a:solidFill>
                <a:latin typeface="Arial" panose="020B0604020202020204" pitchFamily="34" charset="0"/>
                <a:ea typeface="ＭＳ Ｐゴシック" panose="020B0600070205080204" pitchFamily="34" charset="-128"/>
              </a:defRPr>
            </a:lvl3pPr>
            <a:lvl4pPr marL="1600200" indent="-228600" defTabSz="809625">
              <a:defRPr sz="2400">
                <a:solidFill>
                  <a:schemeClr val="tx1"/>
                </a:solidFill>
                <a:latin typeface="Arial" panose="020B0604020202020204" pitchFamily="34" charset="0"/>
                <a:ea typeface="ＭＳ Ｐゴシック" panose="020B0600070205080204" pitchFamily="34" charset="-128"/>
              </a:defRPr>
            </a:lvl4pPr>
            <a:lvl5pPr marL="2057400" indent="-228600" defTabSz="809625">
              <a:defRPr sz="2400">
                <a:solidFill>
                  <a:schemeClr val="tx1"/>
                </a:solidFill>
                <a:latin typeface="Arial" panose="020B0604020202020204" pitchFamily="34" charset="0"/>
                <a:ea typeface="ＭＳ Ｐゴシック" panose="020B0600070205080204" pitchFamily="34" charset="-128"/>
              </a:defRPr>
            </a:lvl5pPr>
            <a:lvl6pPr marL="25146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spcBef>
                <a:spcPct val="20000"/>
              </a:spcBef>
              <a:buClr>
                <a:schemeClr val="hlink"/>
              </a:buClr>
              <a:buSzPct val="70000"/>
              <a:buFont typeface="Wingdings" panose="05000000000000000000" pitchFamily="2" charset="2"/>
              <a:buNone/>
            </a:pPr>
            <a:r>
              <a:rPr lang="en-US" altLang="en-US" sz="1000" b="1" i="1">
                <a:latin typeface="Book Antiqua" panose="02040602050305030304" pitchFamily="18" charset="0"/>
              </a:rPr>
              <a:t>Copyright © 2013 by The McGraw-Hill Companies, Inc.  All rights reserved. </a:t>
            </a:r>
            <a:endParaRPr lang="en-US" altLang="en-US">
              <a:latin typeface="Times New Roman" panose="02020603050405020304" pitchFamily="18" charset="0"/>
            </a:endParaRPr>
          </a:p>
        </p:txBody>
      </p:sp>
    </p:spTree>
    <p:extLst>
      <p:ext uri="{BB962C8B-B14F-4D97-AF65-F5344CB8AC3E}">
        <p14:creationId xmlns:p14="http://schemas.microsoft.com/office/powerpoint/2010/main" val="20659041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p:txBody>
          <a:bodyPr/>
          <a:lstStyle/>
          <a:p>
            <a:pPr eaLnBrk="1" hangingPunct="1"/>
            <a:r>
              <a:rPr lang="en-US" altLang="en-US">
                <a:ea typeface="ＭＳ Ｐゴシック" panose="020B0600070205080204" pitchFamily="34" charset="-128"/>
              </a:rPr>
              <a:t>Interfaces and Generics</a:t>
            </a:r>
          </a:p>
        </p:txBody>
      </p:sp>
      <p:sp>
        <p:nvSpPr>
          <p:cNvPr id="25603" name="Text Box 48"/>
          <p:cNvSpPr txBox="1">
            <a:spLocks noChangeArrowheads="1"/>
          </p:cNvSpPr>
          <p:nvPr/>
        </p:nvSpPr>
        <p:spPr bwMode="auto">
          <a:xfrm>
            <a:off x="304800" y="6477000"/>
            <a:ext cx="46529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984" tIns="40492" rIns="80984" bIns="40492">
            <a:spAutoFit/>
          </a:bodyPr>
          <a:lstStyle>
            <a:lvl1pPr defTabSz="809625">
              <a:defRPr sz="2400">
                <a:solidFill>
                  <a:schemeClr val="tx1"/>
                </a:solidFill>
                <a:latin typeface="Arial" panose="020B0604020202020204" pitchFamily="34" charset="0"/>
                <a:ea typeface="ＭＳ Ｐゴシック" panose="020B0600070205080204" pitchFamily="34" charset="-128"/>
              </a:defRPr>
            </a:lvl1pPr>
            <a:lvl2pPr marL="742950" indent="-285750" defTabSz="809625">
              <a:defRPr sz="2400">
                <a:solidFill>
                  <a:schemeClr val="tx1"/>
                </a:solidFill>
                <a:latin typeface="Arial" panose="020B0604020202020204" pitchFamily="34" charset="0"/>
                <a:ea typeface="ＭＳ Ｐゴシック" panose="020B0600070205080204" pitchFamily="34" charset="-128"/>
              </a:defRPr>
            </a:lvl2pPr>
            <a:lvl3pPr marL="1143000" indent="-228600" defTabSz="809625">
              <a:defRPr sz="2400">
                <a:solidFill>
                  <a:schemeClr val="tx1"/>
                </a:solidFill>
                <a:latin typeface="Arial" panose="020B0604020202020204" pitchFamily="34" charset="0"/>
                <a:ea typeface="ＭＳ Ｐゴシック" panose="020B0600070205080204" pitchFamily="34" charset="-128"/>
              </a:defRPr>
            </a:lvl3pPr>
            <a:lvl4pPr marL="1600200" indent="-228600" defTabSz="809625">
              <a:defRPr sz="2400">
                <a:solidFill>
                  <a:schemeClr val="tx1"/>
                </a:solidFill>
                <a:latin typeface="Arial" panose="020B0604020202020204" pitchFamily="34" charset="0"/>
                <a:ea typeface="ＭＳ Ｐゴシック" panose="020B0600070205080204" pitchFamily="34" charset="-128"/>
              </a:defRPr>
            </a:lvl4pPr>
            <a:lvl5pPr marL="2057400" indent="-228600" defTabSz="809625">
              <a:defRPr sz="2400">
                <a:solidFill>
                  <a:schemeClr val="tx1"/>
                </a:solidFill>
                <a:latin typeface="Arial" panose="020B0604020202020204" pitchFamily="34" charset="0"/>
                <a:ea typeface="ＭＳ Ｐゴシック" panose="020B0600070205080204" pitchFamily="34" charset="-128"/>
              </a:defRPr>
            </a:lvl5pPr>
            <a:lvl6pPr marL="25146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spcBef>
                <a:spcPct val="20000"/>
              </a:spcBef>
              <a:buClr>
                <a:schemeClr val="hlink"/>
              </a:buClr>
              <a:buSzPct val="70000"/>
              <a:buFont typeface="Wingdings" panose="05000000000000000000" pitchFamily="2" charset="2"/>
              <a:buNone/>
            </a:pPr>
            <a:r>
              <a:rPr lang="en-US" altLang="en-US" sz="1000" b="1" i="1">
                <a:latin typeface="Book Antiqua" panose="02040602050305030304" pitchFamily="18" charset="0"/>
              </a:rPr>
              <a:t>Copyright © 2013 by The McGraw-Hill Companies, Inc.  All rights reserved. </a:t>
            </a:r>
            <a:endParaRPr lang="en-US" altLang="en-US">
              <a:latin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262061"/>
            <a:ext cx="9372600" cy="6298151"/>
          </a:xfrm>
          <a:prstGeom prst="rect">
            <a:avLst/>
          </a:prstGeom>
        </p:spPr>
      </p:pic>
    </p:spTree>
    <p:extLst>
      <p:ext uri="{BB962C8B-B14F-4D97-AF65-F5344CB8AC3E}">
        <p14:creationId xmlns:p14="http://schemas.microsoft.com/office/powerpoint/2010/main" val="23224966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p:txBody>
          <a:bodyPr/>
          <a:lstStyle/>
          <a:p>
            <a:pPr eaLnBrk="1" hangingPunct="1"/>
            <a:r>
              <a:rPr lang="en-US" altLang="en-US">
                <a:ea typeface="ＭＳ Ｐゴシック" panose="020B0600070205080204" pitchFamily="34" charset="-128"/>
              </a:rPr>
              <a:t>Interfaces and Generics</a:t>
            </a:r>
          </a:p>
        </p:txBody>
      </p:sp>
      <p:sp>
        <p:nvSpPr>
          <p:cNvPr id="25603" name="Text Box 48"/>
          <p:cNvSpPr txBox="1">
            <a:spLocks noChangeArrowheads="1"/>
          </p:cNvSpPr>
          <p:nvPr/>
        </p:nvSpPr>
        <p:spPr bwMode="auto">
          <a:xfrm>
            <a:off x="304800" y="6477000"/>
            <a:ext cx="46529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984" tIns="40492" rIns="80984" bIns="40492">
            <a:spAutoFit/>
          </a:bodyPr>
          <a:lstStyle>
            <a:lvl1pPr defTabSz="809625">
              <a:defRPr sz="2400">
                <a:solidFill>
                  <a:schemeClr val="tx1"/>
                </a:solidFill>
                <a:latin typeface="Arial" panose="020B0604020202020204" pitchFamily="34" charset="0"/>
                <a:ea typeface="ＭＳ Ｐゴシック" panose="020B0600070205080204" pitchFamily="34" charset="-128"/>
              </a:defRPr>
            </a:lvl1pPr>
            <a:lvl2pPr marL="742950" indent="-285750" defTabSz="809625">
              <a:defRPr sz="2400">
                <a:solidFill>
                  <a:schemeClr val="tx1"/>
                </a:solidFill>
                <a:latin typeface="Arial" panose="020B0604020202020204" pitchFamily="34" charset="0"/>
                <a:ea typeface="ＭＳ Ｐゴシック" panose="020B0600070205080204" pitchFamily="34" charset="-128"/>
              </a:defRPr>
            </a:lvl2pPr>
            <a:lvl3pPr marL="1143000" indent="-228600" defTabSz="809625">
              <a:defRPr sz="2400">
                <a:solidFill>
                  <a:schemeClr val="tx1"/>
                </a:solidFill>
                <a:latin typeface="Arial" panose="020B0604020202020204" pitchFamily="34" charset="0"/>
                <a:ea typeface="ＭＳ Ｐゴシック" panose="020B0600070205080204" pitchFamily="34" charset="-128"/>
              </a:defRPr>
            </a:lvl3pPr>
            <a:lvl4pPr marL="1600200" indent="-228600" defTabSz="809625">
              <a:defRPr sz="2400">
                <a:solidFill>
                  <a:schemeClr val="tx1"/>
                </a:solidFill>
                <a:latin typeface="Arial" panose="020B0604020202020204" pitchFamily="34" charset="0"/>
                <a:ea typeface="ＭＳ Ｐゴシック" panose="020B0600070205080204" pitchFamily="34" charset="-128"/>
              </a:defRPr>
            </a:lvl4pPr>
            <a:lvl5pPr marL="2057400" indent="-228600" defTabSz="809625">
              <a:defRPr sz="2400">
                <a:solidFill>
                  <a:schemeClr val="tx1"/>
                </a:solidFill>
                <a:latin typeface="Arial" panose="020B0604020202020204" pitchFamily="34" charset="0"/>
                <a:ea typeface="ＭＳ Ｐゴシック" panose="020B0600070205080204" pitchFamily="34" charset="-128"/>
              </a:defRPr>
            </a:lvl5pPr>
            <a:lvl6pPr marL="25146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spcBef>
                <a:spcPct val="20000"/>
              </a:spcBef>
              <a:buClr>
                <a:schemeClr val="hlink"/>
              </a:buClr>
              <a:buSzPct val="70000"/>
              <a:buFont typeface="Wingdings" panose="05000000000000000000" pitchFamily="2" charset="2"/>
              <a:buNone/>
            </a:pPr>
            <a:r>
              <a:rPr lang="en-US" altLang="en-US" sz="1000" b="1" i="1">
                <a:latin typeface="Book Antiqua" panose="02040602050305030304" pitchFamily="18" charset="0"/>
              </a:rPr>
              <a:t>Copyright © 2013 by The McGraw-Hill Companies, Inc.  All rights reserved. </a:t>
            </a:r>
            <a:endParaRPr lang="en-US" altLang="en-US">
              <a:latin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0" y="1143000"/>
            <a:ext cx="7696199" cy="6154538"/>
          </a:xfrm>
          <a:prstGeom prst="rect">
            <a:avLst/>
          </a:prstGeom>
        </p:spPr>
      </p:pic>
    </p:spTree>
    <p:extLst>
      <p:ext uri="{BB962C8B-B14F-4D97-AF65-F5344CB8AC3E}">
        <p14:creationId xmlns:p14="http://schemas.microsoft.com/office/powerpoint/2010/main" val="36243245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p:txBody>
          <a:bodyPr/>
          <a:lstStyle/>
          <a:p>
            <a:pPr eaLnBrk="1" hangingPunct="1"/>
            <a:r>
              <a:rPr lang="en-US" altLang="en-US">
                <a:ea typeface="ＭＳ Ｐゴシック" panose="020B0600070205080204" pitchFamily="34" charset="-128"/>
              </a:rPr>
              <a:t>Interfaces and Generics</a:t>
            </a:r>
          </a:p>
        </p:txBody>
      </p:sp>
      <p:sp>
        <p:nvSpPr>
          <p:cNvPr id="25603" name="Text Box 48"/>
          <p:cNvSpPr txBox="1">
            <a:spLocks noChangeArrowheads="1"/>
          </p:cNvSpPr>
          <p:nvPr/>
        </p:nvSpPr>
        <p:spPr bwMode="auto">
          <a:xfrm>
            <a:off x="304800" y="6477000"/>
            <a:ext cx="46529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984" tIns="40492" rIns="80984" bIns="40492">
            <a:spAutoFit/>
          </a:bodyPr>
          <a:lstStyle>
            <a:lvl1pPr defTabSz="809625">
              <a:defRPr sz="2400">
                <a:solidFill>
                  <a:schemeClr val="tx1"/>
                </a:solidFill>
                <a:latin typeface="Arial" panose="020B0604020202020204" pitchFamily="34" charset="0"/>
                <a:ea typeface="ＭＳ Ｐゴシック" panose="020B0600070205080204" pitchFamily="34" charset="-128"/>
              </a:defRPr>
            </a:lvl1pPr>
            <a:lvl2pPr marL="742950" indent="-285750" defTabSz="809625">
              <a:defRPr sz="2400">
                <a:solidFill>
                  <a:schemeClr val="tx1"/>
                </a:solidFill>
                <a:latin typeface="Arial" panose="020B0604020202020204" pitchFamily="34" charset="0"/>
                <a:ea typeface="ＭＳ Ｐゴシック" panose="020B0600070205080204" pitchFamily="34" charset="-128"/>
              </a:defRPr>
            </a:lvl2pPr>
            <a:lvl3pPr marL="1143000" indent="-228600" defTabSz="809625">
              <a:defRPr sz="2400">
                <a:solidFill>
                  <a:schemeClr val="tx1"/>
                </a:solidFill>
                <a:latin typeface="Arial" panose="020B0604020202020204" pitchFamily="34" charset="0"/>
                <a:ea typeface="ＭＳ Ｐゴシック" panose="020B0600070205080204" pitchFamily="34" charset="-128"/>
              </a:defRPr>
            </a:lvl3pPr>
            <a:lvl4pPr marL="1600200" indent="-228600" defTabSz="809625">
              <a:defRPr sz="2400">
                <a:solidFill>
                  <a:schemeClr val="tx1"/>
                </a:solidFill>
                <a:latin typeface="Arial" panose="020B0604020202020204" pitchFamily="34" charset="0"/>
                <a:ea typeface="ＭＳ Ｐゴシック" panose="020B0600070205080204" pitchFamily="34" charset="-128"/>
              </a:defRPr>
            </a:lvl4pPr>
            <a:lvl5pPr marL="2057400" indent="-228600" defTabSz="809625">
              <a:defRPr sz="2400">
                <a:solidFill>
                  <a:schemeClr val="tx1"/>
                </a:solidFill>
                <a:latin typeface="Arial" panose="020B0604020202020204" pitchFamily="34" charset="0"/>
                <a:ea typeface="ＭＳ Ｐゴシック" panose="020B0600070205080204" pitchFamily="34" charset="-128"/>
              </a:defRPr>
            </a:lvl5pPr>
            <a:lvl6pPr marL="25146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spcBef>
                <a:spcPct val="20000"/>
              </a:spcBef>
              <a:buClr>
                <a:schemeClr val="hlink"/>
              </a:buClr>
              <a:buSzPct val="70000"/>
              <a:buFont typeface="Wingdings" panose="05000000000000000000" pitchFamily="2" charset="2"/>
              <a:buNone/>
            </a:pPr>
            <a:r>
              <a:rPr lang="en-US" altLang="en-US" sz="1000" b="1" i="1">
                <a:latin typeface="Book Antiqua" panose="02040602050305030304" pitchFamily="18" charset="0"/>
              </a:rPr>
              <a:t>Copyright © 2013 by The McGraw-Hill Companies, Inc.  All rights reserved. </a:t>
            </a:r>
            <a:endParaRPr lang="en-US" altLang="en-US">
              <a:latin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28724"/>
            <a:ext cx="8844191" cy="5019676"/>
          </a:xfrm>
          <a:prstGeom prst="rect">
            <a:avLst/>
          </a:prstGeom>
        </p:spPr>
      </p:pic>
    </p:spTree>
    <p:extLst>
      <p:ext uri="{BB962C8B-B14F-4D97-AF65-F5344CB8AC3E}">
        <p14:creationId xmlns:p14="http://schemas.microsoft.com/office/powerpoint/2010/main" val="16055083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a:xfrm>
            <a:off x="457200" y="122238"/>
            <a:ext cx="8229600" cy="1015998"/>
          </a:xfrm>
        </p:spPr>
        <p:txBody>
          <a:bodyPr/>
          <a:lstStyle/>
          <a:p>
            <a:pPr eaLnBrk="1" hangingPunct="1"/>
            <a:r>
              <a:rPr lang="en-US" altLang="en-US" dirty="0">
                <a:ea typeface="ＭＳ Ｐゴシック" panose="020B0600070205080204" pitchFamily="34" charset="-128"/>
              </a:rPr>
              <a:t>Interfaces and Generics</a:t>
            </a:r>
          </a:p>
        </p:txBody>
      </p:sp>
      <p:sp>
        <p:nvSpPr>
          <p:cNvPr id="25603" name="Text Box 48"/>
          <p:cNvSpPr txBox="1">
            <a:spLocks noChangeArrowheads="1"/>
          </p:cNvSpPr>
          <p:nvPr/>
        </p:nvSpPr>
        <p:spPr bwMode="auto">
          <a:xfrm>
            <a:off x="304800" y="6477000"/>
            <a:ext cx="46529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984" tIns="40492" rIns="80984" bIns="40492">
            <a:spAutoFit/>
          </a:bodyPr>
          <a:lstStyle>
            <a:lvl1pPr defTabSz="809625">
              <a:defRPr sz="2400">
                <a:solidFill>
                  <a:schemeClr val="tx1"/>
                </a:solidFill>
                <a:latin typeface="Arial" panose="020B0604020202020204" pitchFamily="34" charset="0"/>
                <a:ea typeface="ＭＳ Ｐゴシック" panose="020B0600070205080204" pitchFamily="34" charset="-128"/>
              </a:defRPr>
            </a:lvl1pPr>
            <a:lvl2pPr marL="742950" indent="-285750" defTabSz="809625">
              <a:defRPr sz="2400">
                <a:solidFill>
                  <a:schemeClr val="tx1"/>
                </a:solidFill>
                <a:latin typeface="Arial" panose="020B0604020202020204" pitchFamily="34" charset="0"/>
                <a:ea typeface="ＭＳ Ｐゴシック" panose="020B0600070205080204" pitchFamily="34" charset="-128"/>
              </a:defRPr>
            </a:lvl2pPr>
            <a:lvl3pPr marL="1143000" indent="-228600" defTabSz="809625">
              <a:defRPr sz="2400">
                <a:solidFill>
                  <a:schemeClr val="tx1"/>
                </a:solidFill>
                <a:latin typeface="Arial" panose="020B0604020202020204" pitchFamily="34" charset="0"/>
                <a:ea typeface="ＭＳ Ｐゴシック" panose="020B0600070205080204" pitchFamily="34" charset="-128"/>
              </a:defRPr>
            </a:lvl3pPr>
            <a:lvl4pPr marL="1600200" indent="-228600" defTabSz="809625">
              <a:defRPr sz="2400">
                <a:solidFill>
                  <a:schemeClr val="tx1"/>
                </a:solidFill>
                <a:latin typeface="Arial" panose="020B0604020202020204" pitchFamily="34" charset="0"/>
                <a:ea typeface="ＭＳ Ｐゴシック" panose="020B0600070205080204" pitchFamily="34" charset="-128"/>
              </a:defRPr>
            </a:lvl4pPr>
            <a:lvl5pPr marL="2057400" indent="-228600" defTabSz="809625">
              <a:defRPr sz="2400">
                <a:solidFill>
                  <a:schemeClr val="tx1"/>
                </a:solidFill>
                <a:latin typeface="Arial" panose="020B0604020202020204" pitchFamily="34" charset="0"/>
                <a:ea typeface="ＭＳ Ｐゴシック" panose="020B0600070205080204" pitchFamily="34" charset="-128"/>
              </a:defRPr>
            </a:lvl5pPr>
            <a:lvl6pPr marL="25146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809625"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spcBef>
                <a:spcPct val="20000"/>
              </a:spcBef>
              <a:buClr>
                <a:schemeClr val="hlink"/>
              </a:buClr>
              <a:buSzPct val="70000"/>
              <a:buFont typeface="Wingdings" panose="05000000000000000000" pitchFamily="2" charset="2"/>
              <a:buNone/>
            </a:pPr>
            <a:r>
              <a:rPr lang="en-US" altLang="en-US" sz="1000" b="1" i="1">
                <a:latin typeface="Book Antiqua" panose="02040602050305030304" pitchFamily="18" charset="0"/>
              </a:rPr>
              <a:t>Copyright © 2013 by The McGraw-Hill Companies, Inc.  All rights reserved. </a:t>
            </a:r>
            <a:endParaRPr lang="en-US" altLang="en-US">
              <a:latin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99" y="1295400"/>
            <a:ext cx="8817255" cy="4876799"/>
          </a:xfrm>
          <a:prstGeom prst="rect">
            <a:avLst/>
          </a:prstGeom>
        </p:spPr>
      </p:pic>
    </p:spTree>
    <p:extLst>
      <p:ext uri="{BB962C8B-B14F-4D97-AF65-F5344CB8AC3E}">
        <p14:creationId xmlns:p14="http://schemas.microsoft.com/office/powerpoint/2010/main" val="37809328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57200" y="838200"/>
            <a:ext cx="8229600" cy="1066800"/>
          </a:xfrm>
        </p:spPr>
        <p:txBody>
          <a:bodyPr/>
          <a:lstStyle/>
          <a:p>
            <a:pPr eaLnBrk="1" hangingPunct="1"/>
            <a:r>
              <a:rPr lang="en-US" altLang="en-US" dirty="0">
                <a:ea typeface="ＭＳ Ｐゴシック" panose="020B0600070205080204" pitchFamily="34" charset="-128"/>
              </a:rPr>
              <a:t>Generic Restrictions</a:t>
            </a:r>
          </a:p>
        </p:txBody>
      </p:sp>
      <p:sp>
        <p:nvSpPr>
          <p:cNvPr id="13314" name="Rectangle 3"/>
          <p:cNvSpPr>
            <a:spLocks noGrp="1" noChangeArrowheads="1"/>
          </p:cNvSpPr>
          <p:nvPr>
            <p:ph idx="1"/>
          </p:nvPr>
        </p:nvSpPr>
        <p:spPr>
          <a:xfrm>
            <a:off x="457200" y="1944688"/>
            <a:ext cx="8229600" cy="4324350"/>
          </a:xfrm>
        </p:spPr>
        <p:txBody>
          <a:bodyPr>
            <a:normAutofit/>
          </a:bodyPr>
          <a:lstStyle/>
          <a:p>
            <a:pPr marL="623887" indent="-514350" eaLnBrk="1" hangingPunct="1">
              <a:buFont typeface="Georgia" panose="02040502050405020303" pitchFamily="18" charset="0"/>
              <a:buAutoNum type="romanLcParenBoth"/>
              <a:defRPr/>
            </a:pPr>
            <a:r>
              <a:rPr lang="en-US" sz="2400" b="1" dirty="0"/>
              <a:t>Static variables and methods cannot use the type parameters </a:t>
            </a:r>
            <a:r>
              <a:rPr lang="en-US" sz="2400" dirty="0"/>
              <a:t>declared by their generic class (but you can have static generic methods).</a:t>
            </a:r>
          </a:p>
          <a:p>
            <a:pPr marL="109537" indent="0">
              <a:buNone/>
              <a:defRPr/>
            </a:pPr>
            <a:endParaRPr lang="en-US" sz="2400" dirty="0"/>
          </a:p>
          <a:p>
            <a:pPr marL="109537" indent="0">
              <a:buNone/>
              <a:defRPr/>
            </a:pPr>
            <a:r>
              <a:rPr lang="en-US" sz="2400" dirty="0"/>
              <a:t>ii)You </a:t>
            </a:r>
            <a:r>
              <a:rPr lang="en-US" sz="2400" b="1" dirty="0"/>
              <a:t>can't create an instance of a type parameter.</a:t>
            </a:r>
          </a:p>
          <a:p>
            <a:pPr marL="109537" indent="0" algn="just">
              <a:buNone/>
              <a:defRPr/>
            </a:pPr>
            <a:endParaRPr lang="en-US" sz="2400" dirty="0"/>
          </a:p>
          <a:p>
            <a:pPr marL="109537" indent="0" algn="just">
              <a:buNone/>
              <a:defRPr/>
            </a:pPr>
            <a:r>
              <a:rPr lang="en-US" sz="2400" dirty="0"/>
              <a:t>(iii) </a:t>
            </a:r>
            <a:r>
              <a:rPr lang="en-US" sz="2400" b="1" dirty="0"/>
              <a:t>You can't create </a:t>
            </a:r>
            <a:r>
              <a:rPr lang="en-US" sz="2400" dirty="0"/>
              <a:t>an array whose </a:t>
            </a:r>
            <a:r>
              <a:rPr lang="en-US" sz="2400" b="1" dirty="0"/>
              <a:t>element type is the type parameter nor an array of type-specific generic references.</a:t>
            </a:r>
          </a:p>
          <a:p>
            <a:pPr>
              <a:buFont typeface="Georgia" charset="0"/>
              <a:buChar char="•"/>
              <a:defRPr/>
            </a:pPr>
            <a:endParaRPr lang="en-US" sz="2400" dirty="0"/>
          </a:p>
          <a:p>
            <a:pPr marL="623887" indent="-514350" eaLnBrk="1" hangingPunct="1">
              <a:buFont typeface="Georgia" panose="02040502050405020303" pitchFamily="18" charset="0"/>
              <a:buAutoNum type="romanLcParenBoth"/>
              <a:defRPr/>
            </a:pPr>
            <a:endParaRPr lang="en-US" sz="2400" dirty="0"/>
          </a:p>
        </p:txBody>
      </p:sp>
      <p:sp>
        <p:nvSpPr>
          <p:cNvPr id="31748" name="Text Box 48"/>
          <p:cNvSpPr txBox="1">
            <a:spLocks noChangeArrowheads="1"/>
          </p:cNvSpPr>
          <p:nvPr/>
        </p:nvSpPr>
        <p:spPr bwMode="auto">
          <a:xfrm>
            <a:off x="304800" y="6477000"/>
            <a:ext cx="46529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984" tIns="40492" rIns="80984" bIns="40492">
            <a:spAutoFit/>
          </a:bodyPr>
          <a:lstStyle>
            <a:lvl1pPr defTabSz="809625">
              <a:defRPr>
                <a:solidFill>
                  <a:schemeClr val="tx1"/>
                </a:solidFill>
                <a:latin typeface="Arial" panose="020B0604020202020204" pitchFamily="34" charset="0"/>
                <a:ea typeface="ＭＳ Ｐゴシック" panose="020B0600070205080204" pitchFamily="34" charset="-128"/>
              </a:defRPr>
            </a:lvl1pPr>
            <a:lvl2pPr marL="742950" indent="-285750" defTabSz="809625">
              <a:defRPr>
                <a:solidFill>
                  <a:schemeClr val="tx1"/>
                </a:solidFill>
                <a:latin typeface="Arial" panose="020B0604020202020204" pitchFamily="34" charset="0"/>
                <a:ea typeface="ＭＳ Ｐゴシック" panose="020B0600070205080204" pitchFamily="34" charset="-128"/>
              </a:defRPr>
            </a:lvl2pPr>
            <a:lvl3pPr marL="1143000" indent="-228600" defTabSz="809625">
              <a:defRPr>
                <a:solidFill>
                  <a:schemeClr val="tx1"/>
                </a:solidFill>
                <a:latin typeface="Arial" panose="020B0604020202020204" pitchFamily="34" charset="0"/>
                <a:ea typeface="ＭＳ Ｐゴシック" panose="020B0600070205080204" pitchFamily="34" charset="-128"/>
              </a:defRPr>
            </a:lvl3pPr>
            <a:lvl4pPr marL="1600200" indent="-228600" defTabSz="809625">
              <a:defRPr>
                <a:solidFill>
                  <a:schemeClr val="tx1"/>
                </a:solidFill>
                <a:latin typeface="Arial" panose="020B0604020202020204" pitchFamily="34" charset="0"/>
                <a:ea typeface="ＭＳ Ｐゴシック" panose="020B0600070205080204" pitchFamily="34" charset="-128"/>
              </a:defRPr>
            </a:lvl4pPr>
            <a:lvl5pPr marL="2057400" indent="-228600" defTabSz="809625">
              <a:defRPr>
                <a:solidFill>
                  <a:schemeClr val="tx1"/>
                </a:solidFill>
                <a:latin typeface="Arial" panose="020B0604020202020204" pitchFamily="34" charset="0"/>
                <a:ea typeface="ＭＳ Ｐゴシック" panose="020B0600070205080204" pitchFamily="34" charset="-128"/>
              </a:defRPr>
            </a:lvl5pPr>
            <a:lvl6pPr marL="25146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eaLnBrk="1" hangingPunct="1">
              <a:spcBef>
                <a:spcPct val="20000"/>
              </a:spcBef>
              <a:buClr>
                <a:schemeClr val="hlink"/>
              </a:buClr>
              <a:buSzPct val="70000"/>
              <a:buFont typeface="Wingdings" panose="05000000000000000000" pitchFamily="2" charset="2"/>
              <a:buNone/>
            </a:pPr>
            <a:r>
              <a:rPr lang="en-US" altLang="en-US" sz="1000" b="1" i="1">
                <a:latin typeface="Book Antiqua" panose="02040602050305030304" pitchFamily="18" charset="0"/>
              </a:rPr>
              <a:t>Copyright © 2013 by The McGraw-Hill Companies, Inc.  All rights reserved. </a:t>
            </a:r>
            <a:endParaRPr lang="en-US" altLang="en-US" sz="2400">
              <a:latin typeface="Times New Roman" panose="02020603050405020304" pitchFamily="18" charset="0"/>
            </a:endParaRPr>
          </a:p>
        </p:txBody>
      </p:sp>
    </p:spTree>
    <p:extLst>
      <p:ext uri="{BB962C8B-B14F-4D97-AF65-F5344CB8AC3E}">
        <p14:creationId xmlns:p14="http://schemas.microsoft.com/office/powerpoint/2010/main" val="17154613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538163" y="517525"/>
            <a:ext cx="8229600" cy="1066800"/>
          </a:xfrm>
        </p:spPr>
        <p:txBody>
          <a:bodyPr/>
          <a:lstStyle/>
          <a:p>
            <a:pPr eaLnBrk="1" hangingPunct="1"/>
            <a:r>
              <a:rPr lang="en-US" altLang="en-US">
                <a:ea typeface="ＭＳ Ｐゴシック" panose="020B0600070205080204" pitchFamily="34" charset="-128"/>
              </a:rPr>
              <a:t>More Generic Restrictions</a:t>
            </a:r>
          </a:p>
        </p:txBody>
      </p:sp>
      <p:sp>
        <p:nvSpPr>
          <p:cNvPr id="13314" name="Rectangle 3"/>
          <p:cNvSpPr>
            <a:spLocks noGrp="1" noChangeArrowheads="1"/>
          </p:cNvSpPr>
          <p:nvPr>
            <p:ph idx="1"/>
          </p:nvPr>
        </p:nvSpPr>
        <p:spPr>
          <a:xfrm>
            <a:off x="309563" y="1371600"/>
            <a:ext cx="8686800" cy="4324350"/>
          </a:xfrm>
        </p:spPr>
        <p:txBody>
          <a:bodyPr>
            <a:normAutofit/>
          </a:bodyPr>
          <a:lstStyle/>
          <a:p>
            <a:pPr marL="109537" indent="0" algn="just">
              <a:buNone/>
              <a:defRPr/>
            </a:pPr>
            <a:r>
              <a:rPr lang="en-US" dirty="0"/>
              <a:t>(iv) Generic Exception Restriction:</a:t>
            </a:r>
          </a:p>
          <a:p>
            <a:pPr marL="109537" indent="0" algn="just">
              <a:buNone/>
              <a:defRPr/>
            </a:pPr>
            <a:r>
              <a:rPr lang="en-US" dirty="0"/>
              <a:t> A generic class cannot extend </a:t>
            </a:r>
            <a:r>
              <a:rPr lang="en-US" dirty="0" err="1"/>
              <a:t>Throwable</a:t>
            </a:r>
            <a:r>
              <a:rPr lang="en-US" dirty="0"/>
              <a:t>. This means that you cannot create generic exception classes. </a:t>
            </a:r>
          </a:p>
        </p:txBody>
      </p:sp>
    </p:spTree>
    <p:extLst>
      <p:ext uri="{BB962C8B-B14F-4D97-AF65-F5344CB8AC3E}">
        <p14:creationId xmlns:p14="http://schemas.microsoft.com/office/powerpoint/2010/main" val="1293063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57200" y="838200"/>
            <a:ext cx="8229600" cy="1066800"/>
          </a:xfrm>
        </p:spPr>
        <p:txBody>
          <a:bodyPr/>
          <a:lstStyle/>
          <a:p>
            <a:pPr eaLnBrk="1" hangingPunct="1"/>
            <a:r>
              <a:rPr lang="en-US" altLang="en-US" dirty="0">
                <a:ea typeface="ＭＳ Ｐゴシック" panose="020B0600070205080204" pitchFamily="34" charset="-128"/>
              </a:rPr>
              <a:t>Generic Restrictions</a:t>
            </a:r>
          </a:p>
        </p:txBody>
      </p:sp>
      <p:sp>
        <p:nvSpPr>
          <p:cNvPr id="13314" name="Rectangle 3"/>
          <p:cNvSpPr>
            <a:spLocks noGrp="1" noChangeArrowheads="1"/>
          </p:cNvSpPr>
          <p:nvPr>
            <p:ph idx="1"/>
          </p:nvPr>
        </p:nvSpPr>
        <p:spPr>
          <a:xfrm>
            <a:off x="457200" y="1944688"/>
            <a:ext cx="8229600" cy="4324350"/>
          </a:xfrm>
        </p:spPr>
        <p:txBody>
          <a:bodyPr>
            <a:normAutofit lnSpcReduction="10000"/>
          </a:bodyPr>
          <a:lstStyle/>
          <a:p>
            <a:pPr marL="109537" indent="0" eaLnBrk="1" hangingPunct="1">
              <a:buFont typeface="Georgia" panose="02040502050405020303" pitchFamily="18" charset="0"/>
              <a:buNone/>
              <a:defRPr/>
            </a:pPr>
            <a:r>
              <a:rPr lang="en-US" sz="2400" dirty="0"/>
              <a:t>(</a:t>
            </a:r>
            <a:r>
              <a:rPr lang="en-US" sz="2400" dirty="0" err="1"/>
              <a:t>i</a:t>
            </a:r>
            <a:r>
              <a:rPr lang="en-US" sz="2400" dirty="0"/>
              <a:t>)</a:t>
            </a:r>
            <a:r>
              <a:rPr lang="en-US" dirty="0"/>
              <a:t> </a:t>
            </a:r>
            <a:r>
              <a:rPr lang="en-US" sz="2400" b="1" dirty="0"/>
              <a:t>Static variables and methods cannot use the type parameters </a:t>
            </a:r>
            <a:r>
              <a:rPr lang="en-US" sz="2400" dirty="0"/>
              <a:t>declared by their generic class (but you can have static generic methods).</a:t>
            </a:r>
          </a:p>
          <a:p>
            <a:pPr eaLnBrk="1" hangingPunct="1">
              <a:buFont typeface="Georgia" charset="0"/>
              <a:buChar char="•"/>
              <a:defRPr/>
            </a:pPr>
            <a:r>
              <a:rPr lang="en-US" dirty="0"/>
              <a:t>Example:</a:t>
            </a:r>
          </a:p>
          <a:p>
            <a:pPr marL="109537" indent="0" eaLnBrk="1" hangingPunct="1">
              <a:buFont typeface="Georgia" charset="0"/>
              <a:buNone/>
              <a:defRPr/>
            </a:pPr>
            <a:r>
              <a:rPr lang="en-US" sz="2000" dirty="0">
                <a:latin typeface="Courier New"/>
                <a:cs typeface="Courier New"/>
              </a:rPr>
              <a:t>  class C&lt;T&gt; {</a:t>
            </a:r>
          </a:p>
          <a:p>
            <a:pPr marL="109537" indent="0" eaLnBrk="1" hangingPunct="1">
              <a:buFont typeface="Georgia" charset="0"/>
              <a:buNone/>
              <a:defRPr/>
            </a:pPr>
            <a:r>
              <a:rPr lang="en-US" sz="2000" dirty="0">
                <a:latin typeface="Courier New"/>
                <a:cs typeface="Courier New"/>
              </a:rPr>
              <a:t>    static T x; // illegal</a:t>
            </a:r>
          </a:p>
          <a:p>
            <a:pPr marL="109537" indent="0" eaLnBrk="1" hangingPunct="1">
              <a:buFont typeface="Georgia" charset="0"/>
              <a:buNone/>
              <a:defRPr/>
            </a:pPr>
            <a:r>
              <a:rPr lang="en-US" sz="2000" dirty="0">
                <a:latin typeface="Courier New"/>
                <a:cs typeface="Courier New"/>
              </a:rPr>
              <a:t>    static T </a:t>
            </a:r>
            <a:r>
              <a:rPr lang="en-US" sz="2000" dirty="0" err="1">
                <a:latin typeface="Courier New"/>
                <a:cs typeface="Courier New"/>
              </a:rPr>
              <a:t>getX</a:t>
            </a:r>
            <a:r>
              <a:rPr lang="en-US" sz="2000" dirty="0">
                <a:latin typeface="Courier New"/>
                <a:cs typeface="Courier New"/>
              </a:rPr>
              <a:t>() { return x; } // illegal</a:t>
            </a:r>
          </a:p>
          <a:p>
            <a:pPr marL="109537" indent="0" eaLnBrk="1" hangingPunct="1">
              <a:buFont typeface="Georgia" charset="0"/>
              <a:buNone/>
              <a:defRPr/>
            </a:pPr>
            <a:r>
              <a:rPr lang="en-US" sz="2000" dirty="0">
                <a:latin typeface="Courier New"/>
                <a:cs typeface="Courier New"/>
              </a:rPr>
              <a:t>    static &lt;W&gt; void </a:t>
            </a:r>
            <a:r>
              <a:rPr lang="en-US" sz="2000" dirty="0" err="1">
                <a:latin typeface="Courier New"/>
                <a:cs typeface="Courier New"/>
              </a:rPr>
              <a:t>setX</a:t>
            </a:r>
            <a:r>
              <a:rPr lang="en-US" sz="2000" dirty="0">
                <a:latin typeface="Courier New"/>
                <a:cs typeface="Courier New"/>
              </a:rPr>
              <a:t>(W w) {  // legal</a:t>
            </a:r>
          </a:p>
          <a:p>
            <a:pPr marL="109537" indent="0" eaLnBrk="1" hangingPunct="1">
              <a:buFont typeface="Georgia" charset="0"/>
              <a:buNone/>
              <a:defRPr/>
            </a:pPr>
            <a:r>
              <a:rPr lang="en-US" sz="2000" dirty="0">
                <a:latin typeface="Courier New"/>
                <a:cs typeface="Courier New"/>
              </a:rPr>
              <a:t>      </a:t>
            </a:r>
            <a:r>
              <a:rPr lang="en-US" sz="2000" dirty="0">
                <a:solidFill>
                  <a:srgbClr val="000000"/>
                </a:solidFill>
                <a:latin typeface="Courier New"/>
                <a:cs typeface="Courier New"/>
              </a:rPr>
              <a:t>...</a:t>
            </a:r>
          </a:p>
          <a:p>
            <a:pPr marL="109537" indent="0" eaLnBrk="1" hangingPunct="1">
              <a:buFont typeface="Georgia" charset="0"/>
              <a:buNone/>
              <a:defRPr/>
            </a:pPr>
            <a:r>
              <a:rPr lang="en-US" sz="2000" dirty="0">
                <a:solidFill>
                  <a:srgbClr val="FF0000"/>
                </a:solidFill>
                <a:latin typeface="Courier New"/>
                <a:cs typeface="Courier New"/>
              </a:rPr>
              <a:t>   </a:t>
            </a:r>
            <a:r>
              <a:rPr lang="en-US" sz="2000" dirty="0">
                <a:latin typeface="Courier New"/>
                <a:cs typeface="Courier New"/>
              </a:rPr>
              <a:t> }</a:t>
            </a:r>
          </a:p>
          <a:p>
            <a:pPr marL="109537" indent="0" eaLnBrk="1" hangingPunct="1">
              <a:buFont typeface="Georgia" charset="0"/>
              <a:buNone/>
              <a:defRPr/>
            </a:pPr>
            <a:r>
              <a:rPr lang="en-US" sz="2000" dirty="0">
                <a:latin typeface="Courier New"/>
                <a:cs typeface="Courier New"/>
              </a:rPr>
              <a:t>  }  </a:t>
            </a:r>
          </a:p>
        </p:txBody>
      </p:sp>
      <p:sp>
        <p:nvSpPr>
          <p:cNvPr id="31748" name="Text Box 48"/>
          <p:cNvSpPr txBox="1">
            <a:spLocks noChangeArrowheads="1"/>
          </p:cNvSpPr>
          <p:nvPr/>
        </p:nvSpPr>
        <p:spPr bwMode="auto">
          <a:xfrm>
            <a:off x="304800" y="6477000"/>
            <a:ext cx="46529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984" tIns="40492" rIns="80984" bIns="40492">
            <a:spAutoFit/>
          </a:bodyPr>
          <a:lstStyle>
            <a:lvl1pPr defTabSz="809625">
              <a:defRPr>
                <a:solidFill>
                  <a:schemeClr val="tx1"/>
                </a:solidFill>
                <a:latin typeface="Arial" panose="020B0604020202020204" pitchFamily="34" charset="0"/>
                <a:ea typeface="ＭＳ Ｐゴシック" panose="020B0600070205080204" pitchFamily="34" charset="-128"/>
              </a:defRPr>
            </a:lvl1pPr>
            <a:lvl2pPr marL="742950" indent="-285750" defTabSz="809625">
              <a:defRPr>
                <a:solidFill>
                  <a:schemeClr val="tx1"/>
                </a:solidFill>
                <a:latin typeface="Arial" panose="020B0604020202020204" pitchFamily="34" charset="0"/>
                <a:ea typeface="ＭＳ Ｐゴシック" panose="020B0600070205080204" pitchFamily="34" charset="-128"/>
              </a:defRPr>
            </a:lvl2pPr>
            <a:lvl3pPr marL="1143000" indent="-228600" defTabSz="809625">
              <a:defRPr>
                <a:solidFill>
                  <a:schemeClr val="tx1"/>
                </a:solidFill>
                <a:latin typeface="Arial" panose="020B0604020202020204" pitchFamily="34" charset="0"/>
                <a:ea typeface="ＭＳ Ｐゴシック" panose="020B0600070205080204" pitchFamily="34" charset="-128"/>
              </a:defRPr>
            </a:lvl3pPr>
            <a:lvl4pPr marL="1600200" indent="-228600" defTabSz="809625">
              <a:defRPr>
                <a:solidFill>
                  <a:schemeClr val="tx1"/>
                </a:solidFill>
                <a:latin typeface="Arial" panose="020B0604020202020204" pitchFamily="34" charset="0"/>
                <a:ea typeface="ＭＳ Ｐゴシック" panose="020B0600070205080204" pitchFamily="34" charset="-128"/>
              </a:defRPr>
            </a:lvl4pPr>
            <a:lvl5pPr marL="2057400" indent="-228600" defTabSz="809625">
              <a:defRPr>
                <a:solidFill>
                  <a:schemeClr val="tx1"/>
                </a:solidFill>
                <a:latin typeface="Arial" panose="020B0604020202020204" pitchFamily="34" charset="0"/>
                <a:ea typeface="ＭＳ Ｐゴシック" panose="020B0600070205080204" pitchFamily="34" charset="-128"/>
              </a:defRPr>
            </a:lvl5pPr>
            <a:lvl6pPr marL="25146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80962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eaLnBrk="1" hangingPunct="1">
              <a:spcBef>
                <a:spcPct val="20000"/>
              </a:spcBef>
              <a:buClr>
                <a:schemeClr val="hlink"/>
              </a:buClr>
              <a:buSzPct val="70000"/>
              <a:buFont typeface="Wingdings" panose="05000000000000000000" pitchFamily="2" charset="2"/>
              <a:buNone/>
            </a:pPr>
            <a:r>
              <a:rPr lang="en-US" altLang="en-US" sz="1000" b="1" i="1">
                <a:latin typeface="Book Antiqua" panose="02040602050305030304" pitchFamily="18" charset="0"/>
              </a:rPr>
              <a:t>Copyright © 2013 by The McGraw-Hill Companies, Inc.  All rights reserved. </a:t>
            </a:r>
            <a:endParaRPr lang="en-US" altLang="en-US" sz="2400">
              <a:latin typeface="Times New Roman" panose="02020603050405020304" pitchFamily="18" charset="0"/>
            </a:endParaRPr>
          </a:p>
        </p:txBody>
      </p:sp>
    </p:spTree>
    <p:extLst>
      <p:ext uri="{BB962C8B-B14F-4D97-AF65-F5344CB8AC3E}">
        <p14:creationId xmlns:p14="http://schemas.microsoft.com/office/powerpoint/2010/main" val="38927867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609600" y="0"/>
            <a:ext cx="6700837" cy="685800"/>
          </a:xfrm>
        </p:spPr>
        <p:txBody>
          <a:bodyPr>
            <a:normAutofit fontScale="90000"/>
          </a:bodyPr>
          <a:lstStyle/>
          <a:p>
            <a:pPr eaLnBrk="1" hangingPunct="1"/>
            <a:r>
              <a:rPr lang="en-US" altLang="en-US" dirty="0">
                <a:ea typeface="ＭＳ Ｐゴシック" panose="020B0600070205080204" pitchFamily="34" charset="-128"/>
              </a:rPr>
              <a:t>More Generic Restrictions</a:t>
            </a:r>
          </a:p>
        </p:txBody>
      </p:sp>
      <p:sp>
        <p:nvSpPr>
          <p:cNvPr id="13314" name="Rectangle 3"/>
          <p:cNvSpPr>
            <a:spLocks noGrp="1" noChangeArrowheads="1"/>
          </p:cNvSpPr>
          <p:nvPr>
            <p:ph idx="1"/>
          </p:nvPr>
        </p:nvSpPr>
        <p:spPr>
          <a:xfrm>
            <a:off x="228600" y="685800"/>
            <a:ext cx="8686800" cy="4324350"/>
          </a:xfrm>
        </p:spPr>
        <p:txBody>
          <a:bodyPr>
            <a:noAutofit/>
          </a:bodyPr>
          <a:lstStyle/>
          <a:p>
            <a:pPr marL="109537" indent="0" eaLnBrk="1" hangingPunct="1">
              <a:buFont typeface="Georgia" panose="02040502050405020303" pitchFamily="18" charset="0"/>
              <a:buNone/>
              <a:defRPr/>
            </a:pPr>
            <a:r>
              <a:rPr lang="en-US" sz="2000" dirty="0"/>
              <a:t>ii)You </a:t>
            </a:r>
            <a:r>
              <a:rPr lang="en-US" sz="2000" b="1" dirty="0"/>
              <a:t>can't create an instance of a type parameter.</a:t>
            </a:r>
          </a:p>
          <a:p>
            <a:pPr eaLnBrk="1" hangingPunct="1">
              <a:buFont typeface="Georgia" charset="0"/>
              <a:buChar char="•"/>
              <a:defRPr/>
            </a:pPr>
            <a:r>
              <a:rPr lang="en-US" sz="2000" dirty="0">
                <a:solidFill>
                  <a:prstClr val="black"/>
                </a:solidFill>
              </a:rPr>
              <a:t>Example:</a:t>
            </a:r>
          </a:p>
          <a:p>
            <a:pPr marL="109537" indent="0" eaLnBrk="1" hangingPunct="1">
              <a:buFont typeface="Georgia" panose="02040502050405020303" pitchFamily="18" charset="0"/>
              <a:buNone/>
              <a:defRPr/>
            </a:pPr>
            <a:r>
              <a:rPr lang="en-US" sz="2000" dirty="0">
                <a:solidFill>
                  <a:prstClr val="black"/>
                </a:solidFill>
                <a:latin typeface="Courier New"/>
                <a:cs typeface="Courier New"/>
              </a:rPr>
              <a:t>  class C&lt;T&gt; </a:t>
            </a:r>
          </a:p>
          <a:p>
            <a:pPr marL="109537" indent="0" eaLnBrk="1" hangingPunct="1">
              <a:buFont typeface="Georgia" panose="02040502050405020303" pitchFamily="18" charset="0"/>
              <a:buNone/>
              <a:defRPr/>
            </a:pPr>
            <a:r>
              <a:rPr lang="en-US" sz="2000" dirty="0">
                <a:solidFill>
                  <a:prstClr val="black"/>
                </a:solidFill>
                <a:latin typeface="Courier New"/>
                <a:cs typeface="Courier New"/>
              </a:rPr>
              <a:t>  {</a:t>
            </a:r>
          </a:p>
          <a:p>
            <a:pPr marL="109537" indent="0" eaLnBrk="1" hangingPunct="1">
              <a:buFont typeface="Georgia" panose="02040502050405020303" pitchFamily="18" charset="0"/>
              <a:buNone/>
              <a:defRPr/>
            </a:pPr>
            <a:r>
              <a:rPr lang="en-US" sz="2000" dirty="0">
                <a:solidFill>
                  <a:prstClr val="black"/>
                </a:solidFill>
                <a:latin typeface="Courier New"/>
                <a:cs typeface="Courier New"/>
              </a:rPr>
              <a:t>    T x; </a:t>
            </a:r>
          </a:p>
          <a:p>
            <a:pPr marL="109537" indent="0" eaLnBrk="1" hangingPunct="1">
              <a:buFont typeface="Georgia" panose="02040502050405020303" pitchFamily="18" charset="0"/>
              <a:buNone/>
              <a:defRPr/>
            </a:pPr>
            <a:r>
              <a:rPr lang="en-US" sz="2000" dirty="0">
                <a:solidFill>
                  <a:prstClr val="black"/>
                </a:solidFill>
                <a:latin typeface="Courier New"/>
                <a:cs typeface="Courier New"/>
              </a:rPr>
              <a:t>	C() </a:t>
            </a:r>
          </a:p>
          <a:p>
            <a:pPr marL="109537" indent="0" eaLnBrk="1" hangingPunct="1">
              <a:buFont typeface="Georgia" panose="02040502050405020303" pitchFamily="18" charset="0"/>
              <a:buNone/>
              <a:defRPr/>
            </a:pPr>
            <a:r>
              <a:rPr lang="en-US" sz="2000" dirty="0">
                <a:solidFill>
                  <a:prstClr val="black"/>
                </a:solidFill>
                <a:latin typeface="Courier New"/>
                <a:cs typeface="Courier New"/>
              </a:rPr>
              <a:t>	{ x= new T(); // illegal</a:t>
            </a:r>
          </a:p>
          <a:p>
            <a:pPr marL="109537" indent="0" eaLnBrk="1" hangingPunct="1">
              <a:buFont typeface="Georgia" panose="02040502050405020303" pitchFamily="18" charset="0"/>
              <a:buNone/>
              <a:defRPr/>
            </a:pPr>
            <a:r>
              <a:rPr lang="en-US" sz="2000" dirty="0">
                <a:solidFill>
                  <a:prstClr val="black"/>
                </a:solidFill>
                <a:latin typeface="Courier New"/>
                <a:cs typeface="Courier New"/>
              </a:rPr>
              <a:t>          }</a:t>
            </a:r>
          </a:p>
          <a:p>
            <a:pPr marL="109537" indent="0" eaLnBrk="1" hangingPunct="1">
              <a:buFont typeface="Georgia" panose="02040502050405020303" pitchFamily="18" charset="0"/>
              <a:buNone/>
              <a:defRPr/>
            </a:pPr>
            <a:r>
              <a:rPr lang="en-US" sz="2000" dirty="0">
                <a:solidFill>
                  <a:prstClr val="black"/>
                </a:solidFill>
                <a:latin typeface="Courier New"/>
                <a:cs typeface="Courier New"/>
              </a:rPr>
              <a:t>   }</a:t>
            </a:r>
          </a:p>
          <a:p>
            <a:pPr marL="109537" indent="0" algn="just" eaLnBrk="1" hangingPunct="1">
              <a:buFont typeface="Georgia" panose="02040502050405020303" pitchFamily="18" charset="0"/>
              <a:buNone/>
              <a:defRPr/>
            </a:pPr>
            <a:r>
              <a:rPr lang="en-US" sz="2000" dirty="0"/>
              <a:t>(iii) </a:t>
            </a:r>
            <a:r>
              <a:rPr lang="en-US" sz="2000" b="1" dirty="0"/>
              <a:t>You can't create </a:t>
            </a:r>
            <a:r>
              <a:rPr lang="en-US" sz="2000" dirty="0"/>
              <a:t>an array whose </a:t>
            </a:r>
            <a:r>
              <a:rPr lang="en-US" sz="2000" b="1" dirty="0"/>
              <a:t>element type is the type parameter nor an array of type-specific generic references.</a:t>
            </a:r>
          </a:p>
          <a:p>
            <a:pPr eaLnBrk="1" hangingPunct="1">
              <a:buFont typeface="Georgia" charset="0"/>
              <a:buChar char="•"/>
              <a:defRPr/>
            </a:pPr>
            <a:r>
              <a:rPr lang="en-US" sz="2000" dirty="0"/>
              <a:t>Example:</a:t>
            </a:r>
          </a:p>
          <a:p>
            <a:pPr marL="109537" indent="0" eaLnBrk="1" hangingPunct="1">
              <a:buFont typeface="Georgia" charset="0"/>
              <a:buNone/>
              <a:defRPr/>
            </a:pPr>
            <a:r>
              <a:rPr lang="en-US" sz="2000" dirty="0">
                <a:latin typeface="Courier New"/>
                <a:cs typeface="Courier New"/>
              </a:rPr>
              <a:t>  class C&lt;T&gt; {</a:t>
            </a:r>
          </a:p>
          <a:p>
            <a:pPr marL="109537" indent="0" eaLnBrk="1" hangingPunct="1">
              <a:buFont typeface="Georgia" charset="0"/>
              <a:buNone/>
              <a:defRPr/>
            </a:pPr>
            <a:r>
              <a:rPr lang="en-US" sz="2000" dirty="0">
                <a:latin typeface="Courier New"/>
                <a:cs typeface="Courier New"/>
              </a:rPr>
              <a:t>	T[] x ;</a:t>
            </a:r>
          </a:p>
          <a:p>
            <a:pPr marL="109537" indent="0" eaLnBrk="1" hangingPunct="1">
              <a:buFont typeface="Georgia" charset="0"/>
              <a:buNone/>
              <a:defRPr/>
            </a:pPr>
            <a:r>
              <a:rPr lang="en-US" sz="2000" dirty="0">
                <a:latin typeface="Courier New"/>
                <a:cs typeface="Courier New"/>
              </a:rPr>
              <a:t>     x = new T[10]; // illegal</a:t>
            </a:r>
          </a:p>
          <a:p>
            <a:pPr marL="109537" indent="0" eaLnBrk="1" hangingPunct="1">
              <a:buFont typeface="Georgia" charset="0"/>
              <a:buNone/>
              <a:defRPr/>
            </a:pPr>
            <a:r>
              <a:rPr lang="en-US" sz="2000" dirty="0">
                <a:latin typeface="Courier New"/>
                <a:cs typeface="Courier New"/>
              </a:rPr>
              <a:t>    C&lt;String&gt;[] data= new C&lt;String&gt;[10]; // illegal</a:t>
            </a:r>
          </a:p>
          <a:p>
            <a:pPr marL="109537" indent="0" eaLnBrk="1" hangingPunct="1">
              <a:buFont typeface="Georgia" charset="0"/>
              <a:buNone/>
              <a:defRPr/>
            </a:pPr>
            <a:r>
              <a:rPr lang="en-US" sz="2000" dirty="0">
                <a:latin typeface="Courier New"/>
                <a:cs typeface="Courier New"/>
              </a:rPr>
              <a:t>    C&lt;?&gt;[] data = new C&lt;?&gt;[10]; // legal</a:t>
            </a:r>
          </a:p>
          <a:p>
            <a:pPr marL="109537" indent="0" eaLnBrk="1" hangingPunct="1">
              <a:buFont typeface="Georgia" charset="0"/>
              <a:buNone/>
              <a:defRPr/>
            </a:pPr>
            <a:r>
              <a:rPr lang="en-US" sz="2000" dirty="0">
                <a:latin typeface="Courier New"/>
                <a:cs typeface="Courier New"/>
              </a:rPr>
              <a:t>  }</a:t>
            </a:r>
          </a:p>
          <a:p>
            <a:pPr eaLnBrk="1" hangingPunct="1">
              <a:buFont typeface="Georgia" charset="0"/>
              <a:buChar char="•"/>
              <a:defRPr/>
            </a:pPr>
            <a:endParaRPr lang="en-US" sz="2000" dirty="0"/>
          </a:p>
        </p:txBody>
      </p:sp>
    </p:spTree>
    <p:extLst>
      <p:ext uri="{BB962C8B-B14F-4D97-AF65-F5344CB8AC3E}">
        <p14:creationId xmlns:p14="http://schemas.microsoft.com/office/powerpoint/2010/main" val="8136611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538163" y="517525"/>
            <a:ext cx="8229600" cy="1066800"/>
          </a:xfrm>
        </p:spPr>
        <p:txBody>
          <a:bodyPr/>
          <a:lstStyle/>
          <a:p>
            <a:pPr eaLnBrk="1" hangingPunct="1"/>
            <a:r>
              <a:rPr lang="en-US" altLang="en-US">
                <a:ea typeface="ＭＳ Ｐゴシック" panose="020B0600070205080204" pitchFamily="34" charset="-128"/>
              </a:rPr>
              <a:t>More Generic Restrictions</a:t>
            </a:r>
          </a:p>
        </p:txBody>
      </p:sp>
      <p:sp>
        <p:nvSpPr>
          <p:cNvPr id="13314" name="Rectangle 3"/>
          <p:cNvSpPr>
            <a:spLocks noGrp="1" noChangeArrowheads="1"/>
          </p:cNvSpPr>
          <p:nvPr>
            <p:ph idx="1"/>
          </p:nvPr>
        </p:nvSpPr>
        <p:spPr>
          <a:xfrm>
            <a:off x="309563" y="1371600"/>
            <a:ext cx="8686800" cy="4324350"/>
          </a:xfrm>
        </p:spPr>
        <p:txBody>
          <a:bodyPr>
            <a:normAutofit/>
          </a:bodyPr>
          <a:lstStyle/>
          <a:p>
            <a:pPr marL="109537" indent="0" algn="just">
              <a:buNone/>
              <a:defRPr/>
            </a:pPr>
            <a:r>
              <a:rPr lang="en-US" dirty="0"/>
              <a:t>(iv) Generic Exception Restriction:</a:t>
            </a:r>
          </a:p>
          <a:p>
            <a:pPr marL="109537" indent="0" algn="just">
              <a:buNone/>
              <a:defRPr/>
            </a:pPr>
            <a:r>
              <a:rPr lang="en-US" dirty="0"/>
              <a:t> A generic class cannot extend </a:t>
            </a:r>
            <a:r>
              <a:rPr lang="en-US" dirty="0" err="1"/>
              <a:t>Throwable</a:t>
            </a:r>
            <a:r>
              <a:rPr lang="en-US" dirty="0"/>
              <a:t>. This means that you cannot create generic exception classes. </a:t>
            </a:r>
          </a:p>
        </p:txBody>
      </p:sp>
    </p:spTree>
    <p:extLst>
      <p:ext uri="{BB962C8B-B14F-4D97-AF65-F5344CB8AC3E}">
        <p14:creationId xmlns:p14="http://schemas.microsoft.com/office/powerpoint/2010/main" val="20897062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FB05A632C9FA74B9D62482A3E12E61E" ma:contentTypeVersion="2" ma:contentTypeDescription="Create a new document." ma:contentTypeScope="" ma:versionID="e7dd288cf06d4071fb18d4d16e307b9c">
  <xsd:schema xmlns:xsd="http://www.w3.org/2001/XMLSchema" xmlns:xs="http://www.w3.org/2001/XMLSchema" xmlns:p="http://schemas.microsoft.com/office/2006/metadata/properties" xmlns:ns2="75d5880a-5db6-412f-aff5-df9a81ac6f3c" targetNamespace="http://schemas.microsoft.com/office/2006/metadata/properties" ma:root="true" ma:fieldsID="c10b9b243696fb7a48f93d2fd312fd7d" ns2:_="">
    <xsd:import namespace="75d5880a-5db6-412f-aff5-df9a81ac6f3c"/>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d5880a-5db6-412f-aff5-df9a81ac6f3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97516B0-AAA0-4500-A974-14DA6F6873B2}">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7FEF663B-BC8A-4B9E-96FD-C9DE6A4D4913}">
  <ds:schemaRefs>
    <ds:schemaRef ds:uri="http://schemas.microsoft.com/sharepoint/v3/contenttype/forms"/>
  </ds:schemaRefs>
</ds:datastoreItem>
</file>

<file path=customXml/itemProps3.xml><?xml version="1.0" encoding="utf-8"?>
<ds:datastoreItem xmlns:ds="http://schemas.openxmlformats.org/officeDocument/2006/customXml" ds:itemID="{B99402B4-FB84-4FBE-9664-0E5CA1ADD9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5d5880a-5db6-412f-aff5-df9a81ac6f3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5425</TotalTime>
  <Words>3286</Words>
  <Application>Microsoft Office PowerPoint</Application>
  <PresentationFormat>On-screen Show (4:3)</PresentationFormat>
  <Paragraphs>338</Paragraphs>
  <Slides>46</Slides>
  <Notes>13</Notes>
  <HiddenSlides>4</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46</vt:i4>
      </vt:variant>
    </vt:vector>
  </HeadingPairs>
  <TitlesOfParts>
    <vt:vector size="59" baseType="lpstr">
      <vt:lpstr>MS PGothic</vt:lpstr>
      <vt:lpstr>Arial</vt:lpstr>
      <vt:lpstr>Book Antiqua</vt:lpstr>
      <vt:lpstr>Calibri</vt:lpstr>
      <vt:lpstr>Consolas</vt:lpstr>
      <vt:lpstr>Courier New</vt:lpstr>
      <vt:lpstr>Georgia</vt:lpstr>
      <vt:lpstr>inter-regular</vt:lpstr>
      <vt:lpstr>Times New Roman</vt:lpstr>
      <vt:lpstr>Times New Roman</vt:lpstr>
      <vt:lpstr>urw-din</vt:lpstr>
      <vt:lpstr>Wingdings</vt:lpstr>
      <vt:lpstr>Office Theme</vt:lpstr>
      <vt:lpstr>PowerPoint Presentation</vt:lpstr>
      <vt:lpstr>Generics </vt:lpstr>
      <vt:lpstr>Generics (Parameterized Types)</vt:lpstr>
      <vt:lpstr>Example Without Generics</vt:lpstr>
      <vt:lpstr>Example with Generics</vt:lpstr>
      <vt:lpstr>Example Explained</vt:lpstr>
      <vt:lpstr> Generics Work Only with Reference Types</vt:lpstr>
      <vt:lpstr>Wrapper Class</vt:lpstr>
      <vt:lpstr>Primitive Data Types and their Corresponding Wrapper Class</vt:lpstr>
      <vt:lpstr>PowerPoint Presentation</vt:lpstr>
      <vt:lpstr> Another Generics Example</vt:lpstr>
      <vt:lpstr>PowerPoint Presentation</vt:lpstr>
      <vt:lpstr>PowerPoint Presentation</vt:lpstr>
      <vt:lpstr>PowerPoint Presentation</vt:lpstr>
      <vt:lpstr>Generic Types Differ Based on Their Type Arguments</vt:lpstr>
      <vt:lpstr>Generics with two Type Parameters</vt:lpstr>
      <vt:lpstr> The General Form of a Generic Class</vt:lpstr>
      <vt:lpstr> Bounded Types </vt:lpstr>
      <vt:lpstr>Class Number hierarchy</vt:lpstr>
      <vt:lpstr>doubleValue() method of Double class</vt:lpstr>
      <vt:lpstr>Bounded Types Explained</vt:lpstr>
      <vt:lpstr>PowerPoint Presentation</vt:lpstr>
      <vt:lpstr>PowerPoint Presentation</vt:lpstr>
      <vt:lpstr>PowerPoint Presentation</vt:lpstr>
      <vt:lpstr>PowerPoint Presentation</vt:lpstr>
      <vt:lpstr>PowerPoint Presentation</vt:lpstr>
      <vt:lpstr>PowerPoint Presentation</vt:lpstr>
      <vt:lpstr>Generic Methods</vt:lpstr>
      <vt:lpstr>PowerPoint Presentation</vt:lpstr>
      <vt:lpstr>PowerPoint Presentation</vt:lpstr>
      <vt:lpstr>PowerPoint Presentation</vt:lpstr>
      <vt:lpstr>Example</vt:lpstr>
      <vt:lpstr>Generic Constructor</vt:lpstr>
      <vt:lpstr>Generic Constructor</vt:lpstr>
      <vt:lpstr>Inheritance and Generics</vt:lpstr>
      <vt:lpstr>Inheritance and Generics</vt:lpstr>
      <vt:lpstr>Interfaces and Generics</vt:lpstr>
      <vt:lpstr>Interfaces and Generics</vt:lpstr>
      <vt:lpstr>Interfaces and Generics</vt:lpstr>
      <vt:lpstr>Interfaces and Generics</vt:lpstr>
      <vt:lpstr>Interfaces and Generics</vt:lpstr>
      <vt:lpstr>Generic Restrictions</vt:lpstr>
      <vt:lpstr>More Generic Restrictions</vt:lpstr>
      <vt:lpstr>Generic Restrictions</vt:lpstr>
      <vt:lpstr>More Generic Restrictions</vt:lpstr>
      <vt:lpstr>More Generic Restrictions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ACER</dc:creator>
  <cp:lastModifiedBy>T Sujithra [MAHE-MIT]</cp:lastModifiedBy>
  <cp:revision>204</cp:revision>
  <dcterms:created xsi:type="dcterms:W3CDTF">2017-09-20T23:57:21Z</dcterms:created>
  <dcterms:modified xsi:type="dcterms:W3CDTF">2026-03-17T11:45:24Z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0x0101005FB05A632C9FA74B9D62482A3E12E61E</vt:lpwstr>
  </property>
</Properties>
</file>