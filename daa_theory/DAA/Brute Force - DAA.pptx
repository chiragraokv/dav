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90"/>
  </p:notesMasterIdLst>
  <p:sldIdLst>
    <p:sldId id="256" r:id="rId2"/>
    <p:sldId id="257" r:id="rId3"/>
    <p:sldId id="258" r:id="rId4"/>
    <p:sldId id="264" r:id="rId5"/>
    <p:sldId id="303" r:id="rId6"/>
    <p:sldId id="260" r:id="rId7"/>
    <p:sldId id="304" r:id="rId8"/>
    <p:sldId id="305" r:id="rId9"/>
    <p:sldId id="306" r:id="rId10"/>
    <p:sldId id="307" r:id="rId11"/>
    <p:sldId id="308" r:id="rId12"/>
    <p:sldId id="309" r:id="rId13"/>
    <p:sldId id="310" r:id="rId14"/>
    <p:sldId id="311" r:id="rId15"/>
    <p:sldId id="261" r:id="rId16"/>
    <p:sldId id="262" r:id="rId17"/>
    <p:sldId id="263" r:id="rId18"/>
    <p:sldId id="265" r:id="rId19"/>
    <p:sldId id="312" r:id="rId20"/>
    <p:sldId id="313" r:id="rId21"/>
    <p:sldId id="314" r:id="rId22"/>
    <p:sldId id="315" r:id="rId23"/>
    <p:sldId id="316" r:id="rId24"/>
    <p:sldId id="317" r:id="rId25"/>
    <p:sldId id="266" r:id="rId26"/>
    <p:sldId id="267" r:id="rId27"/>
    <p:sldId id="318" r:id="rId28"/>
    <p:sldId id="319" r:id="rId29"/>
    <p:sldId id="320" r:id="rId30"/>
    <p:sldId id="321" r:id="rId31"/>
    <p:sldId id="322" r:id="rId32"/>
    <p:sldId id="268" r:id="rId33"/>
    <p:sldId id="269" r:id="rId34"/>
    <p:sldId id="323" r:id="rId35"/>
    <p:sldId id="324" r:id="rId36"/>
    <p:sldId id="270" r:id="rId37"/>
    <p:sldId id="271" r:id="rId38"/>
    <p:sldId id="325" r:id="rId39"/>
    <p:sldId id="326" r:id="rId40"/>
    <p:sldId id="327" r:id="rId41"/>
    <p:sldId id="328" r:id="rId42"/>
    <p:sldId id="329" r:id="rId43"/>
    <p:sldId id="330" r:id="rId44"/>
    <p:sldId id="272" r:id="rId45"/>
    <p:sldId id="273" r:id="rId46"/>
    <p:sldId id="337" r:id="rId47"/>
    <p:sldId id="338" r:id="rId48"/>
    <p:sldId id="274" r:id="rId49"/>
    <p:sldId id="275" r:id="rId50"/>
    <p:sldId id="339" r:id="rId51"/>
    <p:sldId id="276" r:id="rId52"/>
    <p:sldId id="331" r:id="rId53"/>
    <p:sldId id="343" r:id="rId54"/>
    <p:sldId id="344" r:id="rId55"/>
    <p:sldId id="345" r:id="rId56"/>
    <p:sldId id="346" r:id="rId57"/>
    <p:sldId id="277" r:id="rId58"/>
    <p:sldId id="332" r:id="rId59"/>
    <p:sldId id="347" r:id="rId60"/>
    <p:sldId id="278" r:id="rId61"/>
    <p:sldId id="279" r:id="rId62"/>
    <p:sldId id="334" r:id="rId63"/>
    <p:sldId id="335" r:id="rId64"/>
    <p:sldId id="336" r:id="rId65"/>
    <p:sldId id="280" r:id="rId66"/>
    <p:sldId id="340" r:id="rId67"/>
    <p:sldId id="281" r:id="rId68"/>
    <p:sldId id="282" r:id="rId69"/>
    <p:sldId id="283" r:id="rId70"/>
    <p:sldId id="284" r:id="rId71"/>
    <p:sldId id="285" r:id="rId72"/>
    <p:sldId id="286" r:id="rId73"/>
    <p:sldId id="301" r:id="rId74"/>
    <p:sldId id="294" r:id="rId75"/>
    <p:sldId id="299" r:id="rId76"/>
    <p:sldId id="298" r:id="rId77"/>
    <p:sldId id="297" r:id="rId78"/>
    <p:sldId id="296" r:id="rId79"/>
    <p:sldId id="295" r:id="rId80"/>
    <p:sldId id="293" r:id="rId81"/>
    <p:sldId id="342" r:id="rId82"/>
    <p:sldId id="341" r:id="rId83"/>
    <p:sldId id="291" r:id="rId84"/>
    <p:sldId id="288" r:id="rId85"/>
    <p:sldId id="290" r:id="rId86"/>
    <p:sldId id="289" r:id="rId87"/>
    <p:sldId id="302" r:id="rId88"/>
    <p:sldId id="287"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E274A-8380-4645-90B3-0874C5464C64}" v="1277" dt="2024-01-08T10:55:36.6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78775" autoAdjust="0"/>
  </p:normalViewPr>
  <p:slideViewPr>
    <p:cSldViewPr snapToGrid="0">
      <p:cViewPr varScale="1">
        <p:scale>
          <a:sx n="50" d="100"/>
          <a:sy n="50" d="100"/>
        </p:scale>
        <p:origin x="109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3.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ata4.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ata5.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ata7.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sv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81.sv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svg"/><Relationship Id="rId4" Type="http://schemas.openxmlformats.org/officeDocument/2006/relationships/image" Target="../media/image79.svg"/><Relationship Id="rId9" Type="http://schemas.openxmlformats.org/officeDocument/2006/relationships/image" Target="../media/image84.png"/></Relationships>
</file>

<file path=ppt/diagrams/_rels/data8.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svg"/><Relationship Id="rId1" Type="http://schemas.openxmlformats.org/officeDocument/2006/relationships/image" Target="../media/image90.png"/><Relationship Id="rId6" Type="http://schemas.openxmlformats.org/officeDocument/2006/relationships/image" Target="../media/image95.svg"/><Relationship Id="rId5" Type="http://schemas.openxmlformats.org/officeDocument/2006/relationships/image" Target="../media/image94.png"/><Relationship Id="rId10" Type="http://schemas.openxmlformats.org/officeDocument/2006/relationships/image" Target="../media/image99.svg"/><Relationship Id="rId4" Type="http://schemas.openxmlformats.org/officeDocument/2006/relationships/image" Target="../media/image93.svg"/><Relationship Id="rId9" Type="http://schemas.openxmlformats.org/officeDocument/2006/relationships/image" Target="../media/image9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4.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5.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7.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svg"/><Relationship Id="rId2" Type="http://schemas.openxmlformats.org/officeDocument/2006/relationships/image" Target="../media/image77.svg"/><Relationship Id="rId1" Type="http://schemas.openxmlformats.org/officeDocument/2006/relationships/image" Target="../media/image76.png"/><Relationship Id="rId6" Type="http://schemas.openxmlformats.org/officeDocument/2006/relationships/image" Target="../media/image81.sv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svg"/><Relationship Id="rId4" Type="http://schemas.openxmlformats.org/officeDocument/2006/relationships/image" Target="../media/image79.svg"/><Relationship Id="rId9" Type="http://schemas.openxmlformats.org/officeDocument/2006/relationships/image" Target="../media/image84.png"/></Relationships>
</file>

<file path=ppt/diagrams/_rels/drawing8.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svg"/><Relationship Id="rId1" Type="http://schemas.openxmlformats.org/officeDocument/2006/relationships/image" Target="../media/image90.png"/><Relationship Id="rId6" Type="http://schemas.openxmlformats.org/officeDocument/2006/relationships/image" Target="../media/image95.svg"/><Relationship Id="rId5" Type="http://schemas.openxmlformats.org/officeDocument/2006/relationships/image" Target="../media/image94.png"/><Relationship Id="rId10" Type="http://schemas.openxmlformats.org/officeDocument/2006/relationships/image" Target="../media/image99.svg"/><Relationship Id="rId4" Type="http://schemas.openxmlformats.org/officeDocument/2006/relationships/image" Target="../media/image93.svg"/><Relationship Id="rId9" Type="http://schemas.openxmlformats.org/officeDocument/2006/relationships/image" Target="../media/image98.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FBA38D-0F0B-4FC5-9D82-4EEC66F3A4E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C2C9EA9-69D6-4B30-A9FE-B3299FACF8E0}">
      <dgm:prSet/>
      <dgm:spPr/>
      <dgm:t>
        <a:bodyPr/>
        <a:lstStyle/>
        <a:p>
          <a:r>
            <a:rPr lang="en-US"/>
            <a:t>Definition: Brute force is a straightforward approach to problem-solving that relies on directly applying the problem statement and definitions of the concepts involved.</a:t>
          </a:r>
        </a:p>
      </dgm:t>
    </dgm:pt>
    <dgm:pt modelId="{22CC030C-4496-43B4-863B-EDCA87215B50}" type="parTrans" cxnId="{289249E7-241C-4E74-A023-59734B307617}">
      <dgm:prSet/>
      <dgm:spPr/>
      <dgm:t>
        <a:bodyPr/>
        <a:lstStyle/>
        <a:p>
          <a:endParaRPr lang="en-US"/>
        </a:p>
      </dgm:t>
    </dgm:pt>
    <dgm:pt modelId="{0F0D56EF-BAE6-45C8-B0D2-7BFC1D5677EB}" type="sibTrans" cxnId="{289249E7-241C-4E74-A023-59734B307617}">
      <dgm:prSet/>
      <dgm:spPr/>
      <dgm:t>
        <a:bodyPr/>
        <a:lstStyle/>
        <a:p>
          <a:endParaRPr lang="en-US"/>
        </a:p>
      </dgm:t>
    </dgm:pt>
    <dgm:pt modelId="{B3589B61-4394-4015-A32C-5E4E6E6388DF}">
      <dgm:prSet/>
      <dgm:spPr/>
      <dgm:t>
        <a:bodyPr/>
        <a:lstStyle/>
        <a:p>
          <a:r>
            <a:rPr lang="en-US"/>
            <a:t>"Just do it!": The strategy's essence is to utilize the computational power of a computer rather than relying on complex intellectual reasoning.</a:t>
          </a:r>
        </a:p>
      </dgm:t>
    </dgm:pt>
    <dgm:pt modelId="{7EB7E9D0-9B9F-4124-8355-D3460FFBC858}" type="parTrans" cxnId="{9430B904-9B38-4761-9429-5B1C5FD5109B}">
      <dgm:prSet/>
      <dgm:spPr/>
      <dgm:t>
        <a:bodyPr/>
        <a:lstStyle/>
        <a:p>
          <a:endParaRPr lang="en-US"/>
        </a:p>
      </dgm:t>
    </dgm:pt>
    <dgm:pt modelId="{EF8F89C4-4BF8-4FC5-BBA8-38703BE7F24F}" type="sibTrans" cxnId="{9430B904-9B38-4761-9429-5B1C5FD5109B}">
      <dgm:prSet/>
      <dgm:spPr/>
      <dgm:t>
        <a:bodyPr/>
        <a:lstStyle/>
        <a:p>
          <a:endParaRPr lang="en-US"/>
        </a:p>
      </dgm:t>
    </dgm:pt>
    <dgm:pt modelId="{8064AD85-2906-4188-99A1-01140F865FE9}">
      <dgm:prSet/>
      <dgm:spPr/>
      <dgm:t>
        <a:bodyPr/>
        <a:lstStyle/>
        <a:p>
          <a:r>
            <a:rPr lang="en-US"/>
            <a:t>Simplicity: Brute force often represents the easiest and most intuitive method to apply when solving a problem.</a:t>
          </a:r>
        </a:p>
      </dgm:t>
    </dgm:pt>
    <dgm:pt modelId="{EBF10981-8173-45F6-A661-A86DF64E927C}" type="parTrans" cxnId="{0AFBDF04-9B92-4010-AD9A-CA0BCDBB3EB4}">
      <dgm:prSet/>
      <dgm:spPr/>
      <dgm:t>
        <a:bodyPr/>
        <a:lstStyle/>
        <a:p>
          <a:endParaRPr lang="en-US"/>
        </a:p>
      </dgm:t>
    </dgm:pt>
    <dgm:pt modelId="{B25C2DBF-B357-4F3A-BC9B-3E2DD8ABC892}" type="sibTrans" cxnId="{0AFBDF04-9B92-4010-AD9A-CA0BCDBB3EB4}">
      <dgm:prSet/>
      <dgm:spPr/>
      <dgm:t>
        <a:bodyPr/>
        <a:lstStyle/>
        <a:p>
          <a:endParaRPr lang="en-US"/>
        </a:p>
      </dgm:t>
    </dgm:pt>
    <dgm:pt modelId="{124074B3-96CD-4D54-AB4D-2094E8755F87}">
      <dgm:prSet/>
      <dgm:spPr/>
      <dgm:t>
        <a:bodyPr/>
        <a:lstStyle/>
        <a:p>
          <a:r>
            <a:rPr lang="en-US"/>
            <a:t>Example: The exponentiation problem, where you need to compute a^b for a given number a and non-negative integer b, can be solved using brute force.</a:t>
          </a:r>
        </a:p>
      </dgm:t>
    </dgm:pt>
    <dgm:pt modelId="{D7E74E62-5D84-43FA-A2F7-B24C19EB59A1}" type="parTrans" cxnId="{C46FB761-F979-48B4-9603-35B355D65A82}">
      <dgm:prSet/>
      <dgm:spPr/>
      <dgm:t>
        <a:bodyPr/>
        <a:lstStyle/>
        <a:p>
          <a:endParaRPr lang="en-US"/>
        </a:p>
      </dgm:t>
    </dgm:pt>
    <dgm:pt modelId="{215BD2D8-9235-403B-AE45-F3EB387DD122}" type="sibTrans" cxnId="{C46FB761-F979-48B4-9603-35B355D65A82}">
      <dgm:prSet/>
      <dgm:spPr/>
      <dgm:t>
        <a:bodyPr/>
        <a:lstStyle/>
        <a:p>
          <a:endParaRPr lang="en-US"/>
        </a:p>
      </dgm:t>
    </dgm:pt>
    <dgm:pt modelId="{E28296FE-9252-423F-9AB6-1209C4868DE4}">
      <dgm:prSet/>
      <dgm:spPr/>
      <dgm:t>
        <a:bodyPr/>
        <a:lstStyle/>
        <a:p>
          <a:r>
            <a:rPr lang="en-US"/>
            <a:t>Algorithm Design: Brute force serves as a useful illustration of various algorithm design techniques.</a:t>
          </a:r>
        </a:p>
      </dgm:t>
    </dgm:pt>
    <dgm:pt modelId="{3086AD0D-9198-4121-B05C-51AACF272DFA}" type="parTrans" cxnId="{7E9EB3C2-1ABD-4B7D-A517-0491B5719C0E}">
      <dgm:prSet/>
      <dgm:spPr/>
      <dgm:t>
        <a:bodyPr/>
        <a:lstStyle/>
        <a:p>
          <a:endParaRPr lang="en-US"/>
        </a:p>
      </dgm:t>
    </dgm:pt>
    <dgm:pt modelId="{15F9AF64-005A-4FC8-A1F2-410391ABC33E}" type="sibTrans" cxnId="{7E9EB3C2-1ABD-4B7D-A517-0491B5719C0E}">
      <dgm:prSet/>
      <dgm:spPr/>
      <dgm:t>
        <a:bodyPr/>
        <a:lstStyle/>
        <a:p>
          <a:endParaRPr lang="en-US"/>
        </a:p>
      </dgm:t>
    </dgm:pt>
    <dgm:pt modelId="{1D00EED6-727F-4187-B9A7-C7FB02C7348C}" type="pres">
      <dgm:prSet presAssocID="{69FBA38D-0F0B-4FC5-9D82-4EEC66F3A4E2}" presName="root" presStyleCnt="0">
        <dgm:presLayoutVars>
          <dgm:dir/>
          <dgm:resizeHandles val="exact"/>
        </dgm:presLayoutVars>
      </dgm:prSet>
      <dgm:spPr/>
    </dgm:pt>
    <dgm:pt modelId="{9FABA9F7-9FF0-4D5B-81D8-5C561AF26758}" type="pres">
      <dgm:prSet presAssocID="{CC2C9EA9-69D6-4B30-A9FE-B3299FACF8E0}" presName="compNode" presStyleCnt="0"/>
      <dgm:spPr/>
    </dgm:pt>
    <dgm:pt modelId="{2A753029-0373-485F-9CC6-D9BADCB47A1C}" type="pres">
      <dgm:prSet presAssocID="{CC2C9EA9-69D6-4B30-A9FE-B3299FACF8E0}" presName="bgRect" presStyleLbl="bgShp" presStyleIdx="0" presStyleCnt="5"/>
      <dgm:spPr/>
    </dgm:pt>
    <dgm:pt modelId="{D790A6A3-68AA-4B05-9960-C685161B12F7}" type="pres">
      <dgm:prSet presAssocID="{CC2C9EA9-69D6-4B30-A9FE-B3299FACF8E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B3188680-DE41-41B0-A0A1-504DA43B056E}" type="pres">
      <dgm:prSet presAssocID="{CC2C9EA9-69D6-4B30-A9FE-B3299FACF8E0}" presName="spaceRect" presStyleCnt="0"/>
      <dgm:spPr/>
    </dgm:pt>
    <dgm:pt modelId="{7467E7FC-F901-4D1F-9A78-73B9A8B10F22}" type="pres">
      <dgm:prSet presAssocID="{CC2C9EA9-69D6-4B30-A9FE-B3299FACF8E0}" presName="parTx" presStyleLbl="revTx" presStyleIdx="0" presStyleCnt="5">
        <dgm:presLayoutVars>
          <dgm:chMax val="0"/>
          <dgm:chPref val="0"/>
        </dgm:presLayoutVars>
      </dgm:prSet>
      <dgm:spPr/>
    </dgm:pt>
    <dgm:pt modelId="{5D6E9C6C-DFD0-4D33-A124-18703D5EFA75}" type="pres">
      <dgm:prSet presAssocID="{0F0D56EF-BAE6-45C8-B0D2-7BFC1D5677EB}" presName="sibTrans" presStyleCnt="0"/>
      <dgm:spPr/>
    </dgm:pt>
    <dgm:pt modelId="{F3A1D295-B2BC-4920-A97D-D3B468C6E2EC}" type="pres">
      <dgm:prSet presAssocID="{B3589B61-4394-4015-A32C-5E4E6E6388DF}" presName="compNode" presStyleCnt="0"/>
      <dgm:spPr/>
    </dgm:pt>
    <dgm:pt modelId="{FC294798-C840-4431-8628-781BCCAA6D52}" type="pres">
      <dgm:prSet presAssocID="{B3589B61-4394-4015-A32C-5E4E6E6388DF}" presName="bgRect" presStyleLbl="bgShp" presStyleIdx="1" presStyleCnt="5"/>
      <dgm:spPr/>
    </dgm:pt>
    <dgm:pt modelId="{9AE4104E-1611-4DC5-98DE-D7B9C9C1BC66}" type="pres">
      <dgm:prSet presAssocID="{B3589B61-4394-4015-A32C-5E4E6E6388D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8F032AE4-D53D-4103-A4E3-EB281DC61DD3}" type="pres">
      <dgm:prSet presAssocID="{B3589B61-4394-4015-A32C-5E4E6E6388DF}" presName="spaceRect" presStyleCnt="0"/>
      <dgm:spPr/>
    </dgm:pt>
    <dgm:pt modelId="{B9E295C0-DC2C-4185-9211-5040CB831544}" type="pres">
      <dgm:prSet presAssocID="{B3589B61-4394-4015-A32C-5E4E6E6388DF}" presName="parTx" presStyleLbl="revTx" presStyleIdx="1" presStyleCnt="5">
        <dgm:presLayoutVars>
          <dgm:chMax val="0"/>
          <dgm:chPref val="0"/>
        </dgm:presLayoutVars>
      </dgm:prSet>
      <dgm:spPr/>
    </dgm:pt>
    <dgm:pt modelId="{2DA57955-B862-428A-B897-F402CF64372D}" type="pres">
      <dgm:prSet presAssocID="{EF8F89C4-4BF8-4FC5-BBA8-38703BE7F24F}" presName="sibTrans" presStyleCnt="0"/>
      <dgm:spPr/>
    </dgm:pt>
    <dgm:pt modelId="{1C073DB1-00F8-40DB-837D-3042D02906A8}" type="pres">
      <dgm:prSet presAssocID="{8064AD85-2906-4188-99A1-01140F865FE9}" presName="compNode" presStyleCnt="0"/>
      <dgm:spPr/>
    </dgm:pt>
    <dgm:pt modelId="{584D2F29-C301-4A99-A2B8-74F746268C71}" type="pres">
      <dgm:prSet presAssocID="{8064AD85-2906-4188-99A1-01140F865FE9}" presName="bgRect" presStyleLbl="bgShp" presStyleIdx="2" presStyleCnt="5"/>
      <dgm:spPr/>
    </dgm:pt>
    <dgm:pt modelId="{893AEF6B-3CD6-4D95-899A-63911AB1050C}" type="pres">
      <dgm:prSet presAssocID="{8064AD85-2906-4188-99A1-01140F865FE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54EE1F8B-E94E-4759-86C0-2A020E05FBB9}" type="pres">
      <dgm:prSet presAssocID="{8064AD85-2906-4188-99A1-01140F865FE9}" presName="spaceRect" presStyleCnt="0"/>
      <dgm:spPr/>
    </dgm:pt>
    <dgm:pt modelId="{67711320-7BB8-4CC3-9B57-C24B3E5CBC61}" type="pres">
      <dgm:prSet presAssocID="{8064AD85-2906-4188-99A1-01140F865FE9}" presName="parTx" presStyleLbl="revTx" presStyleIdx="2" presStyleCnt="5">
        <dgm:presLayoutVars>
          <dgm:chMax val="0"/>
          <dgm:chPref val="0"/>
        </dgm:presLayoutVars>
      </dgm:prSet>
      <dgm:spPr/>
    </dgm:pt>
    <dgm:pt modelId="{97BCF9BE-9F9A-43D6-AA73-E2F4242C5D3B}" type="pres">
      <dgm:prSet presAssocID="{B25C2DBF-B357-4F3A-BC9B-3E2DD8ABC892}" presName="sibTrans" presStyleCnt="0"/>
      <dgm:spPr/>
    </dgm:pt>
    <dgm:pt modelId="{ED9E7036-140A-4F12-8D86-9F53B8E3C6AD}" type="pres">
      <dgm:prSet presAssocID="{124074B3-96CD-4D54-AB4D-2094E8755F87}" presName="compNode" presStyleCnt="0"/>
      <dgm:spPr/>
    </dgm:pt>
    <dgm:pt modelId="{64A6FBF0-E344-4973-AD77-9363D896BC7F}" type="pres">
      <dgm:prSet presAssocID="{124074B3-96CD-4D54-AB4D-2094E8755F87}" presName="bgRect" presStyleLbl="bgShp" presStyleIdx="3" presStyleCnt="5"/>
      <dgm:spPr/>
    </dgm:pt>
    <dgm:pt modelId="{94A849CE-1939-4ED3-A86B-721577DBB96A}" type="pres">
      <dgm:prSet presAssocID="{124074B3-96CD-4D54-AB4D-2094E8755F8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thematics"/>
        </a:ext>
      </dgm:extLst>
    </dgm:pt>
    <dgm:pt modelId="{777EBD7A-C18D-4912-80F0-A30F055FEE45}" type="pres">
      <dgm:prSet presAssocID="{124074B3-96CD-4D54-AB4D-2094E8755F87}" presName="spaceRect" presStyleCnt="0"/>
      <dgm:spPr/>
    </dgm:pt>
    <dgm:pt modelId="{A4EE4DAA-8B41-4519-A905-F4B60C0890CC}" type="pres">
      <dgm:prSet presAssocID="{124074B3-96CD-4D54-AB4D-2094E8755F87}" presName="parTx" presStyleLbl="revTx" presStyleIdx="3" presStyleCnt="5">
        <dgm:presLayoutVars>
          <dgm:chMax val="0"/>
          <dgm:chPref val="0"/>
        </dgm:presLayoutVars>
      </dgm:prSet>
      <dgm:spPr/>
    </dgm:pt>
    <dgm:pt modelId="{E6B33665-EA94-489E-95B2-47F3B12C57C5}" type="pres">
      <dgm:prSet presAssocID="{215BD2D8-9235-403B-AE45-F3EB387DD122}" presName="sibTrans" presStyleCnt="0"/>
      <dgm:spPr/>
    </dgm:pt>
    <dgm:pt modelId="{43B1ADA5-14EB-454E-A340-F738549C2398}" type="pres">
      <dgm:prSet presAssocID="{E28296FE-9252-423F-9AB6-1209C4868DE4}" presName="compNode" presStyleCnt="0"/>
      <dgm:spPr/>
    </dgm:pt>
    <dgm:pt modelId="{B08ADA16-0499-4FF4-BCAD-142399B3DD65}" type="pres">
      <dgm:prSet presAssocID="{E28296FE-9252-423F-9AB6-1209C4868DE4}" presName="bgRect" presStyleLbl="bgShp" presStyleIdx="4" presStyleCnt="5"/>
      <dgm:spPr/>
    </dgm:pt>
    <dgm:pt modelId="{EB3DFA3F-2C3C-4D68-9734-46CD2CB96BE7}" type="pres">
      <dgm:prSet presAssocID="{E28296FE-9252-423F-9AB6-1209C4868DE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grammer"/>
        </a:ext>
      </dgm:extLst>
    </dgm:pt>
    <dgm:pt modelId="{64C8960F-724E-4219-ABE7-59D0C97350A4}" type="pres">
      <dgm:prSet presAssocID="{E28296FE-9252-423F-9AB6-1209C4868DE4}" presName="spaceRect" presStyleCnt="0"/>
      <dgm:spPr/>
    </dgm:pt>
    <dgm:pt modelId="{89C2DBF9-E801-42A4-B973-FF5A069A9641}" type="pres">
      <dgm:prSet presAssocID="{E28296FE-9252-423F-9AB6-1209C4868DE4}" presName="parTx" presStyleLbl="revTx" presStyleIdx="4" presStyleCnt="5">
        <dgm:presLayoutVars>
          <dgm:chMax val="0"/>
          <dgm:chPref val="0"/>
        </dgm:presLayoutVars>
      </dgm:prSet>
      <dgm:spPr/>
    </dgm:pt>
  </dgm:ptLst>
  <dgm:cxnLst>
    <dgm:cxn modelId="{9430B904-9B38-4761-9429-5B1C5FD5109B}" srcId="{69FBA38D-0F0B-4FC5-9D82-4EEC66F3A4E2}" destId="{B3589B61-4394-4015-A32C-5E4E6E6388DF}" srcOrd="1" destOrd="0" parTransId="{7EB7E9D0-9B9F-4124-8355-D3460FFBC858}" sibTransId="{EF8F89C4-4BF8-4FC5-BBA8-38703BE7F24F}"/>
    <dgm:cxn modelId="{0AFBDF04-9B92-4010-AD9A-CA0BCDBB3EB4}" srcId="{69FBA38D-0F0B-4FC5-9D82-4EEC66F3A4E2}" destId="{8064AD85-2906-4188-99A1-01140F865FE9}" srcOrd="2" destOrd="0" parTransId="{EBF10981-8173-45F6-A661-A86DF64E927C}" sibTransId="{B25C2DBF-B357-4F3A-BC9B-3E2DD8ABC892}"/>
    <dgm:cxn modelId="{C46FB761-F979-48B4-9603-35B355D65A82}" srcId="{69FBA38D-0F0B-4FC5-9D82-4EEC66F3A4E2}" destId="{124074B3-96CD-4D54-AB4D-2094E8755F87}" srcOrd="3" destOrd="0" parTransId="{D7E74E62-5D84-43FA-A2F7-B24C19EB59A1}" sibTransId="{215BD2D8-9235-403B-AE45-F3EB387DD122}"/>
    <dgm:cxn modelId="{1FCF4F48-69CC-4F13-90DB-468A586459D5}" type="presOf" srcId="{124074B3-96CD-4D54-AB4D-2094E8755F87}" destId="{A4EE4DAA-8B41-4519-A905-F4B60C0890CC}" srcOrd="0" destOrd="0" presId="urn:microsoft.com/office/officeart/2018/2/layout/IconVerticalSolidList"/>
    <dgm:cxn modelId="{B62C0A94-1459-4025-8CBD-50BE7CE911CC}" type="presOf" srcId="{CC2C9EA9-69D6-4B30-A9FE-B3299FACF8E0}" destId="{7467E7FC-F901-4D1F-9A78-73B9A8B10F22}" srcOrd="0" destOrd="0" presId="urn:microsoft.com/office/officeart/2018/2/layout/IconVerticalSolidList"/>
    <dgm:cxn modelId="{906806A4-0715-4A80-8CEF-47AD14C46CEF}" type="presOf" srcId="{69FBA38D-0F0B-4FC5-9D82-4EEC66F3A4E2}" destId="{1D00EED6-727F-4187-B9A7-C7FB02C7348C}" srcOrd="0" destOrd="0" presId="urn:microsoft.com/office/officeart/2018/2/layout/IconVerticalSolidList"/>
    <dgm:cxn modelId="{60D949AB-6565-46A9-94DC-CD28A9589771}" type="presOf" srcId="{8064AD85-2906-4188-99A1-01140F865FE9}" destId="{67711320-7BB8-4CC3-9B57-C24B3E5CBC61}" srcOrd="0" destOrd="0" presId="urn:microsoft.com/office/officeart/2018/2/layout/IconVerticalSolidList"/>
    <dgm:cxn modelId="{5FF0FEBC-83CF-4605-8253-4531E292700B}" type="presOf" srcId="{B3589B61-4394-4015-A32C-5E4E6E6388DF}" destId="{B9E295C0-DC2C-4185-9211-5040CB831544}" srcOrd="0" destOrd="0" presId="urn:microsoft.com/office/officeart/2018/2/layout/IconVerticalSolidList"/>
    <dgm:cxn modelId="{7E9EB3C2-1ABD-4B7D-A517-0491B5719C0E}" srcId="{69FBA38D-0F0B-4FC5-9D82-4EEC66F3A4E2}" destId="{E28296FE-9252-423F-9AB6-1209C4868DE4}" srcOrd="4" destOrd="0" parTransId="{3086AD0D-9198-4121-B05C-51AACF272DFA}" sibTransId="{15F9AF64-005A-4FC8-A1F2-410391ABC33E}"/>
    <dgm:cxn modelId="{289249E7-241C-4E74-A023-59734B307617}" srcId="{69FBA38D-0F0B-4FC5-9D82-4EEC66F3A4E2}" destId="{CC2C9EA9-69D6-4B30-A9FE-B3299FACF8E0}" srcOrd="0" destOrd="0" parTransId="{22CC030C-4496-43B4-863B-EDCA87215B50}" sibTransId="{0F0D56EF-BAE6-45C8-B0D2-7BFC1D5677EB}"/>
    <dgm:cxn modelId="{B1338EEC-A8BF-4858-9A56-92154BBA5748}" type="presOf" srcId="{E28296FE-9252-423F-9AB6-1209C4868DE4}" destId="{89C2DBF9-E801-42A4-B973-FF5A069A9641}" srcOrd="0" destOrd="0" presId="urn:microsoft.com/office/officeart/2018/2/layout/IconVerticalSolidList"/>
    <dgm:cxn modelId="{4FFA758C-17B0-40E5-9E29-6D1DFD813683}" type="presParOf" srcId="{1D00EED6-727F-4187-B9A7-C7FB02C7348C}" destId="{9FABA9F7-9FF0-4D5B-81D8-5C561AF26758}" srcOrd="0" destOrd="0" presId="urn:microsoft.com/office/officeart/2018/2/layout/IconVerticalSolidList"/>
    <dgm:cxn modelId="{49EA2D31-74CF-4270-AFA8-2B64A604F83B}" type="presParOf" srcId="{9FABA9F7-9FF0-4D5B-81D8-5C561AF26758}" destId="{2A753029-0373-485F-9CC6-D9BADCB47A1C}" srcOrd="0" destOrd="0" presId="urn:microsoft.com/office/officeart/2018/2/layout/IconVerticalSolidList"/>
    <dgm:cxn modelId="{4C94DDDB-DB1E-4BFD-A2B0-08B4D9DDE1EE}" type="presParOf" srcId="{9FABA9F7-9FF0-4D5B-81D8-5C561AF26758}" destId="{D790A6A3-68AA-4B05-9960-C685161B12F7}" srcOrd="1" destOrd="0" presId="urn:microsoft.com/office/officeart/2018/2/layout/IconVerticalSolidList"/>
    <dgm:cxn modelId="{B0C49A67-E37A-446F-91E5-A87AD6DEB51F}" type="presParOf" srcId="{9FABA9F7-9FF0-4D5B-81D8-5C561AF26758}" destId="{B3188680-DE41-41B0-A0A1-504DA43B056E}" srcOrd="2" destOrd="0" presId="urn:microsoft.com/office/officeart/2018/2/layout/IconVerticalSolidList"/>
    <dgm:cxn modelId="{5D589B41-4303-4585-AF65-EF1BD97121B1}" type="presParOf" srcId="{9FABA9F7-9FF0-4D5B-81D8-5C561AF26758}" destId="{7467E7FC-F901-4D1F-9A78-73B9A8B10F22}" srcOrd="3" destOrd="0" presId="urn:microsoft.com/office/officeart/2018/2/layout/IconVerticalSolidList"/>
    <dgm:cxn modelId="{8949A387-5DB3-4039-B892-F803F8104D1E}" type="presParOf" srcId="{1D00EED6-727F-4187-B9A7-C7FB02C7348C}" destId="{5D6E9C6C-DFD0-4D33-A124-18703D5EFA75}" srcOrd="1" destOrd="0" presId="urn:microsoft.com/office/officeart/2018/2/layout/IconVerticalSolidList"/>
    <dgm:cxn modelId="{BA87338B-AF75-4E59-9EA6-9D13B7D5515F}" type="presParOf" srcId="{1D00EED6-727F-4187-B9A7-C7FB02C7348C}" destId="{F3A1D295-B2BC-4920-A97D-D3B468C6E2EC}" srcOrd="2" destOrd="0" presId="urn:microsoft.com/office/officeart/2018/2/layout/IconVerticalSolidList"/>
    <dgm:cxn modelId="{6D9EEE61-E514-4A87-BBB6-5B971271FDE0}" type="presParOf" srcId="{F3A1D295-B2BC-4920-A97D-D3B468C6E2EC}" destId="{FC294798-C840-4431-8628-781BCCAA6D52}" srcOrd="0" destOrd="0" presId="urn:microsoft.com/office/officeart/2018/2/layout/IconVerticalSolidList"/>
    <dgm:cxn modelId="{3156E15D-902D-46FB-8A5F-76B1E83A9F4C}" type="presParOf" srcId="{F3A1D295-B2BC-4920-A97D-D3B468C6E2EC}" destId="{9AE4104E-1611-4DC5-98DE-D7B9C9C1BC66}" srcOrd="1" destOrd="0" presId="urn:microsoft.com/office/officeart/2018/2/layout/IconVerticalSolidList"/>
    <dgm:cxn modelId="{82AF788D-AD87-4331-9F50-F451EF476997}" type="presParOf" srcId="{F3A1D295-B2BC-4920-A97D-D3B468C6E2EC}" destId="{8F032AE4-D53D-4103-A4E3-EB281DC61DD3}" srcOrd="2" destOrd="0" presId="urn:microsoft.com/office/officeart/2018/2/layout/IconVerticalSolidList"/>
    <dgm:cxn modelId="{64513F96-9ABF-4A3D-92C5-2F519643390A}" type="presParOf" srcId="{F3A1D295-B2BC-4920-A97D-D3B468C6E2EC}" destId="{B9E295C0-DC2C-4185-9211-5040CB831544}" srcOrd="3" destOrd="0" presId="urn:microsoft.com/office/officeart/2018/2/layout/IconVerticalSolidList"/>
    <dgm:cxn modelId="{4132F20F-F845-4284-B2A3-80EE8008383B}" type="presParOf" srcId="{1D00EED6-727F-4187-B9A7-C7FB02C7348C}" destId="{2DA57955-B862-428A-B897-F402CF64372D}" srcOrd="3" destOrd="0" presId="urn:microsoft.com/office/officeart/2018/2/layout/IconVerticalSolidList"/>
    <dgm:cxn modelId="{1C326676-FC4A-4EE1-A99D-FC08FDA8F6F4}" type="presParOf" srcId="{1D00EED6-727F-4187-B9A7-C7FB02C7348C}" destId="{1C073DB1-00F8-40DB-837D-3042D02906A8}" srcOrd="4" destOrd="0" presId="urn:microsoft.com/office/officeart/2018/2/layout/IconVerticalSolidList"/>
    <dgm:cxn modelId="{5284D982-A427-4B9C-9CFD-7B82B3011119}" type="presParOf" srcId="{1C073DB1-00F8-40DB-837D-3042D02906A8}" destId="{584D2F29-C301-4A99-A2B8-74F746268C71}" srcOrd="0" destOrd="0" presId="urn:microsoft.com/office/officeart/2018/2/layout/IconVerticalSolidList"/>
    <dgm:cxn modelId="{26127FEB-8267-4582-8A5F-99FDA1E6346C}" type="presParOf" srcId="{1C073DB1-00F8-40DB-837D-3042D02906A8}" destId="{893AEF6B-3CD6-4D95-899A-63911AB1050C}" srcOrd="1" destOrd="0" presId="urn:microsoft.com/office/officeart/2018/2/layout/IconVerticalSolidList"/>
    <dgm:cxn modelId="{0C55EEB0-0AA0-4659-9698-9B6D2B1D3393}" type="presParOf" srcId="{1C073DB1-00F8-40DB-837D-3042D02906A8}" destId="{54EE1F8B-E94E-4759-86C0-2A020E05FBB9}" srcOrd="2" destOrd="0" presId="urn:microsoft.com/office/officeart/2018/2/layout/IconVerticalSolidList"/>
    <dgm:cxn modelId="{BF6C7BBD-DA48-46F0-907D-25CB6065CE56}" type="presParOf" srcId="{1C073DB1-00F8-40DB-837D-3042D02906A8}" destId="{67711320-7BB8-4CC3-9B57-C24B3E5CBC61}" srcOrd="3" destOrd="0" presId="urn:microsoft.com/office/officeart/2018/2/layout/IconVerticalSolidList"/>
    <dgm:cxn modelId="{1CB7719F-E674-4DA4-93E0-F4C2F20EFEDD}" type="presParOf" srcId="{1D00EED6-727F-4187-B9A7-C7FB02C7348C}" destId="{97BCF9BE-9F9A-43D6-AA73-E2F4242C5D3B}" srcOrd="5" destOrd="0" presId="urn:microsoft.com/office/officeart/2018/2/layout/IconVerticalSolidList"/>
    <dgm:cxn modelId="{2C2ECA54-484C-49CF-9A11-A863CAC771BC}" type="presParOf" srcId="{1D00EED6-727F-4187-B9A7-C7FB02C7348C}" destId="{ED9E7036-140A-4F12-8D86-9F53B8E3C6AD}" srcOrd="6" destOrd="0" presId="urn:microsoft.com/office/officeart/2018/2/layout/IconVerticalSolidList"/>
    <dgm:cxn modelId="{3F131AE0-EA2A-4247-AE4D-A109405A7EA6}" type="presParOf" srcId="{ED9E7036-140A-4F12-8D86-9F53B8E3C6AD}" destId="{64A6FBF0-E344-4973-AD77-9363D896BC7F}" srcOrd="0" destOrd="0" presId="urn:microsoft.com/office/officeart/2018/2/layout/IconVerticalSolidList"/>
    <dgm:cxn modelId="{77FAA276-F4A2-4D61-BFF4-1E4FA54EFFCF}" type="presParOf" srcId="{ED9E7036-140A-4F12-8D86-9F53B8E3C6AD}" destId="{94A849CE-1939-4ED3-A86B-721577DBB96A}" srcOrd="1" destOrd="0" presId="urn:microsoft.com/office/officeart/2018/2/layout/IconVerticalSolidList"/>
    <dgm:cxn modelId="{3731966E-38CF-4C3F-8E2F-627CD2DC4E86}" type="presParOf" srcId="{ED9E7036-140A-4F12-8D86-9F53B8E3C6AD}" destId="{777EBD7A-C18D-4912-80F0-A30F055FEE45}" srcOrd="2" destOrd="0" presId="urn:microsoft.com/office/officeart/2018/2/layout/IconVerticalSolidList"/>
    <dgm:cxn modelId="{4B362962-B2C0-4551-8525-56F3FEC3D19A}" type="presParOf" srcId="{ED9E7036-140A-4F12-8D86-9F53B8E3C6AD}" destId="{A4EE4DAA-8B41-4519-A905-F4B60C0890CC}" srcOrd="3" destOrd="0" presId="urn:microsoft.com/office/officeart/2018/2/layout/IconVerticalSolidList"/>
    <dgm:cxn modelId="{19EC199D-FD3D-4A8E-AD48-6EADBF23AA8F}" type="presParOf" srcId="{1D00EED6-727F-4187-B9A7-C7FB02C7348C}" destId="{E6B33665-EA94-489E-95B2-47F3B12C57C5}" srcOrd="7" destOrd="0" presId="urn:microsoft.com/office/officeart/2018/2/layout/IconVerticalSolidList"/>
    <dgm:cxn modelId="{E0A883AE-D729-4CBE-9628-4CC23308BE4D}" type="presParOf" srcId="{1D00EED6-727F-4187-B9A7-C7FB02C7348C}" destId="{43B1ADA5-14EB-454E-A340-F738549C2398}" srcOrd="8" destOrd="0" presId="urn:microsoft.com/office/officeart/2018/2/layout/IconVerticalSolidList"/>
    <dgm:cxn modelId="{EEFB83CB-5EC8-4CBE-BA18-70D464CBDBD5}" type="presParOf" srcId="{43B1ADA5-14EB-454E-A340-F738549C2398}" destId="{B08ADA16-0499-4FF4-BCAD-142399B3DD65}" srcOrd="0" destOrd="0" presId="urn:microsoft.com/office/officeart/2018/2/layout/IconVerticalSolidList"/>
    <dgm:cxn modelId="{C2F11DF5-77D8-4C2C-91DE-1E4163590AB0}" type="presParOf" srcId="{43B1ADA5-14EB-454E-A340-F738549C2398}" destId="{EB3DFA3F-2C3C-4D68-9734-46CD2CB96BE7}" srcOrd="1" destOrd="0" presId="urn:microsoft.com/office/officeart/2018/2/layout/IconVerticalSolidList"/>
    <dgm:cxn modelId="{79BD21E5-8066-43F3-84DF-1A6E52631F93}" type="presParOf" srcId="{43B1ADA5-14EB-454E-A340-F738549C2398}" destId="{64C8960F-724E-4219-ABE7-59D0C97350A4}" srcOrd="2" destOrd="0" presId="urn:microsoft.com/office/officeart/2018/2/layout/IconVerticalSolidList"/>
    <dgm:cxn modelId="{4C10FC6C-16C1-4A66-8B1B-9A993A6BF307}" type="presParOf" srcId="{43B1ADA5-14EB-454E-A340-F738549C2398}" destId="{89C2DBF9-E801-42A4-B973-FF5A069A96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41ACFF-9042-4319-8A43-29593B96144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039C7F1-88AC-48DE-BE6C-0419D3422B20}">
      <dgm:prSet/>
      <dgm:spPr/>
      <dgm:t>
        <a:bodyPr/>
        <a:lstStyle/>
        <a:p>
          <a:r>
            <a:rPr lang="en-US" dirty="0">
              <a:latin typeface="Georgia Pro"/>
            </a:rPr>
            <a:t>The</a:t>
          </a:r>
          <a:r>
            <a:rPr lang="en-US" dirty="0"/>
            <a:t> brute-force approach can also be applied to the problem of sorting, which involves rearranging a list of n orderable items in nondecreasing order.</a:t>
          </a:r>
        </a:p>
      </dgm:t>
    </dgm:pt>
    <dgm:pt modelId="{AD192158-0649-4DFA-ACBA-7372B1C7A071}" type="parTrans" cxnId="{40D54849-5D46-4113-8112-FE7C2F80D4D8}">
      <dgm:prSet/>
      <dgm:spPr/>
      <dgm:t>
        <a:bodyPr/>
        <a:lstStyle/>
        <a:p>
          <a:endParaRPr lang="en-US"/>
        </a:p>
      </dgm:t>
    </dgm:pt>
    <dgm:pt modelId="{687621F8-6E51-456F-8D4D-7B95B6253625}" type="sibTrans" cxnId="{40D54849-5D46-4113-8112-FE7C2F80D4D8}">
      <dgm:prSet/>
      <dgm:spPr/>
      <dgm:t>
        <a:bodyPr/>
        <a:lstStyle/>
        <a:p>
          <a:endParaRPr lang="en-US"/>
        </a:p>
      </dgm:t>
    </dgm:pt>
    <dgm:pt modelId="{0DAD55C6-8A8B-4EB0-9293-E4CC461ECFBC}">
      <dgm:prSet/>
      <dgm:spPr/>
      <dgm:t>
        <a:bodyPr/>
        <a:lstStyle/>
        <a:p>
          <a:r>
            <a:rPr lang="en-US" dirty="0"/>
            <a:t>Importance of Sorting: Sorting is a fundamental problem in computer science, and numerous algorithms have been developed to solve it efficiently.</a:t>
          </a:r>
        </a:p>
      </dgm:t>
    </dgm:pt>
    <dgm:pt modelId="{FFD4158A-9C6D-4AB1-8374-A69C434AE597}" type="parTrans" cxnId="{80A64FBB-FE6A-43A7-8430-CF39F3358370}">
      <dgm:prSet/>
      <dgm:spPr/>
      <dgm:t>
        <a:bodyPr/>
        <a:lstStyle/>
        <a:p>
          <a:endParaRPr lang="en-US"/>
        </a:p>
      </dgm:t>
    </dgm:pt>
    <dgm:pt modelId="{96E03BC8-1520-429C-9C5B-AD6ACB981CE9}" type="sibTrans" cxnId="{80A64FBB-FE6A-43A7-8430-CF39F3358370}">
      <dgm:prSet/>
      <dgm:spPr/>
      <dgm:t>
        <a:bodyPr/>
        <a:lstStyle/>
        <a:p>
          <a:endParaRPr lang="en-US"/>
        </a:p>
      </dgm:t>
    </dgm:pt>
    <dgm:pt modelId="{1C7D52B2-F04A-4B71-8F95-E08BD42239A3}">
      <dgm:prSet/>
      <dgm:spPr/>
      <dgm:t>
        <a:bodyPr/>
        <a:lstStyle/>
        <a:p>
          <a:r>
            <a:rPr lang="en-US" dirty="0"/>
            <a:t>Fresh Perspective: The suggestion is to temporarily forget any previous knowledge of sorting algorithms and approach the problem with a fresh mind.</a:t>
          </a:r>
        </a:p>
      </dgm:t>
    </dgm:pt>
    <dgm:pt modelId="{F8CA7711-E096-4B4C-BB02-9768BDEE15E3}" type="parTrans" cxnId="{950B341C-DD24-4813-BC63-85010FC7A76D}">
      <dgm:prSet/>
      <dgm:spPr/>
      <dgm:t>
        <a:bodyPr/>
        <a:lstStyle/>
        <a:p>
          <a:endParaRPr lang="en-US"/>
        </a:p>
      </dgm:t>
    </dgm:pt>
    <dgm:pt modelId="{1738684E-5B42-4377-8609-05D568C00B14}" type="sibTrans" cxnId="{950B341C-DD24-4813-BC63-85010FC7A76D}">
      <dgm:prSet/>
      <dgm:spPr/>
      <dgm:t>
        <a:bodyPr/>
        <a:lstStyle/>
        <a:p>
          <a:endParaRPr lang="en-US"/>
        </a:p>
      </dgm:t>
    </dgm:pt>
    <dgm:pt modelId="{C3147286-A01A-4936-B642-29AC9AAD08A9}">
      <dgm:prSet/>
      <dgm:spPr/>
      <dgm:t>
        <a:bodyPr/>
        <a:lstStyle/>
        <a:p>
          <a:r>
            <a:rPr lang="en-US" dirty="0"/>
            <a:t>Straightforward Method: When considering the most straightforward method for solving the sorting problem, reasonable people may have different opinions.</a:t>
          </a:r>
        </a:p>
      </dgm:t>
    </dgm:pt>
    <dgm:pt modelId="{3666634E-C538-4547-8C57-7AF23483E73F}" type="parTrans" cxnId="{8EE4A141-DBA9-40F9-9367-ED0BA9A733BD}">
      <dgm:prSet/>
      <dgm:spPr/>
      <dgm:t>
        <a:bodyPr/>
        <a:lstStyle/>
        <a:p>
          <a:endParaRPr lang="en-US"/>
        </a:p>
      </dgm:t>
    </dgm:pt>
    <dgm:pt modelId="{0F67DA59-220B-4834-B56D-0F229186AEC4}" type="sibTrans" cxnId="{8EE4A141-DBA9-40F9-9367-ED0BA9A733BD}">
      <dgm:prSet/>
      <dgm:spPr/>
      <dgm:t>
        <a:bodyPr/>
        <a:lstStyle/>
        <a:p>
          <a:endParaRPr lang="en-US"/>
        </a:p>
      </dgm:t>
    </dgm:pt>
    <dgm:pt modelId="{9CEDFE7B-F947-4968-8784-5F347CF8EB52}">
      <dgm:prSet/>
      <dgm:spPr/>
      <dgm:t>
        <a:bodyPr/>
        <a:lstStyle/>
        <a:p>
          <a:r>
            <a:rPr lang="en-US" dirty="0"/>
            <a:t>Prime Candidates: Two algorithms that are often considered as prime candidates for the most straightforward method are selection sort and bubble sort.</a:t>
          </a:r>
        </a:p>
      </dgm:t>
    </dgm:pt>
    <dgm:pt modelId="{FE4D608F-03C9-45DB-9621-7A416B666735}" type="parTrans" cxnId="{189954EA-8B92-4F94-AAF4-B98D61C58EE7}">
      <dgm:prSet/>
      <dgm:spPr/>
      <dgm:t>
        <a:bodyPr/>
        <a:lstStyle/>
        <a:p>
          <a:endParaRPr lang="en-US"/>
        </a:p>
      </dgm:t>
    </dgm:pt>
    <dgm:pt modelId="{F9F2C42E-27D7-4C61-9364-3CCE8CCC2B13}" type="sibTrans" cxnId="{189954EA-8B92-4F94-AAF4-B98D61C58EE7}">
      <dgm:prSet/>
      <dgm:spPr/>
      <dgm:t>
        <a:bodyPr/>
        <a:lstStyle/>
        <a:p>
          <a:endParaRPr lang="en-US"/>
        </a:p>
      </dgm:t>
    </dgm:pt>
    <dgm:pt modelId="{3F3AFAE2-6DF6-493A-ACEC-E0CD6F236E86}">
      <dgm:prSet/>
      <dgm:spPr/>
      <dgm:t>
        <a:bodyPr/>
        <a:lstStyle/>
        <a:p>
          <a:r>
            <a:rPr lang="en-US" dirty="0"/>
            <a:t>Selection Sort: Among the two algorithms, selection sort is generally considered to be better overall and implements the brute-force approach more clearly.</a:t>
          </a:r>
        </a:p>
      </dgm:t>
    </dgm:pt>
    <dgm:pt modelId="{9D71F640-4B6B-4E0D-B12F-A99C3F22F2A3}" type="parTrans" cxnId="{EF84FBAF-54E1-46DA-9048-D7BD9C7E2269}">
      <dgm:prSet/>
      <dgm:spPr/>
      <dgm:t>
        <a:bodyPr/>
        <a:lstStyle/>
        <a:p>
          <a:endParaRPr lang="en-US"/>
        </a:p>
      </dgm:t>
    </dgm:pt>
    <dgm:pt modelId="{C0E34F13-198C-4D52-ACA5-85D1E2EEF319}" type="sibTrans" cxnId="{EF84FBAF-54E1-46DA-9048-D7BD9C7E2269}">
      <dgm:prSet/>
      <dgm:spPr/>
      <dgm:t>
        <a:bodyPr/>
        <a:lstStyle/>
        <a:p>
          <a:endParaRPr lang="en-US"/>
        </a:p>
      </dgm:t>
    </dgm:pt>
    <dgm:pt modelId="{7D55C1AD-ED01-4272-9366-02325A298302}" type="pres">
      <dgm:prSet presAssocID="{0941ACFF-9042-4319-8A43-29593B96144B}" presName="root" presStyleCnt="0">
        <dgm:presLayoutVars>
          <dgm:dir/>
          <dgm:resizeHandles val="exact"/>
        </dgm:presLayoutVars>
      </dgm:prSet>
      <dgm:spPr/>
    </dgm:pt>
    <dgm:pt modelId="{ADB20BD0-EF9C-414D-82EE-42DD842DB3B3}" type="pres">
      <dgm:prSet presAssocID="{F039C7F1-88AC-48DE-BE6C-0419D3422B20}" presName="compNode" presStyleCnt="0"/>
      <dgm:spPr/>
    </dgm:pt>
    <dgm:pt modelId="{C9B66440-BC03-4A86-B157-7C05BBCEBA5D}" type="pres">
      <dgm:prSet presAssocID="{F039C7F1-88AC-48DE-BE6C-0419D3422B20}" presName="bgRect" presStyleLbl="bgShp" presStyleIdx="0" presStyleCnt="6"/>
      <dgm:spPr/>
    </dgm:pt>
    <dgm:pt modelId="{868E2F6E-8D1F-4C9C-87C4-46A52E77A452}" type="pres">
      <dgm:prSet presAssocID="{F039C7F1-88AC-48DE-BE6C-0419D3422B2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ze"/>
        </a:ext>
      </dgm:extLst>
    </dgm:pt>
    <dgm:pt modelId="{B4A3FCCA-CDD8-46DB-B256-3D842F4416E0}" type="pres">
      <dgm:prSet presAssocID="{F039C7F1-88AC-48DE-BE6C-0419D3422B20}" presName="spaceRect" presStyleCnt="0"/>
      <dgm:spPr/>
    </dgm:pt>
    <dgm:pt modelId="{77211731-9562-4DEF-A1E0-5BBD6ED2C350}" type="pres">
      <dgm:prSet presAssocID="{F039C7F1-88AC-48DE-BE6C-0419D3422B20}" presName="parTx" presStyleLbl="revTx" presStyleIdx="0" presStyleCnt="6">
        <dgm:presLayoutVars>
          <dgm:chMax val="0"/>
          <dgm:chPref val="0"/>
        </dgm:presLayoutVars>
      </dgm:prSet>
      <dgm:spPr/>
    </dgm:pt>
    <dgm:pt modelId="{6A365FFF-651F-4040-978C-C20F72768ABF}" type="pres">
      <dgm:prSet presAssocID="{687621F8-6E51-456F-8D4D-7B95B6253625}" presName="sibTrans" presStyleCnt="0"/>
      <dgm:spPr/>
    </dgm:pt>
    <dgm:pt modelId="{F1BD7791-597A-42A3-ACD7-F00A9506EC64}" type="pres">
      <dgm:prSet presAssocID="{0DAD55C6-8A8B-4EB0-9293-E4CC461ECFBC}" presName="compNode" presStyleCnt="0"/>
      <dgm:spPr/>
    </dgm:pt>
    <dgm:pt modelId="{602AD58C-EEDA-4AE7-9E30-D85E45A54A4E}" type="pres">
      <dgm:prSet presAssocID="{0DAD55C6-8A8B-4EB0-9293-E4CC461ECFBC}" presName="bgRect" presStyleLbl="bgShp" presStyleIdx="1" presStyleCnt="6"/>
      <dgm:spPr/>
    </dgm:pt>
    <dgm:pt modelId="{5B8FBA0A-85FC-4635-9AB0-1C398FC158C1}" type="pres">
      <dgm:prSet presAssocID="{0DAD55C6-8A8B-4EB0-9293-E4CC461ECFB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B13DB521-A9C8-4AE3-88D7-8EA4B59D1B1B}" type="pres">
      <dgm:prSet presAssocID="{0DAD55C6-8A8B-4EB0-9293-E4CC461ECFBC}" presName="spaceRect" presStyleCnt="0"/>
      <dgm:spPr/>
    </dgm:pt>
    <dgm:pt modelId="{066CC9F0-3C11-4138-9791-D374838640FD}" type="pres">
      <dgm:prSet presAssocID="{0DAD55C6-8A8B-4EB0-9293-E4CC461ECFBC}" presName="parTx" presStyleLbl="revTx" presStyleIdx="1" presStyleCnt="6">
        <dgm:presLayoutVars>
          <dgm:chMax val="0"/>
          <dgm:chPref val="0"/>
        </dgm:presLayoutVars>
      </dgm:prSet>
      <dgm:spPr/>
    </dgm:pt>
    <dgm:pt modelId="{C2931FA9-EED0-4A1E-9283-A5F8EA186E11}" type="pres">
      <dgm:prSet presAssocID="{96E03BC8-1520-429C-9C5B-AD6ACB981CE9}" presName="sibTrans" presStyleCnt="0"/>
      <dgm:spPr/>
    </dgm:pt>
    <dgm:pt modelId="{44AEE2E7-5008-4983-9317-49FDF29FBB81}" type="pres">
      <dgm:prSet presAssocID="{1C7D52B2-F04A-4B71-8F95-E08BD42239A3}" presName="compNode" presStyleCnt="0"/>
      <dgm:spPr/>
    </dgm:pt>
    <dgm:pt modelId="{2D140167-2C47-49E5-A29E-35583D822E7A}" type="pres">
      <dgm:prSet presAssocID="{1C7D52B2-F04A-4B71-8F95-E08BD42239A3}" presName="bgRect" presStyleLbl="bgShp" presStyleIdx="2" presStyleCnt="6"/>
      <dgm:spPr/>
    </dgm:pt>
    <dgm:pt modelId="{146CB906-E057-4B46-B9F3-12422050EE14}" type="pres">
      <dgm:prSet presAssocID="{1C7D52B2-F04A-4B71-8F95-E08BD42239A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614C82EC-3C7B-4156-8861-AFD0F278B76A}" type="pres">
      <dgm:prSet presAssocID="{1C7D52B2-F04A-4B71-8F95-E08BD42239A3}" presName="spaceRect" presStyleCnt="0"/>
      <dgm:spPr/>
    </dgm:pt>
    <dgm:pt modelId="{8842BF47-8558-450C-A240-3B1E9AE4F584}" type="pres">
      <dgm:prSet presAssocID="{1C7D52B2-F04A-4B71-8F95-E08BD42239A3}" presName="parTx" presStyleLbl="revTx" presStyleIdx="2" presStyleCnt="6">
        <dgm:presLayoutVars>
          <dgm:chMax val="0"/>
          <dgm:chPref val="0"/>
        </dgm:presLayoutVars>
      </dgm:prSet>
      <dgm:spPr/>
    </dgm:pt>
    <dgm:pt modelId="{435B4A2E-5176-4DEF-BCC3-5688DF1A2549}" type="pres">
      <dgm:prSet presAssocID="{1738684E-5B42-4377-8609-05D568C00B14}" presName="sibTrans" presStyleCnt="0"/>
      <dgm:spPr/>
    </dgm:pt>
    <dgm:pt modelId="{0D683703-11D3-4F8A-8D35-AC5F17A32933}" type="pres">
      <dgm:prSet presAssocID="{C3147286-A01A-4936-B642-29AC9AAD08A9}" presName="compNode" presStyleCnt="0"/>
      <dgm:spPr/>
    </dgm:pt>
    <dgm:pt modelId="{39A4CDC3-74A3-4A69-BE2A-DD9EA9E023EE}" type="pres">
      <dgm:prSet presAssocID="{C3147286-A01A-4936-B642-29AC9AAD08A9}" presName="bgRect" presStyleLbl="bgShp" presStyleIdx="3" presStyleCnt="6"/>
      <dgm:spPr/>
    </dgm:pt>
    <dgm:pt modelId="{04881FCC-9206-4F98-8724-6F50026082BE}" type="pres">
      <dgm:prSet presAssocID="{C3147286-A01A-4936-B642-29AC9AAD08A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754DD161-B96C-4183-9D6B-7562CB59FEA2}" type="pres">
      <dgm:prSet presAssocID="{C3147286-A01A-4936-B642-29AC9AAD08A9}" presName="spaceRect" presStyleCnt="0"/>
      <dgm:spPr/>
    </dgm:pt>
    <dgm:pt modelId="{32AEC127-D086-4621-86A0-96044B9428C7}" type="pres">
      <dgm:prSet presAssocID="{C3147286-A01A-4936-B642-29AC9AAD08A9}" presName="parTx" presStyleLbl="revTx" presStyleIdx="3" presStyleCnt="6">
        <dgm:presLayoutVars>
          <dgm:chMax val="0"/>
          <dgm:chPref val="0"/>
        </dgm:presLayoutVars>
      </dgm:prSet>
      <dgm:spPr/>
    </dgm:pt>
    <dgm:pt modelId="{934BF23E-1336-41D1-87AF-809799F9B101}" type="pres">
      <dgm:prSet presAssocID="{0F67DA59-220B-4834-B56D-0F229186AEC4}" presName="sibTrans" presStyleCnt="0"/>
      <dgm:spPr/>
    </dgm:pt>
    <dgm:pt modelId="{F85E7C58-A03B-46E7-A682-BDA0D6E9D291}" type="pres">
      <dgm:prSet presAssocID="{9CEDFE7B-F947-4968-8784-5F347CF8EB52}" presName="compNode" presStyleCnt="0"/>
      <dgm:spPr/>
    </dgm:pt>
    <dgm:pt modelId="{267C7377-7673-4ED9-9980-EB6344B7D084}" type="pres">
      <dgm:prSet presAssocID="{9CEDFE7B-F947-4968-8784-5F347CF8EB52}" presName="bgRect" presStyleLbl="bgShp" presStyleIdx="4" presStyleCnt="6"/>
      <dgm:spPr/>
    </dgm:pt>
    <dgm:pt modelId="{469DF55E-2D35-42A6-8ED7-3D23ED50802E}" type="pres">
      <dgm:prSet presAssocID="{9CEDFE7B-F947-4968-8784-5F347CF8EB5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ilter"/>
        </a:ext>
      </dgm:extLst>
    </dgm:pt>
    <dgm:pt modelId="{E5EC44F0-76AF-4021-AAD1-19075E34CCB4}" type="pres">
      <dgm:prSet presAssocID="{9CEDFE7B-F947-4968-8784-5F347CF8EB52}" presName="spaceRect" presStyleCnt="0"/>
      <dgm:spPr/>
    </dgm:pt>
    <dgm:pt modelId="{F3B707A9-5BEC-4D2D-90C7-8A27D9EB38B9}" type="pres">
      <dgm:prSet presAssocID="{9CEDFE7B-F947-4968-8784-5F347CF8EB52}" presName="parTx" presStyleLbl="revTx" presStyleIdx="4" presStyleCnt="6">
        <dgm:presLayoutVars>
          <dgm:chMax val="0"/>
          <dgm:chPref val="0"/>
        </dgm:presLayoutVars>
      </dgm:prSet>
      <dgm:spPr/>
    </dgm:pt>
    <dgm:pt modelId="{435D761B-2E2D-459F-A591-A341478544A2}" type="pres">
      <dgm:prSet presAssocID="{F9F2C42E-27D7-4C61-9364-3CCE8CCC2B13}" presName="sibTrans" presStyleCnt="0"/>
      <dgm:spPr/>
    </dgm:pt>
    <dgm:pt modelId="{4C613F2A-ACF0-4F03-B70A-92A222E9111A}" type="pres">
      <dgm:prSet presAssocID="{3F3AFAE2-6DF6-493A-ACEC-E0CD6F236E86}" presName="compNode" presStyleCnt="0"/>
      <dgm:spPr/>
    </dgm:pt>
    <dgm:pt modelId="{77D257C1-1D14-4A83-A407-DEBC5ADEF483}" type="pres">
      <dgm:prSet presAssocID="{3F3AFAE2-6DF6-493A-ACEC-E0CD6F236E86}" presName="bgRect" presStyleLbl="bgShp" presStyleIdx="5" presStyleCnt="6"/>
      <dgm:spPr/>
    </dgm:pt>
    <dgm:pt modelId="{2A2AA1EB-7A04-4E03-B72E-E88B3502FD10}" type="pres">
      <dgm:prSet presAssocID="{3F3AFAE2-6DF6-493A-ACEC-E0CD6F236E8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isconnected"/>
        </a:ext>
      </dgm:extLst>
    </dgm:pt>
    <dgm:pt modelId="{BC656E2F-39DB-4243-AE96-802BC34B42F9}" type="pres">
      <dgm:prSet presAssocID="{3F3AFAE2-6DF6-493A-ACEC-E0CD6F236E86}" presName="spaceRect" presStyleCnt="0"/>
      <dgm:spPr/>
    </dgm:pt>
    <dgm:pt modelId="{8BD3CAB4-B21E-4071-A676-77AAE9521997}" type="pres">
      <dgm:prSet presAssocID="{3F3AFAE2-6DF6-493A-ACEC-E0CD6F236E86}" presName="parTx" presStyleLbl="revTx" presStyleIdx="5" presStyleCnt="6">
        <dgm:presLayoutVars>
          <dgm:chMax val="0"/>
          <dgm:chPref val="0"/>
        </dgm:presLayoutVars>
      </dgm:prSet>
      <dgm:spPr/>
    </dgm:pt>
  </dgm:ptLst>
  <dgm:cxnLst>
    <dgm:cxn modelId="{E48BD90F-2A3E-4DB6-9E43-2051CF347E20}" type="presOf" srcId="{1C7D52B2-F04A-4B71-8F95-E08BD42239A3}" destId="{8842BF47-8558-450C-A240-3B1E9AE4F584}" srcOrd="0" destOrd="0" presId="urn:microsoft.com/office/officeart/2018/2/layout/IconVerticalSolidList"/>
    <dgm:cxn modelId="{950B341C-DD24-4813-BC63-85010FC7A76D}" srcId="{0941ACFF-9042-4319-8A43-29593B96144B}" destId="{1C7D52B2-F04A-4B71-8F95-E08BD42239A3}" srcOrd="2" destOrd="0" parTransId="{F8CA7711-E096-4B4C-BB02-9768BDEE15E3}" sibTransId="{1738684E-5B42-4377-8609-05D568C00B14}"/>
    <dgm:cxn modelId="{9DA29129-1563-42C3-8082-52163415C01F}" type="presOf" srcId="{3F3AFAE2-6DF6-493A-ACEC-E0CD6F236E86}" destId="{8BD3CAB4-B21E-4071-A676-77AAE9521997}" srcOrd="0" destOrd="0" presId="urn:microsoft.com/office/officeart/2018/2/layout/IconVerticalSolidList"/>
    <dgm:cxn modelId="{8EE4A141-DBA9-40F9-9367-ED0BA9A733BD}" srcId="{0941ACFF-9042-4319-8A43-29593B96144B}" destId="{C3147286-A01A-4936-B642-29AC9AAD08A9}" srcOrd="3" destOrd="0" parTransId="{3666634E-C538-4547-8C57-7AF23483E73F}" sibTransId="{0F67DA59-220B-4834-B56D-0F229186AEC4}"/>
    <dgm:cxn modelId="{40D54849-5D46-4113-8112-FE7C2F80D4D8}" srcId="{0941ACFF-9042-4319-8A43-29593B96144B}" destId="{F039C7F1-88AC-48DE-BE6C-0419D3422B20}" srcOrd="0" destOrd="0" parTransId="{AD192158-0649-4DFA-ACBA-7372B1C7A071}" sibTransId="{687621F8-6E51-456F-8D4D-7B95B6253625}"/>
    <dgm:cxn modelId="{A5B54777-3EBF-4648-871D-D32C0A8480A5}" type="presOf" srcId="{0941ACFF-9042-4319-8A43-29593B96144B}" destId="{7D55C1AD-ED01-4272-9366-02325A298302}" srcOrd="0" destOrd="0" presId="urn:microsoft.com/office/officeart/2018/2/layout/IconVerticalSolidList"/>
    <dgm:cxn modelId="{2362D37A-723A-41B6-ABDF-5935FB28B553}" type="presOf" srcId="{0DAD55C6-8A8B-4EB0-9293-E4CC461ECFBC}" destId="{066CC9F0-3C11-4138-9791-D374838640FD}" srcOrd="0" destOrd="0" presId="urn:microsoft.com/office/officeart/2018/2/layout/IconVerticalSolidList"/>
    <dgm:cxn modelId="{C58F48AD-1DB9-4A2B-BD96-87683DBE53A1}" type="presOf" srcId="{C3147286-A01A-4936-B642-29AC9AAD08A9}" destId="{32AEC127-D086-4621-86A0-96044B9428C7}" srcOrd="0" destOrd="0" presId="urn:microsoft.com/office/officeart/2018/2/layout/IconVerticalSolidList"/>
    <dgm:cxn modelId="{EF84FBAF-54E1-46DA-9048-D7BD9C7E2269}" srcId="{0941ACFF-9042-4319-8A43-29593B96144B}" destId="{3F3AFAE2-6DF6-493A-ACEC-E0CD6F236E86}" srcOrd="5" destOrd="0" parTransId="{9D71F640-4B6B-4E0D-B12F-A99C3F22F2A3}" sibTransId="{C0E34F13-198C-4D52-ACA5-85D1E2EEF319}"/>
    <dgm:cxn modelId="{80A64FBB-FE6A-43A7-8430-CF39F3358370}" srcId="{0941ACFF-9042-4319-8A43-29593B96144B}" destId="{0DAD55C6-8A8B-4EB0-9293-E4CC461ECFBC}" srcOrd="1" destOrd="0" parTransId="{FFD4158A-9C6D-4AB1-8374-A69C434AE597}" sibTransId="{96E03BC8-1520-429C-9C5B-AD6ACB981CE9}"/>
    <dgm:cxn modelId="{6EA5F8CD-5E02-47FB-A338-D74C275924E3}" type="presOf" srcId="{9CEDFE7B-F947-4968-8784-5F347CF8EB52}" destId="{F3B707A9-5BEC-4D2D-90C7-8A27D9EB38B9}" srcOrd="0" destOrd="0" presId="urn:microsoft.com/office/officeart/2018/2/layout/IconVerticalSolidList"/>
    <dgm:cxn modelId="{189954EA-8B92-4F94-AAF4-B98D61C58EE7}" srcId="{0941ACFF-9042-4319-8A43-29593B96144B}" destId="{9CEDFE7B-F947-4968-8784-5F347CF8EB52}" srcOrd="4" destOrd="0" parTransId="{FE4D608F-03C9-45DB-9621-7A416B666735}" sibTransId="{F9F2C42E-27D7-4C61-9364-3CCE8CCC2B13}"/>
    <dgm:cxn modelId="{73907FF7-CE63-49C8-84A8-53A5F30BED06}" type="presOf" srcId="{F039C7F1-88AC-48DE-BE6C-0419D3422B20}" destId="{77211731-9562-4DEF-A1E0-5BBD6ED2C350}" srcOrd="0" destOrd="0" presId="urn:microsoft.com/office/officeart/2018/2/layout/IconVerticalSolidList"/>
    <dgm:cxn modelId="{D7E9300A-FD28-4DA5-9327-C22401B215DD}" type="presParOf" srcId="{7D55C1AD-ED01-4272-9366-02325A298302}" destId="{ADB20BD0-EF9C-414D-82EE-42DD842DB3B3}" srcOrd="0" destOrd="0" presId="urn:microsoft.com/office/officeart/2018/2/layout/IconVerticalSolidList"/>
    <dgm:cxn modelId="{40F0849B-EF3C-493D-8653-D7918F74FB48}" type="presParOf" srcId="{ADB20BD0-EF9C-414D-82EE-42DD842DB3B3}" destId="{C9B66440-BC03-4A86-B157-7C05BBCEBA5D}" srcOrd="0" destOrd="0" presId="urn:microsoft.com/office/officeart/2018/2/layout/IconVerticalSolidList"/>
    <dgm:cxn modelId="{D3F6424C-1A69-4458-9A15-A49411657622}" type="presParOf" srcId="{ADB20BD0-EF9C-414D-82EE-42DD842DB3B3}" destId="{868E2F6E-8D1F-4C9C-87C4-46A52E77A452}" srcOrd="1" destOrd="0" presId="urn:microsoft.com/office/officeart/2018/2/layout/IconVerticalSolidList"/>
    <dgm:cxn modelId="{CE812132-F3D6-4E75-AEDA-9CAD7F2027FD}" type="presParOf" srcId="{ADB20BD0-EF9C-414D-82EE-42DD842DB3B3}" destId="{B4A3FCCA-CDD8-46DB-B256-3D842F4416E0}" srcOrd="2" destOrd="0" presId="urn:microsoft.com/office/officeart/2018/2/layout/IconVerticalSolidList"/>
    <dgm:cxn modelId="{36F2ABF5-ED5E-4AF6-A6A2-A8E946812578}" type="presParOf" srcId="{ADB20BD0-EF9C-414D-82EE-42DD842DB3B3}" destId="{77211731-9562-4DEF-A1E0-5BBD6ED2C350}" srcOrd="3" destOrd="0" presId="urn:microsoft.com/office/officeart/2018/2/layout/IconVerticalSolidList"/>
    <dgm:cxn modelId="{14D66ECF-888F-41AE-8860-A74348B6256F}" type="presParOf" srcId="{7D55C1AD-ED01-4272-9366-02325A298302}" destId="{6A365FFF-651F-4040-978C-C20F72768ABF}" srcOrd="1" destOrd="0" presId="urn:microsoft.com/office/officeart/2018/2/layout/IconVerticalSolidList"/>
    <dgm:cxn modelId="{F6237639-0977-42A0-961A-B3FAAA1E05FF}" type="presParOf" srcId="{7D55C1AD-ED01-4272-9366-02325A298302}" destId="{F1BD7791-597A-42A3-ACD7-F00A9506EC64}" srcOrd="2" destOrd="0" presId="urn:microsoft.com/office/officeart/2018/2/layout/IconVerticalSolidList"/>
    <dgm:cxn modelId="{5F9F06F6-64FD-46D1-9884-18528F49C04B}" type="presParOf" srcId="{F1BD7791-597A-42A3-ACD7-F00A9506EC64}" destId="{602AD58C-EEDA-4AE7-9E30-D85E45A54A4E}" srcOrd="0" destOrd="0" presId="urn:microsoft.com/office/officeart/2018/2/layout/IconVerticalSolidList"/>
    <dgm:cxn modelId="{1C1BEEBA-F767-4F3C-8466-BB0776AE328B}" type="presParOf" srcId="{F1BD7791-597A-42A3-ACD7-F00A9506EC64}" destId="{5B8FBA0A-85FC-4635-9AB0-1C398FC158C1}" srcOrd="1" destOrd="0" presId="urn:microsoft.com/office/officeart/2018/2/layout/IconVerticalSolidList"/>
    <dgm:cxn modelId="{8A1891A2-522B-430B-8F76-DD484FF132D3}" type="presParOf" srcId="{F1BD7791-597A-42A3-ACD7-F00A9506EC64}" destId="{B13DB521-A9C8-4AE3-88D7-8EA4B59D1B1B}" srcOrd="2" destOrd="0" presId="urn:microsoft.com/office/officeart/2018/2/layout/IconVerticalSolidList"/>
    <dgm:cxn modelId="{1E59102D-A166-4EB2-BE24-45976F0D68E0}" type="presParOf" srcId="{F1BD7791-597A-42A3-ACD7-F00A9506EC64}" destId="{066CC9F0-3C11-4138-9791-D374838640FD}" srcOrd="3" destOrd="0" presId="urn:microsoft.com/office/officeart/2018/2/layout/IconVerticalSolidList"/>
    <dgm:cxn modelId="{15712B8E-B52D-4459-889E-8842993C86F8}" type="presParOf" srcId="{7D55C1AD-ED01-4272-9366-02325A298302}" destId="{C2931FA9-EED0-4A1E-9283-A5F8EA186E11}" srcOrd="3" destOrd="0" presId="urn:microsoft.com/office/officeart/2018/2/layout/IconVerticalSolidList"/>
    <dgm:cxn modelId="{FCB812A8-C6DE-497E-BD77-0B9F600CE593}" type="presParOf" srcId="{7D55C1AD-ED01-4272-9366-02325A298302}" destId="{44AEE2E7-5008-4983-9317-49FDF29FBB81}" srcOrd="4" destOrd="0" presId="urn:microsoft.com/office/officeart/2018/2/layout/IconVerticalSolidList"/>
    <dgm:cxn modelId="{6C9EDC7E-68C0-4D32-9E6E-04692CA2202B}" type="presParOf" srcId="{44AEE2E7-5008-4983-9317-49FDF29FBB81}" destId="{2D140167-2C47-49E5-A29E-35583D822E7A}" srcOrd="0" destOrd="0" presId="urn:microsoft.com/office/officeart/2018/2/layout/IconVerticalSolidList"/>
    <dgm:cxn modelId="{3C9FB924-7DB8-46AF-806A-3DEBC3402425}" type="presParOf" srcId="{44AEE2E7-5008-4983-9317-49FDF29FBB81}" destId="{146CB906-E057-4B46-B9F3-12422050EE14}" srcOrd="1" destOrd="0" presId="urn:microsoft.com/office/officeart/2018/2/layout/IconVerticalSolidList"/>
    <dgm:cxn modelId="{C306CFC1-D2E3-4DB1-8EB9-6728C08E6CFD}" type="presParOf" srcId="{44AEE2E7-5008-4983-9317-49FDF29FBB81}" destId="{614C82EC-3C7B-4156-8861-AFD0F278B76A}" srcOrd="2" destOrd="0" presId="urn:microsoft.com/office/officeart/2018/2/layout/IconVerticalSolidList"/>
    <dgm:cxn modelId="{F55ED017-F97F-4721-BE3A-D7B691AAEB9F}" type="presParOf" srcId="{44AEE2E7-5008-4983-9317-49FDF29FBB81}" destId="{8842BF47-8558-450C-A240-3B1E9AE4F584}" srcOrd="3" destOrd="0" presId="urn:microsoft.com/office/officeart/2018/2/layout/IconVerticalSolidList"/>
    <dgm:cxn modelId="{5796BA35-C3DE-425E-97BA-9F606DA7AA32}" type="presParOf" srcId="{7D55C1AD-ED01-4272-9366-02325A298302}" destId="{435B4A2E-5176-4DEF-BCC3-5688DF1A2549}" srcOrd="5" destOrd="0" presId="urn:microsoft.com/office/officeart/2018/2/layout/IconVerticalSolidList"/>
    <dgm:cxn modelId="{784458A1-649D-4E21-87B3-A0B17B9A7182}" type="presParOf" srcId="{7D55C1AD-ED01-4272-9366-02325A298302}" destId="{0D683703-11D3-4F8A-8D35-AC5F17A32933}" srcOrd="6" destOrd="0" presId="urn:microsoft.com/office/officeart/2018/2/layout/IconVerticalSolidList"/>
    <dgm:cxn modelId="{9991B81E-6448-4AA2-B4A7-205254794E7B}" type="presParOf" srcId="{0D683703-11D3-4F8A-8D35-AC5F17A32933}" destId="{39A4CDC3-74A3-4A69-BE2A-DD9EA9E023EE}" srcOrd="0" destOrd="0" presId="urn:microsoft.com/office/officeart/2018/2/layout/IconVerticalSolidList"/>
    <dgm:cxn modelId="{E404A784-BF10-4AF1-88B4-56F6C8E8CE1A}" type="presParOf" srcId="{0D683703-11D3-4F8A-8D35-AC5F17A32933}" destId="{04881FCC-9206-4F98-8724-6F50026082BE}" srcOrd="1" destOrd="0" presId="urn:microsoft.com/office/officeart/2018/2/layout/IconVerticalSolidList"/>
    <dgm:cxn modelId="{6A9971BC-1222-4960-8080-148B5A878D2B}" type="presParOf" srcId="{0D683703-11D3-4F8A-8D35-AC5F17A32933}" destId="{754DD161-B96C-4183-9D6B-7562CB59FEA2}" srcOrd="2" destOrd="0" presId="urn:microsoft.com/office/officeart/2018/2/layout/IconVerticalSolidList"/>
    <dgm:cxn modelId="{7FE74DAC-7997-4DD3-9481-4F02C66D18E3}" type="presParOf" srcId="{0D683703-11D3-4F8A-8D35-AC5F17A32933}" destId="{32AEC127-D086-4621-86A0-96044B9428C7}" srcOrd="3" destOrd="0" presId="urn:microsoft.com/office/officeart/2018/2/layout/IconVerticalSolidList"/>
    <dgm:cxn modelId="{B93B90C2-9D3E-4A29-8316-EF04FF2A643E}" type="presParOf" srcId="{7D55C1AD-ED01-4272-9366-02325A298302}" destId="{934BF23E-1336-41D1-87AF-809799F9B101}" srcOrd="7" destOrd="0" presId="urn:microsoft.com/office/officeart/2018/2/layout/IconVerticalSolidList"/>
    <dgm:cxn modelId="{43FAE94F-78B3-4612-B399-910721BE31CB}" type="presParOf" srcId="{7D55C1AD-ED01-4272-9366-02325A298302}" destId="{F85E7C58-A03B-46E7-A682-BDA0D6E9D291}" srcOrd="8" destOrd="0" presId="urn:microsoft.com/office/officeart/2018/2/layout/IconVerticalSolidList"/>
    <dgm:cxn modelId="{B7817E01-346B-435C-8A5B-6E4886D26D24}" type="presParOf" srcId="{F85E7C58-A03B-46E7-A682-BDA0D6E9D291}" destId="{267C7377-7673-4ED9-9980-EB6344B7D084}" srcOrd="0" destOrd="0" presId="urn:microsoft.com/office/officeart/2018/2/layout/IconVerticalSolidList"/>
    <dgm:cxn modelId="{298E2953-54E4-4739-9B77-3C4AEEFC2EC0}" type="presParOf" srcId="{F85E7C58-A03B-46E7-A682-BDA0D6E9D291}" destId="{469DF55E-2D35-42A6-8ED7-3D23ED50802E}" srcOrd="1" destOrd="0" presId="urn:microsoft.com/office/officeart/2018/2/layout/IconVerticalSolidList"/>
    <dgm:cxn modelId="{91C3DD6E-42C9-4EF5-9959-B522C81B6D25}" type="presParOf" srcId="{F85E7C58-A03B-46E7-A682-BDA0D6E9D291}" destId="{E5EC44F0-76AF-4021-AAD1-19075E34CCB4}" srcOrd="2" destOrd="0" presId="urn:microsoft.com/office/officeart/2018/2/layout/IconVerticalSolidList"/>
    <dgm:cxn modelId="{D6D951B5-F736-41DF-B34C-4E3AA6349D35}" type="presParOf" srcId="{F85E7C58-A03B-46E7-A682-BDA0D6E9D291}" destId="{F3B707A9-5BEC-4D2D-90C7-8A27D9EB38B9}" srcOrd="3" destOrd="0" presId="urn:microsoft.com/office/officeart/2018/2/layout/IconVerticalSolidList"/>
    <dgm:cxn modelId="{C8A69EC1-803B-46DD-A102-2FEC5EF29D53}" type="presParOf" srcId="{7D55C1AD-ED01-4272-9366-02325A298302}" destId="{435D761B-2E2D-459F-A591-A341478544A2}" srcOrd="9" destOrd="0" presId="urn:microsoft.com/office/officeart/2018/2/layout/IconVerticalSolidList"/>
    <dgm:cxn modelId="{B44C93D9-A494-4B57-9560-6597C9800718}" type="presParOf" srcId="{7D55C1AD-ED01-4272-9366-02325A298302}" destId="{4C613F2A-ACF0-4F03-B70A-92A222E9111A}" srcOrd="10" destOrd="0" presId="urn:microsoft.com/office/officeart/2018/2/layout/IconVerticalSolidList"/>
    <dgm:cxn modelId="{C56522D0-40A3-4DBB-89DA-BE78BD0123E5}" type="presParOf" srcId="{4C613F2A-ACF0-4F03-B70A-92A222E9111A}" destId="{77D257C1-1D14-4A83-A407-DEBC5ADEF483}" srcOrd="0" destOrd="0" presId="urn:microsoft.com/office/officeart/2018/2/layout/IconVerticalSolidList"/>
    <dgm:cxn modelId="{1C2C2914-DC44-4118-9F87-1AB9C433261E}" type="presParOf" srcId="{4C613F2A-ACF0-4F03-B70A-92A222E9111A}" destId="{2A2AA1EB-7A04-4E03-B72E-E88B3502FD10}" srcOrd="1" destOrd="0" presId="urn:microsoft.com/office/officeart/2018/2/layout/IconVerticalSolidList"/>
    <dgm:cxn modelId="{3E0C2A1B-B9B9-4E0B-B293-0BC4D6350D70}" type="presParOf" srcId="{4C613F2A-ACF0-4F03-B70A-92A222E9111A}" destId="{BC656E2F-39DB-4243-AE96-802BC34B42F9}" srcOrd="2" destOrd="0" presId="urn:microsoft.com/office/officeart/2018/2/layout/IconVerticalSolidList"/>
    <dgm:cxn modelId="{A2FCFB01-17FC-4F85-B589-9A649C5A7EC1}" type="presParOf" srcId="{4C613F2A-ACF0-4F03-B70A-92A222E9111A}" destId="{8BD3CAB4-B21E-4071-A676-77AAE95219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ED742B-1178-4BB4-9319-D4313FA20E1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2C2B873-33E5-4F36-B04C-E7C4069C1C82}">
      <dgm:prSet/>
      <dgm:spPr/>
      <dgm:t>
        <a:bodyPr/>
        <a:lstStyle/>
        <a:p>
          <a:r>
            <a:rPr lang="en-US"/>
            <a:t>Exhaustive search is a method in which solution is obtained by searching  each  element of given problem. Exhaustive search makes use of straight forward  approach.</a:t>
          </a:r>
        </a:p>
      </dgm:t>
    </dgm:pt>
    <dgm:pt modelId="{CBA4B6BB-DBB5-444D-9DE4-C937D16B7241}" type="parTrans" cxnId="{E10789BC-23D9-4933-BB5C-19E6CDAEE0E4}">
      <dgm:prSet/>
      <dgm:spPr/>
      <dgm:t>
        <a:bodyPr/>
        <a:lstStyle/>
        <a:p>
          <a:endParaRPr lang="en-US"/>
        </a:p>
      </dgm:t>
    </dgm:pt>
    <dgm:pt modelId="{FC3354B0-6625-415F-8085-96AD110FD4F7}" type="sibTrans" cxnId="{E10789BC-23D9-4933-BB5C-19E6CDAEE0E4}">
      <dgm:prSet/>
      <dgm:spPr/>
      <dgm:t>
        <a:bodyPr/>
        <a:lstStyle/>
        <a:p>
          <a:endParaRPr lang="en-US"/>
        </a:p>
      </dgm:t>
    </dgm:pt>
    <dgm:pt modelId="{DD815880-EF5A-472F-9798-753437C6077D}">
      <dgm:prSet/>
      <dgm:spPr/>
      <dgm:t>
        <a:bodyPr/>
        <a:lstStyle/>
        <a:p>
          <a:r>
            <a:rPr lang="en-US"/>
            <a:t>Travelling salesman problem</a:t>
          </a:r>
        </a:p>
      </dgm:t>
    </dgm:pt>
    <dgm:pt modelId="{E9DC82B8-FB4A-4947-9B18-417E4AEF5AB6}" type="parTrans" cxnId="{2B407164-7C2A-45CC-93EB-A0AD4AA559D6}">
      <dgm:prSet/>
      <dgm:spPr/>
      <dgm:t>
        <a:bodyPr/>
        <a:lstStyle/>
        <a:p>
          <a:endParaRPr lang="en-US"/>
        </a:p>
      </dgm:t>
    </dgm:pt>
    <dgm:pt modelId="{DA74CA1B-83CB-49F9-BD60-E4E2F7128FFD}" type="sibTrans" cxnId="{2B407164-7C2A-45CC-93EB-A0AD4AA559D6}">
      <dgm:prSet/>
      <dgm:spPr/>
      <dgm:t>
        <a:bodyPr/>
        <a:lstStyle/>
        <a:p>
          <a:endParaRPr lang="en-US"/>
        </a:p>
      </dgm:t>
    </dgm:pt>
    <dgm:pt modelId="{8B960DB0-8767-4273-8793-69F0EF44F00D}">
      <dgm:prSet/>
      <dgm:spPr/>
      <dgm:t>
        <a:bodyPr/>
        <a:lstStyle/>
        <a:p>
          <a:r>
            <a:rPr lang="en-US"/>
            <a:t>Knapsack problem</a:t>
          </a:r>
        </a:p>
      </dgm:t>
    </dgm:pt>
    <dgm:pt modelId="{888F2B0A-AF29-4AEC-9C42-1B138205AB89}" type="parTrans" cxnId="{0E1CBC1C-98F9-45E6-9A9F-7784B24D4556}">
      <dgm:prSet/>
      <dgm:spPr/>
      <dgm:t>
        <a:bodyPr/>
        <a:lstStyle/>
        <a:p>
          <a:endParaRPr lang="en-US"/>
        </a:p>
      </dgm:t>
    </dgm:pt>
    <dgm:pt modelId="{691D5DF0-05B7-423D-B69D-EA7AD49C7C3C}" type="sibTrans" cxnId="{0E1CBC1C-98F9-45E6-9A9F-7784B24D4556}">
      <dgm:prSet/>
      <dgm:spPr/>
      <dgm:t>
        <a:bodyPr/>
        <a:lstStyle/>
        <a:p>
          <a:endParaRPr lang="en-US"/>
        </a:p>
      </dgm:t>
    </dgm:pt>
    <dgm:pt modelId="{7446EA83-8037-40CF-887D-46363C9B1A86}">
      <dgm:prSet/>
      <dgm:spPr/>
      <dgm:t>
        <a:bodyPr/>
        <a:lstStyle/>
        <a:p>
          <a:r>
            <a:rPr lang="en-US"/>
            <a:t>Assignment problem</a:t>
          </a:r>
        </a:p>
      </dgm:t>
    </dgm:pt>
    <dgm:pt modelId="{1E27FE32-1420-487C-82C3-1128C51232B5}" type="parTrans" cxnId="{BF5014DD-FC9E-4289-8A9E-F1AE306E2A8F}">
      <dgm:prSet/>
      <dgm:spPr/>
      <dgm:t>
        <a:bodyPr/>
        <a:lstStyle/>
        <a:p>
          <a:endParaRPr lang="en-US"/>
        </a:p>
      </dgm:t>
    </dgm:pt>
    <dgm:pt modelId="{3E3A96FE-7759-43FC-BDD0-863888D5015E}" type="sibTrans" cxnId="{BF5014DD-FC9E-4289-8A9E-F1AE306E2A8F}">
      <dgm:prSet/>
      <dgm:spPr/>
      <dgm:t>
        <a:bodyPr/>
        <a:lstStyle/>
        <a:p>
          <a:endParaRPr lang="en-US"/>
        </a:p>
      </dgm:t>
    </dgm:pt>
    <dgm:pt modelId="{3E5A40C5-255D-4DFB-A953-D3C54FA6E8F2}" type="pres">
      <dgm:prSet presAssocID="{D3ED742B-1178-4BB4-9319-D4313FA20E1B}" presName="root" presStyleCnt="0">
        <dgm:presLayoutVars>
          <dgm:dir/>
          <dgm:resizeHandles val="exact"/>
        </dgm:presLayoutVars>
      </dgm:prSet>
      <dgm:spPr/>
    </dgm:pt>
    <dgm:pt modelId="{8B827B83-251A-441C-8CDE-A8E86799CD28}" type="pres">
      <dgm:prSet presAssocID="{62C2B873-33E5-4F36-B04C-E7C4069C1C82}" presName="compNode" presStyleCnt="0"/>
      <dgm:spPr/>
    </dgm:pt>
    <dgm:pt modelId="{AD2686F0-3826-4031-A24D-C4188C67DA4B}" type="pres">
      <dgm:prSet presAssocID="{62C2B873-33E5-4F36-B04C-E7C4069C1C82}" presName="bgRect" presStyleLbl="bgShp" presStyleIdx="0" presStyleCnt="4"/>
      <dgm:spPr/>
    </dgm:pt>
    <dgm:pt modelId="{33C11ED3-11BE-42FB-82E7-5563067AE3A2}" type="pres">
      <dgm:prSet presAssocID="{62C2B873-33E5-4F36-B04C-E7C4069C1C8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F47D5949-9582-40F0-9B97-0D4C241E48CC}" type="pres">
      <dgm:prSet presAssocID="{62C2B873-33E5-4F36-B04C-E7C4069C1C82}" presName="spaceRect" presStyleCnt="0"/>
      <dgm:spPr/>
    </dgm:pt>
    <dgm:pt modelId="{9CDDB15D-6F2F-4188-B711-CC5DFE5A1634}" type="pres">
      <dgm:prSet presAssocID="{62C2B873-33E5-4F36-B04C-E7C4069C1C82}" presName="parTx" presStyleLbl="revTx" presStyleIdx="0" presStyleCnt="4">
        <dgm:presLayoutVars>
          <dgm:chMax val="0"/>
          <dgm:chPref val="0"/>
        </dgm:presLayoutVars>
      </dgm:prSet>
      <dgm:spPr/>
    </dgm:pt>
    <dgm:pt modelId="{4878AAC5-E4DF-49FB-B41F-C95C58E8F9DB}" type="pres">
      <dgm:prSet presAssocID="{FC3354B0-6625-415F-8085-96AD110FD4F7}" presName="sibTrans" presStyleCnt="0"/>
      <dgm:spPr/>
    </dgm:pt>
    <dgm:pt modelId="{83338CD9-0958-459E-BB32-583B2CFFDAE8}" type="pres">
      <dgm:prSet presAssocID="{DD815880-EF5A-472F-9798-753437C6077D}" presName="compNode" presStyleCnt="0"/>
      <dgm:spPr/>
    </dgm:pt>
    <dgm:pt modelId="{65C71B0A-1CD0-401D-8E2A-37B830AF1215}" type="pres">
      <dgm:prSet presAssocID="{DD815880-EF5A-472F-9798-753437C6077D}" presName="bgRect" presStyleLbl="bgShp" presStyleIdx="1" presStyleCnt="4"/>
      <dgm:spPr/>
    </dgm:pt>
    <dgm:pt modelId="{8DDB5AC8-B1C1-421B-BF29-DC2D312AE8C6}" type="pres">
      <dgm:prSet presAssocID="{DD815880-EF5A-472F-9798-753437C6077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CB663FF6-F9CF-411E-BBB7-9379023894ED}" type="pres">
      <dgm:prSet presAssocID="{DD815880-EF5A-472F-9798-753437C6077D}" presName="spaceRect" presStyleCnt="0"/>
      <dgm:spPr/>
    </dgm:pt>
    <dgm:pt modelId="{33BAEA37-16A9-4722-BAA4-620FDAD72030}" type="pres">
      <dgm:prSet presAssocID="{DD815880-EF5A-472F-9798-753437C6077D}" presName="parTx" presStyleLbl="revTx" presStyleIdx="1" presStyleCnt="4">
        <dgm:presLayoutVars>
          <dgm:chMax val="0"/>
          <dgm:chPref val="0"/>
        </dgm:presLayoutVars>
      </dgm:prSet>
      <dgm:spPr/>
    </dgm:pt>
    <dgm:pt modelId="{A3C56D67-0694-40F1-B986-A89B3C85D7AE}" type="pres">
      <dgm:prSet presAssocID="{DA74CA1B-83CB-49F9-BD60-E4E2F7128FFD}" presName="sibTrans" presStyleCnt="0"/>
      <dgm:spPr/>
    </dgm:pt>
    <dgm:pt modelId="{D9419795-78B1-4EF4-A2E0-E5356A2001E2}" type="pres">
      <dgm:prSet presAssocID="{8B960DB0-8767-4273-8793-69F0EF44F00D}" presName="compNode" presStyleCnt="0"/>
      <dgm:spPr/>
    </dgm:pt>
    <dgm:pt modelId="{595747D1-16AF-438F-9759-3E623E7D15DC}" type="pres">
      <dgm:prSet presAssocID="{8B960DB0-8767-4273-8793-69F0EF44F00D}" presName="bgRect" presStyleLbl="bgShp" presStyleIdx="2" presStyleCnt="4"/>
      <dgm:spPr/>
    </dgm:pt>
    <dgm:pt modelId="{B9740310-4F19-43B6-B6E2-B14C3B7D0670}" type="pres">
      <dgm:prSet presAssocID="{8B960DB0-8767-4273-8793-69F0EF44F00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perclip"/>
        </a:ext>
      </dgm:extLst>
    </dgm:pt>
    <dgm:pt modelId="{C30D1124-E258-4FBD-8400-086B69D48C80}" type="pres">
      <dgm:prSet presAssocID="{8B960DB0-8767-4273-8793-69F0EF44F00D}" presName="spaceRect" presStyleCnt="0"/>
      <dgm:spPr/>
    </dgm:pt>
    <dgm:pt modelId="{66F26B0D-7E06-4B53-A3F0-4402DBEAD548}" type="pres">
      <dgm:prSet presAssocID="{8B960DB0-8767-4273-8793-69F0EF44F00D}" presName="parTx" presStyleLbl="revTx" presStyleIdx="2" presStyleCnt="4">
        <dgm:presLayoutVars>
          <dgm:chMax val="0"/>
          <dgm:chPref val="0"/>
        </dgm:presLayoutVars>
      </dgm:prSet>
      <dgm:spPr/>
    </dgm:pt>
    <dgm:pt modelId="{DDECEC86-A002-476F-9E5F-4E9128AEEBCC}" type="pres">
      <dgm:prSet presAssocID="{691D5DF0-05B7-423D-B69D-EA7AD49C7C3C}" presName="sibTrans" presStyleCnt="0"/>
      <dgm:spPr/>
    </dgm:pt>
    <dgm:pt modelId="{ECC70046-6BB5-4D17-80FD-62E71BFA5FF0}" type="pres">
      <dgm:prSet presAssocID="{7446EA83-8037-40CF-887D-46363C9B1A86}" presName="compNode" presStyleCnt="0"/>
      <dgm:spPr/>
    </dgm:pt>
    <dgm:pt modelId="{851C6AB6-80F1-4D8F-9C16-7F085165F349}" type="pres">
      <dgm:prSet presAssocID="{7446EA83-8037-40CF-887D-46363C9B1A86}" presName="bgRect" presStyleLbl="bgShp" presStyleIdx="3" presStyleCnt="4"/>
      <dgm:spPr/>
    </dgm:pt>
    <dgm:pt modelId="{BA58D293-3111-420F-9B72-CADC211CD3F2}" type="pres">
      <dgm:prSet presAssocID="{7446EA83-8037-40CF-887D-46363C9B1A8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CF5F676D-7D12-493E-AD05-9ECF7C2AA21F}" type="pres">
      <dgm:prSet presAssocID="{7446EA83-8037-40CF-887D-46363C9B1A86}" presName="spaceRect" presStyleCnt="0"/>
      <dgm:spPr/>
    </dgm:pt>
    <dgm:pt modelId="{21920E5A-6B85-4A57-98AE-5BEF0803336B}" type="pres">
      <dgm:prSet presAssocID="{7446EA83-8037-40CF-887D-46363C9B1A86}" presName="parTx" presStyleLbl="revTx" presStyleIdx="3" presStyleCnt="4">
        <dgm:presLayoutVars>
          <dgm:chMax val="0"/>
          <dgm:chPref val="0"/>
        </dgm:presLayoutVars>
      </dgm:prSet>
      <dgm:spPr/>
    </dgm:pt>
  </dgm:ptLst>
  <dgm:cxnLst>
    <dgm:cxn modelId="{0E1CBC1C-98F9-45E6-9A9F-7784B24D4556}" srcId="{D3ED742B-1178-4BB4-9319-D4313FA20E1B}" destId="{8B960DB0-8767-4273-8793-69F0EF44F00D}" srcOrd="2" destOrd="0" parTransId="{888F2B0A-AF29-4AEC-9C42-1B138205AB89}" sibTransId="{691D5DF0-05B7-423D-B69D-EA7AD49C7C3C}"/>
    <dgm:cxn modelId="{2B407164-7C2A-45CC-93EB-A0AD4AA559D6}" srcId="{D3ED742B-1178-4BB4-9319-D4313FA20E1B}" destId="{DD815880-EF5A-472F-9798-753437C6077D}" srcOrd="1" destOrd="0" parTransId="{E9DC82B8-FB4A-4947-9B18-417E4AEF5AB6}" sibTransId="{DA74CA1B-83CB-49F9-BD60-E4E2F7128FFD}"/>
    <dgm:cxn modelId="{EDABA275-AA82-44FC-903F-7CB0FC36E53A}" type="presOf" srcId="{D3ED742B-1178-4BB4-9319-D4313FA20E1B}" destId="{3E5A40C5-255D-4DFB-A953-D3C54FA6E8F2}" srcOrd="0" destOrd="0" presId="urn:microsoft.com/office/officeart/2018/2/layout/IconVerticalSolidList"/>
    <dgm:cxn modelId="{E647BC97-BBF6-44C8-8823-58CC3908D077}" type="presOf" srcId="{DD815880-EF5A-472F-9798-753437C6077D}" destId="{33BAEA37-16A9-4722-BAA4-620FDAD72030}" srcOrd="0" destOrd="0" presId="urn:microsoft.com/office/officeart/2018/2/layout/IconVerticalSolidList"/>
    <dgm:cxn modelId="{818942BB-D4F3-4D5C-8E40-11D16C1A17FA}" type="presOf" srcId="{7446EA83-8037-40CF-887D-46363C9B1A86}" destId="{21920E5A-6B85-4A57-98AE-5BEF0803336B}" srcOrd="0" destOrd="0" presId="urn:microsoft.com/office/officeart/2018/2/layout/IconVerticalSolidList"/>
    <dgm:cxn modelId="{E10789BC-23D9-4933-BB5C-19E6CDAEE0E4}" srcId="{D3ED742B-1178-4BB4-9319-D4313FA20E1B}" destId="{62C2B873-33E5-4F36-B04C-E7C4069C1C82}" srcOrd="0" destOrd="0" parTransId="{CBA4B6BB-DBB5-444D-9DE4-C937D16B7241}" sibTransId="{FC3354B0-6625-415F-8085-96AD110FD4F7}"/>
    <dgm:cxn modelId="{82FD22C8-DFE5-4A82-B59B-8702D78113BB}" type="presOf" srcId="{62C2B873-33E5-4F36-B04C-E7C4069C1C82}" destId="{9CDDB15D-6F2F-4188-B711-CC5DFE5A1634}" srcOrd="0" destOrd="0" presId="urn:microsoft.com/office/officeart/2018/2/layout/IconVerticalSolidList"/>
    <dgm:cxn modelId="{BF5014DD-FC9E-4289-8A9E-F1AE306E2A8F}" srcId="{D3ED742B-1178-4BB4-9319-D4313FA20E1B}" destId="{7446EA83-8037-40CF-887D-46363C9B1A86}" srcOrd="3" destOrd="0" parTransId="{1E27FE32-1420-487C-82C3-1128C51232B5}" sibTransId="{3E3A96FE-7759-43FC-BDD0-863888D5015E}"/>
    <dgm:cxn modelId="{A3FDEBF1-488D-4AC6-841F-FC92E05E58CA}" type="presOf" srcId="{8B960DB0-8767-4273-8793-69F0EF44F00D}" destId="{66F26B0D-7E06-4B53-A3F0-4402DBEAD548}" srcOrd="0" destOrd="0" presId="urn:microsoft.com/office/officeart/2018/2/layout/IconVerticalSolidList"/>
    <dgm:cxn modelId="{05617788-B0DE-41B5-9F81-0029E1A1BCC6}" type="presParOf" srcId="{3E5A40C5-255D-4DFB-A953-D3C54FA6E8F2}" destId="{8B827B83-251A-441C-8CDE-A8E86799CD28}" srcOrd="0" destOrd="0" presId="urn:microsoft.com/office/officeart/2018/2/layout/IconVerticalSolidList"/>
    <dgm:cxn modelId="{D1F26AEF-CF33-417F-A0C7-AA97DF51DB13}" type="presParOf" srcId="{8B827B83-251A-441C-8CDE-A8E86799CD28}" destId="{AD2686F0-3826-4031-A24D-C4188C67DA4B}" srcOrd="0" destOrd="0" presId="urn:microsoft.com/office/officeart/2018/2/layout/IconVerticalSolidList"/>
    <dgm:cxn modelId="{AF0C626D-29F3-4656-948B-18E2342079EA}" type="presParOf" srcId="{8B827B83-251A-441C-8CDE-A8E86799CD28}" destId="{33C11ED3-11BE-42FB-82E7-5563067AE3A2}" srcOrd="1" destOrd="0" presId="urn:microsoft.com/office/officeart/2018/2/layout/IconVerticalSolidList"/>
    <dgm:cxn modelId="{AC7AB830-6D31-48CE-97C1-5F7371D6918F}" type="presParOf" srcId="{8B827B83-251A-441C-8CDE-A8E86799CD28}" destId="{F47D5949-9582-40F0-9B97-0D4C241E48CC}" srcOrd="2" destOrd="0" presId="urn:microsoft.com/office/officeart/2018/2/layout/IconVerticalSolidList"/>
    <dgm:cxn modelId="{66228ACD-673C-4F65-827D-9A1995147339}" type="presParOf" srcId="{8B827B83-251A-441C-8CDE-A8E86799CD28}" destId="{9CDDB15D-6F2F-4188-B711-CC5DFE5A1634}" srcOrd="3" destOrd="0" presId="urn:microsoft.com/office/officeart/2018/2/layout/IconVerticalSolidList"/>
    <dgm:cxn modelId="{0C641F99-7744-47D8-9214-3934B1388329}" type="presParOf" srcId="{3E5A40C5-255D-4DFB-A953-D3C54FA6E8F2}" destId="{4878AAC5-E4DF-49FB-B41F-C95C58E8F9DB}" srcOrd="1" destOrd="0" presId="urn:microsoft.com/office/officeart/2018/2/layout/IconVerticalSolidList"/>
    <dgm:cxn modelId="{01E82FE2-4373-4F43-B00F-AEF45074A23D}" type="presParOf" srcId="{3E5A40C5-255D-4DFB-A953-D3C54FA6E8F2}" destId="{83338CD9-0958-459E-BB32-583B2CFFDAE8}" srcOrd="2" destOrd="0" presId="urn:microsoft.com/office/officeart/2018/2/layout/IconVerticalSolidList"/>
    <dgm:cxn modelId="{86F1D968-583F-4455-9C97-718E729D259F}" type="presParOf" srcId="{83338CD9-0958-459E-BB32-583B2CFFDAE8}" destId="{65C71B0A-1CD0-401D-8E2A-37B830AF1215}" srcOrd="0" destOrd="0" presId="urn:microsoft.com/office/officeart/2018/2/layout/IconVerticalSolidList"/>
    <dgm:cxn modelId="{F62E1EFF-2BDA-441B-B492-D85C470DF424}" type="presParOf" srcId="{83338CD9-0958-459E-BB32-583B2CFFDAE8}" destId="{8DDB5AC8-B1C1-421B-BF29-DC2D312AE8C6}" srcOrd="1" destOrd="0" presId="urn:microsoft.com/office/officeart/2018/2/layout/IconVerticalSolidList"/>
    <dgm:cxn modelId="{CB32B055-B077-44E4-B181-7D3521E0FBC2}" type="presParOf" srcId="{83338CD9-0958-459E-BB32-583B2CFFDAE8}" destId="{CB663FF6-F9CF-411E-BBB7-9379023894ED}" srcOrd="2" destOrd="0" presId="urn:microsoft.com/office/officeart/2018/2/layout/IconVerticalSolidList"/>
    <dgm:cxn modelId="{FCBE0E80-8F5D-4989-BB89-E19211F1AB56}" type="presParOf" srcId="{83338CD9-0958-459E-BB32-583B2CFFDAE8}" destId="{33BAEA37-16A9-4722-BAA4-620FDAD72030}" srcOrd="3" destOrd="0" presId="urn:microsoft.com/office/officeart/2018/2/layout/IconVerticalSolidList"/>
    <dgm:cxn modelId="{B771D81F-6CAF-4B73-825F-BC856FB31B08}" type="presParOf" srcId="{3E5A40C5-255D-4DFB-A953-D3C54FA6E8F2}" destId="{A3C56D67-0694-40F1-B986-A89B3C85D7AE}" srcOrd="3" destOrd="0" presId="urn:microsoft.com/office/officeart/2018/2/layout/IconVerticalSolidList"/>
    <dgm:cxn modelId="{411CE487-45E2-42B6-BB75-2901141365E9}" type="presParOf" srcId="{3E5A40C5-255D-4DFB-A953-D3C54FA6E8F2}" destId="{D9419795-78B1-4EF4-A2E0-E5356A2001E2}" srcOrd="4" destOrd="0" presId="urn:microsoft.com/office/officeart/2018/2/layout/IconVerticalSolidList"/>
    <dgm:cxn modelId="{E21371B7-C643-48AD-982C-3EC83AE125FE}" type="presParOf" srcId="{D9419795-78B1-4EF4-A2E0-E5356A2001E2}" destId="{595747D1-16AF-438F-9759-3E623E7D15DC}" srcOrd="0" destOrd="0" presId="urn:microsoft.com/office/officeart/2018/2/layout/IconVerticalSolidList"/>
    <dgm:cxn modelId="{D27E2100-C039-427B-80A6-8531FBE6B38E}" type="presParOf" srcId="{D9419795-78B1-4EF4-A2E0-E5356A2001E2}" destId="{B9740310-4F19-43B6-B6E2-B14C3B7D0670}" srcOrd="1" destOrd="0" presId="urn:microsoft.com/office/officeart/2018/2/layout/IconVerticalSolidList"/>
    <dgm:cxn modelId="{54BB9C4E-B982-484D-BDC7-C8E9ADB2FBE1}" type="presParOf" srcId="{D9419795-78B1-4EF4-A2E0-E5356A2001E2}" destId="{C30D1124-E258-4FBD-8400-086B69D48C80}" srcOrd="2" destOrd="0" presId="urn:microsoft.com/office/officeart/2018/2/layout/IconVerticalSolidList"/>
    <dgm:cxn modelId="{CDED4550-A886-411A-807C-C25D807482ED}" type="presParOf" srcId="{D9419795-78B1-4EF4-A2E0-E5356A2001E2}" destId="{66F26B0D-7E06-4B53-A3F0-4402DBEAD548}" srcOrd="3" destOrd="0" presId="urn:microsoft.com/office/officeart/2018/2/layout/IconVerticalSolidList"/>
    <dgm:cxn modelId="{443C4051-050B-4868-9981-3C48B79C9EEB}" type="presParOf" srcId="{3E5A40C5-255D-4DFB-A953-D3C54FA6E8F2}" destId="{DDECEC86-A002-476F-9E5F-4E9128AEEBCC}" srcOrd="5" destOrd="0" presId="urn:microsoft.com/office/officeart/2018/2/layout/IconVerticalSolidList"/>
    <dgm:cxn modelId="{20AA5698-4096-457E-9BB4-294380FF4539}" type="presParOf" srcId="{3E5A40C5-255D-4DFB-A953-D3C54FA6E8F2}" destId="{ECC70046-6BB5-4D17-80FD-62E71BFA5FF0}" srcOrd="6" destOrd="0" presId="urn:microsoft.com/office/officeart/2018/2/layout/IconVerticalSolidList"/>
    <dgm:cxn modelId="{EED24281-7106-4E2F-B1AB-E77B7E77C990}" type="presParOf" srcId="{ECC70046-6BB5-4D17-80FD-62E71BFA5FF0}" destId="{851C6AB6-80F1-4D8F-9C16-7F085165F349}" srcOrd="0" destOrd="0" presId="urn:microsoft.com/office/officeart/2018/2/layout/IconVerticalSolidList"/>
    <dgm:cxn modelId="{7B0F88EB-5818-4C77-A7FD-7AC1956442CD}" type="presParOf" srcId="{ECC70046-6BB5-4D17-80FD-62E71BFA5FF0}" destId="{BA58D293-3111-420F-9B72-CADC211CD3F2}" srcOrd="1" destOrd="0" presId="urn:microsoft.com/office/officeart/2018/2/layout/IconVerticalSolidList"/>
    <dgm:cxn modelId="{40A4884B-5F45-4AB5-9C0A-F611FE6C4096}" type="presParOf" srcId="{ECC70046-6BB5-4D17-80FD-62E71BFA5FF0}" destId="{CF5F676D-7D12-493E-AD05-9ECF7C2AA21F}" srcOrd="2" destOrd="0" presId="urn:microsoft.com/office/officeart/2018/2/layout/IconVerticalSolidList"/>
    <dgm:cxn modelId="{74403FFF-5F0E-4D57-8971-0F2D553250CD}" type="presParOf" srcId="{ECC70046-6BB5-4D17-80FD-62E71BFA5FF0}" destId="{21920E5A-6B85-4A57-98AE-5BEF0803336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ED742B-1178-4BB4-9319-D4313FA20E1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2C2B873-33E5-4F36-B04C-E7C4069C1C82}">
      <dgm:prSet/>
      <dgm:spPr/>
      <dgm:t>
        <a:bodyPr/>
        <a:lstStyle/>
        <a:p>
          <a:r>
            <a:rPr lang="en-US"/>
            <a:t>Exhaustive search is a method in which solution is obtained by searching  each  element of given problem. Exhaustive search makes use of straight forward  approach.</a:t>
          </a:r>
        </a:p>
      </dgm:t>
    </dgm:pt>
    <dgm:pt modelId="{CBA4B6BB-DBB5-444D-9DE4-C937D16B7241}" type="parTrans" cxnId="{E10789BC-23D9-4933-BB5C-19E6CDAEE0E4}">
      <dgm:prSet/>
      <dgm:spPr/>
      <dgm:t>
        <a:bodyPr/>
        <a:lstStyle/>
        <a:p>
          <a:endParaRPr lang="en-US"/>
        </a:p>
      </dgm:t>
    </dgm:pt>
    <dgm:pt modelId="{FC3354B0-6625-415F-8085-96AD110FD4F7}" type="sibTrans" cxnId="{E10789BC-23D9-4933-BB5C-19E6CDAEE0E4}">
      <dgm:prSet/>
      <dgm:spPr/>
      <dgm:t>
        <a:bodyPr/>
        <a:lstStyle/>
        <a:p>
          <a:endParaRPr lang="en-US"/>
        </a:p>
      </dgm:t>
    </dgm:pt>
    <dgm:pt modelId="{DD815880-EF5A-472F-9798-753437C6077D}">
      <dgm:prSet/>
      <dgm:spPr/>
      <dgm:t>
        <a:bodyPr/>
        <a:lstStyle/>
        <a:p>
          <a:r>
            <a:rPr lang="en-US"/>
            <a:t>Travelling salesman problem</a:t>
          </a:r>
        </a:p>
      </dgm:t>
    </dgm:pt>
    <dgm:pt modelId="{E9DC82B8-FB4A-4947-9B18-417E4AEF5AB6}" type="parTrans" cxnId="{2B407164-7C2A-45CC-93EB-A0AD4AA559D6}">
      <dgm:prSet/>
      <dgm:spPr/>
      <dgm:t>
        <a:bodyPr/>
        <a:lstStyle/>
        <a:p>
          <a:endParaRPr lang="en-US"/>
        </a:p>
      </dgm:t>
    </dgm:pt>
    <dgm:pt modelId="{DA74CA1B-83CB-49F9-BD60-E4E2F7128FFD}" type="sibTrans" cxnId="{2B407164-7C2A-45CC-93EB-A0AD4AA559D6}">
      <dgm:prSet/>
      <dgm:spPr/>
      <dgm:t>
        <a:bodyPr/>
        <a:lstStyle/>
        <a:p>
          <a:endParaRPr lang="en-US"/>
        </a:p>
      </dgm:t>
    </dgm:pt>
    <dgm:pt modelId="{8B960DB0-8767-4273-8793-69F0EF44F00D}">
      <dgm:prSet/>
      <dgm:spPr/>
      <dgm:t>
        <a:bodyPr/>
        <a:lstStyle/>
        <a:p>
          <a:r>
            <a:rPr lang="en-US"/>
            <a:t>Knapsack problem</a:t>
          </a:r>
        </a:p>
      </dgm:t>
    </dgm:pt>
    <dgm:pt modelId="{888F2B0A-AF29-4AEC-9C42-1B138205AB89}" type="parTrans" cxnId="{0E1CBC1C-98F9-45E6-9A9F-7784B24D4556}">
      <dgm:prSet/>
      <dgm:spPr/>
      <dgm:t>
        <a:bodyPr/>
        <a:lstStyle/>
        <a:p>
          <a:endParaRPr lang="en-US"/>
        </a:p>
      </dgm:t>
    </dgm:pt>
    <dgm:pt modelId="{691D5DF0-05B7-423D-B69D-EA7AD49C7C3C}" type="sibTrans" cxnId="{0E1CBC1C-98F9-45E6-9A9F-7784B24D4556}">
      <dgm:prSet/>
      <dgm:spPr/>
      <dgm:t>
        <a:bodyPr/>
        <a:lstStyle/>
        <a:p>
          <a:endParaRPr lang="en-US"/>
        </a:p>
      </dgm:t>
    </dgm:pt>
    <dgm:pt modelId="{7446EA83-8037-40CF-887D-46363C9B1A86}">
      <dgm:prSet/>
      <dgm:spPr/>
      <dgm:t>
        <a:bodyPr/>
        <a:lstStyle/>
        <a:p>
          <a:r>
            <a:rPr lang="en-US"/>
            <a:t>Assignment problem</a:t>
          </a:r>
        </a:p>
      </dgm:t>
    </dgm:pt>
    <dgm:pt modelId="{1E27FE32-1420-487C-82C3-1128C51232B5}" type="parTrans" cxnId="{BF5014DD-FC9E-4289-8A9E-F1AE306E2A8F}">
      <dgm:prSet/>
      <dgm:spPr/>
      <dgm:t>
        <a:bodyPr/>
        <a:lstStyle/>
        <a:p>
          <a:endParaRPr lang="en-US"/>
        </a:p>
      </dgm:t>
    </dgm:pt>
    <dgm:pt modelId="{3E3A96FE-7759-43FC-BDD0-863888D5015E}" type="sibTrans" cxnId="{BF5014DD-FC9E-4289-8A9E-F1AE306E2A8F}">
      <dgm:prSet/>
      <dgm:spPr/>
      <dgm:t>
        <a:bodyPr/>
        <a:lstStyle/>
        <a:p>
          <a:endParaRPr lang="en-US"/>
        </a:p>
      </dgm:t>
    </dgm:pt>
    <dgm:pt modelId="{3E5A40C5-255D-4DFB-A953-D3C54FA6E8F2}" type="pres">
      <dgm:prSet presAssocID="{D3ED742B-1178-4BB4-9319-D4313FA20E1B}" presName="root" presStyleCnt="0">
        <dgm:presLayoutVars>
          <dgm:dir/>
          <dgm:resizeHandles val="exact"/>
        </dgm:presLayoutVars>
      </dgm:prSet>
      <dgm:spPr/>
    </dgm:pt>
    <dgm:pt modelId="{8B827B83-251A-441C-8CDE-A8E86799CD28}" type="pres">
      <dgm:prSet presAssocID="{62C2B873-33E5-4F36-B04C-E7C4069C1C82}" presName="compNode" presStyleCnt="0"/>
      <dgm:spPr/>
    </dgm:pt>
    <dgm:pt modelId="{AD2686F0-3826-4031-A24D-C4188C67DA4B}" type="pres">
      <dgm:prSet presAssocID="{62C2B873-33E5-4F36-B04C-E7C4069C1C82}" presName="bgRect" presStyleLbl="bgShp" presStyleIdx="0" presStyleCnt="4"/>
      <dgm:spPr/>
    </dgm:pt>
    <dgm:pt modelId="{33C11ED3-11BE-42FB-82E7-5563067AE3A2}" type="pres">
      <dgm:prSet presAssocID="{62C2B873-33E5-4F36-B04C-E7C4069C1C8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F47D5949-9582-40F0-9B97-0D4C241E48CC}" type="pres">
      <dgm:prSet presAssocID="{62C2B873-33E5-4F36-B04C-E7C4069C1C82}" presName="spaceRect" presStyleCnt="0"/>
      <dgm:spPr/>
    </dgm:pt>
    <dgm:pt modelId="{9CDDB15D-6F2F-4188-B711-CC5DFE5A1634}" type="pres">
      <dgm:prSet presAssocID="{62C2B873-33E5-4F36-B04C-E7C4069C1C82}" presName="parTx" presStyleLbl="revTx" presStyleIdx="0" presStyleCnt="4">
        <dgm:presLayoutVars>
          <dgm:chMax val="0"/>
          <dgm:chPref val="0"/>
        </dgm:presLayoutVars>
      </dgm:prSet>
      <dgm:spPr/>
    </dgm:pt>
    <dgm:pt modelId="{4878AAC5-E4DF-49FB-B41F-C95C58E8F9DB}" type="pres">
      <dgm:prSet presAssocID="{FC3354B0-6625-415F-8085-96AD110FD4F7}" presName="sibTrans" presStyleCnt="0"/>
      <dgm:spPr/>
    </dgm:pt>
    <dgm:pt modelId="{83338CD9-0958-459E-BB32-583B2CFFDAE8}" type="pres">
      <dgm:prSet presAssocID="{DD815880-EF5A-472F-9798-753437C6077D}" presName="compNode" presStyleCnt="0"/>
      <dgm:spPr/>
    </dgm:pt>
    <dgm:pt modelId="{65C71B0A-1CD0-401D-8E2A-37B830AF1215}" type="pres">
      <dgm:prSet presAssocID="{DD815880-EF5A-472F-9798-753437C6077D}" presName="bgRect" presStyleLbl="bgShp" presStyleIdx="1" presStyleCnt="4"/>
      <dgm:spPr/>
    </dgm:pt>
    <dgm:pt modelId="{8DDB5AC8-B1C1-421B-BF29-DC2D312AE8C6}" type="pres">
      <dgm:prSet presAssocID="{DD815880-EF5A-472F-9798-753437C6077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CB663FF6-F9CF-411E-BBB7-9379023894ED}" type="pres">
      <dgm:prSet presAssocID="{DD815880-EF5A-472F-9798-753437C6077D}" presName="spaceRect" presStyleCnt="0"/>
      <dgm:spPr/>
    </dgm:pt>
    <dgm:pt modelId="{33BAEA37-16A9-4722-BAA4-620FDAD72030}" type="pres">
      <dgm:prSet presAssocID="{DD815880-EF5A-472F-9798-753437C6077D}" presName="parTx" presStyleLbl="revTx" presStyleIdx="1" presStyleCnt="4">
        <dgm:presLayoutVars>
          <dgm:chMax val="0"/>
          <dgm:chPref val="0"/>
        </dgm:presLayoutVars>
      </dgm:prSet>
      <dgm:spPr/>
    </dgm:pt>
    <dgm:pt modelId="{A3C56D67-0694-40F1-B986-A89B3C85D7AE}" type="pres">
      <dgm:prSet presAssocID="{DA74CA1B-83CB-49F9-BD60-E4E2F7128FFD}" presName="sibTrans" presStyleCnt="0"/>
      <dgm:spPr/>
    </dgm:pt>
    <dgm:pt modelId="{D9419795-78B1-4EF4-A2E0-E5356A2001E2}" type="pres">
      <dgm:prSet presAssocID="{8B960DB0-8767-4273-8793-69F0EF44F00D}" presName="compNode" presStyleCnt="0"/>
      <dgm:spPr/>
    </dgm:pt>
    <dgm:pt modelId="{595747D1-16AF-438F-9759-3E623E7D15DC}" type="pres">
      <dgm:prSet presAssocID="{8B960DB0-8767-4273-8793-69F0EF44F00D}" presName="bgRect" presStyleLbl="bgShp" presStyleIdx="2" presStyleCnt="4"/>
      <dgm:spPr/>
    </dgm:pt>
    <dgm:pt modelId="{B9740310-4F19-43B6-B6E2-B14C3B7D0670}" type="pres">
      <dgm:prSet presAssocID="{8B960DB0-8767-4273-8793-69F0EF44F00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perclip"/>
        </a:ext>
      </dgm:extLst>
    </dgm:pt>
    <dgm:pt modelId="{C30D1124-E258-4FBD-8400-086B69D48C80}" type="pres">
      <dgm:prSet presAssocID="{8B960DB0-8767-4273-8793-69F0EF44F00D}" presName="spaceRect" presStyleCnt="0"/>
      <dgm:spPr/>
    </dgm:pt>
    <dgm:pt modelId="{66F26B0D-7E06-4B53-A3F0-4402DBEAD548}" type="pres">
      <dgm:prSet presAssocID="{8B960DB0-8767-4273-8793-69F0EF44F00D}" presName="parTx" presStyleLbl="revTx" presStyleIdx="2" presStyleCnt="4">
        <dgm:presLayoutVars>
          <dgm:chMax val="0"/>
          <dgm:chPref val="0"/>
        </dgm:presLayoutVars>
      </dgm:prSet>
      <dgm:spPr/>
    </dgm:pt>
    <dgm:pt modelId="{DDECEC86-A002-476F-9E5F-4E9128AEEBCC}" type="pres">
      <dgm:prSet presAssocID="{691D5DF0-05B7-423D-B69D-EA7AD49C7C3C}" presName="sibTrans" presStyleCnt="0"/>
      <dgm:spPr/>
    </dgm:pt>
    <dgm:pt modelId="{ECC70046-6BB5-4D17-80FD-62E71BFA5FF0}" type="pres">
      <dgm:prSet presAssocID="{7446EA83-8037-40CF-887D-46363C9B1A86}" presName="compNode" presStyleCnt="0"/>
      <dgm:spPr/>
    </dgm:pt>
    <dgm:pt modelId="{851C6AB6-80F1-4D8F-9C16-7F085165F349}" type="pres">
      <dgm:prSet presAssocID="{7446EA83-8037-40CF-887D-46363C9B1A86}" presName="bgRect" presStyleLbl="bgShp" presStyleIdx="3" presStyleCnt="4"/>
      <dgm:spPr/>
    </dgm:pt>
    <dgm:pt modelId="{BA58D293-3111-420F-9B72-CADC211CD3F2}" type="pres">
      <dgm:prSet presAssocID="{7446EA83-8037-40CF-887D-46363C9B1A8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CF5F676D-7D12-493E-AD05-9ECF7C2AA21F}" type="pres">
      <dgm:prSet presAssocID="{7446EA83-8037-40CF-887D-46363C9B1A86}" presName="spaceRect" presStyleCnt="0"/>
      <dgm:spPr/>
    </dgm:pt>
    <dgm:pt modelId="{21920E5A-6B85-4A57-98AE-5BEF0803336B}" type="pres">
      <dgm:prSet presAssocID="{7446EA83-8037-40CF-887D-46363C9B1A86}" presName="parTx" presStyleLbl="revTx" presStyleIdx="3" presStyleCnt="4">
        <dgm:presLayoutVars>
          <dgm:chMax val="0"/>
          <dgm:chPref val="0"/>
        </dgm:presLayoutVars>
      </dgm:prSet>
      <dgm:spPr/>
    </dgm:pt>
  </dgm:ptLst>
  <dgm:cxnLst>
    <dgm:cxn modelId="{0E1CBC1C-98F9-45E6-9A9F-7784B24D4556}" srcId="{D3ED742B-1178-4BB4-9319-D4313FA20E1B}" destId="{8B960DB0-8767-4273-8793-69F0EF44F00D}" srcOrd="2" destOrd="0" parTransId="{888F2B0A-AF29-4AEC-9C42-1B138205AB89}" sibTransId="{691D5DF0-05B7-423D-B69D-EA7AD49C7C3C}"/>
    <dgm:cxn modelId="{2B407164-7C2A-45CC-93EB-A0AD4AA559D6}" srcId="{D3ED742B-1178-4BB4-9319-D4313FA20E1B}" destId="{DD815880-EF5A-472F-9798-753437C6077D}" srcOrd="1" destOrd="0" parTransId="{E9DC82B8-FB4A-4947-9B18-417E4AEF5AB6}" sibTransId="{DA74CA1B-83CB-49F9-BD60-E4E2F7128FFD}"/>
    <dgm:cxn modelId="{EDABA275-AA82-44FC-903F-7CB0FC36E53A}" type="presOf" srcId="{D3ED742B-1178-4BB4-9319-D4313FA20E1B}" destId="{3E5A40C5-255D-4DFB-A953-D3C54FA6E8F2}" srcOrd="0" destOrd="0" presId="urn:microsoft.com/office/officeart/2018/2/layout/IconVerticalSolidList"/>
    <dgm:cxn modelId="{E647BC97-BBF6-44C8-8823-58CC3908D077}" type="presOf" srcId="{DD815880-EF5A-472F-9798-753437C6077D}" destId="{33BAEA37-16A9-4722-BAA4-620FDAD72030}" srcOrd="0" destOrd="0" presId="urn:microsoft.com/office/officeart/2018/2/layout/IconVerticalSolidList"/>
    <dgm:cxn modelId="{818942BB-D4F3-4D5C-8E40-11D16C1A17FA}" type="presOf" srcId="{7446EA83-8037-40CF-887D-46363C9B1A86}" destId="{21920E5A-6B85-4A57-98AE-5BEF0803336B}" srcOrd="0" destOrd="0" presId="urn:microsoft.com/office/officeart/2018/2/layout/IconVerticalSolidList"/>
    <dgm:cxn modelId="{E10789BC-23D9-4933-BB5C-19E6CDAEE0E4}" srcId="{D3ED742B-1178-4BB4-9319-D4313FA20E1B}" destId="{62C2B873-33E5-4F36-B04C-E7C4069C1C82}" srcOrd="0" destOrd="0" parTransId="{CBA4B6BB-DBB5-444D-9DE4-C937D16B7241}" sibTransId="{FC3354B0-6625-415F-8085-96AD110FD4F7}"/>
    <dgm:cxn modelId="{82FD22C8-DFE5-4A82-B59B-8702D78113BB}" type="presOf" srcId="{62C2B873-33E5-4F36-B04C-E7C4069C1C82}" destId="{9CDDB15D-6F2F-4188-B711-CC5DFE5A1634}" srcOrd="0" destOrd="0" presId="urn:microsoft.com/office/officeart/2018/2/layout/IconVerticalSolidList"/>
    <dgm:cxn modelId="{BF5014DD-FC9E-4289-8A9E-F1AE306E2A8F}" srcId="{D3ED742B-1178-4BB4-9319-D4313FA20E1B}" destId="{7446EA83-8037-40CF-887D-46363C9B1A86}" srcOrd="3" destOrd="0" parTransId="{1E27FE32-1420-487C-82C3-1128C51232B5}" sibTransId="{3E3A96FE-7759-43FC-BDD0-863888D5015E}"/>
    <dgm:cxn modelId="{A3FDEBF1-488D-4AC6-841F-FC92E05E58CA}" type="presOf" srcId="{8B960DB0-8767-4273-8793-69F0EF44F00D}" destId="{66F26B0D-7E06-4B53-A3F0-4402DBEAD548}" srcOrd="0" destOrd="0" presId="urn:microsoft.com/office/officeart/2018/2/layout/IconVerticalSolidList"/>
    <dgm:cxn modelId="{05617788-B0DE-41B5-9F81-0029E1A1BCC6}" type="presParOf" srcId="{3E5A40C5-255D-4DFB-A953-D3C54FA6E8F2}" destId="{8B827B83-251A-441C-8CDE-A8E86799CD28}" srcOrd="0" destOrd="0" presId="urn:microsoft.com/office/officeart/2018/2/layout/IconVerticalSolidList"/>
    <dgm:cxn modelId="{D1F26AEF-CF33-417F-A0C7-AA97DF51DB13}" type="presParOf" srcId="{8B827B83-251A-441C-8CDE-A8E86799CD28}" destId="{AD2686F0-3826-4031-A24D-C4188C67DA4B}" srcOrd="0" destOrd="0" presId="urn:microsoft.com/office/officeart/2018/2/layout/IconVerticalSolidList"/>
    <dgm:cxn modelId="{AF0C626D-29F3-4656-948B-18E2342079EA}" type="presParOf" srcId="{8B827B83-251A-441C-8CDE-A8E86799CD28}" destId="{33C11ED3-11BE-42FB-82E7-5563067AE3A2}" srcOrd="1" destOrd="0" presId="urn:microsoft.com/office/officeart/2018/2/layout/IconVerticalSolidList"/>
    <dgm:cxn modelId="{AC7AB830-6D31-48CE-97C1-5F7371D6918F}" type="presParOf" srcId="{8B827B83-251A-441C-8CDE-A8E86799CD28}" destId="{F47D5949-9582-40F0-9B97-0D4C241E48CC}" srcOrd="2" destOrd="0" presId="urn:microsoft.com/office/officeart/2018/2/layout/IconVerticalSolidList"/>
    <dgm:cxn modelId="{66228ACD-673C-4F65-827D-9A1995147339}" type="presParOf" srcId="{8B827B83-251A-441C-8CDE-A8E86799CD28}" destId="{9CDDB15D-6F2F-4188-B711-CC5DFE5A1634}" srcOrd="3" destOrd="0" presId="urn:microsoft.com/office/officeart/2018/2/layout/IconVerticalSolidList"/>
    <dgm:cxn modelId="{0C641F99-7744-47D8-9214-3934B1388329}" type="presParOf" srcId="{3E5A40C5-255D-4DFB-A953-D3C54FA6E8F2}" destId="{4878AAC5-E4DF-49FB-B41F-C95C58E8F9DB}" srcOrd="1" destOrd="0" presId="urn:microsoft.com/office/officeart/2018/2/layout/IconVerticalSolidList"/>
    <dgm:cxn modelId="{01E82FE2-4373-4F43-B00F-AEF45074A23D}" type="presParOf" srcId="{3E5A40C5-255D-4DFB-A953-D3C54FA6E8F2}" destId="{83338CD9-0958-459E-BB32-583B2CFFDAE8}" srcOrd="2" destOrd="0" presId="urn:microsoft.com/office/officeart/2018/2/layout/IconVerticalSolidList"/>
    <dgm:cxn modelId="{86F1D968-583F-4455-9C97-718E729D259F}" type="presParOf" srcId="{83338CD9-0958-459E-BB32-583B2CFFDAE8}" destId="{65C71B0A-1CD0-401D-8E2A-37B830AF1215}" srcOrd="0" destOrd="0" presId="urn:microsoft.com/office/officeart/2018/2/layout/IconVerticalSolidList"/>
    <dgm:cxn modelId="{F62E1EFF-2BDA-441B-B492-D85C470DF424}" type="presParOf" srcId="{83338CD9-0958-459E-BB32-583B2CFFDAE8}" destId="{8DDB5AC8-B1C1-421B-BF29-DC2D312AE8C6}" srcOrd="1" destOrd="0" presId="urn:microsoft.com/office/officeart/2018/2/layout/IconVerticalSolidList"/>
    <dgm:cxn modelId="{CB32B055-B077-44E4-B181-7D3521E0FBC2}" type="presParOf" srcId="{83338CD9-0958-459E-BB32-583B2CFFDAE8}" destId="{CB663FF6-F9CF-411E-BBB7-9379023894ED}" srcOrd="2" destOrd="0" presId="urn:microsoft.com/office/officeart/2018/2/layout/IconVerticalSolidList"/>
    <dgm:cxn modelId="{FCBE0E80-8F5D-4989-BB89-E19211F1AB56}" type="presParOf" srcId="{83338CD9-0958-459E-BB32-583B2CFFDAE8}" destId="{33BAEA37-16A9-4722-BAA4-620FDAD72030}" srcOrd="3" destOrd="0" presId="urn:microsoft.com/office/officeart/2018/2/layout/IconVerticalSolidList"/>
    <dgm:cxn modelId="{B771D81F-6CAF-4B73-825F-BC856FB31B08}" type="presParOf" srcId="{3E5A40C5-255D-4DFB-A953-D3C54FA6E8F2}" destId="{A3C56D67-0694-40F1-B986-A89B3C85D7AE}" srcOrd="3" destOrd="0" presId="urn:microsoft.com/office/officeart/2018/2/layout/IconVerticalSolidList"/>
    <dgm:cxn modelId="{411CE487-45E2-42B6-BB75-2901141365E9}" type="presParOf" srcId="{3E5A40C5-255D-4DFB-A953-D3C54FA6E8F2}" destId="{D9419795-78B1-4EF4-A2E0-E5356A2001E2}" srcOrd="4" destOrd="0" presId="urn:microsoft.com/office/officeart/2018/2/layout/IconVerticalSolidList"/>
    <dgm:cxn modelId="{E21371B7-C643-48AD-982C-3EC83AE125FE}" type="presParOf" srcId="{D9419795-78B1-4EF4-A2E0-E5356A2001E2}" destId="{595747D1-16AF-438F-9759-3E623E7D15DC}" srcOrd="0" destOrd="0" presId="urn:microsoft.com/office/officeart/2018/2/layout/IconVerticalSolidList"/>
    <dgm:cxn modelId="{D27E2100-C039-427B-80A6-8531FBE6B38E}" type="presParOf" srcId="{D9419795-78B1-4EF4-A2E0-E5356A2001E2}" destId="{B9740310-4F19-43B6-B6E2-B14C3B7D0670}" srcOrd="1" destOrd="0" presId="urn:microsoft.com/office/officeart/2018/2/layout/IconVerticalSolidList"/>
    <dgm:cxn modelId="{54BB9C4E-B982-484D-BDC7-C8E9ADB2FBE1}" type="presParOf" srcId="{D9419795-78B1-4EF4-A2E0-E5356A2001E2}" destId="{C30D1124-E258-4FBD-8400-086B69D48C80}" srcOrd="2" destOrd="0" presId="urn:microsoft.com/office/officeart/2018/2/layout/IconVerticalSolidList"/>
    <dgm:cxn modelId="{CDED4550-A886-411A-807C-C25D807482ED}" type="presParOf" srcId="{D9419795-78B1-4EF4-A2E0-E5356A2001E2}" destId="{66F26B0D-7E06-4B53-A3F0-4402DBEAD548}" srcOrd="3" destOrd="0" presId="urn:microsoft.com/office/officeart/2018/2/layout/IconVerticalSolidList"/>
    <dgm:cxn modelId="{443C4051-050B-4868-9981-3C48B79C9EEB}" type="presParOf" srcId="{3E5A40C5-255D-4DFB-A953-D3C54FA6E8F2}" destId="{DDECEC86-A002-476F-9E5F-4E9128AEEBCC}" srcOrd="5" destOrd="0" presId="urn:microsoft.com/office/officeart/2018/2/layout/IconVerticalSolidList"/>
    <dgm:cxn modelId="{20AA5698-4096-457E-9BB4-294380FF4539}" type="presParOf" srcId="{3E5A40C5-255D-4DFB-A953-D3C54FA6E8F2}" destId="{ECC70046-6BB5-4D17-80FD-62E71BFA5FF0}" srcOrd="6" destOrd="0" presId="urn:microsoft.com/office/officeart/2018/2/layout/IconVerticalSolidList"/>
    <dgm:cxn modelId="{EED24281-7106-4E2F-B1AB-E77B7E77C990}" type="presParOf" srcId="{ECC70046-6BB5-4D17-80FD-62E71BFA5FF0}" destId="{851C6AB6-80F1-4D8F-9C16-7F085165F349}" srcOrd="0" destOrd="0" presId="urn:microsoft.com/office/officeart/2018/2/layout/IconVerticalSolidList"/>
    <dgm:cxn modelId="{7B0F88EB-5818-4C77-A7FD-7AC1956442CD}" type="presParOf" srcId="{ECC70046-6BB5-4D17-80FD-62E71BFA5FF0}" destId="{BA58D293-3111-420F-9B72-CADC211CD3F2}" srcOrd="1" destOrd="0" presId="urn:microsoft.com/office/officeart/2018/2/layout/IconVerticalSolidList"/>
    <dgm:cxn modelId="{40A4884B-5F45-4AB5-9C0A-F611FE6C4096}" type="presParOf" srcId="{ECC70046-6BB5-4D17-80FD-62E71BFA5FF0}" destId="{CF5F676D-7D12-493E-AD05-9ECF7C2AA21F}" srcOrd="2" destOrd="0" presId="urn:microsoft.com/office/officeart/2018/2/layout/IconVerticalSolidList"/>
    <dgm:cxn modelId="{74403FFF-5F0E-4D57-8971-0F2D553250CD}" type="presParOf" srcId="{ECC70046-6BB5-4D17-80FD-62E71BFA5FF0}" destId="{21920E5A-6B85-4A57-98AE-5BEF0803336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3ED742B-1178-4BB4-9319-D4313FA20E1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2C2B873-33E5-4F36-B04C-E7C4069C1C82}">
      <dgm:prSet/>
      <dgm:spPr/>
      <dgm:t>
        <a:bodyPr/>
        <a:lstStyle/>
        <a:p>
          <a:r>
            <a:rPr lang="en-US"/>
            <a:t>Exhaustive search is a method in which solution is obtained by searching  each  element of given problem. Exhaustive search makes use of straight forward  approach.</a:t>
          </a:r>
        </a:p>
      </dgm:t>
    </dgm:pt>
    <dgm:pt modelId="{CBA4B6BB-DBB5-444D-9DE4-C937D16B7241}" type="parTrans" cxnId="{E10789BC-23D9-4933-BB5C-19E6CDAEE0E4}">
      <dgm:prSet/>
      <dgm:spPr/>
      <dgm:t>
        <a:bodyPr/>
        <a:lstStyle/>
        <a:p>
          <a:endParaRPr lang="en-US"/>
        </a:p>
      </dgm:t>
    </dgm:pt>
    <dgm:pt modelId="{FC3354B0-6625-415F-8085-96AD110FD4F7}" type="sibTrans" cxnId="{E10789BC-23D9-4933-BB5C-19E6CDAEE0E4}">
      <dgm:prSet/>
      <dgm:spPr/>
      <dgm:t>
        <a:bodyPr/>
        <a:lstStyle/>
        <a:p>
          <a:endParaRPr lang="en-US"/>
        </a:p>
      </dgm:t>
    </dgm:pt>
    <dgm:pt modelId="{DD815880-EF5A-472F-9798-753437C6077D}">
      <dgm:prSet/>
      <dgm:spPr/>
      <dgm:t>
        <a:bodyPr/>
        <a:lstStyle/>
        <a:p>
          <a:r>
            <a:rPr lang="en-US"/>
            <a:t>Travelling salesman problem</a:t>
          </a:r>
        </a:p>
      </dgm:t>
    </dgm:pt>
    <dgm:pt modelId="{E9DC82B8-FB4A-4947-9B18-417E4AEF5AB6}" type="parTrans" cxnId="{2B407164-7C2A-45CC-93EB-A0AD4AA559D6}">
      <dgm:prSet/>
      <dgm:spPr/>
      <dgm:t>
        <a:bodyPr/>
        <a:lstStyle/>
        <a:p>
          <a:endParaRPr lang="en-US"/>
        </a:p>
      </dgm:t>
    </dgm:pt>
    <dgm:pt modelId="{DA74CA1B-83CB-49F9-BD60-E4E2F7128FFD}" type="sibTrans" cxnId="{2B407164-7C2A-45CC-93EB-A0AD4AA559D6}">
      <dgm:prSet/>
      <dgm:spPr/>
      <dgm:t>
        <a:bodyPr/>
        <a:lstStyle/>
        <a:p>
          <a:endParaRPr lang="en-US"/>
        </a:p>
      </dgm:t>
    </dgm:pt>
    <dgm:pt modelId="{8B960DB0-8767-4273-8793-69F0EF44F00D}">
      <dgm:prSet/>
      <dgm:spPr/>
      <dgm:t>
        <a:bodyPr/>
        <a:lstStyle/>
        <a:p>
          <a:r>
            <a:rPr lang="en-US"/>
            <a:t>Knapsack problem</a:t>
          </a:r>
        </a:p>
      </dgm:t>
    </dgm:pt>
    <dgm:pt modelId="{888F2B0A-AF29-4AEC-9C42-1B138205AB89}" type="parTrans" cxnId="{0E1CBC1C-98F9-45E6-9A9F-7784B24D4556}">
      <dgm:prSet/>
      <dgm:spPr/>
      <dgm:t>
        <a:bodyPr/>
        <a:lstStyle/>
        <a:p>
          <a:endParaRPr lang="en-US"/>
        </a:p>
      </dgm:t>
    </dgm:pt>
    <dgm:pt modelId="{691D5DF0-05B7-423D-B69D-EA7AD49C7C3C}" type="sibTrans" cxnId="{0E1CBC1C-98F9-45E6-9A9F-7784B24D4556}">
      <dgm:prSet/>
      <dgm:spPr/>
      <dgm:t>
        <a:bodyPr/>
        <a:lstStyle/>
        <a:p>
          <a:endParaRPr lang="en-US"/>
        </a:p>
      </dgm:t>
    </dgm:pt>
    <dgm:pt modelId="{7446EA83-8037-40CF-887D-46363C9B1A86}">
      <dgm:prSet/>
      <dgm:spPr/>
      <dgm:t>
        <a:bodyPr/>
        <a:lstStyle/>
        <a:p>
          <a:r>
            <a:rPr lang="en-US"/>
            <a:t>Assignment problem</a:t>
          </a:r>
        </a:p>
      </dgm:t>
    </dgm:pt>
    <dgm:pt modelId="{1E27FE32-1420-487C-82C3-1128C51232B5}" type="parTrans" cxnId="{BF5014DD-FC9E-4289-8A9E-F1AE306E2A8F}">
      <dgm:prSet/>
      <dgm:spPr/>
      <dgm:t>
        <a:bodyPr/>
        <a:lstStyle/>
        <a:p>
          <a:endParaRPr lang="en-US"/>
        </a:p>
      </dgm:t>
    </dgm:pt>
    <dgm:pt modelId="{3E3A96FE-7759-43FC-BDD0-863888D5015E}" type="sibTrans" cxnId="{BF5014DD-FC9E-4289-8A9E-F1AE306E2A8F}">
      <dgm:prSet/>
      <dgm:spPr/>
      <dgm:t>
        <a:bodyPr/>
        <a:lstStyle/>
        <a:p>
          <a:endParaRPr lang="en-US"/>
        </a:p>
      </dgm:t>
    </dgm:pt>
    <dgm:pt modelId="{3E5A40C5-255D-4DFB-A953-D3C54FA6E8F2}" type="pres">
      <dgm:prSet presAssocID="{D3ED742B-1178-4BB4-9319-D4313FA20E1B}" presName="root" presStyleCnt="0">
        <dgm:presLayoutVars>
          <dgm:dir/>
          <dgm:resizeHandles val="exact"/>
        </dgm:presLayoutVars>
      </dgm:prSet>
      <dgm:spPr/>
    </dgm:pt>
    <dgm:pt modelId="{8B827B83-251A-441C-8CDE-A8E86799CD28}" type="pres">
      <dgm:prSet presAssocID="{62C2B873-33E5-4F36-B04C-E7C4069C1C82}" presName="compNode" presStyleCnt="0"/>
      <dgm:spPr/>
    </dgm:pt>
    <dgm:pt modelId="{AD2686F0-3826-4031-A24D-C4188C67DA4B}" type="pres">
      <dgm:prSet presAssocID="{62C2B873-33E5-4F36-B04C-E7C4069C1C82}" presName="bgRect" presStyleLbl="bgShp" presStyleIdx="0" presStyleCnt="4"/>
      <dgm:spPr/>
    </dgm:pt>
    <dgm:pt modelId="{33C11ED3-11BE-42FB-82E7-5563067AE3A2}" type="pres">
      <dgm:prSet presAssocID="{62C2B873-33E5-4F36-B04C-E7C4069C1C8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F47D5949-9582-40F0-9B97-0D4C241E48CC}" type="pres">
      <dgm:prSet presAssocID="{62C2B873-33E5-4F36-B04C-E7C4069C1C82}" presName="spaceRect" presStyleCnt="0"/>
      <dgm:spPr/>
    </dgm:pt>
    <dgm:pt modelId="{9CDDB15D-6F2F-4188-B711-CC5DFE5A1634}" type="pres">
      <dgm:prSet presAssocID="{62C2B873-33E5-4F36-B04C-E7C4069C1C82}" presName="parTx" presStyleLbl="revTx" presStyleIdx="0" presStyleCnt="4">
        <dgm:presLayoutVars>
          <dgm:chMax val="0"/>
          <dgm:chPref val="0"/>
        </dgm:presLayoutVars>
      </dgm:prSet>
      <dgm:spPr/>
    </dgm:pt>
    <dgm:pt modelId="{4878AAC5-E4DF-49FB-B41F-C95C58E8F9DB}" type="pres">
      <dgm:prSet presAssocID="{FC3354B0-6625-415F-8085-96AD110FD4F7}" presName="sibTrans" presStyleCnt="0"/>
      <dgm:spPr/>
    </dgm:pt>
    <dgm:pt modelId="{83338CD9-0958-459E-BB32-583B2CFFDAE8}" type="pres">
      <dgm:prSet presAssocID="{DD815880-EF5A-472F-9798-753437C6077D}" presName="compNode" presStyleCnt="0"/>
      <dgm:spPr/>
    </dgm:pt>
    <dgm:pt modelId="{65C71B0A-1CD0-401D-8E2A-37B830AF1215}" type="pres">
      <dgm:prSet presAssocID="{DD815880-EF5A-472F-9798-753437C6077D}" presName="bgRect" presStyleLbl="bgShp" presStyleIdx="1" presStyleCnt="4"/>
      <dgm:spPr/>
    </dgm:pt>
    <dgm:pt modelId="{8DDB5AC8-B1C1-421B-BF29-DC2D312AE8C6}" type="pres">
      <dgm:prSet presAssocID="{DD815880-EF5A-472F-9798-753437C6077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CB663FF6-F9CF-411E-BBB7-9379023894ED}" type="pres">
      <dgm:prSet presAssocID="{DD815880-EF5A-472F-9798-753437C6077D}" presName="spaceRect" presStyleCnt="0"/>
      <dgm:spPr/>
    </dgm:pt>
    <dgm:pt modelId="{33BAEA37-16A9-4722-BAA4-620FDAD72030}" type="pres">
      <dgm:prSet presAssocID="{DD815880-EF5A-472F-9798-753437C6077D}" presName="parTx" presStyleLbl="revTx" presStyleIdx="1" presStyleCnt="4">
        <dgm:presLayoutVars>
          <dgm:chMax val="0"/>
          <dgm:chPref val="0"/>
        </dgm:presLayoutVars>
      </dgm:prSet>
      <dgm:spPr/>
    </dgm:pt>
    <dgm:pt modelId="{A3C56D67-0694-40F1-B986-A89B3C85D7AE}" type="pres">
      <dgm:prSet presAssocID="{DA74CA1B-83CB-49F9-BD60-E4E2F7128FFD}" presName="sibTrans" presStyleCnt="0"/>
      <dgm:spPr/>
    </dgm:pt>
    <dgm:pt modelId="{D9419795-78B1-4EF4-A2E0-E5356A2001E2}" type="pres">
      <dgm:prSet presAssocID="{8B960DB0-8767-4273-8793-69F0EF44F00D}" presName="compNode" presStyleCnt="0"/>
      <dgm:spPr/>
    </dgm:pt>
    <dgm:pt modelId="{595747D1-16AF-438F-9759-3E623E7D15DC}" type="pres">
      <dgm:prSet presAssocID="{8B960DB0-8767-4273-8793-69F0EF44F00D}" presName="bgRect" presStyleLbl="bgShp" presStyleIdx="2" presStyleCnt="4"/>
      <dgm:spPr/>
    </dgm:pt>
    <dgm:pt modelId="{B9740310-4F19-43B6-B6E2-B14C3B7D0670}" type="pres">
      <dgm:prSet presAssocID="{8B960DB0-8767-4273-8793-69F0EF44F00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perclip"/>
        </a:ext>
      </dgm:extLst>
    </dgm:pt>
    <dgm:pt modelId="{C30D1124-E258-4FBD-8400-086B69D48C80}" type="pres">
      <dgm:prSet presAssocID="{8B960DB0-8767-4273-8793-69F0EF44F00D}" presName="spaceRect" presStyleCnt="0"/>
      <dgm:spPr/>
    </dgm:pt>
    <dgm:pt modelId="{66F26B0D-7E06-4B53-A3F0-4402DBEAD548}" type="pres">
      <dgm:prSet presAssocID="{8B960DB0-8767-4273-8793-69F0EF44F00D}" presName="parTx" presStyleLbl="revTx" presStyleIdx="2" presStyleCnt="4">
        <dgm:presLayoutVars>
          <dgm:chMax val="0"/>
          <dgm:chPref val="0"/>
        </dgm:presLayoutVars>
      </dgm:prSet>
      <dgm:spPr/>
    </dgm:pt>
    <dgm:pt modelId="{DDECEC86-A002-476F-9E5F-4E9128AEEBCC}" type="pres">
      <dgm:prSet presAssocID="{691D5DF0-05B7-423D-B69D-EA7AD49C7C3C}" presName="sibTrans" presStyleCnt="0"/>
      <dgm:spPr/>
    </dgm:pt>
    <dgm:pt modelId="{ECC70046-6BB5-4D17-80FD-62E71BFA5FF0}" type="pres">
      <dgm:prSet presAssocID="{7446EA83-8037-40CF-887D-46363C9B1A86}" presName="compNode" presStyleCnt="0"/>
      <dgm:spPr/>
    </dgm:pt>
    <dgm:pt modelId="{851C6AB6-80F1-4D8F-9C16-7F085165F349}" type="pres">
      <dgm:prSet presAssocID="{7446EA83-8037-40CF-887D-46363C9B1A86}" presName="bgRect" presStyleLbl="bgShp" presStyleIdx="3" presStyleCnt="4"/>
      <dgm:spPr/>
    </dgm:pt>
    <dgm:pt modelId="{BA58D293-3111-420F-9B72-CADC211CD3F2}" type="pres">
      <dgm:prSet presAssocID="{7446EA83-8037-40CF-887D-46363C9B1A8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CF5F676D-7D12-493E-AD05-9ECF7C2AA21F}" type="pres">
      <dgm:prSet presAssocID="{7446EA83-8037-40CF-887D-46363C9B1A86}" presName="spaceRect" presStyleCnt="0"/>
      <dgm:spPr/>
    </dgm:pt>
    <dgm:pt modelId="{21920E5A-6B85-4A57-98AE-5BEF0803336B}" type="pres">
      <dgm:prSet presAssocID="{7446EA83-8037-40CF-887D-46363C9B1A86}" presName="parTx" presStyleLbl="revTx" presStyleIdx="3" presStyleCnt="4">
        <dgm:presLayoutVars>
          <dgm:chMax val="0"/>
          <dgm:chPref val="0"/>
        </dgm:presLayoutVars>
      </dgm:prSet>
      <dgm:spPr/>
    </dgm:pt>
  </dgm:ptLst>
  <dgm:cxnLst>
    <dgm:cxn modelId="{0E1CBC1C-98F9-45E6-9A9F-7784B24D4556}" srcId="{D3ED742B-1178-4BB4-9319-D4313FA20E1B}" destId="{8B960DB0-8767-4273-8793-69F0EF44F00D}" srcOrd="2" destOrd="0" parTransId="{888F2B0A-AF29-4AEC-9C42-1B138205AB89}" sibTransId="{691D5DF0-05B7-423D-B69D-EA7AD49C7C3C}"/>
    <dgm:cxn modelId="{2B407164-7C2A-45CC-93EB-A0AD4AA559D6}" srcId="{D3ED742B-1178-4BB4-9319-D4313FA20E1B}" destId="{DD815880-EF5A-472F-9798-753437C6077D}" srcOrd="1" destOrd="0" parTransId="{E9DC82B8-FB4A-4947-9B18-417E4AEF5AB6}" sibTransId="{DA74CA1B-83CB-49F9-BD60-E4E2F7128FFD}"/>
    <dgm:cxn modelId="{EDABA275-AA82-44FC-903F-7CB0FC36E53A}" type="presOf" srcId="{D3ED742B-1178-4BB4-9319-D4313FA20E1B}" destId="{3E5A40C5-255D-4DFB-A953-D3C54FA6E8F2}" srcOrd="0" destOrd="0" presId="urn:microsoft.com/office/officeart/2018/2/layout/IconVerticalSolidList"/>
    <dgm:cxn modelId="{E647BC97-BBF6-44C8-8823-58CC3908D077}" type="presOf" srcId="{DD815880-EF5A-472F-9798-753437C6077D}" destId="{33BAEA37-16A9-4722-BAA4-620FDAD72030}" srcOrd="0" destOrd="0" presId="urn:microsoft.com/office/officeart/2018/2/layout/IconVerticalSolidList"/>
    <dgm:cxn modelId="{818942BB-D4F3-4D5C-8E40-11D16C1A17FA}" type="presOf" srcId="{7446EA83-8037-40CF-887D-46363C9B1A86}" destId="{21920E5A-6B85-4A57-98AE-5BEF0803336B}" srcOrd="0" destOrd="0" presId="urn:microsoft.com/office/officeart/2018/2/layout/IconVerticalSolidList"/>
    <dgm:cxn modelId="{E10789BC-23D9-4933-BB5C-19E6CDAEE0E4}" srcId="{D3ED742B-1178-4BB4-9319-D4313FA20E1B}" destId="{62C2B873-33E5-4F36-B04C-E7C4069C1C82}" srcOrd="0" destOrd="0" parTransId="{CBA4B6BB-DBB5-444D-9DE4-C937D16B7241}" sibTransId="{FC3354B0-6625-415F-8085-96AD110FD4F7}"/>
    <dgm:cxn modelId="{82FD22C8-DFE5-4A82-B59B-8702D78113BB}" type="presOf" srcId="{62C2B873-33E5-4F36-B04C-E7C4069C1C82}" destId="{9CDDB15D-6F2F-4188-B711-CC5DFE5A1634}" srcOrd="0" destOrd="0" presId="urn:microsoft.com/office/officeart/2018/2/layout/IconVerticalSolidList"/>
    <dgm:cxn modelId="{BF5014DD-FC9E-4289-8A9E-F1AE306E2A8F}" srcId="{D3ED742B-1178-4BB4-9319-D4313FA20E1B}" destId="{7446EA83-8037-40CF-887D-46363C9B1A86}" srcOrd="3" destOrd="0" parTransId="{1E27FE32-1420-487C-82C3-1128C51232B5}" sibTransId="{3E3A96FE-7759-43FC-BDD0-863888D5015E}"/>
    <dgm:cxn modelId="{A3FDEBF1-488D-4AC6-841F-FC92E05E58CA}" type="presOf" srcId="{8B960DB0-8767-4273-8793-69F0EF44F00D}" destId="{66F26B0D-7E06-4B53-A3F0-4402DBEAD548}" srcOrd="0" destOrd="0" presId="urn:microsoft.com/office/officeart/2018/2/layout/IconVerticalSolidList"/>
    <dgm:cxn modelId="{05617788-B0DE-41B5-9F81-0029E1A1BCC6}" type="presParOf" srcId="{3E5A40C5-255D-4DFB-A953-D3C54FA6E8F2}" destId="{8B827B83-251A-441C-8CDE-A8E86799CD28}" srcOrd="0" destOrd="0" presId="urn:microsoft.com/office/officeart/2018/2/layout/IconVerticalSolidList"/>
    <dgm:cxn modelId="{D1F26AEF-CF33-417F-A0C7-AA97DF51DB13}" type="presParOf" srcId="{8B827B83-251A-441C-8CDE-A8E86799CD28}" destId="{AD2686F0-3826-4031-A24D-C4188C67DA4B}" srcOrd="0" destOrd="0" presId="urn:microsoft.com/office/officeart/2018/2/layout/IconVerticalSolidList"/>
    <dgm:cxn modelId="{AF0C626D-29F3-4656-948B-18E2342079EA}" type="presParOf" srcId="{8B827B83-251A-441C-8CDE-A8E86799CD28}" destId="{33C11ED3-11BE-42FB-82E7-5563067AE3A2}" srcOrd="1" destOrd="0" presId="urn:microsoft.com/office/officeart/2018/2/layout/IconVerticalSolidList"/>
    <dgm:cxn modelId="{AC7AB830-6D31-48CE-97C1-5F7371D6918F}" type="presParOf" srcId="{8B827B83-251A-441C-8CDE-A8E86799CD28}" destId="{F47D5949-9582-40F0-9B97-0D4C241E48CC}" srcOrd="2" destOrd="0" presId="urn:microsoft.com/office/officeart/2018/2/layout/IconVerticalSolidList"/>
    <dgm:cxn modelId="{66228ACD-673C-4F65-827D-9A1995147339}" type="presParOf" srcId="{8B827B83-251A-441C-8CDE-A8E86799CD28}" destId="{9CDDB15D-6F2F-4188-B711-CC5DFE5A1634}" srcOrd="3" destOrd="0" presId="urn:microsoft.com/office/officeart/2018/2/layout/IconVerticalSolidList"/>
    <dgm:cxn modelId="{0C641F99-7744-47D8-9214-3934B1388329}" type="presParOf" srcId="{3E5A40C5-255D-4DFB-A953-D3C54FA6E8F2}" destId="{4878AAC5-E4DF-49FB-B41F-C95C58E8F9DB}" srcOrd="1" destOrd="0" presId="urn:microsoft.com/office/officeart/2018/2/layout/IconVerticalSolidList"/>
    <dgm:cxn modelId="{01E82FE2-4373-4F43-B00F-AEF45074A23D}" type="presParOf" srcId="{3E5A40C5-255D-4DFB-A953-D3C54FA6E8F2}" destId="{83338CD9-0958-459E-BB32-583B2CFFDAE8}" srcOrd="2" destOrd="0" presId="urn:microsoft.com/office/officeart/2018/2/layout/IconVerticalSolidList"/>
    <dgm:cxn modelId="{86F1D968-583F-4455-9C97-718E729D259F}" type="presParOf" srcId="{83338CD9-0958-459E-BB32-583B2CFFDAE8}" destId="{65C71B0A-1CD0-401D-8E2A-37B830AF1215}" srcOrd="0" destOrd="0" presId="urn:microsoft.com/office/officeart/2018/2/layout/IconVerticalSolidList"/>
    <dgm:cxn modelId="{F62E1EFF-2BDA-441B-B492-D85C470DF424}" type="presParOf" srcId="{83338CD9-0958-459E-BB32-583B2CFFDAE8}" destId="{8DDB5AC8-B1C1-421B-BF29-DC2D312AE8C6}" srcOrd="1" destOrd="0" presId="urn:microsoft.com/office/officeart/2018/2/layout/IconVerticalSolidList"/>
    <dgm:cxn modelId="{CB32B055-B077-44E4-B181-7D3521E0FBC2}" type="presParOf" srcId="{83338CD9-0958-459E-BB32-583B2CFFDAE8}" destId="{CB663FF6-F9CF-411E-BBB7-9379023894ED}" srcOrd="2" destOrd="0" presId="urn:microsoft.com/office/officeart/2018/2/layout/IconVerticalSolidList"/>
    <dgm:cxn modelId="{FCBE0E80-8F5D-4989-BB89-E19211F1AB56}" type="presParOf" srcId="{83338CD9-0958-459E-BB32-583B2CFFDAE8}" destId="{33BAEA37-16A9-4722-BAA4-620FDAD72030}" srcOrd="3" destOrd="0" presId="urn:microsoft.com/office/officeart/2018/2/layout/IconVerticalSolidList"/>
    <dgm:cxn modelId="{B771D81F-6CAF-4B73-825F-BC856FB31B08}" type="presParOf" srcId="{3E5A40C5-255D-4DFB-A953-D3C54FA6E8F2}" destId="{A3C56D67-0694-40F1-B986-A89B3C85D7AE}" srcOrd="3" destOrd="0" presId="urn:microsoft.com/office/officeart/2018/2/layout/IconVerticalSolidList"/>
    <dgm:cxn modelId="{411CE487-45E2-42B6-BB75-2901141365E9}" type="presParOf" srcId="{3E5A40C5-255D-4DFB-A953-D3C54FA6E8F2}" destId="{D9419795-78B1-4EF4-A2E0-E5356A2001E2}" srcOrd="4" destOrd="0" presId="urn:microsoft.com/office/officeart/2018/2/layout/IconVerticalSolidList"/>
    <dgm:cxn modelId="{E21371B7-C643-48AD-982C-3EC83AE125FE}" type="presParOf" srcId="{D9419795-78B1-4EF4-A2E0-E5356A2001E2}" destId="{595747D1-16AF-438F-9759-3E623E7D15DC}" srcOrd="0" destOrd="0" presId="urn:microsoft.com/office/officeart/2018/2/layout/IconVerticalSolidList"/>
    <dgm:cxn modelId="{D27E2100-C039-427B-80A6-8531FBE6B38E}" type="presParOf" srcId="{D9419795-78B1-4EF4-A2E0-E5356A2001E2}" destId="{B9740310-4F19-43B6-B6E2-B14C3B7D0670}" srcOrd="1" destOrd="0" presId="urn:microsoft.com/office/officeart/2018/2/layout/IconVerticalSolidList"/>
    <dgm:cxn modelId="{54BB9C4E-B982-484D-BDC7-C8E9ADB2FBE1}" type="presParOf" srcId="{D9419795-78B1-4EF4-A2E0-E5356A2001E2}" destId="{C30D1124-E258-4FBD-8400-086B69D48C80}" srcOrd="2" destOrd="0" presId="urn:microsoft.com/office/officeart/2018/2/layout/IconVerticalSolidList"/>
    <dgm:cxn modelId="{CDED4550-A886-411A-807C-C25D807482ED}" type="presParOf" srcId="{D9419795-78B1-4EF4-A2E0-E5356A2001E2}" destId="{66F26B0D-7E06-4B53-A3F0-4402DBEAD548}" srcOrd="3" destOrd="0" presId="urn:microsoft.com/office/officeart/2018/2/layout/IconVerticalSolidList"/>
    <dgm:cxn modelId="{443C4051-050B-4868-9981-3C48B79C9EEB}" type="presParOf" srcId="{3E5A40C5-255D-4DFB-A953-D3C54FA6E8F2}" destId="{DDECEC86-A002-476F-9E5F-4E9128AEEBCC}" srcOrd="5" destOrd="0" presId="urn:microsoft.com/office/officeart/2018/2/layout/IconVerticalSolidList"/>
    <dgm:cxn modelId="{20AA5698-4096-457E-9BB4-294380FF4539}" type="presParOf" srcId="{3E5A40C5-255D-4DFB-A953-D3C54FA6E8F2}" destId="{ECC70046-6BB5-4D17-80FD-62E71BFA5FF0}" srcOrd="6" destOrd="0" presId="urn:microsoft.com/office/officeart/2018/2/layout/IconVerticalSolidList"/>
    <dgm:cxn modelId="{EED24281-7106-4E2F-B1AB-E77B7E77C990}" type="presParOf" srcId="{ECC70046-6BB5-4D17-80FD-62E71BFA5FF0}" destId="{851C6AB6-80F1-4D8F-9C16-7F085165F349}" srcOrd="0" destOrd="0" presId="urn:microsoft.com/office/officeart/2018/2/layout/IconVerticalSolidList"/>
    <dgm:cxn modelId="{7B0F88EB-5818-4C77-A7FD-7AC1956442CD}" type="presParOf" srcId="{ECC70046-6BB5-4D17-80FD-62E71BFA5FF0}" destId="{BA58D293-3111-420F-9B72-CADC211CD3F2}" srcOrd="1" destOrd="0" presId="urn:microsoft.com/office/officeart/2018/2/layout/IconVerticalSolidList"/>
    <dgm:cxn modelId="{40A4884B-5F45-4AB5-9C0A-F611FE6C4096}" type="presParOf" srcId="{ECC70046-6BB5-4D17-80FD-62E71BFA5FF0}" destId="{CF5F676D-7D12-493E-AD05-9ECF7C2AA21F}" srcOrd="2" destOrd="0" presId="urn:microsoft.com/office/officeart/2018/2/layout/IconVerticalSolidList"/>
    <dgm:cxn modelId="{74403FFF-5F0E-4D57-8971-0F2D553250CD}" type="presParOf" srcId="{ECC70046-6BB5-4D17-80FD-62E71BFA5FF0}" destId="{21920E5A-6B85-4A57-98AE-5BEF0803336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9477935-21C0-4F2E-9FE3-D9BE836A42C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8B1CD47-01A8-49B5-B289-7CF2D1E987BB}">
      <dgm:prSet/>
      <dgm:spPr/>
      <dgm:t>
        <a:bodyPr/>
        <a:lstStyle/>
        <a:p>
          <a:r>
            <a:rPr lang="en-US"/>
            <a:t>Thus by trying 24 permutation(n!=4!=24),we can obtain feasible solution.the feasible solution is &lt;2,1,3,4&gt;i.e.cost=3+7+2+5=17.</a:t>
          </a:r>
        </a:p>
      </dgm:t>
    </dgm:pt>
    <dgm:pt modelId="{4184A396-C120-4AB0-BAF9-F0F2EEC2DB9B}" type="parTrans" cxnId="{2B15374E-5DA1-47CD-977A-8900F7F2B95C}">
      <dgm:prSet/>
      <dgm:spPr/>
      <dgm:t>
        <a:bodyPr/>
        <a:lstStyle/>
        <a:p>
          <a:endParaRPr lang="en-US"/>
        </a:p>
      </dgm:t>
    </dgm:pt>
    <dgm:pt modelId="{E3F53FF4-50D4-4CF3-87FF-398AEA7A4160}" type="sibTrans" cxnId="{2B15374E-5DA1-47CD-977A-8900F7F2B95C}">
      <dgm:prSet/>
      <dgm:spPr/>
      <dgm:t>
        <a:bodyPr/>
        <a:lstStyle/>
        <a:p>
          <a:endParaRPr lang="en-US"/>
        </a:p>
      </dgm:t>
    </dgm:pt>
    <dgm:pt modelId="{8A34A35F-96CB-4505-B65B-E6CB03676113}">
      <dgm:prSet/>
      <dgm:spPr/>
      <dgm:t>
        <a:bodyPr/>
        <a:lstStyle/>
        <a:p>
          <a:r>
            <a:rPr lang="en-US"/>
            <a:t>Thus we have to generate n! instances to find solution using exhaustive  search. This also shows how inefficient exhaustive search method is for solving such problems.</a:t>
          </a:r>
        </a:p>
      </dgm:t>
    </dgm:pt>
    <dgm:pt modelId="{426278B7-81A9-4314-AD0A-F2FE9C5CEA96}" type="parTrans" cxnId="{5F4A6AA2-5943-4A7C-A82C-4336921690F9}">
      <dgm:prSet/>
      <dgm:spPr/>
      <dgm:t>
        <a:bodyPr/>
        <a:lstStyle/>
        <a:p>
          <a:endParaRPr lang="en-US"/>
        </a:p>
      </dgm:t>
    </dgm:pt>
    <dgm:pt modelId="{79637A97-87D7-4580-8778-11C9F9CD044D}" type="sibTrans" cxnId="{5F4A6AA2-5943-4A7C-A82C-4336921690F9}">
      <dgm:prSet/>
      <dgm:spPr/>
      <dgm:t>
        <a:bodyPr/>
        <a:lstStyle/>
        <a:p>
          <a:endParaRPr lang="en-US"/>
        </a:p>
      </dgm:t>
    </dgm:pt>
    <dgm:pt modelId="{92B9DAB7-04CE-4317-8780-AE695BF4D01B}">
      <dgm:prSet/>
      <dgm:spPr/>
      <dgm:t>
        <a:bodyPr/>
        <a:lstStyle/>
        <a:p>
          <a:r>
            <a:rPr lang="en-US"/>
            <a:t>For solving these types of problems, many efficient algorithms are available</a:t>
          </a:r>
        </a:p>
      </dgm:t>
    </dgm:pt>
    <dgm:pt modelId="{96554EB8-4C77-4125-A48B-63D1CDA9C77D}" type="parTrans" cxnId="{9EEB6C83-6243-4C41-8B91-C453C3952004}">
      <dgm:prSet/>
      <dgm:spPr/>
      <dgm:t>
        <a:bodyPr/>
        <a:lstStyle/>
        <a:p>
          <a:endParaRPr lang="en-US"/>
        </a:p>
      </dgm:t>
    </dgm:pt>
    <dgm:pt modelId="{D0FF8204-11C8-4BCF-9D48-FE8FDE5C796B}" type="sibTrans" cxnId="{9EEB6C83-6243-4C41-8B91-C453C3952004}">
      <dgm:prSet/>
      <dgm:spPr/>
      <dgm:t>
        <a:bodyPr/>
        <a:lstStyle/>
        <a:p>
          <a:endParaRPr lang="en-US"/>
        </a:p>
      </dgm:t>
    </dgm:pt>
    <dgm:pt modelId="{A56B80BE-3838-4006-B19A-DB2F16652DBC}" type="pres">
      <dgm:prSet presAssocID="{A9477935-21C0-4F2E-9FE3-D9BE836A42CF}" presName="linear" presStyleCnt="0">
        <dgm:presLayoutVars>
          <dgm:animLvl val="lvl"/>
          <dgm:resizeHandles val="exact"/>
        </dgm:presLayoutVars>
      </dgm:prSet>
      <dgm:spPr/>
    </dgm:pt>
    <dgm:pt modelId="{F830C5DF-EFA0-478A-80A1-5E7FEB1CB720}" type="pres">
      <dgm:prSet presAssocID="{B8B1CD47-01A8-49B5-B289-7CF2D1E987BB}" presName="parentText" presStyleLbl="node1" presStyleIdx="0" presStyleCnt="3">
        <dgm:presLayoutVars>
          <dgm:chMax val="0"/>
          <dgm:bulletEnabled val="1"/>
        </dgm:presLayoutVars>
      </dgm:prSet>
      <dgm:spPr/>
    </dgm:pt>
    <dgm:pt modelId="{EA6C45A3-6F23-466B-BA3F-8FB792084C3B}" type="pres">
      <dgm:prSet presAssocID="{E3F53FF4-50D4-4CF3-87FF-398AEA7A4160}" presName="spacer" presStyleCnt="0"/>
      <dgm:spPr/>
    </dgm:pt>
    <dgm:pt modelId="{30A35079-55C9-41C9-B632-841F34724AA9}" type="pres">
      <dgm:prSet presAssocID="{8A34A35F-96CB-4505-B65B-E6CB03676113}" presName="parentText" presStyleLbl="node1" presStyleIdx="1" presStyleCnt="3">
        <dgm:presLayoutVars>
          <dgm:chMax val="0"/>
          <dgm:bulletEnabled val="1"/>
        </dgm:presLayoutVars>
      </dgm:prSet>
      <dgm:spPr/>
    </dgm:pt>
    <dgm:pt modelId="{B675ADD7-8B6B-4C0F-862B-5068A8987EA1}" type="pres">
      <dgm:prSet presAssocID="{79637A97-87D7-4580-8778-11C9F9CD044D}" presName="spacer" presStyleCnt="0"/>
      <dgm:spPr/>
    </dgm:pt>
    <dgm:pt modelId="{60A7FB9D-5A00-4884-8FEB-4C262D2A6AE4}" type="pres">
      <dgm:prSet presAssocID="{92B9DAB7-04CE-4317-8780-AE695BF4D01B}" presName="parentText" presStyleLbl="node1" presStyleIdx="2" presStyleCnt="3">
        <dgm:presLayoutVars>
          <dgm:chMax val="0"/>
          <dgm:bulletEnabled val="1"/>
        </dgm:presLayoutVars>
      </dgm:prSet>
      <dgm:spPr/>
    </dgm:pt>
  </dgm:ptLst>
  <dgm:cxnLst>
    <dgm:cxn modelId="{18E11F47-1D74-40DD-BF1D-4DED701B3733}" type="presOf" srcId="{B8B1CD47-01A8-49B5-B289-7CF2D1E987BB}" destId="{F830C5DF-EFA0-478A-80A1-5E7FEB1CB720}" srcOrd="0" destOrd="0" presId="urn:microsoft.com/office/officeart/2005/8/layout/vList2"/>
    <dgm:cxn modelId="{AE0A8D49-0461-457B-890C-DB3BBC6913AC}" type="presOf" srcId="{92B9DAB7-04CE-4317-8780-AE695BF4D01B}" destId="{60A7FB9D-5A00-4884-8FEB-4C262D2A6AE4}" srcOrd="0" destOrd="0" presId="urn:microsoft.com/office/officeart/2005/8/layout/vList2"/>
    <dgm:cxn modelId="{2B15374E-5DA1-47CD-977A-8900F7F2B95C}" srcId="{A9477935-21C0-4F2E-9FE3-D9BE836A42CF}" destId="{B8B1CD47-01A8-49B5-B289-7CF2D1E987BB}" srcOrd="0" destOrd="0" parTransId="{4184A396-C120-4AB0-BAF9-F0F2EEC2DB9B}" sibTransId="{E3F53FF4-50D4-4CF3-87FF-398AEA7A4160}"/>
    <dgm:cxn modelId="{E6EDA96E-B73A-4202-BF08-0FD1F795820E}" type="presOf" srcId="{A9477935-21C0-4F2E-9FE3-D9BE836A42CF}" destId="{A56B80BE-3838-4006-B19A-DB2F16652DBC}" srcOrd="0" destOrd="0" presId="urn:microsoft.com/office/officeart/2005/8/layout/vList2"/>
    <dgm:cxn modelId="{9EEB6C83-6243-4C41-8B91-C453C3952004}" srcId="{A9477935-21C0-4F2E-9FE3-D9BE836A42CF}" destId="{92B9DAB7-04CE-4317-8780-AE695BF4D01B}" srcOrd="2" destOrd="0" parTransId="{96554EB8-4C77-4125-A48B-63D1CDA9C77D}" sibTransId="{D0FF8204-11C8-4BCF-9D48-FE8FDE5C796B}"/>
    <dgm:cxn modelId="{5F4A6AA2-5943-4A7C-A82C-4336921690F9}" srcId="{A9477935-21C0-4F2E-9FE3-D9BE836A42CF}" destId="{8A34A35F-96CB-4505-B65B-E6CB03676113}" srcOrd="1" destOrd="0" parTransId="{426278B7-81A9-4314-AD0A-F2FE9C5CEA96}" sibTransId="{79637A97-87D7-4580-8778-11C9F9CD044D}"/>
    <dgm:cxn modelId="{42A2B1E2-88BC-4DB4-B618-5A04E8E1B36C}" type="presOf" srcId="{8A34A35F-96CB-4505-B65B-E6CB03676113}" destId="{30A35079-55C9-41C9-B632-841F34724AA9}" srcOrd="0" destOrd="0" presId="urn:microsoft.com/office/officeart/2005/8/layout/vList2"/>
    <dgm:cxn modelId="{B5F44919-38AD-47BA-A84F-929F4DE7AF8C}" type="presParOf" srcId="{A56B80BE-3838-4006-B19A-DB2F16652DBC}" destId="{F830C5DF-EFA0-478A-80A1-5E7FEB1CB720}" srcOrd="0" destOrd="0" presId="urn:microsoft.com/office/officeart/2005/8/layout/vList2"/>
    <dgm:cxn modelId="{0353D6FA-3263-4F8C-848C-D4BDDEFD6059}" type="presParOf" srcId="{A56B80BE-3838-4006-B19A-DB2F16652DBC}" destId="{EA6C45A3-6F23-466B-BA3F-8FB792084C3B}" srcOrd="1" destOrd="0" presId="urn:microsoft.com/office/officeart/2005/8/layout/vList2"/>
    <dgm:cxn modelId="{8136FAE9-8EF1-4012-8E77-5C3305F640A4}" type="presParOf" srcId="{A56B80BE-3838-4006-B19A-DB2F16652DBC}" destId="{30A35079-55C9-41C9-B632-841F34724AA9}" srcOrd="2" destOrd="0" presId="urn:microsoft.com/office/officeart/2005/8/layout/vList2"/>
    <dgm:cxn modelId="{5C33BADA-7AA8-41D3-BDC0-F544560CA722}" type="presParOf" srcId="{A56B80BE-3838-4006-B19A-DB2F16652DBC}" destId="{B675ADD7-8B6B-4C0F-862B-5068A8987EA1}" srcOrd="3" destOrd="0" presId="urn:microsoft.com/office/officeart/2005/8/layout/vList2"/>
    <dgm:cxn modelId="{A8FC3AFB-E79D-48A5-BF51-297AA40054E7}" type="presParOf" srcId="{A56B80BE-3838-4006-B19A-DB2F16652DBC}" destId="{60A7FB9D-5A00-4884-8FEB-4C262D2A6AE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EDD9001-4189-40A8-971D-1FC2CD725683}"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183478B-1C15-47C0-B3EE-B5C2168C9618}">
      <dgm:prSet/>
      <dgm:spPr/>
      <dgm:t>
        <a:bodyPr/>
        <a:lstStyle/>
        <a:p>
          <a:r>
            <a:rPr lang="en-US"/>
            <a:t>•</a:t>
          </a:r>
          <a:r>
            <a:rPr lang="en-US" b="1" i="1"/>
            <a:t>Space complexity </a:t>
          </a:r>
          <a:endParaRPr lang="en-US"/>
        </a:p>
      </dgm:t>
    </dgm:pt>
    <dgm:pt modelId="{3A9F9D8A-7FE8-45FC-A28A-A899389DABE9}" type="parTrans" cxnId="{D1F5AC46-9475-47A5-A3ED-CFDF7735CC6B}">
      <dgm:prSet/>
      <dgm:spPr/>
      <dgm:t>
        <a:bodyPr/>
        <a:lstStyle/>
        <a:p>
          <a:endParaRPr lang="en-US"/>
        </a:p>
      </dgm:t>
    </dgm:pt>
    <dgm:pt modelId="{1D90A5EE-A625-4C16-A844-8F70BC11BB6A}" type="sibTrans" cxnId="{D1F5AC46-9475-47A5-A3ED-CFDF7735CC6B}">
      <dgm:prSet/>
      <dgm:spPr/>
      <dgm:t>
        <a:bodyPr/>
        <a:lstStyle/>
        <a:p>
          <a:endParaRPr lang="en-US"/>
        </a:p>
      </dgm:t>
    </dgm:pt>
    <dgm:pt modelId="{33AB1E6C-98B1-4AAB-A2AD-8C1B0A7C0E30}">
      <dgm:prSet/>
      <dgm:spPr/>
      <dgm:t>
        <a:bodyPr/>
        <a:lstStyle/>
        <a:p>
          <a:r>
            <a:rPr lang="en-US" dirty="0"/>
            <a:t>•In the breadth-first search algorithm, all the nodes at a particular level must be saved until their child nodes in the next level have been generated. </a:t>
          </a:r>
        </a:p>
      </dgm:t>
    </dgm:pt>
    <dgm:pt modelId="{C5C09155-E6F8-4C57-BE11-AFBDB550A210}" type="parTrans" cxnId="{049EBCA4-8861-4B3A-8092-04AFB2CFD294}">
      <dgm:prSet/>
      <dgm:spPr/>
      <dgm:t>
        <a:bodyPr/>
        <a:lstStyle/>
        <a:p>
          <a:endParaRPr lang="en-US"/>
        </a:p>
      </dgm:t>
    </dgm:pt>
    <dgm:pt modelId="{ED12641B-AE79-420F-9DAB-81D7D894F8D8}" type="sibTrans" cxnId="{049EBCA4-8861-4B3A-8092-04AFB2CFD294}">
      <dgm:prSet/>
      <dgm:spPr/>
      <dgm:t>
        <a:bodyPr/>
        <a:lstStyle/>
        <a:p>
          <a:endParaRPr lang="en-US"/>
        </a:p>
      </dgm:t>
    </dgm:pt>
    <dgm:pt modelId="{9BCF6DBF-AC5A-41BD-8772-4E5D0A3D175C}">
      <dgm:prSet/>
      <dgm:spPr/>
      <dgm:t>
        <a:bodyPr/>
        <a:lstStyle/>
        <a:p>
          <a:r>
            <a:rPr lang="en-US"/>
            <a:t>•The space complexity is therefore proportional to the number of nodes at the deepest level of the graph. Given a graph with branching factor b (number of children at each node) and depth d, the asymptotic space complexity is the number of nodes at the deepest level O(bd).</a:t>
          </a:r>
        </a:p>
      </dgm:t>
    </dgm:pt>
    <dgm:pt modelId="{61A5748E-4B1B-4805-BB17-3D5261E2DA2B}" type="parTrans" cxnId="{A7E5E896-44E4-4B9B-874D-5B8D61E358D8}">
      <dgm:prSet/>
      <dgm:spPr/>
      <dgm:t>
        <a:bodyPr/>
        <a:lstStyle/>
        <a:p>
          <a:endParaRPr lang="en-US"/>
        </a:p>
      </dgm:t>
    </dgm:pt>
    <dgm:pt modelId="{3E520959-FAF9-4D92-AC49-FA7769AD8FCD}" type="sibTrans" cxnId="{A7E5E896-44E4-4B9B-874D-5B8D61E358D8}">
      <dgm:prSet/>
      <dgm:spPr/>
      <dgm:t>
        <a:bodyPr/>
        <a:lstStyle/>
        <a:p>
          <a:endParaRPr lang="en-US"/>
        </a:p>
      </dgm:t>
    </dgm:pt>
    <dgm:pt modelId="{6C27E67B-1111-447C-B173-8463362D89F0}">
      <dgm:prSet/>
      <dgm:spPr/>
      <dgm:t>
        <a:bodyPr/>
        <a:lstStyle/>
        <a:p>
          <a:r>
            <a:rPr lang="en-US"/>
            <a:t>•</a:t>
          </a:r>
          <a:r>
            <a:rPr lang="en-US" b="1" i="1"/>
            <a:t>Time complexity </a:t>
          </a:r>
          <a:endParaRPr lang="en-US"/>
        </a:p>
      </dgm:t>
    </dgm:pt>
    <dgm:pt modelId="{E47B95F7-13AB-42EB-A5BC-95CC4215F03B}" type="parTrans" cxnId="{B6EC771E-F883-46A4-96D0-7DE85C3B6863}">
      <dgm:prSet/>
      <dgm:spPr/>
      <dgm:t>
        <a:bodyPr/>
        <a:lstStyle/>
        <a:p>
          <a:endParaRPr lang="en-US"/>
        </a:p>
      </dgm:t>
    </dgm:pt>
    <dgm:pt modelId="{58512230-A75B-44A5-BC49-2FD855B6844D}" type="sibTrans" cxnId="{B6EC771E-F883-46A4-96D0-7DE85C3B6863}">
      <dgm:prSet/>
      <dgm:spPr/>
      <dgm:t>
        <a:bodyPr/>
        <a:lstStyle/>
        <a:p>
          <a:endParaRPr lang="en-US"/>
        </a:p>
      </dgm:t>
    </dgm:pt>
    <dgm:pt modelId="{0B4B9844-78AB-4C97-800C-18E35044BDBC}">
      <dgm:prSet/>
      <dgm:spPr/>
      <dgm:t>
        <a:bodyPr/>
        <a:lstStyle/>
        <a:p>
          <a:r>
            <a:rPr lang="en-US"/>
            <a:t>•In the worst case, breadth-first search has to traverse through all paths to all possible nodes, thus the time complexity of this algorithm asymptotically approaches O(bd). </a:t>
          </a:r>
        </a:p>
      </dgm:t>
    </dgm:pt>
    <dgm:pt modelId="{05577C8D-8D62-4585-81B3-DC99A2741336}" type="parTrans" cxnId="{87832791-937C-4BC7-BD41-1DD59C74A898}">
      <dgm:prSet/>
      <dgm:spPr/>
      <dgm:t>
        <a:bodyPr/>
        <a:lstStyle/>
        <a:p>
          <a:endParaRPr lang="en-US"/>
        </a:p>
      </dgm:t>
    </dgm:pt>
    <dgm:pt modelId="{DE505B29-F3CE-43FF-AACD-59094C4A57B7}" type="sibTrans" cxnId="{87832791-937C-4BC7-BD41-1DD59C74A898}">
      <dgm:prSet/>
      <dgm:spPr/>
      <dgm:t>
        <a:bodyPr/>
        <a:lstStyle/>
        <a:p>
          <a:endParaRPr lang="en-US"/>
        </a:p>
      </dgm:t>
    </dgm:pt>
    <dgm:pt modelId="{9B53EDDB-CAFB-4FA8-AB13-34B0AC1C0517}">
      <dgm:prSet/>
      <dgm:spPr/>
      <dgm:t>
        <a:bodyPr/>
        <a:lstStyle/>
        <a:p>
          <a:r>
            <a:rPr lang="en-US"/>
            <a:t>•However, the time complexity can also be expressed as O( | E | + | V | ), since every vertex and every edge will be explored in the worst case.</a:t>
          </a:r>
        </a:p>
      </dgm:t>
    </dgm:pt>
    <dgm:pt modelId="{1A9C7E67-3072-4056-8449-A3B8A1D3AA70}" type="parTrans" cxnId="{6146EE4C-7EB7-421D-BCC5-C6C3A7F9DAA9}">
      <dgm:prSet/>
      <dgm:spPr/>
      <dgm:t>
        <a:bodyPr/>
        <a:lstStyle/>
        <a:p>
          <a:endParaRPr lang="en-US"/>
        </a:p>
      </dgm:t>
    </dgm:pt>
    <dgm:pt modelId="{41974B46-6944-44D3-934C-7C4DCA6E1E13}" type="sibTrans" cxnId="{6146EE4C-7EB7-421D-BCC5-C6C3A7F9DAA9}">
      <dgm:prSet/>
      <dgm:spPr/>
      <dgm:t>
        <a:bodyPr/>
        <a:lstStyle/>
        <a:p>
          <a:endParaRPr lang="en-US"/>
        </a:p>
      </dgm:t>
    </dgm:pt>
    <dgm:pt modelId="{65453A3E-076E-4998-A8B4-B805F8E25742}" type="pres">
      <dgm:prSet presAssocID="{2EDD9001-4189-40A8-971D-1FC2CD725683}" presName="root" presStyleCnt="0">
        <dgm:presLayoutVars>
          <dgm:dir/>
          <dgm:resizeHandles val="exact"/>
        </dgm:presLayoutVars>
      </dgm:prSet>
      <dgm:spPr/>
    </dgm:pt>
    <dgm:pt modelId="{D9E8CAC9-A333-434B-BAEA-DAE7D34F59D1}" type="pres">
      <dgm:prSet presAssocID="{2EDD9001-4189-40A8-971D-1FC2CD725683}" presName="container" presStyleCnt="0">
        <dgm:presLayoutVars>
          <dgm:dir/>
          <dgm:resizeHandles val="exact"/>
        </dgm:presLayoutVars>
      </dgm:prSet>
      <dgm:spPr/>
    </dgm:pt>
    <dgm:pt modelId="{3C7CB22F-D623-4819-A0D0-47805EE6C37E}" type="pres">
      <dgm:prSet presAssocID="{C183478B-1C15-47C0-B3EE-B5C2168C9618}" presName="compNode" presStyleCnt="0"/>
      <dgm:spPr/>
    </dgm:pt>
    <dgm:pt modelId="{32554EA2-DB56-4202-AC6B-904BB2C9D282}" type="pres">
      <dgm:prSet presAssocID="{C183478B-1C15-47C0-B3EE-B5C2168C9618}" presName="iconBgRect" presStyleLbl="bgShp" presStyleIdx="0" presStyleCnt="6"/>
      <dgm:spPr/>
    </dgm:pt>
    <dgm:pt modelId="{6AEA867B-42A2-462E-BD7E-8547163A9AB6}" type="pres">
      <dgm:prSet presAssocID="{C183478B-1C15-47C0-B3EE-B5C2168C961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cket"/>
        </a:ext>
      </dgm:extLst>
    </dgm:pt>
    <dgm:pt modelId="{89CC923A-A0C6-4B74-9F01-25C537E28155}" type="pres">
      <dgm:prSet presAssocID="{C183478B-1C15-47C0-B3EE-B5C2168C9618}" presName="spaceRect" presStyleCnt="0"/>
      <dgm:spPr/>
    </dgm:pt>
    <dgm:pt modelId="{FB410EA2-42A4-48C1-8556-C91FBB061125}" type="pres">
      <dgm:prSet presAssocID="{C183478B-1C15-47C0-B3EE-B5C2168C9618}" presName="textRect" presStyleLbl="revTx" presStyleIdx="0" presStyleCnt="6">
        <dgm:presLayoutVars>
          <dgm:chMax val="1"/>
          <dgm:chPref val="1"/>
        </dgm:presLayoutVars>
      </dgm:prSet>
      <dgm:spPr/>
    </dgm:pt>
    <dgm:pt modelId="{1AD98323-A294-4C3C-B7E1-A563A9E337DB}" type="pres">
      <dgm:prSet presAssocID="{1D90A5EE-A625-4C16-A844-8F70BC11BB6A}" presName="sibTrans" presStyleLbl="sibTrans2D1" presStyleIdx="0" presStyleCnt="0"/>
      <dgm:spPr/>
    </dgm:pt>
    <dgm:pt modelId="{C532E774-0FBD-4518-B1BC-ADCCF5E8C8F0}" type="pres">
      <dgm:prSet presAssocID="{33AB1E6C-98B1-4AAB-A2AD-8C1B0A7C0E30}" presName="compNode" presStyleCnt="0"/>
      <dgm:spPr/>
    </dgm:pt>
    <dgm:pt modelId="{38E70F74-B51D-49AD-AD69-3DACD6F782C6}" type="pres">
      <dgm:prSet presAssocID="{33AB1E6C-98B1-4AAB-A2AD-8C1B0A7C0E30}" presName="iconBgRect" presStyleLbl="bgShp" presStyleIdx="1" presStyleCnt="6"/>
      <dgm:spPr/>
    </dgm:pt>
    <dgm:pt modelId="{00ABFAA9-E76B-410C-ACF8-2E538F29AE9C}" type="pres">
      <dgm:prSet presAssocID="{33AB1E6C-98B1-4AAB-A2AD-8C1B0A7C0E3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EC2E4463-D7B9-4151-B0B9-BDA5B9023B9C}" type="pres">
      <dgm:prSet presAssocID="{33AB1E6C-98B1-4AAB-A2AD-8C1B0A7C0E30}" presName="spaceRect" presStyleCnt="0"/>
      <dgm:spPr/>
    </dgm:pt>
    <dgm:pt modelId="{614F3F14-F007-474A-9BB3-9AEF0E761BDA}" type="pres">
      <dgm:prSet presAssocID="{33AB1E6C-98B1-4AAB-A2AD-8C1B0A7C0E30}" presName="textRect" presStyleLbl="revTx" presStyleIdx="1" presStyleCnt="6">
        <dgm:presLayoutVars>
          <dgm:chMax val="1"/>
          <dgm:chPref val="1"/>
        </dgm:presLayoutVars>
      </dgm:prSet>
      <dgm:spPr/>
    </dgm:pt>
    <dgm:pt modelId="{B83F146C-B3BA-43C5-A966-2AFDFECB9127}" type="pres">
      <dgm:prSet presAssocID="{ED12641B-AE79-420F-9DAB-81D7D894F8D8}" presName="sibTrans" presStyleLbl="sibTrans2D1" presStyleIdx="0" presStyleCnt="0"/>
      <dgm:spPr/>
    </dgm:pt>
    <dgm:pt modelId="{D2730328-7BA2-407E-83A6-241F8D85CEA1}" type="pres">
      <dgm:prSet presAssocID="{9BCF6DBF-AC5A-41BD-8772-4E5D0A3D175C}" presName="compNode" presStyleCnt="0"/>
      <dgm:spPr/>
    </dgm:pt>
    <dgm:pt modelId="{387F6606-D1EF-4DD1-92D4-9CC78EF6865D}" type="pres">
      <dgm:prSet presAssocID="{9BCF6DBF-AC5A-41BD-8772-4E5D0A3D175C}" presName="iconBgRect" presStyleLbl="bgShp" presStyleIdx="2" presStyleCnt="6"/>
      <dgm:spPr/>
    </dgm:pt>
    <dgm:pt modelId="{B5B8E157-7393-4754-B34F-9CFD5963ECC9}" type="pres">
      <dgm:prSet presAssocID="{9BCF6DBF-AC5A-41BD-8772-4E5D0A3D175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61CAB6EB-D254-4B4E-A463-3DC7DBE50023}" type="pres">
      <dgm:prSet presAssocID="{9BCF6DBF-AC5A-41BD-8772-4E5D0A3D175C}" presName="spaceRect" presStyleCnt="0"/>
      <dgm:spPr/>
    </dgm:pt>
    <dgm:pt modelId="{EB3C8909-9A28-4196-AEC2-5215CFD66262}" type="pres">
      <dgm:prSet presAssocID="{9BCF6DBF-AC5A-41BD-8772-4E5D0A3D175C}" presName="textRect" presStyleLbl="revTx" presStyleIdx="2" presStyleCnt="6">
        <dgm:presLayoutVars>
          <dgm:chMax val="1"/>
          <dgm:chPref val="1"/>
        </dgm:presLayoutVars>
      </dgm:prSet>
      <dgm:spPr/>
    </dgm:pt>
    <dgm:pt modelId="{2B4B3976-601A-4F23-B33C-5715F4495CB7}" type="pres">
      <dgm:prSet presAssocID="{3E520959-FAF9-4D92-AC49-FA7769AD8FCD}" presName="sibTrans" presStyleLbl="sibTrans2D1" presStyleIdx="0" presStyleCnt="0"/>
      <dgm:spPr/>
    </dgm:pt>
    <dgm:pt modelId="{47704B00-A51E-4B3C-8F4B-58EC4910AFF8}" type="pres">
      <dgm:prSet presAssocID="{6C27E67B-1111-447C-B173-8463362D89F0}" presName="compNode" presStyleCnt="0"/>
      <dgm:spPr/>
    </dgm:pt>
    <dgm:pt modelId="{AEEACF62-CA5F-42E9-85D4-A10858E4ADCB}" type="pres">
      <dgm:prSet presAssocID="{6C27E67B-1111-447C-B173-8463362D89F0}" presName="iconBgRect" presStyleLbl="bgShp" presStyleIdx="3" presStyleCnt="6"/>
      <dgm:spPr/>
    </dgm:pt>
    <dgm:pt modelId="{0DFDE3F1-665A-439D-8D3E-4689E70EFBBC}" type="pres">
      <dgm:prSet presAssocID="{6C27E67B-1111-447C-B173-8463362D89F0}"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ourglass"/>
        </a:ext>
      </dgm:extLst>
    </dgm:pt>
    <dgm:pt modelId="{BCE99015-BACF-4DC3-9946-FF6DC6345643}" type="pres">
      <dgm:prSet presAssocID="{6C27E67B-1111-447C-B173-8463362D89F0}" presName="spaceRect" presStyleCnt="0"/>
      <dgm:spPr/>
    </dgm:pt>
    <dgm:pt modelId="{F6BA8697-5E4C-43A5-B3EC-7C148104D0D1}" type="pres">
      <dgm:prSet presAssocID="{6C27E67B-1111-447C-B173-8463362D89F0}" presName="textRect" presStyleLbl="revTx" presStyleIdx="3" presStyleCnt="6">
        <dgm:presLayoutVars>
          <dgm:chMax val="1"/>
          <dgm:chPref val="1"/>
        </dgm:presLayoutVars>
      </dgm:prSet>
      <dgm:spPr/>
    </dgm:pt>
    <dgm:pt modelId="{944C4B2B-9FA4-432E-8076-855E6B222ADE}" type="pres">
      <dgm:prSet presAssocID="{58512230-A75B-44A5-BC49-2FD855B6844D}" presName="sibTrans" presStyleLbl="sibTrans2D1" presStyleIdx="0" presStyleCnt="0"/>
      <dgm:spPr/>
    </dgm:pt>
    <dgm:pt modelId="{9D6BD3A6-2768-41C5-9F4A-4A9B1EA4583C}" type="pres">
      <dgm:prSet presAssocID="{0B4B9844-78AB-4C97-800C-18E35044BDBC}" presName="compNode" presStyleCnt="0"/>
      <dgm:spPr/>
    </dgm:pt>
    <dgm:pt modelId="{CCA7706A-0853-4A48-89C1-092BF613FA12}" type="pres">
      <dgm:prSet presAssocID="{0B4B9844-78AB-4C97-800C-18E35044BDBC}" presName="iconBgRect" presStyleLbl="bgShp" presStyleIdx="4" presStyleCnt="6"/>
      <dgm:spPr/>
    </dgm:pt>
    <dgm:pt modelId="{53F54352-83FA-455C-945A-1D08306B4AC9}" type="pres">
      <dgm:prSet presAssocID="{0B4B9844-78AB-4C97-800C-18E35044BDBC}"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ed"/>
        </a:ext>
      </dgm:extLst>
    </dgm:pt>
    <dgm:pt modelId="{207563C9-2691-4626-89B4-C66A5CFF83B5}" type="pres">
      <dgm:prSet presAssocID="{0B4B9844-78AB-4C97-800C-18E35044BDBC}" presName="spaceRect" presStyleCnt="0"/>
      <dgm:spPr/>
    </dgm:pt>
    <dgm:pt modelId="{4F46EAA2-D58A-497D-96C7-8AD2E691CBA2}" type="pres">
      <dgm:prSet presAssocID="{0B4B9844-78AB-4C97-800C-18E35044BDBC}" presName="textRect" presStyleLbl="revTx" presStyleIdx="4" presStyleCnt="6">
        <dgm:presLayoutVars>
          <dgm:chMax val="1"/>
          <dgm:chPref val="1"/>
        </dgm:presLayoutVars>
      </dgm:prSet>
      <dgm:spPr/>
    </dgm:pt>
    <dgm:pt modelId="{F9FC0C9F-D013-4A55-B0B0-2CA8A1F6AD4C}" type="pres">
      <dgm:prSet presAssocID="{DE505B29-F3CE-43FF-AACD-59094C4A57B7}" presName="sibTrans" presStyleLbl="sibTrans2D1" presStyleIdx="0" presStyleCnt="0"/>
      <dgm:spPr/>
    </dgm:pt>
    <dgm:pt modelId="{1EB91D8A-D48B-4ABC-A344-4F6EE4CD7884}" type="pres">
      <dgm:prSet presAssocID="{9B53EDDB-CAFB-4FA8-AB13-34B0AC1C0517}" presName="compNode" presStyleCnt="0"/>
      <dgm:spPr/>
    </dgm:pt>
    <dgm:pt modelId="{DC23D5CC-FCE1-465B-9461-B335187B918D}" type="pres">
      <dgm:prSet presAssocID="{9B53EDDB-CAFB-4FA8-AB13-34B0AC1C0517}" presName="iconBgRect" presStyleLbl="bgShp" presStyleIdx="5" presStyleCnt="6"/>
      <dgm:spPr/>
    </dgm:pt>
    <dgm:pt modelId="{3C107508-1FE8-4F1E-B833-D7C6BE364E64}" type="pres">
      <dgm:prSet presAssocID="{9B53EDDB-CAFB-4FA8-AB13-34B0AC1C051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rrow Circle"/>
        </a:ext>
      </dgm:extLst>
    </dgm:pt>
    <dgm:pt modelId="{3B0D81A6-D3E9-4183-9582-55CC3AA05049}" type="pres">
      <dgm:prSet presAssocID="{9B53EDDB-CAFB-4FA8-AB13-34B0AC1C0517}" presName="spaceRect" presStyleCnt="0"/>
      <dgm:spPr/>
    </dgm:pt>
    <dgm:pt modelId="{FEE6F123-A6A4-4993-91D1-E6CD4846EE0A}" type="pres">
      <dgm:prSet presAssocID="{9B53EDDB-CAFB-4FA8-AB13-34B0AC1C0517}" presName="textRect" presStyleLbl="revTx" presStyleIdx="5" presStyleCnt="6">
        <dgm:presLayoutVars>
          <dgm:chMax val="1"/>
          <dgm:chPref val="1"/>
        </dgm:presLayoutVars>
      </dgm:prSet>
      <dgm:spPr/>
    </dgm:pt>
  </dgm:ptLst>
  <dgm:cxnLst>
    <dgm:cxn modelId="{B2B82609-53A0-41CF-A903-C287A8AA4B1B}" type="presOf" srcId="{9B53EDDB-CAFB-4FA8-AB13-34B0AC1C0517}" destId="{FEE6F123-A6A4-4993-91D1-E6CD4846EE0A}" srcOrd="0" destOrd="0" presId="urn:microsoft.com/office/officeart/2018/2/layout/IconCircleList"/>
    <dgm:cxn modelId="{B6EC771E-F883-46A4-96D0-7DE85C3B6863}" srcId="{2EDD9001-4189-40A8-971D-1FC2CD725683}" destId="{6C27E67B-1111-447C-B173-8463362D89F0}" srcOrd="3" destOrd="0" parTransId="{E47B95F7-13AB-42EB-A5BC-95CC4215F03B}" sibTransId="{58512230-A75B-44A5-BC49-2FD855B6844D}"/>
    <dgm:cxn modelId="{00F43124-320B-4D58-8BC4-6D891046B281}" type="presOf" srcId="{1D90A5EE-A625-4C16-A844-8F70BC11BB6A}" destId="{1AD98323-A294-4C3C-B7E1-A563A9E337DB}" srcOrd="0" destOrd="0" presId="urn:microsoft.com/office/officeart/2018/2/layout/IconCircleList"/>
    <dgm:cxn modelId="{AD2A2D2E-0FF6-43A9-8C70-0BCB80DA16FC}" type="presOf" srcId="{0B4B9844-78AB-4C97-800C-18E35044BDBC}" destId="{4F46EAA2-D58A-497D-96C7-8AD2E691CBA2}" srcOrd="0" destOrd="0" presId="urn:microsoft.com/office/officeart/2018/2/layout/IconCircleList"/>
    <dgm:cxn modelId="{D1F5AC46-9475-47A5-A3ED-CFDF7735CC6B}" srcId="{2EDD9001-4189-40A8-971D-1FC2CD725683}" destId="{C183478B-1C15-47C0-B3EE-B5C2168C9618}" srcOrd="0" destOrd="0" parTransId="{3A9F9D8A-7FE8-45FC-A28A-A899389DABE9}" sibTransId="{1D90A5EE-A625-4C16-A844-8F70BC11BB6A}"/>
    <dgm:cxn modelId="{6146EE4C-7EB7-421D-BCC5-C6C3A7F9DAA9}" srcId="{2EDD9001-4189-40A8-971D-1FC2CD725683}" destId="{9B53EDDB-CAFB-4FA8-AB13-34B0AC1C0517}" srcOrd="5" destOrd="0" parTransId="{1A9C7E67-3072-4056-8449-A3B8A1D3AA70}" sibTransId="{41974B46-6944-44D3-934C-7C4DCA6E1E13}"/>
    <dgm:cxn modelId="{04AA006D-9A5D-4575-A028-FE6A8586B583}" type="presOf" srcId="{33AB1E6C-98B1-4AAB-A2AD-8C1B0A7C0E30}" destId="{614F3F14-F007-474A-9BB3-9AEF0E761BDA}" srcOrd="0" destOrd="0" presId="urn:microsoft.com/office/officeart/2018/2/layout/IconCircleList"/>
    <dgm:cxn modelId="{8BFD0179-8776-4C68-B536-3433F4DD7C2A}" type="presOf" srcId="{9BCF6DBF-AC5A-41BD-8772-4E5D0A3D175C}" destId="{EB3C8909-9A28-4196-AEC2-5215CFD66262}" srcOrd="0" destOrd="0" presId="urn:microsoft.com/office/officeart/2018/2/layout/IconCircleList"/>
    <dgm:cxn modelId="{87832791-937C-4BC7-BD41-1DD59C74A898}" srcId="{2EDD9001-4189-40A8-971D-1FC2CD725683}" destId="{0B4B9844-78AB-4C97-800C-18E35044BDBC}" srcOrd="4" destOrd="0" parTransId="{05577C8D-8D62-4585-81B3-DC99A2741336}" sibTransId="{DE505B29-F3CE-43FF-AACD-59094C4A57B7}"/>
    <dgm:cxn modelId="{07CFB093-C629-49E9-A126-E682210B2FED}" type="presOf" srcId="{3E520959-FAF9-4D92-AC49-FA7769AD8FCD}" destId="{2B4B3976-601A-4F23-B33C-5715F4495CB7}" srcOrd="0" destOrd="0" presId="urn:microsoft.com/office/officeart/2018/2/layout/IconCircleList"/>
    <dgm:cxn modelId="{A7E5E896-44E4-4B9B-874D-5B8D61E358D8}" srcId="{2EDD9001-4189-40A8-971D-1FC2CD725683}" destId="{9BCF6DBF-AC5A-41BD-8772-4E5D0A3D175C}" srcOrd="2" destOrd="0" parTransId="{61A5748E-4B1B-4805-BB17-3D5261E2DA2B}" sibTransId="{3E520959-FAF9-4D92-AC49-FA7769AD8FCD}"/>
    <dgm:cxn modelId="{D69A5FA0-E14C-4B25-8593-94E11B82A2E6}" type="presOf" srcId="{C183478B-1C15-47C0-B3EE-B5C2168C9618}" destId="{FB410EA2-42A4-48C1-8556-C91FBB061125}" srcOrd="0" destOrd="0" presId="urn:microsoft.com/office/officeart/2018/2/layout/IconCircleList"/>
    <dgm:cxn modelId="{049EBCA4-8861-4B3A-8092-04AFB2CFD294}" srcId="{2EDD9001-4189-40A8-971D-1FC2CD725683}" destId="{33AB1E6C-98B1-4AAB-A2AD-8C1B0A7C0E30}" srcOrd="1" destOrd="0" parTransId="{C5C09155-E6F8-4C57-BE11-AFBDB550A210}" sibTransId="{ED12641B-AE79-420F-9DAB-81D7D894F8D8}"/>
    <dgm:cxn modelId="{062B00B5-19C2-4B54-BAF7-B82E9DCA3354}" type="presOf" srcId="{DE505B29-F3CE-43FF-AACD-59094C4A57B7}" destId="{F9FC0C9F-D013-4A55-B0B0-2CA8A1F6AD4C}" srcOrd="0" destOrd="0" presId="urn:microsoft.com/office/officeart/2018/2/layout/IconCircleList"/>
    <dgm:cxn modelId="{FFD92EBC-D94B-4678-B9ED-93FDF758BFBC}" type="presOf" srcId="{6C27E67B-1111-447C-B173-8463362D89F0}" destId="{F6BA8697-5E4C-43A5-B3EC-7C148104D0D1}" srcOrd="0" destOrd="0" presId="urn:microsoft.com/office/officeart/2018/2/layout/IconCircleList"/>
    <dgm:cxn modelId="{E6EC2AD4-2D9A-4232-9C61-B4BE0E052696}" type="presOf" srcId="{58512230-A75B-44A5-BC49-2FD855B6844D}" destId="{944C4B2B-9FA4-432E-8076-855E6B222ADE}" srcOrd="0" destOrd="0" presId="urn:microsoft.com/office/officeart/2018/2/layout/IconCircleList"/>
    <dgm:cxn modelId="{058C7DEF-78BC-4240-9AB1-B7BBFC0682BE}" type="presOf" srcId="{2EDD9001-4189-40A8-971D-1FC2CD725683}" destId="{65453A3E-076E-4998-A8B4-B805F8E25742}" srcOrd="0" destOrd="0" presId="urn:microsoft.com/office/officeart/2018/2/layout/IconCircleList"/>
    <dgm:cxn modelId="{EA5485EF-B190-4E6A-879A-AB70514907B5}" type="presOf" srcId="{ED12641B-AE79-420F-9DAB-81D7D894F8D8}" destId="{B83F146C-B3BA-43C5-A966-2AFDFECB9127}" srcOrd="0" destOrd="0" presId="urn:microsoft.com/office/officeart/2018/2/layout/IconCircleList"/>
    <dgm:cxn modelId="{E3899005-FA88-4217-8DC5-463FDD2DBC97}" type="presParOf" srcId="{65453A3E-076E-4998-A8B4-B805F8E25742}" destId="{D9E8CAC9-A333-434B-BAEA-DAE7D34F59D1}" srcOrd="0" destOrd="0" presId="urn:microsoft.com/office/officeart/2018/2/layout/IconCircleList"/>
    <dgm:cxn modelId="{06CF78A7-0BED-44F4-82E5-4ABCE179B2F2}" type="presParOf" srcId="{D9E8CAC9-A333-434B-BAEA-DAE7D34F59D1}" destId="{3C7CB22F-D623-4819-A0D0-47805EE6C37E}" srcOrd="0" destOrd="0" presId="urn:microsoft.com/office/officeart/2018/2/layout/IconCircleList"/>
    <dgm:cxn modelId="{ACE37E50-EBFB-453F-AC98-0976E3F43689}" type="presParOf" srcId="{3C7CB22F-D623-4819-A0D0-47805EE6C37E}" destId="{32554EA2-DB56-4202-AC6B-904BB2C9D282}" srcOrd="0" destOrd="0" presId="urn:microsoft.com/office/officeart/2018/2/layout/IconCircleList"/>
    <dgm:cxn modelId="{BA1A7453-2B96-4510-B64D-46E0734CBC3B}" type="presParOf" srcId="{3C7CB22F-D623-4819-A0D0-47805EE6C37E}" destId="{6AEA867B-42A2-462E-BD7E-8547163A9AB6}" srcOrd="1" destOrd="0" presId="urn:microsoft.com/office/officeart/2018/2/layout/IconCircleList"/>
    <dgm:cxn modelId="{17DDD3E3-0801-4487-BF90-F581F06B09A4}" type="presParOf" srcId="{3C7CB22F-D623-4819-A0D0-47805EE6C37E}" destId="{89CC923A-A0C6-4B74-9F01-25C537E28155}" srcOrd="2" destOrd="0" presId="urn:microsoft.com/office/officeart/2018/2/layout/IconCircleList"/>
    <dgm:cxn modelId="{F7165F4A-FDF6-4E54-A50D-4E4FDB5DCAF7}" type="presParOf" srcId="{3C7CB22F-D623-4819-A0D0-47805EE6C37E}" destId="{FB410EA2-42A4-48C1-8556-C91FBB061125}" srcOrd="3" destOrd="0" presId="urn:microsoft.com/office/officeart/2018/2/layout/IconCircleList"/>
    <dgm:cxn modelId="{A1BB1BB4-34CC-47F5-ACAB-69A3A2A75A73}" type="presParOf" srcId="{D9E8CAC9-A333-434B-BAEA-DAE7D34F59D1}" destId="{1AD98323-A294-4C3C-B7E1-A563A9E337DB}" srcOrd="1" destOrd="0" presId="urn:microsoft.com/office/officeart/2018/2/layout/IconCircleList"/>
    <dgm:cxn modelId="{8051B558-4F9F-4B88-9583-035232223B1B}" type="presParOf" srcId="{D9E8CAC9-A333-434B-BAEA-DAE7D34F59D1}" destId="{C532E774-0FBD-4518-B1BC-ADCCF5E8C8F0}" srcOrd="2" destOrd="0" presId="urn:microsoft.com/office/officeart/2018/2/layout/IconCircleList"/>
    <dgm:cxn modelId="{2277BE30-7363-4E1E-ACF5-14F755112284}" type="presParOf" srcId="{C532E774-0FBD-4518-B1BC-ADCCF5E8C8F0}" destId="{38E70F74-B51D-49AD-AD69-3DACD6F782C6}" srcOrd="0" destOrd="0" presId="urn:microsoft.com/office/officeart/2018/2/layout/IconCircleList"/>
    <dgm:cxn modelId="{0D60CC25-D8D3-43D9-8787-B73A2A42049F}" type="presParOf" srcId="{C532E774-0FBD-4518-B1BC-ADCCF5E8C8F0}" destId="{00ABFAA9-E76B-410C-ACF8-2E538F29AE9C}" srcOrd="1" destOrd="0" presId="urn:microsoft.com/office/officeart/2018/2/layout/IconCircleList"/>
    <dgm:cxn modelId="{665C0FC0-9E1B-409C-B755-0A2E7DFD514B}" type="presParOf" srcId="{C532E774-0FBD-4518-B1BC-ADCCF5E8C8F0}" destId="{EC2E4463-D7B9-4151-B0B9-BDA5B9023B9C}" srcOrd="2" destOrd="0" presId="urn:microsoft.com/office/officeart/2018/2/layout/IconCircleList"/>
    <dgm:cxn modelId="{A5AAC66F-398C-46D2-B377-313D99D6CD80}" type="presParOf" srcId="{C532E774-0FBD-4518-B1BC-ADCCF5E8C8F0}" destId="{614F3F14-F007-474A-9BB3-9AEF0E761BDA}" srcOrd="3" destOrd="0" presId="urn:microsoft.com/office/officeart/2018/2/layout/IconCircleList"/>
    <dgm:cxn modelId="{5253E02B-A866-4036-A4F1-1D4984C97DA2}" type="presParOf" srcId="{D9E8CAC9-A333-434B-BAEA-DAE7D34F59D1}" destId="{B83F146C-B3BA-43C5-A966-2AFDFECB9127}" srcOrd="3" destOrd="0" presId="urn:microsoft.com/office/officeart/2018/2/layout/IconCircleList"/>
    <dgm:cxn modelId="{D4175CEB-923C-4644-BF05-410800FA33DD}" type="presParOf" srcId="{D9E8CAC9-A333-434B-BAEA-DAE7D34F59D1}" destId="{D2730328-7BA2-407E-83A6-241F8D85CEA1}" srcOrd="4" destOrd="0" presId="urn:microsoft.com/office/officeart/2018/2/layout/IconCircleList"/>
    <dgm:cxn modelId="{47F85392-9182-4954-B22E-A13926D3AFD9}" type="presParOf" srcId="{D2730328-7BA2-407E-83A6-241F8D85CEA1}" destId="{387F6606-D1EF-4DD1-92D4-9CC78EF6865D}" srcOrd="0" destOrd="0" presId="urn:microsoft.com/office/officeart/2018/2/layout/IconCircleList"/>
    <dgm:cxn modelId="{DF202FE3-FB06-47B6-9AFE-F51CEB03D595}" type="presParOf" srcId="{D2730328-7BA2-407E-83A6-241F8D85CEA1}" destId="{B5B8E157-7393-4754-B34F-9CFD5963ECC9}" srcOrd="1" destOrd="0" presId="urn:microsoft.com/office/officeart/2018/2/layout/IconCircleList"/>
    <dgm:cxn modelId="{A7317E58-D17D-440E-AFD7-459BF4DBBBA1}" type="presParOf" srcId="{D2730328-7BA2-407E-83A6-241F8D85CEA1}" destId="{61CAB6EB-D254-4B4E-A463-3DC7DBE50023}" srcOrd="2" destOrd="0" presId="urn:microsoft.com/office/officeart/2018/2/layout/IconCircleList"/>
    <dgm:cxn modelId="{89D303F7-2FC4-46A2-887E-2AD77F58F3EF}" type="presParOf" srcId="{D2730328-7BA2-407E-83A6-241F8D85CEA1}" destId="{EB3C8909-9A28-4196-AEC2-5215CFD66262}" srcOrd="3" destOrd="0" presId="urn:microsoft.com/office/officeart/2018/2/layout/IconCircleList"/>
    <dgm:cxn modelId="{E52F173B-2237-454D-A11A-E87C88150559}" type="presParOf" srcId="{D9E8CAC9-A333-434B-BAEA-DAE7D34F59D1}" destId="{2B4B3976-601A-4F23-B33C-5715F4495CB7}" srcOrd="5" destOrd="0" presId="urn:microsoft.com/office/officeart/2018/2/layout/IconCircleList"/>
    <dgm:cxn modelId="{F151DE44-8C22-47C0-8C07-BC8C3FF20C65}" type="presParOf" srcId="{D9E8CAC9-A333-434B-BAEA-DAE7D34F59D1}" destId="{47704B00-A51E-4B3C-8F4B-58EC4910AFF8}" srcOrd="6" destOrd="0" presId="urn:microsoft.com/office/officeart/2018/2/layout/IconCircleList"/>
    <dgm:cxn modelId="{DA9B8063-715D-4D2A-9427-36390E735FFC}" type="presParOf" srcId="{47704B00-A51E-4B3C-8F4B-58EC4910AFF8}" destId="{AEEACF62-CA5F-42E9-85D4-A10858E4ADCB}" srcOrd="0" destOrd="0" presId="urn:microsoft.com/office/officeart/2018/2/layout/IconCircleList"/>
    <dgm:cxn modelId="{1F32C44C-B5C6-4FD1-8C86-2676888B4A76}" type="presParOf" srcId="{47704B00-A51E-4B3C-8F4B-58EC4910AFF8}" destId="{0DFDE3F1-665A-439D-8D3E-4689E70EFBBC}" srcOrd="1" destOrd="0" presId="urn:microsoft.com/office/officeart/2018/2/layout/IconCircleList"/>
    <dgm:cxn modelId="{AE9AF1BA-D9D4-4251-B8B9-14EAFDB1C4A8}" type="presParOf" srcId="{47704B00-A51E-4B3C-8F4B-58EC4910AFF8}" destId="{BCE99015-BACF-4DC3-9946-FF6DC6345643}" srcOrd="2" destOrd="0" presId="urn:microsoft.com/office/officeart/2018/2/layout/IconCircleList"/>
    <dgm:cxn modelId="{FC9381F3-546A-4C88-8F86-B2E80C3D488F}" type="presParOf" srcId="{47704B00-A51E-4B3C-8F4B-58EC4910AFF8}" destId="{F6BA8697-5E4C-43A5-B3EC-7C148104D0D1}" srcOrd="3" destOrd="0" presId="urn:microsoft.com/office/officeart/2018/2/layout/IconCircleList"/>
    <dgm:cxn modelId="{19458D00-97D5-4198-8DB6-D4C7A24CA811}" type="presParOf" srcId="{D9E8CAC9-A333-434B-BAEA-DAE7D34F59D1}" destId="{944C4B2B-9FA4-432E-8076-855E6B222ADE}" srcOrd="7" destOrd="0" presId="urn:microsoft.com/office/officeart/2018/2/layout/IconCircleList"/>
    <dgm:cxn modelId="{DAE3F1C2-E0D2-4160-92CB-C8527212999C}" type="presParOf" srcId="{D9E8CAC9-A333-434B-BAEA-DAE7D34F59D1}" destId="{9D6BD3A6-2768-41C5-9F4A-4A9B1EA4583C}" srcOrd="8" destOrd="0" presId="urn:microsoft.com/office/officeart/2018/2/layout/IconCircleList"/>
    <dgm:cxn modelId="{5E7A6369-9A9F-4989-8A9A-520884865C82}" type="presParOf" srcId="{9D6BD3A6-2768-41C5-9F4A-4A9B1EA4583C}" destId="{CCA7706A-0853-4A48-89C1-092BF613FA12}" srcOrd="0" destOrd="0" presId="urn:microsoft.com/office/officeart/2018/2/layout/IconCircleList"/>
    <dgm:cxn modelId="{856D714D-BD2D-4DF4-B736-C6454DD46CBD}" type="presParOf" srcId="{9D6BD3A6-2768-41C5-9F4A-4A9B1EA4583C}" destId="{53F54352-83FA-455C-945A-1D08306B4AC9}" srcOrd="1" destOrd="0" presId="urn:microsoft.com/office/officeart/2018/2/layout/IconCircleList"/>
    <dgm:cxn modelId="{B2FCCB3F-97C5-4264-994C-5C7EA8D266BC}" type="presParOf" srcId="{9D6BD3A6-2768-41C5-9F4A-4A9B1EA4583C}" destId="{207563C9-2691-4626-89B4-C66A5CFF83B5}" srcOrd="2" destOrd="0" presId="urn:microsoft.com/office/officeart/2018/2/layout/IconCircleList"/>
    <dgm:cxn modelId="{6F74B130-E550-41B6-9065-D706DA41F3AB}" type="presParOf" srcId="{9D6BD3A6-2768-41C5-9F4A-4A9B1EA4583C}" destId="{4F46EAA2-D58A-497D-96C7-8AD2E691CBA2}" srcOrd="3" destOrd="0" presId="urn:microsoft.com/office/officeart/2018/2/layout/IconCircleList"/>
    <dgm:cxn modelId="{5E5A1D22-393F-4478-BC2F-0AC7E3ABFFF6}" type="presParOf" srcId="{D9E8CAC9-A333-434B-BAEA-DAE7D34F59D1}" destId="{F9FC0C9F-D013-4A55-B0B0-2CA8A1F6AD4C}" srcOrd="9" destOrd="0" presId="urn:microsoft.com/office/officeart/2018/2/layout/IconCircleList"/>
    <dgm:cxn modelId="{962C64FA-9474-477F-A4A9-24B248271E99}" type="presParOf" srcId="{D9E8CAC9-A333-434B-BAEA-DAE7D34F59D1}" destId="{1EB91D8A-D48B-4ABC-A344-4F6EE4CD7884}" srcOrd="10" destOrd="0" presId="urn:microsoft.com/office/officeart/2018/2/layout/IconCircleList"/>
    <dgm:cxn modelId="{90D1FF7D-FFF3-4000-891D-DDED675DB6E3}" type="presParOf" srcId="{1EB91D8A-D48B-4ABC-A344-4F6EE4CD7884}" destId="{DC23D5CC-FCE1-465B-9461-B335187B918D}" srcOrd="0" destOrd="0" presId="urn:microsoft.com/office/officeart/2018/2/layout/IconCircleList"/>
    <dgm:cxn modelId="{6C8A2870-B0C7-4E50-BDEE-BC297B9B2FA0}" type="presParOf" srcId="{1EB91D8A-D48B-4ABC-A344-4F6EE4CD7884}" destId="{3C107508-1FE8-4F1E-B833-D7C6BE364E64}" srcOrd="1" destOrd="0" presId="urn:microsoft.com/office/officeart/2018/2/layout/IconCircleList"/>
    <dgm:cxn modelId="{C8B572B2-5997-4C86-80C9-708A8B8384CC}" type="presParOf" srcId="{1EB91D8A-D48B-4ABC-A344-4F6EE4CD7884}" destId="{3B0D81A6-D3E9-4183-9582-55CC3AA05049}" srcOrd="2" destOrd="0" presId="urn:microsoft.com/office/officeart/2018/2/layout/IconCircleList"/>
    <dgm:cxn modelId="{D50ABDB2-9DC4-4DE2-BBDD-11F8F5B89044}" type="presParOf" srcId="{1EB91D8A-D48B-4ABC-A344-4F6EE4CD7884}" destId="{FEE6F123-A6A4-4993-91D1-E6CD4846EE0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B9B7C4A-582A-49F7-99A0-B2F3BF7FAE5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676AF36-1383-49CC-9A2C-87C277776339}">
      <dgm:prSet/>
      <dgm:spPr/>
      <dgm:t>
        <a:bodyPr/>
        <a:lstStyle/>
        <a:p>
          <a:r>
            <a:rPr lang="en-US"/>
            <a:t>•Breadth-first search can be used to solve many problems such as:</a:t>
          </a:r>
        </a:p>
      </dgm:t>
    </dgm:pt>
    <dgm:pt modelId="{9F67FE97-5333-463C-8621-EBB8863B0908}" type="parTrans" cxnId="{B421D012-F057-40E9-8551-CA20B712C156}">
      <dgm:prSet/>
      <dgm:spPr/>
      <dgm:t>
        <a:bodyPr/>
        <a:lstStyle/>
        <a:p>
          <a:endParaRPr lang="en-US"/>
        </a:p>
      </dgm:t>
    </dgm:pt>
    <dgm:pt modelId="{F43785C5-E233-4744-A245-593FA7EA28EA}" type="sibTrans" cxnId="{B421D012-F057-40E9-8551-CA20B712C156}">
      <dgm:prSet/>
      <dgm:spPr/>
      <dgm:t>
        <a:bodyPr/>
        <a:lstStyle/>
        <a:p>
          <a:endParaRPr lang="en-US"/>
        </a:p>
      </dgm:t>
    </dgm:pt>
    <dgm:pt modelId="{21073DE4-4818-41B2-A039-B40C55355130}">
      <dgm:prSet/>
      <dgm:spPr/>
      <dgm:t>
        <a:bodyPr/>
        <a:lstStyle/>
        <a:p>
          <a:r>
            <a:rPr lang="en-US"/>
            <a:t>•Finding all connected components in a graph G.</a:t>
          </a:r>
        </a:p>
      </dgm:t>
    </dgm:pt>
    <dgm:pt modelId="{E401F18E-40FB-4DFD-A737-76CA2228ABA9}" type="parTrans" cxnId="{2BD4B2C6-8A5A-4B3E-9967-5F4079A57E4B}">
      <dgm:prSet/>
      <dgm:spPr/>
      <dgm:t>
        <a:bodyPr/>
        <a:lstStyle/>
        <a:p>
          <a:endParaRPr lang="en-US"/>
        </a:p>
      </dgm:t>
    </dgm:pt>
    <dgm:pt modelId="{F3E0194C-590E-42C4-B83D-1FC10D3D4ADF}" type="sibTrans" cxnId="{2BD4B2C6-8A5A-4B3E-9967-5F4079A57E4B}">
      <dgm:prSet/>
      <dgm:spPr/>
      <dgm:t>
        <a:bodyPr/>
        <a:lstStyle/>
        <a:p>
          <a:endParaRPr lang="en-US"/>
        </a:p>
      </dgm:t>
    </dgm:pt>
    <dgm:pt modelId="{C07536A0-34D2-4168-93A3-65AAB68D14DB}">
      <dgm:prSet/>
      <dgm:spPr/>
      <dgm:t>
        <a:bodyPr/>
        <a:lstStyle/>
        <a:p>
          <a:r>
            <a:rPr lang="en-US"/>
            <a:t>•Finding all nodes within an individual connected component.</a:t>
          </a:r>
        </a:p>
      </dgm:t>
    </dgm:pt>
    <dgm:pt modelId="{E402F045-E6E6-4885-8B80-C24645D022E3}" type="parTrans" cxnId="{6D2D7514-6652-4FEC-BB90-651C69B75F5B}">
      <dgm:prSet/>
      <dgm:spPr/>
      <dgm:t>
        <a:bodyPr/>
        <a:lstStyle/>
        <a:p>
          <a:endParaRPr lang="en-US"/>
        </a:p>
      </dgm:t>
    </dgm:pt>
    <dgm:pt modelId="{0CAB320B-1042-410A-8A28-6C4823067D2C}" type="sibTrans" cxnId="{6D2D7514-6652-4FEC-BB90-651C69B75F5B}">
      <dgm:prSet/>
      <dgm:spPr/>
      <dgm:t>
        <a:bodyPr/>
        <a:lstStyle/>
        <a:p>
          <a:endParaRPr lang="en-US"/>
        </a:p>
      </dgm:t>
    </dgm:pt>
    <dgm:pt modelId="{ED44B8B2-4AD8-4D27-93A1-1FE7EDC908BB}">
      <dgm:prSet/>
      <dgm:spPr/>
      <dgm:t>
        <a:bodyPr/>
        <a:lstStyle/>
        <a:p>
          <a:r>
            <a:rPr lang="en-US"/>
            <a:t>•Finding the shortest path between two nodes, u and v, of an unweighted graph.</a:t>
          </a:r>
        </a:p>
      </dgm:t>
    </dgm:pt>
    <dgm:pt modelId="{13A6DBF6-8363-4792-8D64-17804F717890}" type="parTrans" cxnId="{B191E025-27B6-4718-B1C7-5A5C570333CB}">
      <dgm:prSet/>
      <dgm:spPr/>
      <dgm:t>
        <a:bodyPr/>
        <a:lstStyle/>
        <a:p>
          <a:endParaRPr lang="en-US"/>
        </a:p>
      </dgm:t>
    </dgm:pt>
    <dgm:pt modelId="{F8FA0097-AF92-488E-BFD6-D53445BAE51F}" type="sibTrans" cxnId="{B191E025-27B6-4718-B1C7-5A5C570333CB}">
      <dgm:prSet/>
      <dgm:spPr/>
      <dgm:t>
        <a:bodyPr/>
        <a:lstStyle/>
        <a:p>
          <a:endParaRPr lang="en-US"/>
        </a:p>
      </dgm:t>
    </dgm:pt>
    <dgm:pt modelId="{E9E49BFE-CF79-4052-8AC7-983F1D15C09B}">
      <dgm:prSet/>
      <dgm:spPr/>
      <dgm:t>
        <a:bodyPr/>
        <a:lstStyle/>
        <a:p>
          <a:r>
            <a:rPr lang="en-US"/>
            <a:t>•Finding the shortest path between two nodes, u and v, of a weighted graph.</a:t>
          </a:r>
        </a:p>
      </dgm:t>
    </dgm:pt>
    <dgm:pt modelId="{7F38159F-4D56-4859-8569-8D7809B495C9}" type="parTrans" cxnId="{6850D816-3633-43B8-BC67-F26799249FE0}">
      <dgm:prSet/>
      <dgm:spPr/>
      <dgm:t>
        <a:bodyPr/>
        <a:lstStyle/>
        <a:p>
          <a:endParaRPr lang="en-US"/>
        </a:p>
      </dgm:t>
    </dgm:pt>
    <dgm:pt modelId="{E819FC06-D405-4676-BD22-1F65A514CFB5}" type="sibTrans" cxnId="{6850D816-3633-43B8-BC67-F26799249FE0}">
      <dgm:prSet/>
      <dgm:spPr/>
      <dgm:t>
        <a:bodyPr/>
        <a:lstStyle/>
        <a:p>
          <a:endParaRPr lang="en-US"/>
        </a:p>
      </dgm:t>
    </dgm:pt>
    <dgm:pt modelId="{429DD078-85A0-47D5-8287-919811420871}" type="pres">
      <dgm:prSet presAssocID="{2B9B7C4A-582A-49F7-99A0-B2F3BF7FAE58}" presName="root" presStyleCnt="0">
        <dgm:presLayoutVars>
          <dgm:dir/>
          <dgm:resizeHandles val="exact"/>
        </dgm:presLayoutVars>
      </dgm:prSet>
      <dgm:spPr/>
    </dgm:pt>
    <dgm:pt modelId="{C2E60A97-665F-4372-B321-508F6A25C5EF}" type="pres">
      <dgm:prSet presAssocID="{0676AF36-1383-49CC-9A2C-87C277776339}" presName="compNode" presStyleCnt="0"/>
      <dgm:spPr/>
    </dgm:pt>
    <dgm:pt modelId="{1923E65C-EA9D-4C61-A296-4B5CB085CCF3}" type="pres">
      <dgm:prSet presAssocID="{0676AF36-1383-49CC-9A2C-87C277776339}" presName="bgRect" presStyleLbl="bgShp" presStyleIdx="0" presStyleCnt="5" custLinFactNeighborX="-1843" custLinFactNeighborY="-67900"/>
      <dgm:spPr/>
    </dgm:pt>
    <dgm:pt modelId="{DFD71FFF-78E5-4901-871F-27C6028B66F8}" type="pres">
      <dgm:prSet presAssocID="{0676AF36-1383-49CC-9A2C-87C27777633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Zoom In"/>
        </a:ext>
      </dgm:extLst>
    </dgm:pt>
    <dgm:pt modelId="{9180044A-1746-40B0-ACBF-4A4313D9DD1D}" type="pres">
      <dgm:prSet presAssocID="{0676AF36-1383-49CC-9A2C-87C277776339}" presName="spaceRect" presStyleCnt="0"/>
      <dgm:spPr/>
    </dgm:pt>
    <dgm:pt modelId="{21DE07CA-1C28-4EFF-931A-DEA7E7C6E6B5}" type="pres">
      <dgm:prSet presAssocID="{0676AF36-1383-49CC-9A2C-87C277776339}" presName="parTx" presStyleLbl="revTx" presStyleIdx="0" presStyleCnt="5">
        <dgm:presLayoutVars>
          <dgm:chMax val="0"/>
          <dgm:chPref val="0"/>
        </dgm:presLayoutVars>
      </dgm:prSet>
      <dgm:spPr/>
    </dgm:pt>
    <dgm:pt modelId="{B17AD790-8265-41F3-BAB9-655E08AFDD60}" type="pres">
      <dgm:prSet presAssocID="{F43785C5-E233-4744-A245-593FA7EA28EA}" presName="sibTrans" presStyleCnt="0"/>
      <dgm:spPr/>
    </dgm:pt>
    <dgm:pt modelId="{BDF6EF5B-FB44-47AC-B26B-D35DAEAB6C68}" type="pres">
      <dgm:prSet presAssocID="{21073DE4-4818-41B2-A039-B40C55355130}" presName="compNode" presStyleCnt="0"/>
      <dgm:spPr/>
    </dgm:pt>
    <dgm:pt modelId="{8031415B-2719-4FD8-9392-2B3AF7BE584B}" type="pres">
      <dgm:prSet presAssocID="{21073DE4-4818-41B2-A039-B40C55355130}" presName="bgRect" presStyleLbl="bgShp" presStyleIdx="1" presStyleCnt="5"/>
      <dgm:spPr/>
    </dgm:pt>
    <dgm:pt modelId="{E015B27B-FD9E-47F6-B8AB-57EC684196B9}" type="pres">
      <dgm:prSet presAssocID="{21073DE4-4818-41B2-A039-B40C5535513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nected"/>
        </a:ext>
      </dgm:extLst>
    </dgm:pt>
    <dgm:pt modelId="{09FADD42-D374-4447-8775-0BF51CF439D8}" type="pres">
      <dgm:prSet presAssocID="{21073DE4-4818-41B2-A039-B40C55355130}" presName="spaceRect" presStyleCnt="0"/>
      <dgm:spPr/>
    </dgm:pt>
    <dgm:pt modelId="{3A7FEBEB-704E-41E4-A076-C9CADCB8A586}" type="pres">
      <dgm:prSet presAssocID="{21073DE4-4818-41B2-A039-B40C55355130}" presName="parTx" presStyleLbl="revTx" presStyleIdx="1" presStyleCnt="5">
        <dgm:presLayoutVars>
          <dgm:chMax val="0"/>
          <dgm:chPref val="0"/>
        </dgm:presLayoutVars>
      </dgm:prSet>
      <dgm:spPr/>
    </dgm:pt>
    <dgm:pt modelId="{45DB2290-C651-4C49-972E-148A884C99A7}" type="pres">
      <dgm:prSet presAssocID="{F3E0194C-590E-42C4-B83D-1FC10D3D4ADF}" presName="sibTrans" presStyleCnt="0"/>
      <dgm:spPr/>
    </dgm:pt>
    <dgm:pt modelId="{57895190-5074-42D4-A99C-DA7FAEC64002}" type="pres">
      <dgm:prSet presAssocID="{C07536A0-34D2-4168-93A3-65AAB68D14DB}" presName="compNode" presStyleCnt="0"/>
      <dgm:spPr/>
    </dgm:pt>
    <dgm:pt modelId="{C1DC3035-8997-4C8F-A198-41C7A6C5814A}" type="pres">
      <dgm:prSet presAssocID="{C07536A0-34D2-4168-93A3-65AAB68D14DB}" presName="bgRect" presStyleLbl="bgShp" presStyleIdx="2" presStyleCnt="5"/>
      <dgm:spPr/>
    </dgm:pt>
    <dgm:pt modelId="{2085FE38-FB09-4EDB-B2CE-4FDBAAEB17CD}" type="pres">
      <dgm:prSet presAssocID="{C07536A0-34D2-4168-93A3-65AAB68D14D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Network"/>
        </a:ext>
      </dgm:extLst>
    </dgm:pt>
    <dgm:pt modelId="{EC1ADB5A-666C-4D31-8453-BFB435186292}" type="pres">
      <dgm:prSet presAssocID="{C07536A0-34D2-4168-93A3-65AAB68D14DB}" presName="spaceRect" presStyleCnt="0"/>
      <dgm:spPr/>
    </dgm:pt>
    <dgm:pt modelId="{532D6FF2-8DD0-49EF-A492-DF8298C31B44}" type="pres">
      <dgm:prSet presAssocID="{C07536A0-34D2-4168-93A3-65AAB68D14DB}" presName="parTx" presStyleLbl="revTx" presStyleIdx="2" presStyleCnt="5">
        <dgm:presLayoutVars>
          <dgm:chMax val="0"/>
          <dgm:chPref val="0"/>
        </dgm:presLayoutVars>
      </dgm:prSet>
      <dgm:spPr/>
    </dgm:pt>
    <dgm:pt modelId="{92637BD7-B267-4BB6-B6FA-A5A1F2110AA4}" type="pres">
      <dgm:prSet presAssocID="{0CAB320B-1042-410A-8A28-6C4823067D2C}" presName="sibTrans" presStyleCnt="0"/>
      <dgm:spPr/>
    </dgm:pt>
    <dgm:pt modelId="{EFE6AB57-E686-4A94-B914-72FED3A92947}" type="pres">
      <dgm:prSet presAssocID="{ED44B8B2-4AD8-4D27-93A1-1FE7EDC908BB}" presName="compNode" presStyleCnt="0"/>
      <dgm:spPr/>
    </dgm:pt>
    <dgm:pt modelId="{D93ADD8B-1F3C-43CD-92E4-46FBDB26B683}" type="pres">
      <dgm:prSet presAssocID="{ED44B8B2-4AD8-4D27-93A1-1FE7EDC908BB}" presName="bgRect" presStyleLbl="bgShp" presStyleIdx="3" presStyleCnt="5"/>
      <dgm:spPr/>
    </dgm:pt>
    <dgm:pt modelId="{8F1C7E2A-E4D5-4929-8E8B-731F40BE3C3B}" type="pres">
      <dgm:prSet presAssocID="{ED44B8B2-4AD8-4D27-93A1-1FE7EDC908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3321FCE2-3CD2-4E91-A839-64002B2A5B42}" type="pres">
      <dgm:prSet presAssocID="{ED44B8B2-4AD8-4D27-93A1-1FE7EDC908BB}" presName="spaceRect" presStyleCnt="0"/>
      <dgm:spPr/>
    </dgm:pt>
    <dgm:pt modelId="{BBC2C891-C260-4E55-A976-F53A2C23AE8A}" type="pres">
      <dgm:prSet presAssocID="{ED44B8B2-4AD8-4D27-93A1-1FE7EDC908BB}" presName="parTx" presStyleLbl="revTx" presStyleIdx="3" presStyleCnt="5">
        <dgm:presLayoutVars>
          <dgm:chMax val="0"/>
          <dgm:chPref val="0"/>
        </dgm:presLayoutVars>
      </dgm:prSet>
      <dgm:spPr/>
    </dgm:pt>
    <dgm:pt modelId="{F6203D54-0FCF-4ECF-A403-CC91B3C9F4DE}" type="pres">
      <dgm:prSet presAssocID="{F8FA0097-AF92-488E-BFD6-D53445BAE51F}" presName="sibTrans" presStyleCnt="0"/>
      <dgm:spPr/>
    </dgm:pt>
    <dgm:pt modelId="{5720DE8D-9F44-49DD-9DDC-789780164FD0}" type="pres">
      <dgm:prSet presAssocID="{E9E49BFE-CF79-4052-8AC7-983F1D15C09B}" presName="compNode" presStyleCnt="0"/>
      <dgm:spPr/>
    </dgm:pt>
    <dgm:pt modelId="{32CB4F71-3354-4BB4-9883-3EA047CC74C7}" type="pres">
      <dgm:prSet presAssocID="{E9E49BFE-CF79-4052-8AC7-983F1D15C09B}" presName="bgRect" presStyleLbl="bgShp" presStyleIdx="4" presStyleCnt="5"/>
      <dgm:spPr/>
    </dgm:pt>
    <dgm:pt modelId="{8D21AF77-1F5D-4DC7-AFE8-7B126AB082E8}" type="pres">
      <dgm:prSet presAssocID="{E9E49BFE-CF79-4052-8AC7-983F1D15C09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6A12822A-A19A-454E-BD11-84628D98BE58}" type="pres">
      <dgm:prSet presAssocID="{E9E49BFE-CF79-4052-8AC7-983F1D15C09B}" presName="spaceRect" presStyleCnt="0"/>
      <dgm:spPr/>
    </dgm:pt>
    <dgm:pt modelId="{03F3A764-892A-495B-B378-F501609F061B}" type="pres">
      <dgm:prSet presAssocID="{E9E49BFE-CF79-4052-8AC7-983F1D15C09B}" presName="parTx" presStyleLbl="revTx" presStyleIdx="4" presStyleCnt="5">
        <dgm:presLayoutVars>
          <dgm:chMax val="0"/>
          <dgm:chPref val="0"/>
        </dgm:presLayoutVars>
      </dgm:prSet>
      <dgm:spPr/>
    </dgm:pt>
  </dgm:ptLst>
  <dgm:cxnLst>
    <dgm:cxn modelId="{B421D012-F057-40E9-8551-CA20B712C156}" srcId="{2B9B7C4A-582A-49F7-99A0-B2F3BF7FAE58}" destId="{0676AF36-1383-49CC-9A2C-87C277776339}" srcOrd="0" destOrd="0" parTransId="{9F67FE97-5333-463C-8621-EBB8863B0908}" sibTransId="{F43785C5-E233-4744-A245-593FA7EA28EA}"/>
    <dgm:cxn modelId="{3C1DFC13-300C-454E-B682-53C58F621386}" type="presOf" srcId="{2B9B7C4A-582A-49F7-99A0-B2F3BF7FAE58}" destId="{429DD078-85A0-47D5-8287-919811420871}" srcOrd="0" destOrd="0" presId="urn:microsoft.com/office/officeart/2018/2/layout/IconVerticalSolidList"/>
    <dgm:cxn modelId="{6D2D7514-6652-4FEC-BB90-651C69B75F5B}" srcId="{2B9B7C4A-582A-49F7-99A0-B2F3BF7FAE58}" destId="{C07536A0-34D2-4168-93A3-65AAB68D14DB}" srcOrd="2" destOrd="0" parTransId="{E402F045-E6E6-4885-8B80-C24645D022E3}" sibTransId="{0CAB320B-1042-410A-8A28-6C4823067D2C}"/>
    <dgm:cxn modelId="{6850D816-3633-43B8-BC67-F26799249FE0}" srcId="{2B9B7C4A-582A-49F7-99A0-B2F3BF7FAE58}" destId="{E9E49BFE-CF79-4052-8AC7-983F1D15C09B}" srcOrd="4" destOrd="0" parTransId="{7F38159F-4D56-4859-8569-8D7809B495C9}" sibTransId="{E819FC06-D405-4676-BD22-1F65A514CFB5}"/>
    <dgm:cxn modelId="{B191E025-27B6-4718-B1C7-5A5C570333CB}" srcId="{2B9B7C4A-582A-49F7-99A0-B2F3BF7FAE58}" destId="{ED44B8B2-4AD8-4D27-93A1-1FE7EDC908BB}" srcOrd="3" destOrd="0" parTransId="{13A6DBF6-8363-4792-8D64-17804F717890}" sibTransId="{F8FA0097-AF92-488E-BFD6-D53445BAE51F}"/>
    <dgm:cxn modelId="{485C892B-20D9-4590-8F09-CE6383C41B3E}" type="presOf" srcId="{21073DE4-4818-41B2-A039-B40C55355130}" destId="{3A7FEBEB-704E-41E4-A076-C9CADCB8A586}" srcOrd="0" destOrd="0" presId="urn:microsoft.com/office/officeart/2018/2/layout/IconVerticalSolidList"/>
    <dgm:cxn modelId="{9DF61A36-E1CF-4ED0-95C4-CF081E2D7904}" type="presOf" srcId="{C07536A0-34D2-4168-93A3-65AAB68D14DB}" destId="{532D6FF2-8DD0-49EF-A492-DF8298C31B44}" srcOrd="0" destOrd="0" presId="urn:microsoft.com/office/officeart/2018/2/layout/IconVerticalSolidList"/>
    <dgm:cxn modelId="{E5F85647-3971-4369-8920-B122FF298EC4}" type="presOf" srcId="{ED44B8B2-4AD8-4D27-93A1-1FE7EDC908BB}" destId="{BBC2C891-C260-4E55-A976-F53A2C23AE8A}" srcOrd="0" destOrd="0" presId="urn:microsoft.com/office/officeart/2018/2/layout/IconVerticalSolidList"/>
    <dgm:cxn modelId="{CD985E76-9AE4-4E80-A91D-15E3EC016234}" type="presOf" srcId="{0676AF36-1383-49CC-9A2C-87C277776339}" destId="{21DE07CA-1C28-4EFF-931A-DEA7E7C6E6B5}" srcOrd="0" destOrd="0" presId="urn:microsoft.com/office/officeart/2018/2/layout/IconVerticalSolidList"/>
    <dgm:cxn modelId="{17260596-97E3-475C-95F9-42A340437E06}" type="presOf" srcId="{E9E49BFE-CF79-4052-8AC7-983F1D15C09B}" destId="{03F3A764-892A-495B-B378-F501609F061B}" srcOrd="0" destOrd="0" presId="urn:microsoft.com/office/officeart/2018/2/layout/IconVerticalSolidList"/>
    <dgm:cxn modelId="{2BD4B2C6-8A5A-4B3E-9967-5F4079A57E4B}" srcId="{2B9B7C4A-582A-49F7-99A0-B2F3BF7FAE58}" destId="{21073DE4-4818-41B2-A039-B40C55355130}" srcOrd="1" destOrd="0" parTransId="{E401F18E-40FB-4DFD-A737-76CA2228ABA9}" sibTransId="{F3E0194C-590E-42C4-B83D-1FC10D3D4ADF}"/>
    <dgm:cxn modelId="{04476164-401D-4FCE-8DB3-9BD4F8DF41EE}" type="presParOf" srcId="{429DD078-85A0-47D5-8287-919811420871}" destId="{C2E60A97-665F-4372-B321-508F6A25C5EF}" srcOrd="0" destOrd="0" presId="urn:microsoft.com/office/officeart/2018/2/layout/IconVerticalSolidList"/>
    <dgm:cxn modelId="{E5892C42-464C-4415-A8D0-122C07D954E8}" type="presParOf" srcId="{C2E60A97-665F-4372-B321-508F6A25C5EF}" destId="{1923E65C-EA9D-4C61-A296-4B5CB085CCF3}" srcOrd="0" destOrd="0" presId="urn:microsoft.com/office/officeart/2018/2/layout/IconVerticalSolidList"/>
    <dgm:cxn modelId="{7228612B-977C-4F47-9A63-68DD150D0497}" type="presParOf" srcId="{C2E60A97-665F-4372-B321-508F6A25C5EF}" destId="{DFD71FFF-78E5-4901-871F-27C6028B66F8}" srcOrd="1" destOrd="0" presId="urn:microsoft.com/office/officeart/2018/2/layout/IconVerticalSolidList"/>
    <dgm:cxn modelId="{F0387DCF-7551-4C6D-AC22-4644784F5AAA}" type="presParOf" srcId="{C2E60A97-665F-4372-B321-508F6A25C5EF}" destId="{9180044A-1746-40B0-ACBF-4A4313D9DD1D}" srcOrd="2" destOrd="0" presId="urn:microsoft.com/office/officeart/2018/2/layout/IconVerticalSolidList"/>
    <dgm:cxn modelId="{BC8A28B4-D4E3-4B63-9F70-0818F6ECC970}" type="presParOf" srcId="{C2E60A97-665F-4372-B321-508F6A25C5EF}" destId="{21DE07CA-1C28-4EFF-931A-DEA7E7C6E6B5}" srcOrd="3" destOrd="0" presId="urn:microsoft.com/office/officeart/2018/2/layout/IconVerticalSolidList"/>
    <dgm:cxn modelId="{332665CE-7D7E-497D-9B24-AAFBFD598DF8}" type="presParOf" srcId="{429DD078-85A0-47D5-8287-919811420871}" destId="{B17AD790-8265-41F3-BAB9-655E08AFDD60}" srcOrd="1" destOrd="0" presId="urn:microsoft.com/office/officeart/2018/2/layout/IconVerticalSolidList"/>
    <dgm:cxn modelId="{179475D3-9A65-4A9F-BD86-7F312D1547D1}" type="presParOf" srcId="{429DD078-85A0-47D5-8287-919811420871}" destId="{BDF6EF5B-FB44-47AC-B26B-D35DAEAB6C68}" srcOrd="2" destOrd="0" presId="urn:microsoft.com/office/officeart/2018/2/layout/IconVerticalSolidList"/>
    <dgm:cxn modelId="{4F71737B-DB67-4D5C-A669-3A167217C524}" type="presParOf" srcId="{BDF6EF5B-FB44-47AC-B26B-D35DAEAB6C68}" destId="{8031415B-2719-4FD8-9392-2B3AF7BE584B}" srcOrd="0" destOrd="0" presId="urn:microsoft.com/office/officeart/2018/2/layout/IconVerticalSolidList"/>
    <dgm:cxn modelId="{BCAC4EB1-CECF-4B5B-A4B5-493B940AA0D3}" type="presParOf" srcId="{BDF6EF5B-FB44-47AC-B26B-D35DAEAB6C68}" destId="{E015B27B-FD9E-47F6-B8AB-57EC684196B9}" srcOrd="1" destOrd="0" presId="urn:microsoft.com/office/officeart/2018/2/layout/IconVerticalSolidList"/>
    <dgm:cxn modelId="{61B927AF-799A-4E08-9901-3C64427FD236}" type="presParOf" srcId="{BDF6EF5B-FB44-47AC-B26B-D35DAEAB6C68}" destId="{09FADD42-D374-4447-8775-0BF51CF439D8}" srcOrd="2" destOrd="0" presId="urn:microsoft.com/office/officeart/2018/2/layout/IconVerticalSolidList"/>
    <dgm:cxn modelId="{14588498-1809-4828-AC2B-0CCDDEA57309}" type="presParOf" srcId="{BDF6EF5B-FB44-47AC-B26B-D35DAEAB6C68}" destId="{3A7FEBEB-704E-41E4-A076-C9CADCB8A586}" srcOrd="3" destOrd="0" presId="urn:microsoft.com/office/officeart/2018/2/layout/IconVerticalSolidList"/>
    <dgm:cxn modelId="{1ADB5E17-EAB6-415E-B8E4-3266212EF5A6}" type="presParOf" srcId="{429DD078-85A0-47D5-8287-919811420871}" destId="{45DB2290-C651-4C49-972E-148A884C99A7}" srcOrd="3" destOrd="0" presId="urn:microsoft.com/office/officeart/2018/2/layout/IconVerticalSolidList"/>
    <dgm:cxn modelId="{9EC8EFE1-A225-48D2-B4E6-1F7F361080EA}" type="presParOf" srcId="{429DD078-85A0-47D5-8287-919811420871}" destId="{57895190-5074-42D4-A99C-DA7FAEC64002}" srcOrd="4" destOrd="0" presId="urn:microsoft.com/office/officeart/2018/2/layout/IconVerticalSolidList"/>
    <dgm:cxn modelId="{D33D2593-B43F-4771-97C0-5E474AF597C1}" type="presParOf" srcId="{57895190-5074-42D4-A99C-DA7FAEC64002}" destId="{C1DC3035-8997-4C8F-A198-41C7A6C5814A}" srcOrd="0" destOrd="0" presId="urn:microsoft.com/office/officeart/2018/2/layout/IconVerticalSolidList"/>
    <dgm:cxn modelId="{783315A3-13CE-4FAF-9702-3E29C0FF2D3E}" type="presParOf" srcId="{57895190-5074-42D4-A99C-DA7FAEC64002}" destId="{2085FE38-FB09-4EDB-B2CE-4FDBAAEB17CD}" srcOrd="1" destOrd="0" presId="urn:microsoft.com/office/officeart/2018/2/layout/IconVerticalSolidList"/>
    <dgm:cxn modelId="{3D3DBAE1-435A-4BC7-A668-6DC74618919A}" type="presParOf" srcId="{57895190-5074-42D4-A99C-DA7FAEC64002}" destId="{EC1ADB5A-666C-4D31-8453-BFB435186292}" srcOrd="2" destOrd="0" presId="urn:microsoft.com/office/officeart/2018/2/layout/IconVerticalSolidList"/>
    <dgm:cxn modelId="{1C85F29B-546C-4281-8624-5362FED31067}" type="presParOf" srcId="{57895190-5074-42D4-A99C-DA7FAEC64002}" destId="{532D6FF2-8DD0-49EF-A492-DF8298C31B44}" srcOrd="3" destOrd="0" presId="urn:microsoft.com/office/officeart/2018/2/layout/IconVerticalSolidList"/>
    <dgm:cxn modelId="{E3B7C221-E0AF-45D2-8EE0-98676E2B5CCC}" type="presParOf" srcId="{429DD078-85A0-47D5-8287-919811420871}" destId="{92637BD7-B267-4BB6-B6FA-A5A1F2110AA4}" srcOrd="5" destOrd="0" presId="urn:microsoft.com/office/officeart/2018/2/layout/IconVerticalSolidList"/>
    <dgm:cxn modelId="{2A6B601C-5C8A-406E-98DA-5D645B03FAEA}" type="presParOf" srcId="{429DD078-85A0-47D5-8287-919811420871}" destId="{EFE6AB57-E686-4A94-B914-72FED3A92947}" srcOrd="6" destOrd="0" presId="urn:microsoft.com/office/officeart/2018/2/layout/IconVerticalSolidList"/>
    <dgm:cxn modelId="{86D37AE1-E63A-4EE2-8E33-5A162F4C5594}" type="presParOf" srcId="{EFE6AB57-E686-4A94-B914-72FED3A92947}" destId="{D93ADD8B-1F3C-43CD-92E4-46FBDB26B683}" srcOrd="0" destOrd="0" presId="urn:microsoft.com/office/officeart/2018/2/layout/IconVerticalSolidList"/>
    <dgm:cxn modelId="{A47521E0-E68D-4369-B953-733343E18356}" type="presParOf" srcId="{EFE6AB57-E686-4A94-B914-72FED3A92947}" destId="{8F1C7E2A-E4D5-4929-8E8B-731F40BE3C3B}" srcOrd="1" destOrd="0" presId="urn:microsoft.com/office/officeart/2018/2/layout/IconVerticalSolidList"/>
    <dgm:cxn modelId="{70CB35A8-9694-4649-9D21-90A360D46C45}" type="presParOf" srcId="{EFE6AB57-E686-4A94-B914-72FED3A92947}" destId="{3321FCE2-3CD2-4E91-A839-64002B2A5B42}" srcOrd="2" destOrd="0" presId="urn:microsoft.com/office/officeart/2018/2/layout/IconVerticalSolidList"/>
    <dgm:cxn modelId="{DA66DFC5-90C8-486C-BA1C-0FB3AE8E77A3}" type="presParOf" srcId="{EFE6AB57-E686-4A94-B914-72FED3A92947}" destId="{BBC2C891-C260-4E55-A976-F53A2C23AE8A}" srcOrd="3" destOrd="0" presId="urn:microsoft.com/office/officeart/2018/2/layout/IconVerticalSolidList"/>
    <dgm:cxn modelId="{89D063BC-BEC9-40B6-86BE-1545AB3573C6}" type="presParOf" srcId="{429DD078-85A0-47D5-8287-919811420871}" destId="{F6203D54-0FCF-4ECF-A403-CC91B3C9F4DE}" srcOrd="7" destOrd="0" presId="urn:microsoft.com/office/officeart/2018/2/layout/IconVerticalSolidList"/>
    <dgm:cxn modelId="{E132D2F9-4D1A-4856-A5AC-5783B75338E8}" type="presParOf" srcId="{429DD078-85A0-47D5-8287-919811420871}" destId="{5720DE8D-9F44-49DD-9DDC-789780164FD0}" srcOrd="8" destOrd="0" presId="urn:microsoft.com/office/officeart/2018/2/layout/IconVerticalSolidList"/>
    <dgm:cxn modelId="{3AA15C97-0AB7-473F-985A-DD24CD8FD2DC}" type="presParOf" srcId="{5720DE8D-9F44-49DD-9DDC-789780164FD0}" destId="{32CB4F71-3354-4BB4-9883-3EA047CC74C7}" srcOrd="0" destOrd="0" presId="urn:microsoft.com/office/officeart/2018/2/layout/IconVerticalSolidList"/>
    <dgm:cxn modelId="{FF73CEDA-1B3F-4CFA-826D-C0D3DC9FFEAC}" type="presParOf" srcId="{5720DE8D-9F44-49DD-9DDC-789780164FD0}" destId="{8D21AF77-1F5D-4DC7-AFE8-7B126AB082E8}" srcOrd="1" destOrd="0" presId="urn:microsoft.com/office/officeart/2018/2/layout/IconVerticalSolidList"/>
    <dgm:cxn modelId="{952F5205-F369-4BBC-B44F-865502D174E2}" type="presParOf" srcId="{5720DE8D-9F44-49DD-9DDC-789780164FD0}" destId="{6A12822A-A19A-454E-BD11-84628D98BE58}" srcOrd="2" destOrd="0" presId="urn:microsoft.com/office/officeart/2018/2/layout/IconVerticalSolidList"/>
    <dgm:cxn modelId="{092439B5-19E4-4F68-B9A4-9ED9C9C94882}" type="presParOf" srcId="{5720DE8D-9F44-49DD-9DDC-789780164FD0}" destId="{03F3A764-892A-495B-B378-F501609F061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27003C9-5541-4323-BD01-2A7F798D1F82}"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217FF63-66A1-46A3-8046-0C984E3781D7}">
      <dgm:prSet/>
      <dgm:spPr/>
      <dgm:t>
        <a:bodyPr/>
        <a:lstStyle/>
        <a:p>
          <a:r>
            <a:rPr lang="en-US"/>
            <a:t>•Finding a path between two specified nodes, u and v, of an unweighted graph.</a:t>
          </a:r>
        </a:p>
      </dgm:t>
    </dgm:pt>
    <dgm:pt modelId="{4591ACD2-6368-4BF6-AFFF-E2C57BE2ACF9}" type="parTrans" cxnId="{C8E32054-1E4B-4886-A422-5F7EBFE5D8BC}">
      <dgm:prSet/>
      <dgm:spPr/>
      <dgm:t>
        <a:bodyPr/>
        <a:lstStyle/>
        <a:p>
          <a:endParaRPr lang="en-US"/>
        </a:p>
      </dgm:t>
    </dgm:pt>
    <dgm:pt modelId="{ED2DEBE9-6DBA-4972-A3BC-33C87EA0A941}" type="sibTrans" cxnId="{C8E32054-1E4B-4886-A422-5F7EBFE5D8BC}">
      <dgm:prSet/>
      <dgm:spPr/>
      <dgm:t>
        <a:bodyPr/>
        <a:lstStyle/>
        <a:p>
          <a:endParaRPr lang="en-US"/>
        </a:p>
      </dgm:t>
    </dgm:pt>
    <dgm:pt modelId="{406C4001-EBFC-4930-8EA8-318ABCC5C44A}">
      <dgm:prSet/>
      <dgm:spPr/>
      <dgm:t>
        <a:bodyPr/>
        <a:lstStyle/>
        <a:p>
          <a:r>
            <a:rPr lang="en-US"/>
            <a:t>•Finding a path between two specified nodes, u and v, of a weighted graph.</a:t>
          </a:r>
        </a:p>
      </dgm:t>
    </dgm:pt>
    <dgm:pt modelId="{B75295B4-9B34-4F1B-96D0-C49F6F593D17}" type="parTrans" cxnId="{F7E37509-8166-4D14-947B-EBE29AFCAA52}">
      <dgm:prSet/>
      <dgm:spPr/>
      <dgm:t>
        <a:bodyPr/>
        <a:lstStyle/>
        <a:p>
          <a:endParaRPr lang="en-US"/>
        </a:p>
      </dgm:t>
    </dgm:pt>
    <dgm:pt modelId="{DA500AF7-ED11-4A23-BFDB-3A6AA39ACA3F}" type="sibTrans" cxnId="{F7E37509-8166-4D14-947B-EBE29AFCAA52}">
      <dgm:prSet/>
      <dgm:spPr/>
      <dgm:t>
        <a:bodyPr/>
        <a:lstStyle/>
        <a:p>
          <a:endParaRPr lang="en-US"/>
        </a:p>
      </dgm:t>
    </dgm:pt>
    <dgm:pt modelId="{B9E26258-5E11-451A-9F59-081B48768362}">
      <dgm:prSet/>
      <dgm:spPr/>
      <dgm:t>
        <a:bodyPr/>
        <a:lstStyle/>
        <a:p>
          <a:r>
            <a:rPr lang="en-US"/>
            <a:t>•Finding whether a graph is connected or not.</a:t>
          </a:r>
        </a:p>
      </dgm:t>
    </dgm:pt>
    <dgm:pt modelId="{E8C7B259-DF36-407B-BCC2-6AD92655BD4C}" type="parTrans" cxnId="{630F9A45-EDB8-43E8-812F-1771DB94AA33}">
      <dgm:prSet/>
      <dgm:spPr/>
      <dgm:t>
        <a:bodyPr/>
        <a:lstStyle/>
        <a:p>
          <a:endParaRPr lang="en-US"/>
        </a:p>
      </dgm:t>
    </dgm:pt>
    <dgm:pt modelId="{2691074C-9075-46A6-919E-469C99D97198}" type="sibTrans" cxnId="{630F9A45-EDB8-43E8-812F-1771DB94AA33}">
      <dgm:prSet/>
      <dgm:spPr/>
      <dgm:t>
        <a:bodyPr/>
        <a:lstStyle/>
        <a:p>
          <a:endParaRPr lang="en-US"/>
        </a:p>
      </dgm:t>
    </dgm:pt>
    <dgm:pt modelId="{CF9BD404-92FC-4E98-A0A5-7791C7CDE229}">
      <dgm:prSet/>
      <dgm:spPr/>
      <dgm:t>
        <a:bodyPr/>
        <a:lstStyle/>
        <a:p>
          <a:r>
            <a:rPr lang="en-US" dirty="0"/>
            <a:t>•Computing the spanning tree of a connected graph.</a:t>
          </a:r>
        </a:p>
      </dgm:t>
    </dgm:pt>
    <dgm:pt modelId="{E78200AE-B0BD-4973-8E22-55B594E56083}" type="parTrans" cxnId="{A8B2AB7D-553D-4A6A-A1F9-08CAF2732F94}">
      <dgm:prSet/>
      <dgm:spPr/>
      <dgm:t>
        <a:bodyPr/>
        <a:lstStyle/>
        <a:p>
          <a:endParaRPr lang="en-US"/>
        </a:p>
      </dgm:t>
    </dgm:pt>
    <dgm:pt modelId="{81AF9FCB-717F-4F27-8B53-C1AF4FB7BC30}" type="sibTrans" cxnId="{A8B2AB7D-553D-4A6A-A1F9-08CAF2732F94}">
      <dgm:prSet/>
      <dgm:spPr/>
      <dgm:t>
        <a:bodyPr/>
        <a:lstStyle/>
        <a:p>
          <a:endParaRPr lang="en-US"/>
        </a:p>
      </dgm:t>
    </dgm:pt>
    <dgm:pt modelId="{3D4F97B2-52FB-4AED-BB27-AF41A52481E1}" type="pres">
      <dgm:prSet presAssocID="{227003C9-5541-4323-BD01-2A7F798D1F82}" presName="vert0" presStyleCnt="0">
        <dgm:presLayoutVars>
          <dgm:dir/>
          <dgm:animOne val="branch"/>
          <dgm:animLvl val="lvl"/>
        </dgm:presLayoutVars>
      </dgm:prSet>
      <dgm:spPr/>
    </dgm:pt>
    <dgm:pt modelId="{B2978D23-6C71-4B7F-9625-4A008DFFF5E1}" type="pres">
      <dgm:prSet presAssocID="{5217FF63-66A1-46A3-8046-0C984E3781D7}" presName="thickLine" presStyleLbl="alignNode1" presStyleIdx="0" presStyleCnt="4"/>
      <dgm:spPr/>
    </dgm:pt>
    <dgm:pt modelId="{3C7CABBE-FBD8-407C-AD09-9FC663912416}" type="pres">
      <dgm:prSet presAssocID="{5217FF63-66A1-46A3-8046-0C984E3781D7}" presName="horz1" presStyleCnt="0"/>
      <dgm:spPr/>
    </dgm:pt>
    <dgm:pt modelId="{F3632CEE-24B1-410D-B13E-44A502E7F805}" type="pres">
      <dgm:prSet presAssocID="{5217FF63-66A1-46A3-8046-0C984E3781D7}" presName="tx1" presStyleLbl="revTx" presStyleIdx="0" presStyleCnt="4"/>
      <dgm:spPr/>
    </dgm:pt>
    <dgm:pt modelId="{0B8580F7-C0ED-4906-A987-852251FE28A2}" type="pres">
      <dgm:prSet presAssocID="{5217FF63-66A1-46A3-8046-0C984E3781D7}" presName="vert1" presStyleCnt="0"/>
      <dgm:spPr/>
    </dgm:pt>
    <dgm:pt modelId="{10F60949-17DC-4742-989A-45C463DAF6D3}" type="pres">
      <dgm:prSet presAssocID="{406C4001-EBFC-4930-8EA8-318ABCC5C44A}" presName="thickLine" presStyleLbl="alignNode1" presStyleIdx="1" presStyleCnt="4"/>
      <dgm:spPr/>
    </dgm:pt>
    <dgm:pt modelId="{E21287D9-80DA-4692-9295-9FDDEFB3A221}" type="pres">
      <dgm:prSet presAssocID="{406C4001-EBFC-4930-8EA8-318ABCC5C44A}" presName="horz1" presStyleCnt="0"/>
      <dgm:spPr/>
    </dgm:pt>
    <dgm:pt modelId="{3A73558C-000B-4178-8FA9-F7075F670DD9}" type="pres">
      <dgm:prSet presAssocID="{406C4001-EBFC-4930-8EA8-318ABCC5C44A}" presName="tx1" presStyleLbl="revTx" presStyleIdx="1" presStyleCnt="4"/>
      <dgm:spPr/>
    </dgm:pt>
    <dgm:pt modelId="{17C04B4D-F52A-4340-8FD8-31777015DFE9}" type="pres">
      <dgm:prSet presAssocID="{406C4001-EBFC-4930-8EA8-318ABCC5C44A}" presName="vert1" presStyleCnt="0"/>
      <dgm:spPr/>
    </dgm:pt>
    <dgm:pt modelId="{2CA8B107-FAEB-4B51-98F7-280140A99936}" type="pres">
      <dgm:prSet presAssocID="{B9E26258-5E11-451A-9F59-081B48768362}" presName="thickLine" presStyleLbl="alignNode1" presStyleIdx="2" presStyleCnt="4"/>
      <dgm:spPr/>
    </dgm:pt>
    <dgm:pt modelId="{82462256-D7C0-4ADD-AB60-5253AD1A7B94}" type="pres">
      <dgm:prSet presAssocID="{B9E26258-5E11-451A-9F59-081B48768362}" presName="horz1" presStyleCnt="0"/>
      <dgm:spPr/>
    </dgm:pt>
    <dgm:pt modelId="{456F76C7-6FA7-46E3-BC3D-054E2B02FF06}" type="pres">
      <dgm:prSet presAssocID="{B9E26258-5E11-451A-9F59-081B48768362}" presName="tx1" presStyleLbl="revTx" presStyleIdx="2" presStyleCnt="4"/>
      <dgm:spPr/>
    </dgm:pt>
    <dgm:pt modelId="{89E77E64-6EBD-4C16-BD93-52841397B23B}" type="pres">
      <dgm:prSet presAssocID="{B9E26258-5E11-451A-9F59-081B48768362}" presName="vert1" presStyleCnt="0"/>
      <dgm:spPr/>
    </dgm:pt>
    <dgm:pt modelId="{A9CE34C9-8B91-407B-A0E9-803FE186856A}" type="pres">
      <dgm:prSet presAssocID="{CF9BD404-92FC-4E98-A0A5-7791C7CDE229}" presName="thickLine" presStyleLbl="alignNode1" presStyleIdx="3" presStyleCnt="4"/>
      <dgm:spPr/>
    </dgm:pt>
    <dgm:pt modelId="{3AC66A90-6DF2-4664-A00C-99B6187384EB}" type="pres">
      <dgm:prSet presAssocID="{CF9BD404-92FC-4E98-A0A5-7791C7CDE229}" presName="horz1" presStyleCnt="0"/>
      <dgm:spPr/>
    </dgm:pt>
    <dgm:pt modelId="{B9F4F40E-B835-4547-AA74-77AD31349D3E}" type="pres">
      <dgm:prSet presAssocID="{CF9BD404-92FC-4E98-A0A5-7791C7CDE229}" presName="tx1" presStyleLbl="revTx" presStyleIdx="3" presStyleCnt="4"/>
      <dgm:spPr/>
    </dgm:pt>
    <dgm:pt modelId="{38577B3A-206D-490F-9481-90EA324C6150}" type="pres">
      <dgm:prSet presAssocID="{CF9BD404-92FC-4E98-A0A5-7791C7CDE229}" presName="vert1" presStyleCnt="0"/>
      <dgm:spPr/>
    </dgm:pt>
  </dgm:ptLst>
  <dgm:cxnLst>
    <dgm:cxn modelId="{F7E37509-8166-4D14-947B-EBE29AFCAA52}" srcId="{227003C9-5541-4323-BD01-2A7F798D1F82}" destId="{406C4001-EBFC-4930-8EA8-318ABCC5C44A}" srcOrd="1" destOrd="0" parTransId="{B75295B4-9B34-4F1B-96D0-C49F6F593D17}" sibTransId="{DA500AF7-ED11-4A23-BFDB-3A6AA39ACA3F}"/>
    <dgm:cxn modelId="{CCAB782E-2218-427B-A6D8-BF7B00534530}" type="presOf" srcId="{406C4001-EBFC-4930-8EA8-318ABCC5C44A}" destId="{3A73558C-000B-4178-8FA9-F7075F670DD9}" srcOrd="0" destOrd="0" presId="urn:microsoft.com/office/officeart/2008/layout/LinedList"/>
    <dgm:cxn modelId="{630F9A45-EDB8-43E8-812F-1771DB94AA33}" srcId="{227003C9-5541-4323-BD01-2A7F798D1F82}" destId="{B9E26258-5E11-451A-9F59-081B48768362}" srcOrd="2" destOrd="0" parTransId="{E8C7B259-DF36-407B-BCC2-6AD92655BD4C}" sibTransId="{2691074C-9075-46A6-919E-469C99D97198}"/>
    <dgm:cxn modelId="{DF3CB44D-7E6A-4215-8BF8-5D80D4B974ED}" type="presOf" srcId="{5217FF63-66A1-46A3-8046-0C984E3781D7}" destId="{F3632CEE-24B1-410D-B13E-44A502E7F805}" srcOrd="0" destOrd="0" presId="urn:microsoft.com/office/officeart/2008/layout/LinedList"/>
    <dgm:cxn modelId="{C8E32054-1E4B-4886-A422-5F7EBFE5D8BC}" srcId="{227003C9-5541-4323-BD01-2A7F798D1F82}" destId="{5217FF63-66A1-46A3-8046-0C984E3781D7}" srcOrd="0" destOrd="0" parTransId="{4591ACD2-6368-4BF6-AFFF-E2C57BE2ACF9}" sibTransId="{ED2DEBE9-6DBA-4972-A3BC-33C87EA0A941}"/>
    <dgm:cxn modelId="{A8B2AB7D-553D-4A6A-A1F9-08CAF2732F94}" srcId="{227003C9-5541-4323-BD01-2A7F798D1F82}" destId="{CF9BD404-92FC-4E98-A0A5-7791C7CDE229}" srcOrd="3" destOrd="0" parTransId="{E78200AE-B0BD-4973-8E22-55B594E56083}" sibTransId="{81AF9FCB-717F-4F27-8B53-C1AF4FB7BC30}"/>
    <dgm:cxn modelId="{4AA635AB-EBD5-48C9-9907-6381693392FB}" type="presOf" srcId="{CF9BD404-92FC-4E98-A0A5-7791C7CDE229}" destId="{B9F4F40E-B835-4547-AA74-77AD31349D3E}" srcOrd="0" destOrd="0" presId="urn:microsoft.com/office/officeart/2008/layout/LinedList"/>
    <dgm:cxn modelId="{902D98B5-05B1-4568-A563-DE2155FD4D16}" type="presOf" srcId="{227003C9-5541-4323-BD01-2A7F798D1F82}" destId="{3D4F97B2-52FB-4AED-BB27-AF41A52481E1}" srcOrd="0" destOrd="0" presId="urn:microsoft.com/office/officeart/2008/layout/LinedList"/>
    <dgm:cxn modelId="{05B3DEDA-457E-4118-A588-BC9B751C9C92}" type="presOf" srcId="{B9E26258-5E11-451A-9F59-081B48768362}" destId="{456F76C7-6FA7-46E3-BC3D-054E2B02FF06}" srcOrd="0" destOrd="0" presId="urn:microsoft.com/office/officeart/2008/layout/LinedList"/>
    <dgm:cxn modelId="{E9018736-8407-4120-AB5B-1BC293B11875}" type="presParOf" srcId="{3D4F97B2-52FB-4AED-BB27-AF41A52481E1}" destId="{B2978D23-6C71-4B7F-9625-4A008DFFF5E1}" srcOrd="0" destOrd="0" presId="urn:microsoft.com/office/officeart/2008/layout/LinedList"/>
    <dgm:cxn modelId="{CA20F7F1-F7DD-4D1F-9ACD-C7E417B2F301}" type="presParOf" srcId="{3D4F97B2-52FB-4AED-BB27-AF41A52481E1}" destId="{3C7CABBE-FBD8-407C-AD09-9FC663912416}" srcOrd="1" destOrd="0" presId="urn:microsoft.com/office/officeart/2008/layout/LinedList"/>
    <dgm:cxn modelId="{4FDA2513-A6F6-42DB-85A5-5EF0CCFFD253}" type="presParOf" srcId="{3C7CABBE-FBD8-407C-AD09-9FC663912416}" destId="{F3632CEE-24B1-410D-B13E-44A502E7F805}" srcOrd="0" destOrd="0" presId="urn:microsoft.com/office/officeart/2008/layout/LinedList"/>
    <dgm:cxn modelId="{FBADA3D8-3704-4BC5-AD3E-4319370848C8}" type="presParOf" srcId="{3C7CABBE-FBD8-407C-AD09-9FC663912416}" destId="{0B8580F7-C0ED-4906-A987-852251FE28A2}" srcOrd="1" destOrd="0" presId="urn:microsoft.com/office/officeart/2008/layout/LinedList"/>
    <dgm:cxn modelId="{6B769520-5B28-4547-BF35-899DFF4C5D9D}" type="presParOf" srcId="{3D4F97B2-52FB-4AED-BB27-AF41A52481E1}" destId="{10F60949-17DC-4742-989A-45C463DAF6D3}" srcOrd="2" destOrd="0" presId="urn:microsoft.com/office/officeart/2008/layout/LinedList"/>
    <dgm:cxn modelId="{2CC64AC4-0645-457B-80FD-E44E83167CB4}" type="presParOf" srcId="{3D4F97B2-52FB-4AED-BB27-AF41A52481E1}" destId="{E21287D9-80DA-4692-9295-9FDDEFB3A221}" srcOrd="3" destOrd="0" presId="urn:microsoft.com/office/officeart/2008/layout/LinedList"/>
    <dgm:cxn modelId="{9E69F5EE-E632-4C8A-886A-A531FF268B01}" type="presParOf" srcId="{E21287D9-80DA-4692-9295-9FDDEFB3A221}" destId="{3A73558C-000B-4178-8FA9-F7075F670DD9}" srcOrd="0" destOrd="0" presId="urn:microsoft.com/office/officeart/2008/layout/LinedList"/>
    <dgm:cxn modelId="{1968CEAF-DC45-472D-84C1-8BE0F17CED27}" type="presParOf" srcId="{E21287D9-80DA-4692-9295-9FDDEFB3A221}" destId="{17C04B4D-F52A-4340-8FD8-31777015DFE9}" srcOrd="1" destOrd="0" presId="urn:microsoft.com/office/officeart/2008/layout/LinedList"/>
    <dgm:cxn modelId="{500488EE-5E63-47D7-B5AD-2823FBD6AECC}" type="presParOf" srcId="{3D4F97B2-52FB-4AED-BB27-AF41A52481E1}" destId="{2CA8B107-FAEB-4B51-98F7-280140A99936}" srcOrd="4" destOrd="0" presId="urn:microsoft.com/office/officeart/2008/layout/LinedList"/>
    <dgm:cxn modelId="{92B72BAF-156A-480C-8DB5-1027E1C7B783}" type="presParOf" srcId="{3D4F97B2-52FB-4AED-BB27-AF41A52481E1}" destId="{82462256-D7C0-4ADD-AB60-5253AD1A7B94}" srcOrd="5" destOrd="0" presId="urn:microsoft.com/office/officeart/2008/layout/LinedList"/>
    <dgm:cxn modelId="{7487D1EC-4A51-415C-AD56-C9F743C39E46}" type="presParOf" srcId="{82462256-D7C0-4ADD-AB60-5253AD1A7B94}" destId="{456F76C7-6FA7-46E3-BC3D-054E2B02FF06}" srcOrd="0" destOrd="0" presId="urn:microsoft.com/office/officeart/2008/layout/LinedList"/>
    <dgm:cxn modelId="{1FCC31EF-AE43-4023-A4AD-65ADB1C3BB18}" type="presParOf" srcId="{82462256-D7C0-4ADD-AB60-5253AD1A7B94}" destId="{89E77E64-6EBD-4C16-BD93-52841397B23B}" srcOrd="1" destOrd="0" presId="urn:microsoft.com/office/officeart/2008/layout/LinedList"/>
    <dgm:cxn modelId="{78E5BBED-9345-43AE-AF33-EEEB0B6E21C6}" type="presParOf" srcId="{3D4F97B2-52FB-4AED-BB27-AF41A52481E1}" destId="{A9CE34C9-8B91-407B-A0E9-803FE186856A}" srcOrd="6" destOrd="0" presId="urn:microsoft.com/office/officeart/2008/layout/LinedList"/>
    <dgm:cxn modelId="{F021CD1B-624C-495D-B29F-360D9A81C84B}" type="presParOf" srcId="{3D4F97B2-52FB-4AED-BB27-AF41A52481E1}" destId="{3AC66A90-6DF2-4664-A00C-99B6187384EB}" srcOrd="7" destOrd="0" presId="urn:microsoft.com/office/officeart/2008/layout/LinedList"/>
    <dgm:cxn modelId="{D83D445A-7F30-4CCA-8FF4-4D4C24068D3D}" type="presParOf" srcId="{3AC66A90-6DF2-4664-A00C-99B6187384EB}" destId="{B9F4F40E-B835-4547-AA74-77AD31349D3E}" srcOrd="0" destOrd="0" presId="urn:microsoft.com/office/officeart/2008/layout/LinedList"/>
    <dgm:cxn modelId="{D1725086-A10B-42CF-9A4F-633C13E15594}" type="presParOf" srcId="{3AC66A90-6DF2-4664-A00C-99B6187384EB}" destId="{38577B3A-206D-490F-9481-90EA324C615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753029-0373-485F-9CC6-D9BADCB47A1C}">
      <dsp:nvSpPr>
        <dsp:cNvPr id="0" name=""/>
        <dsp:cNvSpPr/>
      </dsp:nvSpPr>
      <dsp:spPr>
        <a:xfrm>
          <a:off x="0" y="4286"/>
          <a:ext cx="6240668" cy="9129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0A6A3-68AA-4B05-9960-C685161B12F7}">
      <dsp:nvSpPr>
        <dsp:cNvPr id="0" name=""/>
        <dsp:cNvSpPr/>
      </dsp:nvSpPr>
      <dsp:spPr>
        <a:xfrm>
          <a:off x="276173" y="209704"/>
          <a:ext cx="502134" cy="5021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67E7FC-F901-4D1F-9A78-73B9A8B10F22}">
      <dsp:nvSpPr>
        <dsp:cNvPr id="0" name=""/>
        <dsp:cNvSpPr/>
      </dsp:nvSpPr>
      <dsp:spPr>
        <a:xfrm>
          <a:off x="1054481" y="4286"/>
          <a:ext cx="5186187"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711200">
            <a:lnSpc>
              <a:spcPct val="90000"/>
            </a:lnSpc>
            <a:spcBef>
              <a:spcPct val="0"/>
            </a:spcBef>
            <a:spcAft>
              <a:spcPct val="35000"/>
            </a:spcAft>
            <a:buNone/>
          </a:pPr>
          <a:r>
            <a:rPr lang="en-US" sz="1600" kern="1200"/>
            <a:t>Definition: Brute force is a straightforward approach to problem-solving that relies on directly applying the problem statement and definitions of the concepts involved.</a:t>
          </a:r>
        </a:p>
      </dsp:txBody>
      <dsp:txXfrm>
        <a:off x="1054481" y="4286"/>
        <a:ext cx="5186187" cy="912971"/>
      </dsp:txXfrm>
    </dsp:sp>
    <dsp:sp modelId="{FC294798-C840-4431-8628-781BCCAA6D52}">
      <dsp:nvSpPr>
        <dsp:cNvPr id="0" name=""/>
        <dsp:cNvSpPr/>
      </dsp:nvSpPr>
      <dsp:spPr>
        <a:xfrm>
          <a:off x="0" y="1145500"/>
          <a:ext cx="6240668" cy="9129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4104E-1611-4DC5-98DE-D7B9C9C1BC66}">
      <dsp:nvSpPr>
        <dsp:cNvPr id="0" name=""/>
        <dsp:cNvSpPr/>
      </dsp:nvSpPr>
      <dsp:spPr>
        <a:xfrm>
          <a:off x="276173" y="1350918"/>
          <a:ext cx="502134" cy="5021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E295C0-DC2C-4185-9211-5040CB831544}">
      <dsp:nvSpPr>
        <dsp:cNvPr id="0" name=""/>
        <dsp:cNvSpPr/>
      </dsp:nvSpPr>
      <dsp:spPr>
        <a:xfrm>
          <a:off x="1054481" y="1145500"/>
          <a:ext cx="5186187"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711200">
            <a:lnSpc>
              <a:spcPct val="90000"/>
            </a:lnSpc>
            <a:spcBef>
              <a:spcPct val="0"/>
            </a:spcBef>
            <a:spcAft>
              <a:spcPct val="35000"/>
            </a:spcAft>
            <a:buNone/>
          </a:pPr>
          <a:r>
            <a:rPr lang="en-US" sz="1600" kern="1200"/>
            <a:t>"Just do it!": The strategy's essence is to utilize the computational power of a computer rather than relying on complex intellectual reasoning.</a:t>
          </a:r>
        </a:p>
      </dsp:txBody>
      <dsp:txXfrm>
        <a:off x="1054481" y="1145500"/>
        <a:ext cx="5186187" cy="912971"/>
      </dsp:txXfrm>
    </dsp:sp>
    <dsp:sp modelId="{584D2F29-C301-4A99-A2B8-74F746268C71}">
      <dsp:nvSpPr>
        <dsp:cNvPr id="0" name=""/>
        <dsp:cNvSpPr/>
      </dsp:nvSpPr>
      <dsp:spPr>
        <a:xfrm>
          <a:off x="0" y="2286714"/>
          <a:ext cx="6240668" cy="9129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3AEF6B-3CD6-4D95-899A-63911AB1050C}">
      <dsp:nvSpPr>
        <dsp:cNvPr id="0" name=""/>
        <dsp:cNvSpPr/>
      </dsp:nvSpPr>
      <dsp:spPr>
        <a:xfrm>
          <a:off x="276173" y="2492132"/>
          <a:ext cx="502134" cy="5021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711320-7BB8-4CC3-9B57-C24B3E5CBC61}">
      <dsp:nvSpPr>
        <dsp:cNvPr id="0" name=""/>
        <dsp:cNvSpPr/>
      </dsp:nvSpPr>
      <dsp:spPr>
        <a:xfrm>
          <a:off x="1054481" y="2286714"/>
          <a:ext cx="5186187"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711200">
            <a:lnSpc>
              <a:spcPct val="90000"/>
            </a:lnSpc>
            <a:spcBef>
              <a:spcPct val="0"/>
            </a:spcBef>
            <a:spcAft>
              <a:spcPct val="35000"/>
            </a:spcAft>
            <a:buNone/>
          </a:pPr>
          <a:r>
            <a:rPr lang="en-US" sz="1600" kern="1200"/>
            <a:t>Simplicity: Brute force often represents the easiest and most intuitive method to apply when solving a problem.</a:t>
          </a:r>
        </a:p>
      </dsp:txBody>
      <dsp:txXfrm>
        <a:off x="1054481" y="2286714"/>
        <a:ext cx="5186187" cy="912971"/>
      </dsp:txXfrm>
    </dsp:sp>
    <dsp:sp modelId="{64A6FBF0-E344-4973-AD77-9363D896BC7F}">
      <dsp:nvSpPr>
        <dsp:cNvPr id="0" name=""/>
        <dsp:cNvSpPr/>
      </dsp:nvSpPr>
      <dsp:spPr>
        <a:xfrm>
          <a:off x="0" y="3427928"/>
          <a:ext cx="6240668" cy="9129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849CE-1939-4ED3-A86B-721577DBB96A}">
      <dsp:nvSpPr>
        <dsp:cNvPr id="0" name=""/>
        <dsp:cNvSpPr/>
      </dsp:nvSpPr>
      <dsp:spPr>
        <a:xfrm>
          <a:off x="276173" y="3633346"/>
          <a:ext cx="502134" cy="5021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EE4DAA-8B41-4519-A905-F4B60C0890CC}">
      <dsp:nvSpPr>
        <dsp:cNvPr id="0" name=""/>
        <dsp:cNvSpPr/>
      </dsp:nvSpPr>
      <dsp:spPr>
        <a:xfrm>
          <a:off x="1054481" y="3427928"/>
          <a:ext cx="5186187"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711200">
            <a:lnSpc>
              <a:spcPct val="90000"/>
            </a:lnSpc>
            <a:spcBef>
              <a:spcPct val="0"/>
            </a:spcBef>
            <a:spcAft>
              <a:spcPct val="35000"/>
            </a:spcAft>
            <a:buNone/>
          </a:pPr>
          <a:r>
            <a:rPr lang="en-US" sz="1600" kern="1200"/>
            <a:t>Example: The exponentiation problem, where you need to compute a^b for a given number a and non-negative integer b, can be solved using brute force.</a:t>
          </a:r>
        </a:p>
      </dsp:txBody>
      <dsp:txXfrm>
        <a:off x="1054481" y="3427928"/>
        <a:ext cx="5186187" cy="912971"/>
      </dsp:txXfrm>
    </dsp:sp>
    <dsp:sp modelId="{B08ADA16-0499-4FF4-BCAD-142399B3DD65}">
      <dsp:nvSpPr>
        <dsp:cNvPr id="0" name=""/>
        <dsp:cNvSpPr/>
      </dsp:nvSpPr>
      <dsp:spPr>
        <a:xfrm>
          <a:off x="0" y="4569142"/>
          <a:ext cx="6240668" cy="9129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3DFA3F-2C3C-4D68-9734-46CD2CB96BE7}">
      <dsp:nvSpPr>
        <dsp:cNvPr id="0" name=""/>
        <dsp:cNvSpPr/>
      </dsp:nvSpPr>
      <dsp:spPr>
        <a:xfrm>
          <a:off x="276173" y="4774561"/>
          <a:ext cx="502134" cy="5021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C2DBF9-E801-42A4-B973-FF5A069A9641}">
      <dsp:nvSpPr>
        <dsp:cNvPr id="0" name=""/>
        <dsp:cNvSpPr/>
      </dsp:nvSpPr>
      <dsp:spPr>
        <a:xfrm>
          <a:off x="1054481" y="4569142"/>
          <a:ext cx="5186187"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711200">
            <a:lnSpc>
              <a:spcPct val="90000"/>
            </a:lnSpc>
            <a:spcBef>
              <a:spcPct val="0"/>
            </a:spcBef>
            <a:spcAft>
              <a:spcPct val="35000"/>
            </a:spcAft>
            <a:buNone/>
          </a:pPr>
          <a:r>
            <a:rPr lang="en-US" sz="1600" kern="1200"/>
            <a:t>Algorithm Design: Brute force serves as a useful illustration of various algorithm design techniques.</a:t>
          </a:r>
        </a:p>
      </dsp:txBody>
      <dsp:txXfrm>
        <a:off x="1054481" y="4569142"/>
        <a:ext cx="5186187" cy="9129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B66440-BC03-4A86-B157-7C05BBCEBA5D}">
      <dsp:nvSpPr>
        <dsp:cNvPr id="0" name=""/>
        <dsp:cNvSpPr/>
      </dsp:nvSpPr>
      <dsp:spPr>
        <a:xfrm>
          <a:off x="0" y="1774"/>
          <a:ext cx="6240668" cy="756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8E2F6E-8D1F-4C9C-87C4-46A52E77A452}">
      <dsp:nvSpPr>
        <dsp:cNvPr id="0" name=""/>
        <dsp:cNvSpPr/>
      </dsp:nvSpPr>
      <dsp:spPr>
        <a:xfrm>
          <a:off x="228767" y="171932"/>
          <a:ext cx="415940" cy="4159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211731-9562-4DEF-A1E0-5BBD6ED2C350}">
      <dsp:nvSpPr>
        <dsp:cNvPr id="0" name=""/>
        <dsp:cNvSpPr/>
      </dsp:nvSpPr>
      <dsp:spPr>
        <a:xfrm>
          <a:off x="873474" y="1774"/>
          <a:ext cx="5367194" cy="756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37" tIns="80037" rIns="80037" bIns="80037" numCol="1" spcCol="1270" anchor="ctr" anchorCtr="0">
          <a:noAutofit/>
        </a:bodyPr>
        <a:lstStyle/>
        <a:p>
          <a:pPr marL="0" lvl="0" indent="0" algn="l" defTabSz="666750">
            <a:lnSpc>
              <a:spcPct val="90000"/>
            </a:lnSpc>
            <a:spcBef>
              <a:spcPct val="0"/>
            </a:spcBef>
            <a:spcAft>
              <a:spcPct val="35000"/>
            </a:spcAft>
            <a:buNone/>
          </a:pPr>
          <a:r>
            <a:rPr lang="en-US" sz="1500" kern="1200" dirty="0">
              <a:latin typeface="Georgia Pro"/>
            </a:rPr>
            <a:t>The</a:t>
          </a:r>
          <a:r>
            <a:rPr lang="en-US" sz="1500" kern="1200" dirty="0"/>
            <a:t> brute-force approach can also be applied to the problem of sorting, which involves rearranging a list of n orderable items in nondecreasing order.</a:t>
          </a:r>
        </a:p>
      </dsp:txBody>
      <dsp:txXfrm>
        <a:off x="873474" y="1774"/>
        <a:ext cx="5367194" cy="756255"/>
      </dsp:txXfrm>
    </dsp:sp>
    <dsp:sp modelId="{602AD58C-EEDA-4AE7-9E30-D85E45A54A4E}">
      <dsp:nvSpPr>
        <dsp:cNvPr id="0" name=""/>
        <dsp:cNvSpPr/>
      </dsp:nvSpPr>
      <dsp:spPr>
        <a:xfrm>
          <a:off x="0" y="947093"/>
          <a:ext cx="6240668" cy="756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8FBA0A-85FC-4635-9AB0-1C398FC158C1}">
      <dsp:nvSpPr>
        <dsp:cNvPr id="0" name=""/>
        <dsp:cNvSpPr/>
      </dsp:nvSpPr>
      <dsp:spPr>
        <a:xfrm>
          <a:off x="228767" y="1117251"/>
          <a:ext cx="415940" cy="4159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6CC9F0-3C11-4138-9791-D374838640FD}">
      <dsp:nvSpPr>
        <dsp:cNvPr id="0" name=""/>
        <dsp:cNvSpPr/>
      </dsp:nvSpPr>
      <dsp:spPr>
        <a:xfrm>
          <a:off x="873474" y="947093"/>
          <a:ext cx="5367194" cy="756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37" tIns="80037" rIns="80037" bIns="80037" numCol="1" spcCol="1270" anchor="ctr" anchorCtr="0">
          <a:noAutofit/>
        </a:bodyPr>
        <a:lstStyle/>
        <a:p>
          <a:pPr marL="0" lvl="0" indent="0" algn="l" defTabSz="666750">
            <a:lnSpc>
              <a:spcPct val="90000"/>
            </a:lnSpc>
            <a:spcBef>
              <a:spcPct val="0"/>
            </a:spcBef>
            <a:spcAft>
              <a:spcPct val="35000"/>
            </a:spcAft>
            <a:buNone/>
          </a:pPr>
          <a:r>
            <a:rPr lang="en-US" sz="1500" kern="1200" dirty="0"/>
            <a:t>Importance of Sorting: Sorting is a fundamental problem in computer science, and numerous algorithms have been developed to solve it efficiently.</a:t>
          </a:r>
        </a:p>
      </dsp:txBody>
      <dsp:txXfrm>
        <a:off x="873474" y="947093"/>
        <a:ext cx="5367194" cy="756255"/>
      </dsp:txXfrm>
    </dsp:sp>
    <dsp:sp modelId="{2D140167-2C47-49E5-A29E-35583D822E7A}">
      <dsp:nvSpPr>
        <dsp:cNvPr id="0" name=""/>
        <dsp:cNvSpPr/>
      </dsp:nvSpPr>
      <dsp:spPr>
        <a:xfrm>
          <a:off x="0" y="1892412"/>
          <a:ext cx="6240668" cy="756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6CB906-E057-4B46-B9F3-12422050EE14}">
      <dsp:nvSpPr>
        <dsp:cNvPr id="0" name=""/>
        <dsp:cNvSpPr/>
      </dsp:nvSpPr>
      <dsp:spPr>
        <a:xfrm>
          <a:off x="228767" y="2062570"/>
          <a:ext cx="415940" cy="4159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42BF47-8558-450C-A240-3B1E9AE4F584}">
      <dsp:nvSpPr>
        <dsp:cNvPr id="0" name=""/>
        <dsp:cNvSpPr/>
      </dsp:nvSpPr>
      <dsp:spPr>
        <a:xfrm>
          <a:off x="873474" y="1892412"/>
          <a:ext cx="5367194" cy="756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37" tIns="80037" rIns="80037" bIns="80037" numCol="1" spcCol="1270" anchor="ctr" anchorCtr="0">
          <a:noAutofit/>
        </a:bodyPr>
        <a:lstStyle/>
        <a:p>
          <a:pPr marL="0" lvl="0" indent="0" algn="l" defTabSz="666750">
            <a:lnSpc>
              <a:spcPct val="90000"/>
            </a:lnSpc>
            <a:spcBef>
              <a:spcPct val="0"/>
            </a:spcBef>
            <a:spcAft>
              <a:spcPct val="35000"/>
            </a:spcAft>
            <a:buNone/>
          </a:pPr>
          <a:r>
            <a:rPr lang="en-US" sz="1500" kern="1200" dirty="0"/>
            <a:t>Fresh Perspective: The suggestion is to temporarily forget any previous knowledge of sorting algorithms and approach the problem with a fresh mind.</a:t>
          </a:r>
        </a:p>
      </dsp:txBody>
      <dsp:txXfrm>
        <a:off x="873474" y="1892412"/>
        <a:ext cx="5367194" cy="756255"/>
      </dsp:txXfrm>
    </dsp:sp>
    <dsp:sp modelId="{39A4CDC3-74A3-4A69-BE2A-DD9EA9E023EE}">
      <dsp:nvSpPr>
        <dsp:cNvPr id="0" name=""/>
        <dsp:cNvSpPr/>
      </dsp:nvSpPr>
      <dsp:spPr>
        <a:xfrm>
          <a:off x="0" y="2837731"/>
          <a:ext cx="6240668" cy="756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881FCC-9206-4F98-8724-6F50026082BE}">
      <dsp:nvSpPr>
        <dsp:cNvPr id="0" name=""/>
        <dsp:cNvSpPr/>
      </dsp:nvSpPr>
      <dsp:spPr>
        <a:xfrm>
          <a:off x="228767" y="3007889"/>
          <a:ext cx="415940" cy="4159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AEC127-D086-4621-86A0-96044B9428C7}">
      <dsp:nvSpPr>
        <dsp:cNvPr id="0" name=""/>
        <dsp:cNvSpPr/>
      </dsp:nvSpPr>
      <dsp:spPr>
        <a:xfrm>
          <a:off x="873474" y="2837731"/>
          <a:ext cx="5367194" cy="756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37" tIns="80037" rIns="80037" bIns="80037" numCol="1" spcCol="1270" anchor="ctr" anchorCtr="0">
          <a:noAutofit/>
        </a:bodyPr>
        <a:lstStyle/>
        <a:p>
          <a:pPr marL="0" lvl="0" indent="0" algn="l" defTabSz="666750">
            <a:lnSpc>
              <a:spcPct val="90000"/>
            </a:lnSpc>
            <a:spcBef>
              <a:spcPct val="0"/>
            </a:spcBef>
            <a:spcAft>
              <a:spcPct val="35000"/>
            </a:spcAft>
            <a:buNone/>
          </a:pPr>
          <a:r>
            <a:rPr lang="en-US" sz="1500" kern="1200" dirty="0"/>
            <a:t>Straightforward Method: When considering the most straightforward method for solving the sorting problem, reasonable people may have different opinions.</a:t>
          </a:r>
        </a:p>
      </dsp:txBody>
      <dsp:txXfrm>
        <a:off x="873474" y="2837731"/>
        <a:ext cx="5367194" cy="756255"/>
      </dsp:txXfrm>
    </dsp:sp>
    <dsp:sp modelId="{267C7377-7673-4ED9-9980-EB6344B7D084}">
      <dsp:nvSpPr>
        <dsp:cNvPr id="0" name=""/>
        <dsp:cNvSpPr/>
      </dsp:nvSpPr>
      <dsp:spPr>
        <a:xfrm>
          <a:off x="0" y="3783050"/>
          <a:ext cx="6240668" cy="756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9DF55E-2D35-42A6-8ED7-3D23ED50802E}">
      <dsp:nvSpPr>
        <dsp:cNvPr id="0" name=""/>
        <dsp:cNvSpPr/>
      </dsp:nvSpPr>
      <dsp:spPr>
        <a:xfrm>
          <a:off x="228767" y="3953208"/>
          <a:ext cx="415940" cy="41594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B707A9-5BEC-4D2D-90C7-8A27D9EB38B9}">
      <dsp:nvSpPr>
        <dsp:cNvPr id="0" name=""/>
        <dsp:cNvSpPr/>
      </dsp:nvSpPr>
      <dsp:spPr>
        <a:xfrm>
          <a:off x="873474" y="3783050"/>
          <a:ext cx="5367194" cy="756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37" tIns="80037" rIns="80037" bIns="80037" numCol="1" spcCol="1270" anchor="ctr" anchorCtr="0">
          <a:noAutofit/>
        </a:bodyPr>
        <a:lstStyle/>
        <a:p>
          <a:pPr marL="0" lvl="0" indent="0" algn="l" defTabSz="666750">
            <a:lnSpc>
              <a:spcPct val="90000"/>
            </a:lnSpc>
            <a:spcBef>
              <a:spcPct val="0"/>
            </a:spcBef>
            <a:spcAft>
              <a:spcPct val="35000"/>
            </a:spcAft>
            <a:buNone/>
          </a:pPr>
          <a:r>
            <a:rPr lang="en-US" sz="1500" kern="1200" dirty="0"/>
            <a:t>Prime Candidates: Two algorithms that are often considered as prime candidates for the most straightforward method are selection sort and bubble sort.</a:t>
          </a:r>
        </a:p>
      </dsp:txBody>
      <dsp:txXfrm>
        <a:off x="873474" y="3783050"/>
        <a:ext cx="5367194" cy="756255"/>
      </dsp:txXfrm>
    </dsp:sp>
    <dsp:sp modelId="{77D257C1-1D14-4A83-A407-DEBC5ADEF483}">
      <dsp:nvSpPr>
        <dsp:cNvPr id="0" name=""/>
        <dsp:cNvSpPr/>
      </dsp:nvSpPr>
      <dsp:spPr>
        <a:xfrm>
          <a:off x="0" y="4728369"/>
          <a:ext cx="6240668" cy="7562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2AA1EB-7A04-4E03-B72E-E88B3502FD10}">
      <dsp:nvSpPr>
        <dsp:cNvPr id="0" name=""/>
        <dsp:cNvSpPr/>
      </dsp:nvSpPr>
      <dsp:spPr>
        <a:xfrm>
          <a:off x="228767" y="4898527"/>
          <a:ext cx="415940" cy="41594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D3CAB4-B21E-4071-A676-77AAE9521997}">
      <dsp:nvSpPr>
        <dsp:cNvPr id="0" name=""/>
        <dsp:cNvSpPr/>
      </dsp:nvSpPr>
      <dsp:spPr>
        <a:xfrm>
          <a:off x="873474" y="4728369"/>
          <a:ext cx="5367194" cy="756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37" tIns="80037" rIns="80037" bIns="80037" numCol="1" spcCol="1270" anchor="ctr" anchorCtr="0">
          <a:noAutofit/>
        </a:bodyPr>
        <a:lstStyle/>
        <a:p>
          <a:pPr marL="0" lvl="0" indent="0" algn="l" defTabSz="666750">
            <a:lnSpc>
              <a:spcPct val="90000"/>
            </a:lnSpc>
            <a:spcBef>
              <a:spcPct val="0"/>
            </a:spcBef>
            <a:spcAft>
              <a:spcPct val="35000"/>
            </a:spcAft>
            <a:buNone/>
          </a:pPr>
          <a:r>
            <a:rPr lang="en-US" sz="1500" kern="1200" dirty="0"/>
            <a:t>Selection Sort: Among the two algorithms, selection sort is generally considered to be better overall and implements the brute-force approach more clearly.</a:t>
          </a:r>
        </a:p>
      </dsp:txBody>
      <dsp:txXfrm>
        <a:off x="873474" y="4728369"/>
        <a:ext cx="5367194" cy="7562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2686F0-3826-4031-A24D-C4188C67DA4B}">
      <dsp:nvSpPr>
        <dsp:cNvPr id="0" name=""/>
        <dsp:cNvSpPr/>
      </dsp:nvSpPr>
      <dsp:spPr>
        <a:xfrm>
          <a:off x="0" y="2277"/>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C11ED3-11BE-42FB-82E7-5563067AE3A2}">
      <dsp:nvSpPr>
        <dsp:cNvPr id="0" name=""/>
        <dsp:cNvSpPr/>
      </dsp:nvSpPr>
      <dsp:spPr>
        <a:xfrm>
          <a:off x="349107" y="261943"/>
          <a:ext cx="634740" cy="6347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DDB15D-6F2F-4188-B711-CC5DFE5A1634}">
      <dsp:nvSpPr>
        <dsp:cNvPr id="0" name=""/>
        <dsp:cNvSpPr/>
      </dsp:nvSpPr>
      <dsp:spPr>
        <a:xfrm>
          <a:off x="1332954" y="2277"/>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Exhaustive search is a method in which solution is obtained by searching  each  element of given problem. Exhaustive search makes use of straight forward  approach.</a:t>
          </a:r>
        </a:p>
      </dsp:txBody>
      <dsp:txXfrm>
        <a:off x="1332954" y="2277"/>
        <a:ext cx="4907714" cy="1154072"/>
      </dsp:txXfrm>
    </dsp:sp>
    <dsp:sp modelId="{65C71B0A-1CD0-401D-8E2A-37B830AF1215}">
      <dsp:nvSpPr>
        <dsp:cNvPr id="0" name=""/>
        <dsp:cNvSpPr/>
      </dsp:nvSpPr>
      <dsp:spPr>
        <a:xfrm>
          <a:off x="0" y="1444868"/>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DB5AC8-B1C1-421B-BF29-DC2D312AE8C6}">
      <dsp:nvSpPr>
        <dsp:cNvPr id="0" name=""/>
        <dsp:cNvSpPr/>
      </dsp:nvSpPr>
      <dsp:spPr>
        <a:xfrm>
          <a:off x="349107" y="1704534"/>
          <a:ext cx="634740" cy="6347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BAEA37-16A9-4722-BAA4-620FDAD72030}">
      <dsp:nvSpPr>
        <dsp:cNvPr id="0" name=""/>
        <dsp:cNvSpPr/>
      </dsp:nvSpPr>
      <dsp:spPr>
        <a:xfrm>
          <a:off x="1332954" y="1444868"/>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Travelling salesman problem</a:t>
          </a:r>
        </a:p>
      </dsp:txBody>
      <dsp:txXfrm>
        <a:off x="1332954" y="1444868"/>
        <a:ext cx="4907714" cy="1154072"/>
      </dsp:txXfrm>
    </dsp:sp>
    <dsp:sp modelId="{595747D1-16AF-438F-9759-3E623E7D15DC}">
      <dsp:nvSpPr>
        <dsp:cNvPr id="0" name=""/>
        <dsp:cNvSpPr/>
      </dsp:nvSpPr>
      <dsp:spPr>
        <a:xfrm>
          <a:off x="0" y="2887459"/>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40310-4F19-43B6-B6E2-B14C3B7D0670}">
      <dsp:nvSpPr>
        <dsp:cNvPr id="0" name=""/>
        <dsp:cNvSpPr/>
      </dsp:nvSpPr>
      <dsp:spPr>
        <a:xfrm>
          <a:off x="349107" y="3147125"/>
          <a:ext cx="634740" cy="6347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F26B0D-7E06-4B53-A3F0-4402DBEAD548}">
      <dsp:nvSpPr>
        <dsp:cNvPr id="0" name=""/>
        <dsp:cNvSpPr/>
      </dsp:nvSpPr>
      <dsp:spPr>
        <a:xfrm>
          <a:off x="1332954" y="2887459"/>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Knapsack problem</a:t>
          </a:r>
        </a:p>
      </dsp:txBody>
      <dsp:txXfrm>
        <a:off x="1332954" y="2887459"/>
        <a:ext cx="4907714" cy="1154072"/>
      </dsp:txXfrm>
    </dsp:sp>
    <dsp:sp modelId="{851C6AB6-80F1-4D8F-9C16-7F085165F349}">
      <dsp:nvSpPr>
        <dsp:cNvPr id="0" name=""/>
        <dsp:cNvSpPr/>
      </dsp:nvSpPr>
      <dsp:spPr>
        <a:xfrm>
          <a:off x="0" y="4330050"/>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58D293-3111-420F-9B72-CADC211CD3F2}">
      <dsp:nvSpPr>
        <dsp:cNvPr id="0" name=""/>
        <dsp:cNvSpPr/>
      </dsp:nvSpPr>
      <dsp:spPr>
        <a:xfrm>
          <a:off x="349107" y="4589716"/>
          <a:ext cx="634740" cy="6347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920E5A-6B85-4A57-98AE-5BEF0803336B}">
      <dsp:nvSpPr>
        <dsp:cNvPr id="0" name=""/>
        <dsp:cNvSpPr/>
      </dsp:nvSpPr>
      <dsp:spPr>
        <a:xfrm>
          <a:off x="1332954" y="4330050"/>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Assignment problem</a:t>
          </a:r>
        </a:p>
      </dsp:txBody>
      <dsp:txXfrm>
        <a:off x="1332954" y="4330050"/>
        <a:ext cx="4907714" cy="11540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2686F0-3826-4031-A24D-C4188C67DA4B}">
      <dsp:nvSpPr>
        <dsp:cNvPr id="0" name=""/>
        <dsp:cNvSpPr/>
      </dsp:nvSpPr>
      <dsp:spPr>
        <a:xfrm>
          <a:off x="0" y="2277"/>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C11ED3-11BE-42FB-82E7-5563067AE3A2}">
      <dsp:nvSpPr>
        <dsp:cNvPr id="0" name=""/>
        <dsp:cNvSpPr/>
      </dsp:nvSpPr>
      <dsp:spPr>
        <a:xfrm>
          <a:off x="349107" y="261943"/>
          <a:ext cx="634740" cy="6347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DDB15D-6F2F-4188-B711-CC5DFE5A1634}">
      <dsp:nvSpPr>
        <dsp:cNvPr id="0" name=""/>
        <dsp:cNvSpPr/>
      </dsp:nvSpPr>
      <dsp:spPr>
        <a:xfrm>
          <a:off x="1332954" y="2277"/>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Exhaustive search is a method in which solution is obtained by searching  each  element of given problem. Exhaustive search makes use of straight forward  approach.</a:t>
          </a:r>
        </a:p>
      </dsp:txBody>
      <dsp:txXfrm>
        <a:off x="1332954" y="2277"/>
        <a:ext cx="4907714" cy="1154072"/>
      </dsp:txXfrm>
    </dsp:sp>
    <dsp:sp modelId="{65C71B0A-1CD0-401D-8E2A-37B830AF1215}">
      <dsp:nvSpPr>
        <dsp:cNvPr id="0" name=""/>
        <dsp:cNvSpPr/>
      </dsp:nvSpPr>
      <dsp:spPr>
        <a:xfrm>
          <a:off x="0" y="1444868"/>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DB5AC8-B1C1-421B-BF29-DC2D312AE8C6}">
      <dsp:nvSpPr>
        <dsp:cNvPr id="0" name=""/>
        <dsp:cNvSpPr/>
      </dsp:nvSpPr>
      <dsp:spPr>
        <a:xfrm>
          <a:off x="349107" y="1704534"/>
          <a:ext cx="634740" cy="6347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BAEA37-16A9-4722-BAA4-620FDAD72030}">
      <dsp:nvSpPr>
        <dsp:cNvPr id="0" name=""/>
        <dsp:cNvSpPr/>
      </dsp:nvSpPr>
      <dsp:spPr>
        <a:xfrm>
          <a:off x="1332954" y="1444868"/>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Travelling salesman problem</a:t>
          </a:r>
        </a:p>
      </dsp:txBody>
      <dsp:txXfrm>
        <a:off x="1332954" y="1444868"/>
        <a:ext cx="4907714" cy="1154072"/>
      </dsp:txXfrm>
    </dsp:sp>
    <dsp:sp modelId="{595747D1-16AF-438F-9759-3E623E7D15DC}">
      <dsp:nvSpPr>
        <dsp:cNvPr id="0" name=""/>
        <dsp:cNvSpPr/>
      </dsp:nvSpPr>
      <dsp:spPr>
        <a:xfrm>
          <a:off x="0" y="2887459"/>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40310-4F19-43B6-B6E2-B14C3B7D0670}">
      <dsp:nvSpPr>
        <dsp:cNvPr id="0" name=""/>
        <dsp:cNvSpPr/>
      </dsp:nvSpPr>
      <dsp:spPr>
        <a:xfrm>
          <a:off x="349107" y="3147125"/>
          <a:ext cx="634740" cy="6347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F26B0D-7E06-4B53-A3F0-4402DBEAD548}">
      <dsp:nvSpPr>
        <dsp:cNvPr id="0" name=""/>
        <dsp:cNvSpPr/>
      </dsp:nvSpPr>
      <dsp:spPr>
        <a:xfrm>
          <a:off x="1332954" y="2887459"/>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Knapsack problem</a:t>
          </a:r>
        </a:p>
      </dsp:txBody>
      <dsp:txXfrm>
        <a:off x="1332954" y="2887459"/>
        <a:ext cx="4907714" cy="1154072"/>
      </dsp:txXfrm>
    </dsp:sp>
    <dsp:sp modelId="{851C6AB6-80F1-4D8F-9C16-7F085165F349}">
      <dsp:nvSpPr>
        <dsp:cNvPr id="0" name=""/>
        <dsp:cNvSpPr/>
      </dsp:nvSpPr>
      <dsp:spPr>
        <a:xfrm>
          <a:off x="0" y="4330050"/>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58D293-3111-420F-9B72-CADC211CD3F2}">
      <dsp:nvSpPr>
        <dsp:cNvPr id="0" name=""/>
        <dsp:cNvSpPr/>
      </dsp:nvSpPr>
      <dsp:spPr>
        <a:xfrm>
          <a:off x="349107" y="4589716"/>
          <a:ext cx="634740" cy="6347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920E5A-6B85-4A57-98AE-5BEF0803336B}">
      <dsp:nvSpPr>
        <dsp:cNvPr id="0" name=""/>
        <dsp:cNvSpPr/>
      </dsp:nvSpPr>
      <dsp:spPr>
        <a:xfrm>
          <a:off x="1332954" y="4330050"/>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Assignment problem</a:t>
          </a:r>
        </a:p>
      </dsp:txBody>
      <dsp:txXfrm>
        <a:off x="1332954" y="4330050"/>
        <a:ext cx="4907714" cy="11540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2686F0-3826-4031-A24D-C4188C67DA4B}">
      <dsp:nvSpPr>
        <dsp:cNvPr id="0" name=""/>
        <dsp:cNvSpPr/>
      </dsp:nvSpPr>
      <dsp:spPr>
        <a:xfrm>
          <a:off x="0" y="2277"/>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C11ED3-11BE-42FB-82E7-5563067AE3A2}">
      <dsp:nvSpPr>
        <dsp:cNvPr id="0" name=""/>
        <dsp:cNvSpPr/>
      </dsp:nvSpPr>
      <dsp:spPr>
        <a:xfrm>
          <a:off x="349107" y="261943"/>
          <a:ext cx="634740" cy="6347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DDB15D-6F2F-4188-B711-CC5DFE5A1634}">
      <dsp:nvSpPr>
        <dsp:cNvPr id="0" name=""/>
        <dsp:cNvSpPr/>
      </dsp:nvSpPr>
      <dsp:spPr>
        <a:xfrm>
          <a:off x="1332954" y="2277"/>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Exhaustive search is a method in which solution is obtained by searching  each  element of given problem. Exhaustive search makes use of straight forward  approach.</a:t>
          </a:r>
        </a:p>
      </dsp:txBody>
      <dsp:txXfrm>
        <a:off x="1332954" y="2277"/>
        <a:ext cx="4907714" cy="1154072"/>
      </dsp:txXfrm>
    </dsp:sp>
    <dsp:sp modelId="{65C71B0A-1CD0-401D-8E2A-37B830AF1215}">
      <dsp:nvSpPr>
        <dsp:cNvPr id="0" name=""/>
        <dsp:cNvSpPr/>
      </dsp:nvSpPr>
      <dsp:spPr>
        <a:xfrm>
          <a:off x="0" y="1444868"/>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DB5AC8-B1C1-421B-BF29-DC2D312AE8C6}">
      <dsp:nvSpPr>
        <dsp:cNvPr id="0" name=""/>
        <dsp:cNvSpPr/>
      </dsp:nvSpPr>
      <dsp:spPr>
        <a:xfrm>
          <a:off x="349107" y="1704534"/>
          <a:ext cx="634740" cy="6347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BAEA37-16A9-4722-BAA4-620FDAD72030}">
      <dsp:nvSpPr>
        <dsp:cNvPr id="0" name=""/>
        <dsp:cNvSpPr/>
      </dsp:nvSpPr>
      <dsp:spPr>
        <a:xfrm>
          <a:off x="1332954" y="1444868"/>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Travelling salesman problem</a:t>
          </a:r>
        </a:p>
      </dsp:txBody>
      <dsp:txXfrm>
        <a:off x="1332954" y="1444868"/>
        <a:ext cx="4907714" cy="1154072"/>
      </dsp:txXfrm>
    </dsp:sp>
    <dsp:sp modelId="{595747D1-16AF-438F-9759-3E623E7D15DC}">
      <dsp:nvSpPr>
        <dsp:cNvPr id="0" name=""/>
        <dsp:cNvSpPr/>
      </dsp:nvSpPr>
      <dsp:spPr>
        <a:xfrm>
          <a:off x="0" y="2887459"/>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40310-4F19-43B6-B6E2-B14C3B7D0670}">
      <dsp:nvSpPr>
        <dsp:cNvPr id="0" name=""/>
        <dsp:cNvSpPr/>
      </dsp:nvSpPr>
      <dsp:spPr>
        <a:xfrm>
          <a:off x="349107" y="3147125"/>
          <a:ext cx="634740" cy="6347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F26B0D-7E06-4B53-A3F0-4402DBEAD548}">
      <dsp:nvSpPr>
        <dsp:cNvPr id="0" name=""/>
        <dsp:cNvSpPr/>
      </dsp:nvSpPr>
      <dsp:spPr>
        <a:xfrm>
          <a:off x="1332954" y="2887459"/>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Knapsack problem</a:t>
          </a:r>
        </a:p>
      </dsp:txBody>
      <dsp:txXfrm>
        <a:off x="1332954" y="2887459"/>
        <a:ext cx="4907714" cy="1154072"/>
      </dsp:txXfrm>
    </dsp:sp>
    <dsp:sp modelId="{851C6AB6-80F1-4D8F-9C16-7F085165F349}">
      <dsp:nvSpPr>
        <dsp:cNvPr id="0" name=""/>
        <dsp:cNvSpPr/>
      </dsp:nvSpPr>
      <dsp:spPr>
        <a:xfrm>
          <a:off x="0" y="4330050"/>
          <a:ext cx="6240668" cy="11540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58D293-3111-420F-9B72-CADC211CD3F2}">
      <dsp:nvSpPr>
        <dsp:cNvPr id="0" name=""/>
        <dsp:cNvSpPr/>
      </dsp:nvSpPr>
      <dsp:spPr>
        <a:xfrm>
          <a:off x="349107" y="4589716"/>
          <a:ext cx="634740" cy="6347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920E5A-6B85-4A57-98AE-5BEF0803336B}">
      <dsp:nvSpPr>
        <dsp:cNvPr id="0" name=""/>
        <dsp:cNvSpPr/>
      </dsp:nvSpPr>
      <dsp:spPr>
        <a:xfrm>
          <a:off x="1332954" y="4330050"/>
          <a:ext cx="4907714" cy="1154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139" tIns="122139" rIns="122139" bIns="122139" numCol="1" spcCol="1270" anchor="ctr" anchorCtr="0">
          <a:noAutofit/>
        </a:bodyPr>
        <a:lstStyle/>
        <a:p>
          <a:pPr marL="0" lvl="0" indent="0" algn="l" defTabSz="755650">
            <a:lnSpc>
              <a:spcPct val="90000"/>
            </a:lnSpc>
            <a:spcBef>
              <a:spcPct val="0"/>
            </a:spcBef>
            <a:spcAft>
              <a:spcPct val="35000"/>
            </a:spcAft>
            <a:buNone/>
          </a:pPr>
          <a:r>
            <a:rPr lang="en-US" sz="1700" kern="1200"/>
            <a:t>Assignment problem</a:t>
          </a:r>
        </a:p>
      </dsp:txBody>
      <dsp:txXfrm>
        <a:off x="1332954" y="4330050"/>
        <a:ext cx="4907714" cy="115407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30C5DF-EFA0-478A-80A1-5E7FEB1CB720}">
      <dsp:nvSpPr>
        <dsp:cNvPr id="0" name=""/>
        <dsp:cNvSpPr/>
      </dsp:nvSpPr>
      <dsp:spPr>
        <a:xfrm>
          <a:off x="0" y="568080"/>
          <a:ext cx="6240668" cy="1404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Thus by trying 24 permutation(n!=4!=24),we can obtain feasible solution.the feasible solution is &lt;2,1,3,4&gt;i.e.cost=3+7+2+5=17.</a:t>
          </a:r>
        </a:p>
      </dsp:txBody>
      <dsp:txXfrm>
        <a:off x="68538" y="636618"/>
        <a:ext cx="6103592" cy="1266924"/>
      </dsp:txXfrm>
    </dsp:sp>
    <dsp:sp modelId="{30A35079-55C9-41C9-B632-841F34724AA9}">
      <dsp:nvSpPr>
        <dsp:cNvPr id="0" name=""/>
        <dsp:cNvSpPr/>
      </dsp:nvSpPr>
      <dsp:spPr>
        <a:xfrm>
          <a:off x="0" y="2041200"/>
          <a:ext cx="6240668" cy="1404000"/>
        </a:xfrm>
        <a:prstGeom prst="roundRect">
          <a:avLst/>
        </a:prstGeom>
        <a:solidFill>
          <a:schemeClr val="accent2">
            <a:hueOff val="-716791"/>
            <a:satOff val="-17272"/>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Thus we have to generate n! instances to find solution using exhaustive  search. This also shows how inefficient exhaustive search method is for solving such problems.</a:t>
          </a:r>
        </a:p>
      </dsp:txBody>
      <dsp:txXfrm>
        <a:off x="68538" y="2109738"/>
        <a:ext cx="6103592" cy="1266924"/>
      </dsp:txXfrm>
    </dsp:sp>
    <dsp:sp modelId="{60A7FB9D-5A00-4884-8FEB-4C262D2A6AE4}">
      <dsp:nvSpPr>
        <dsp:cNvPr id="0" name=""/>
        <dsp:cNvSpPr/>
      </dsp:nvSpPr>
      <dsp:spPr>
        <a:xfrm>
          <a:off x="0" y="3514320"/>
          <a:ext cx="6240668" cy="1404000"/>
        </a:xfrm>
        <a:prstGeom prst="roundRect">
          <a:avLst/>
        </a:prstGeom>
        <a:solidFill>
          <a:schemeClr val="accent2">
            <a:hueOff val="-1433582"/>
            <a:satOff val="-34544"/>
            <a:lumOff val="-20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For solving these types of problems, many efficient algorithms are available</a:t>
          </a:r>
        </a:p>
      </dsp:txBody>
      <dsp:txXfrm>
        <a:off x="68538" y="3582858"/>
        <a:ext cx="6103592" cy="12669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54EA2-DB56-4202-AC6B-904BB2C9D282}">
      <dsp:nvSpPr>
        <dsp:cNvPr id="0" name=""/>
        <dsp:cNvSpPr/>
      </dsp:nvSpPr>
      <dsp:spPr>
        <a:xfrm>
          <a:off x="82613" y="9085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A867B-42A2-462E-BD7E-8547163A9AB6}">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410EA2-42A4-48C1-8556-C91FBB061125}">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a:t>
          </a:r>
          <a:r>
            <a:rPr lang="en-US" sz="1100" b="1" i="1" kern="1200"/>
            <a:t>Space complexity </a:t>
          </a:r>
          <a:endParaRPr lang="en-US" sz="1100" kern="1200"/>
        </a:p>
      </dsp:txBody>
      <dsp:txXfrm>
        <a:off x="1172126" y="908559"/>
        <a:ext cx="2114937" cy="897246"/>
      </dsp:txXfrm>
    </dsp:sp>
    <dsp:sp modelId="{38E70F74-B51D-49AD-AD69-3DACD6F782C6}">
      <dsp:nvSpPr>
        <dsp:cNvPr id="0" name=""/>
        <dsp:cNvSpPr/>
      </dsp:nvSpPr>
      <dsp:spPr>
        <a:xfrm>
          <a:off x="3655575" y="9085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ABFAA9-E76B-410C-ACF8-2E538F29AE9C}">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4F3F14-F007-474A-9BB3-9AEF0E761BDA}">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dirty="0"/>
            <a:t>•In the breadth-first search algorithm, all the nodes at a particular level must be saved until their child nodes in the next level have been generated. </a:t>
          </a:r>
        </a:p>
      </dsp:txBody>
      <dsp:txXfrm>
        <a:off x="4745088" y="908559"/>
        <a:ext cx="2114937" cy="897246"/>
      </dsp:txXfrm>
    </dsp:sp>
    <dsp:sp modelId="{387F6606-D1EF-4DD1-92D4-9CC78EF6865D}">
      <dsp:nvSpPr>
        <dsp:cNvPr id="0" name=""/>
        <dsp:cNvSpPr/>
      </dsp:nvSpPr>
      <dsp:spPr>
        <a:xfrm>
          <a:off x="7228536" y="9085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8E157-7393-4754-B34F-9CFD5963ECC9}">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3C8909-9A28-4196-AEC2-5215CFD66262}">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•The space complexity is therefore proportional to the number of nodes at the deepest level of the graph. Given a graph with branching factor b (number of children at each node) and depth d, the asymptotic space complexity is the number of nodes at the deepest level O(bd).</a:t>
          </a:r>
        </a:p>
      </dsp:txBody>
      <dsp:txXfrm>
        <a:off x="8318049" y="908559"/>
        <a:ext cx="2114937" cy="897246"/>
      </dsp:txXfrm>
    </dsp:sp>
    <dsp:sp modelId="{AEEACF62-CA5F-42E9-85D4-A10858E4ADCB}">
      <dsp:nvSpPr>
        <dsp:cNvPr id="0" name=""/>
        <dsp:cNvSpPr/>
      </dsp:nvSpPr>
      <dsp:spPr>
        <a:xfrm>
          <a:off x="82613" y="2545532"/>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FDE3F1-665A-439D-8D3E-4689E70EFBBC}">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BA8697-5E4C-43A5-B3EC-7C148104D0D1}">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a:t>
          </a:r>
          <a:r>
            <a:rPr lang="en-US" sz="1100" b="1" i="1" kern="1200"/>
            <a:t>Time complexity </a:t>
          </a:r>
          <a:endParaRPr lang="en-US" sz="1100" kern="1200"/>
        </a:p>
      </dsp:txBody>
      <dsp:txXfrm>
        <a:off x="1172126" y="2545532"/>
        <a:ext cx="2114937" cy="897246"/>
      </dsp:txXfrm>
    </dsp:sp>
    <dsp:sp modelId="{CCA7706A-0853-4A48-89C1-092BF613FA12}">
      <dsp:nvSpPr>
        <dsp:cNvPr id="0" name=""/>
        <dsp:cNvSpPr/>
      </dsp:nvSpPr>
      <dsp:spPr>
        <a:xfrm>
          <a:off x="3655575" y="2545532"/>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F54352-83FA-455C-945A-1D08306B4AC9}">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46EAA2-D58A-497D-96C7-8AD2E691CBA2}">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•In the worst case, breadth-first search has to traverse through all paths to all possible nodes, thus the time complexity of this algorithm asymptotically approaches O(bd). </a:t>
          </a:r>
        </a:p>
      </dsp:txBody>
      <dsp:txXfrm>
        <a:off x="4745088" y="2545532"/>
        <a:ext cx="2114937" cy="897246"/>
      </dsp:txXfrm>
    </dsp:sp>
    <dsp:sp modelId="{DC23D5CC-FCE1-465B-9461-B335187B918D}">
      <dsp:nvSpPr>
        <dsp:cNvPr id="0" name=""/>
        <dsp:cNvSpPr/>
      </dsp:nvSpPr>
      <dsp:spPr>
        <a:xfrm>
          <a:off x="7228536" y="2545532"/>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107508-1FE8-4F1E-B833-D7C6BE364E64}">
      <dsp:nvSpPr>
        <dsp:cNvPr id="0" name=""/>
        <dsp:cNvSpPr/>
      </dsp:nvSpPr>
      <dsp:spPr>
        <a:xfrm>
          <a:off x="7416958" y="2733954"/>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E6F123-A6A4-4993-91D1-E6CD4846EE0A}">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•However, the time complexity can also be expressed as O( | E | + | V | ), since every vertex and every edge will be explored in the worst case.</a:t>
          </a:r>
        </a:p>
      </dsp:txBody>
      <dsp:txXfrm>
        <a:off x="8318049" y="2545532"/>
        <a:ext cx="2114937" cy="8972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23E65C-EA9D-4C61-A296-4B5CB085CCF3}">
      <dsp:nvSpPr>
        <dsp:cNvPr id="0" name=""/>
        <dsp:cNvSpPr/>
      </dsp:nvSpPr>
      <dsp:spPr>
        <a:xfrm>
          <a:off x="0" y="0"/>
          <a:ext cx="6526618" cy="8657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D71FFF-78E5-4901-871F-27C6028B66F8}">
      <dsp:nvSpPr>
        <dsp:cNvPr id="0" name=""/>
        <dsp:cNvSpPr/>
      </dsp:nvSpPr>
      <dsp:spPr>
        <a:xfrm>
          <a:off x="261882" y="198852"/>
          <a:ext cx="476149" cy="4761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DE07CA-1C28-4EFF-931A-DEA7E7C6E6B5}">
      <dsp:nvSpPr>
        <dsp:cNvPr id="0" name=""/>
        <dsp:cNvSpPr/>
      </dsp:nvSpPr>
      <dsp:spPr>
        <a:xfrm>
          <a:off x="999913" y="4064"/>
          <a:ext cx="5526704" cy="86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623" tIns="91623" rIns="91623" bIns="91623" numCol="1" spcCol="1270" anchor="ctr" anchorCtr="0">
          <a:noAutofit/>
        </a:bodyPr>
        <a:lstStyle/>
        <a:p>
          <a:pPr marL="0" lvl="0" indent="0" algn="l" defTabSz="844550">
            <a:lnSpc>
              <a:spcPct val="90000"/>
            </a:lnSpc>
            <a:spcBef>
              <a:spcPct val="0"/>
            </a:spcBef>
            <a:spcAft>
              <a:spcPct val="35000"/>
            </a:spcAft>
            <a:buNone/>
          </a:pPr>
          <a:r>
            <a:rPr lang="en-US" sz="1900" kern="1200"/>
            <a:t>•Breadth-first search can be used to solve many problems such as:</a:t>
          </a:r>
        </a:p>
      </dsp:txBody>
      <dsp:txXfrm>
        <a:off x="999913" y="4064"/>
        <a:ext cx="5526704" cy="865726"/>
      </dsp:txXfrm>
    </dsp:sp>
    <dsp:sp modelId="{8031415B-2719-4FD8-9392-2B3AF7BE584B}">
      <dsp:nvSpPr>
        <dsp:cNvPr id="0" name=""/>
        <dsp:cNvSpPr/>
      </dsp:nvSpPr>
      <dsp:spPr>
        <a:xfrm>
          <a:off x="0" y="1086222"/>
          <a:ext cx="6526618" cy="8657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15B27B-FD9E-47F6-B8AB-57EC684196B9}">
      <dsp:nvSpPr>
        <dsp:cNvPr id="0" name=""/>
        <dsp:cNvSpPr/>
      </dsp:nvSpPr>
      <dsp:spPr>
        <a:xfrm>
          <a:off x="261882" y="1281010"/>
          <a:ext cx="476149" cy="4761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7FEBEB-704E-41E4-A076-C9CADCB8A586}">
      <dsp:nvSpPr>
        <dsp:cNvPr id="0" name=""/>
        <dsp:cNvSpPr/>
      </dsp:nvSpPr>
      <dsp:spPr>
        <a:xfrm>
          <a:off x="999913" y="1086222"/>
          <a:ext cx="5526704" cy="86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623" tIns="91623" rIns="91623" bIns="91623" numCol="1" spcCol="1270" anchor="ctr" anchorCtr="0">
          <a:noAutofit/>
        </a:bodyPr>
        <a:lstStyle/>
        <a:p>
          <a:pPr marL="0" lvl="0" indent="0" algn="l" defTabSz="844550">
            <a:lnSpc>
              <a:spcPct val="90000"/>
            </a:lnSpc>
            <a:spcBef>
              <a:spcPct val="0"/>
            </a:spcBef>
            <a:spcAft>
              <a:spcPct val="35000"/>
            </a:spcAft>
            <a:buNone/>
          </a:pPr>
          <a:r>
            <a:rPr lang="en-US" sz="1900" kern="1200"/>
            <a:t>•Finding all connected components in a graph G.</a:t>
          </a:r>
        </a:p>
      </dsp:txBody>
      <dsp:txXfrm>
        <a:off x="999913" y="1086222"/>
        <a:ext cx="5526704" cy="865726"/>
      </dsp:txXfrm>
    </dsp:sp>
    <dsp:sp modelId="{C1DC3035-8997-4C8F-A198-41C7A6C5814A}">
      <dsp:nvSpPr>
        <dsp:cNvPr id="0" name=""/>
        <dsp:cNvSpPr/>
      </dsp:nvSpPr>
      <dsp:spPr>
        <a:xfrm>
          <a:off x="0" y="2168379"/>
          <a:ext cx="6526618" cy="8657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85FE38-FB09-4EDB-B2CE-4FDBAAEB17CD}">
      <dsp:nvSpPr>
        <dsp:cNvPr id="0" name=""/>
        <dsp:cNvSpPr/>
      </dsp:nvSpPr>
      <dsp:spPr>
        <a:xfrm>
          <a:off x="261882" y="2363168"/>
          <a:ext cx="476149" cy="4761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2D6FF2-8DD0-49EF-A492-DF8298C31B44}">
      <dsp:nvSpPr>
        <dsp:cNvPr id="0" name=""/>
        <dsp:cNvSpPr/>
      </dsp:nvSpPr>
      <dsp:spPr>
        <a:xfrm>
          <a:off x="999913" y="2168379"/>
          <a:ext cx="5526704" cy="86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623" tIns="91623" rIns="91623" bIns="91623" numCol="1" spcCol="1270" anchor="ctr" anchorCtr="0">
          <a:noAutofit/>
        </a:bodyPr>
        <a:lstStyle/>
        <a:p>
          <a:pPr marL="0" lvl="0" indent="0" algn="l" defTabSz="844550">
            <a:lnSpc>
              <a:spcPct val="90000"/>
            </a:lnSpc>
            <a:spcBef>
              <a:spcPct val="0"/>
            </a:spcBef>
            <a:spcAft>
              <a:spcPct val="35000"/>
            </a:spcAft>
            <a:buNone/>
          </a:pPr>
          <a:r>
            <a:rPr lang="en-US" sz="1900" kern="1200"/>
            <a:t>•Finding all nodes within an individual connected component.</a:t>
          </a:r>
        </a:p>
      </dsp:txBody>
      <dsp:txXfrm>
        <a:off x="999913" y="2168379"/>
        <a:ext cx="5526704" cy="865726"/>
      </dsp:txXfrm>
    </dsp:sp>
    <dsp:sp modelId="{D93ADD8B-1F3C-43CD-92E4-46FBDB26B683}">
      <dsp:nvSpPr>
        <dsp:cNvPr id="0" name=""/>
        <dsp:cNvSpPr/>
      </dsp:nvSpPr>
      <dsp:spPr>
        <a:xfrm>
          <a:off x="0" y="3250537"/>
          <a:ext cx="6526618" cy="8657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1C7E2A-E4D5-4929-8E8B-731F40BE3C3B}">
      <dsp:nvSpPr>
        <dsp:cNvPr id="0" name=""/>
        <dsp:cNvSpPr/>
      </dsp:nvSpPr>
      <dsp:spPr>
        <a:xfrm>
          <a:off x="261882" y="3445326"/>
          <a:ext cx="476149" cy="4761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C2C891-C260-4E55-A976-F53A2C23AE8A}">
      <dsp:nvSpPr>
        <dsp:cNvPr id="0" name=""/>
        <dsp:cNvSpPr/>
      </dsp:nvSpPr>
      <dsp:spPr>
        <a:xfrm>
          <a:off x="999913" y="3250537"/>
          <a:ext cx="5526704" cy="86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623" tIns="91623" rIns="91623" bIns="91623" numCol="1" spcCol="1270" anchor="ctr" anchorCtr="0">
          <a:noAutofit/>
        </a:bodyPr>
        <a:lstStyle/>
        <a:p>
          <a:pPr marL="0" lvl="0" indent="0" algn="l" defTabSz="844550">
            <a:lnSpc>
              <a:spcPct val="90000"/>
            </a:lnSpc>
            <a:spcBef>
              <a:spcPct val="0"/>
            </a:spcBef>
            <a:spcAft>
              <a:spcPct val="35000"/>
            </a:spcAft>
            <a:buNone/>
          </a:pPr>
          <a:r>
            <a:rPr lang="en-US" sz="1900" kern="1200"/>
            <a:t>•Finding the shortest path between two nodes, u and v, of an unweighted graph.</a:t>
          </a:r>
        </a:p>
      </dsp:txBody>
      <dsp:txXfrm>
        <a:off x="999913" y="3250537"/>
        <a:ext cx="5526704" cy="865726"/>
      </dsp:txXfrm>
    </dsp:sp>
    <dsp:sp modelId="{32CB4F71-3354-4BB4-9883-3EA047CC74C7}">
      <dsp:nvSpPr>
        <dsp:cNvPr id="0" name=""/>
        <dsp:cNvSpPr/>
      </dsp:nvSpPr>
      <dsp:spPr>
        <a:xfrm>
          <a:off x="0" y="4332695"/>
          <a:ext cx="6526618" cy="8657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1AF77-1F5D-4DC7-AFE8-7B126AB082E8}">
      <dsp:nvSpPr>
        <dsp:cNvPr id="0" name=""/>
        <dsp:cNvSpPr/>
      </dsp:nvSpPr>
      <dsp:spPr>
        <a:xfrm>
          <a:off x="261882" y="4527483"/>
          <a:ext cx="476149" cy="4761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F3A764-892A-495B-B378-F501609F061B}">
      <dsp:nvSpPr>
        <dsp:cNvPr id="0" name=""/>
        <dsp:cNvSpPr/>
      </dsp:nvSpPr>
      <dsp:spPr>
        <a:xfrm>
          <a:off x="999913" y="4332695"/>
          <a:ext cx="5526704" cy="865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623" tIns="91623" rIns="91623" bIns="91623" numCol="1" spcCol="1270" anchor="ctr" anchorCtr="0">
          <a:noAutofit/>
        </a:bodyPr>
        <a:lstStyle/>
        <a:p>
          <a:pPr marL="0" lvl="0" indent="0" algn="l" defTabSz="844550">
            <a:lnSpc>
              <a:spcPct val="90000"/>
            </a:lnSpc>
            <a:spcBef>
              <a:spcPct val="0"/>
            </a:spcBef>
            <a:spcAft>
              <a:spcPct val="35000"/>
            </a:spcAft>
            <a:buNone/>
          </a:pPr>
          <a:r>
            <a:rPr lang="en-US" sz="1900" kern="1200"/>
            <a:t>•Finding the shortest path between two nodes, u and v, of a weighted graph.</a:t>
          </a:r>
        </a:p>
      </dsp:txBody>
      <dsp:txXfrm>
        <a:off x="999913" y="4332695"/>
        <a:ext cx="5526704" cy="86572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978D23-6C71-4B7F-9625-4A008DFFF5E1}">
      <dsp:nvSpPr>
        <dsp:cNvPr id="0" name=""/>
        <dsp:cNvSpPr/>
      </dsp:nvSpPr>
      <dsp:spPr>
        <a:xfrm>
          <a:off x="0" y="0"/>
          <a:ext cx="624526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632CEE-24B1-410D-B13E-44A502E7F805}">
      <dsp:nvSpPr>
        <dsp:cNvPr id="0" name=""/>
        <dsp:cNvSpPr/>
      </dsp:nvSpPr>
      <dsp:spPr>
        <a:xfrm>
          <a:off x="0" y="0"/>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•Finding a path between two specified nodes, u and v, of an unweighted graph.</a:t>
          </a:r>
        </a:p>
      </dsp:txBody>
      <dsp:txXfrm>
        <a:off x="0" y="0"/>
        <a:ext cx="6245265" cy="1397336"/>
      </dsp:txXfrm>
    </dsp:sp>
    <dsp:sp modelId="{10F60949-17DC-4742-989A-45C463DAF6D3}">
      <dsp:nvSpPr>
        <dsp:cNvPr id="0" name=""/>
        <dsp:cNvSpPr/>
      </dsp:nvSpPr>
      <dsp:spPr>
        <a:xfrm>
          <a:off x="0" y="1397336"/>
          <a:ext cx="6245265" cy="0"/>
        </a:xfrm>
        <a:prstGeom prst="line">
          <a:avLst/>
        </a:prstGeom>
        <a:solidFill>
          <a:schemeClr val="accent2">
            <a:hueOff val="-477861"/>
            <a:satOff val="-11515"/>
            <a:lumOff val="-6928"/>
            <a:alphaOff val="0"/>
          </a:schemeClr>
        </a:solidFill>
        <a:ln w="12700" cap="flat" cmpd="sng" algn="ctr">
          <a:solidFill>
            <a:schemeClr val="accent2">
              <a:hueOff val="-477861"/>
              <a:satOff val="-11515"/>
              <a:lumOff val="-69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73558C-000B-4178-8FA9-F7075F670DD9}">
      <dsp:nvSpPr>
        <dsp:cNvPr id="0" name=""/>
        <dsp:cNvSpPr/>
      </dsp:nvSpPr>
      <dsp:spPr>
        <a:xfrm>
          <a:off x="0" y="1397336"/>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•Finding a path between two specified nodes, u and v, of a weighted graph.</a:t>
          </a:r>
        </a:p>
      </dsp:txBody>
      <dsp:txXfrm>
        <a:off x="0" y="1397336"/>
        <a:ext cx="6245265" cy="1397336"/>
      </dsp:txXfrm>
    </dsp:sp>
    <dsp:sp modelId="{2CA8B107-FAEB-4B51-98F7-280140A99936}">
      <dsp:nvSpPr>
        <dsp:cNvPr id="0" name=""/>
        <dsp:cNvSpPr/>
      </dsp:nvSpPr>
      <dsp:spPr>
        <a:xfrm>
          <a:off x="0" y="2794673"/>
          <a:ext cx="6245265" cy="0"/>
        </a:xfrm>
        <a:prstGeom prst="line">
          <a:avLst/>
        </a:prstGeom>
        <a:solidFill>
          <a:schemeClr val="accent2">
            <a:hueOff val="-955721"/>
            <a:satOff val="-23029"/>
            <a:lumOff val="-13857"/>
            <a:alphaOff val="0"/>
          </a:schemeClr>
        </a:solidFill>
        <a:ln w="12700" cap="flat" cmpd="sng" algn="ctr">
          <a:solidFill>
            <a:schemeClr val="accent2">
              <a:hueOff val="-955721"/>
              <a:satOff val="-23029"/>
              <a:lumOff val="-138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6F76C7-6FA7-46E3-BC3D-054E2B02FF06}">
      <dsp:nvSpPr>
        <dsp:cNvPr id="0" name=""/>
        <dsp:cNvSpPr/>
      </dsp:nvSpPr>
      <dsp:spPr>
        <a:xfrm>
          <a:off x="0" y="2794673"/>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•Finding whether a graph is connected or not.</a:t>
          </a:r>
        </a:p>
      </dsp:txBody>
      <dsp:txXfrm>
        <a:off x="0" y="2794673"/>
        <a:ext cx="6245265" cy="1397336"/>
      </dsp:txXfrm>
    </dsp:sp>
    <dsp:sp modelId="{A9CE34C9-8B91-407B-A0E9-803FE186856A}">
      <dsp:nvSpPr>
        <dsp:cNvPr id="0" name=""/>
        <dsp:cNvSpPr/>
      </dsp:nvSpPr>
      <dsp:spPr>
        <a:xfrm>
          <a:off x="0" y="4192010"/>
          <a:ext cx="6245265" cy="0"/>
        </a:xfrm>
        <a:prstGeom prst="line">
          <a:avLst/>
        </a:prstGeom>
        <a:solidFill>
          <a:schemeClr val="accent2">
            <a:hueOff val="-1433582"/>
            <a:satOff val="-34544"/>
            <a:lumOff val="-20785"/>
            <a:alphaOff val="0"/>
          </a:schemeClr>
        </a:solidFill>
        <a:ln w="12700" cap="flat" cmpd="sng" algn="ctr">
          <a:solidFill>
            <a:schemeClr val="accent2">
              <a:hueOff val="-1433582"/>
              <a:satOff val="-34544"/>
              <a:lumOff val="-207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F4F40E-B835-4547-AA74-77AD31349D3E}">
      <dsp:nvSpPr>
        <dsp:cNvPr id="0" name=""/>
        <dsp:cNvSpPr/>
      </dsp:nvSpPr>
      <dsp:spPr>
        <a:xfrm>
          <a:off x="0" y="4192010"/>
          <a:ext cx="6245265" cy="139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•Computing the spanning tree of a connected graph.</a:t>
          </a:r>
        </a:p>
      </dsp:txBody>
      <dsp:txXfrm>
        <a:off x="0" y="4192010"/>
        <a:ext cx="6245265" cy="13973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7C6C52-A799-4E10-B8F5-041D3BD7F01A}" type="datetimeFigureOut">
              <a:rPr lang="en-IN" smtClean="0"/>
              <a:t>14-01-2026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B32FE-6B7F-4280-8171-FE27DCA1C8DC}" type="slidenum">
              <a:rPr lang="en-IN" smtClean="0"/>
              <a:t>‹#›</a:t>
            </a:fld>
            <a:endParaRPr lang="en-IN"/>
          </a:p>
        </p:txBody>
      </p:sp>
    </p:spTree>
    <p:extLst>
      <p:ext uri="{BB962C8B-B14F-4D97-AF65-F5344CB8AC3E}">
        <p14:creationId xmlns:p14="http://schemas.microsoft.com/office/powerpoint/2010/main" val="2490758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n.wikipedia.org/wiki/Problem-solving" TargetMode="External"/><Relationship Id="rId2" Type="http://schemas.openxmlformats.org/officeDocument/2006/relationships/slide" Target="../slides/slide45.xml"/><Relationship Id="rId1" Type="http://schemas.openxmlformats.org/officeDocument/2006/relationships/notesMaster" Target="../notesMasters/notesMaster1.xml"/><Relationship Id="rId5" Type="http://schemas.openxmlformats.org/officeDocument/2006/relationships/hyperlink" Target="https://en.wikipedia.org/wiki/Iteration#Computing" TargetMode="External"/><Relationship Id="rId4" Type="http://schemas.openxmlformats.org/officeDocument/2006/relationships/hyperlink" Target="https://en.wikipedia.org/wiki/Algorithmic_paradigm"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selection sort by scanning the entire given list to find its smallest element and exchange it with the first element, putting the smallest element in its final position in the sorted list. Then we scan the list, starting with the second element, to find the smallest among the last n - 1 elements and exchange it with the second element, putting the second smallest element in its final position. </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4</a:t>
            </a:fld>
            <a:endParaRPr lang="en-IN"/>
          </a:p>
        </p:txBody>
      </p:sp>
    </p:spTree>
    <p:extLst>
      <p:ext uri="{BB962C8B-B14F-4D97-AF65-F5344CB8AC3E}">
        <p14:creationId xmlns:p14="http://schemas.microsoft.com/office/powerpoint/2010/main" val="489641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Generally, on the </a:t>
            </a:r>
            <a:r>
              <a:rPr lang="en-US" dirty="0" err="1"/>
              <a:t>ith</a:t>
            </a:r>
            <a:r>
              <a:rPr lang="en-US" dirty="0"/>
              <a:t> pass through the list, which we number from 0 ton - 2, the algorithm searches for the smallest item among the last n - </a:t>
            </a:r>
            <a:r>
              <a:rPr lang="en-US" dirty="0" err="1"/>
              <a:t>i</a:t>
            </a:r>
            <a:r>
              <a:rPr lang="en-US" dirty="0"/>
              <a:t> elements and swaps it with A; After n - 1 passes, the list is sorted. </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5</a:t>
            </a:fld>
            <a:endParaRPr lang="en-IN"/>
          </a:p>
        </p:txBody>
      </p:sp>
    </p:spTree>
    <p:extLst>
      <p:ext uri="{BB962C8B-B14F-4D97-AF65-F5344CB8AC3E}">
        <p14:creationId xmlns:p14="http://schemas.microsoft.com/office/powerpoint/2010/main" val="2121292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Outer Loop:</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outer loop iterates from </a:t>
            </a:r>
            <a:r>
              <a:rPr lang="en-US" b="0" i="0" dirty="0" err="1">
                <a:solidFill>
                  <a:srgbClr val="D1D5DB"/>
                </a:solidFill>
                <a:effectLst/>
                <a:latin typeface="Söhne"/>
              </a:rPr>
              <a:t>i</a:t>
            </a:r>
            <a:r>
              <a:rPr lang="en-US" b="0" i="0" dirty="0">
                <a:solidFill>
                  <a:srgbClr val="D1D5DB"/>
                </a:solidFill>
                <a:effectLst/>
                <a:latin typeface="Söhne"/>
              </a:rPr>
              <a:t> = 0 to n-2. The loop variable </a:t>
            </a:r>
            <a:r>
              <a:rPr lang="en-US" b="0" i="0" dirty="0" err="1">
                <a:solidFill>
                  <a:srgbClr val="D1D5DB"/>
                </a:solidFill>
                <a:effectLst/>
                <a:latin typeface="Söhne"/>
              </a:rPr>
              <a:t>i</a:t>
            </a:r>
            <a:r>
              <a:rPr lang="en-US" b="0" i="0" dirty="0">
                <a:solidFill>
                  <a:srgbClr val="D1D5DB"/>
                </a:solidFill>
                <a:effectLst/>
                <a:latin typeface="Söhne"/>
              </a:rPr>
              <a:t> represents the current position where the minimum element for the current pass will be placed.</a:t>
            </a: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6</a:t>
            </a:fld>
            <a:endParaRPr lang="en-IN"/>
          </a:p>
        </p:txBody>
      </p:sp>
    </p:spTree>
    <p:extLst>
      <p:ext uri="{BB962C8B-B14F-4D97-AF65-F5344CB8AC3E}">
        <p14:creationId xmlns:p14="http://schemas.microsoft.com/office/powerpoint/2010/main" val="1839668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Initialize min:</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At the beginning of each iteration of the outer loop, min is initialized to the current value of </a:t>
            </a:r>
            <a:r>
              <a:rPr lang="en-US" b="0" i="0" dirty="0" err="1">
                <a:solidFill>
                  <a:srgbClr val="D1D5DB"/>
                </a:solidFill>
                <a:effectLst/>
                <a:latin typeface="Söhne"/>
              </a:rPr>
              <a:t>i</a:t>
            </a:r>
            <a:r>
              <a:rPr lang="en-US" b="0" i="0" dirty="0">
                <a:solidFill>
                  <a:srgbClr val="D1D5DB"/>
                </a:solidFill>
                <a:effectLst/>
                <a:latin typeface="Söhne"/>
              </a:rPr>
              <a:t>. This variable keeps track of the index of the minimum element found in the inner loop.</a:t>
            </a:r>
          </a:p>
        </p:txBody>
      </p:sp>
      <p:sp>
        <p:nvSpPr>
          <p:cNvPr id="4" name="Slide Number Placeholder 3"/>
          <p:cNvSpPr>
            <a:spLocks noGrp="1"/>
          </p:cNvSpPr>
          <p:nvPr>
            <p:ph type="sldNum" sz="quarter" idx="5"/>
          </p:nvPr>
        </p:nvSpPr>
        <p:spPr/>
        <p:txBody>
          <a:bodyPr/>
          <a:lstStyle/>
          <a:p>
            <a:fld id="{5B6B32FE-6B7F-4280-8171-FE27DCA1C8DC}" type="slidenum">
              <a:rPr lang="en-IN" smtClean="0"/>
              <a:t>7</a:t>
            </a:fld>
            <a:endParaRPr lang="en-IN"/>
          </a:p>
        </p:txBody>
      </p:sp>
    </p:spTree>
    <p:extLst>
      <p:ext uri="{BB962C8B-B14F-4D97-AF65-F5344CB8AC3E}">
        <p14:creationId xmlns:p14="http://schemas.microsoft.com/office/powerpoint/2010/main" val="197652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Inner Loop:</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inner loop starts from j = i+1 and goes up to n-1. It is used to find the index of the minimum element in the remaining unsorted portion of the array.</a:t>
            </a:r>
            <a:r>
              <a:rPr lang="en-US" b="0" i="0" dirty="0">
                <a:effectLst/>
                <a:latin typeface="Söhne Mono"/>
              </a:rPr>
              <a:t> Inner loop for finding the minimum element in the unsorted part</a:t>
            </a:r>
            <a:endParaRPr lang="en-US" b="0" i="0"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5B6B32FE-6B7F-4280-8171-FE27DCA1C8DC}" type="slidenum">
              <a:rPr lang="en-IN" smtClean="0"/>
              <a:t>8</a:t>
            </a:fld>
            <a:endParaRPr lang="en-IN"/>
          </a:p>
        </p:txBody>
      </p:sp>
    </p:spTree>
    <p:extLst>
      <p:ext uri="{BB962C8B-B14F-4D97-AF65-F5344CB8AC3E}">
        <p14:creationId xmlns:p14="http://schemas.microsoft.com/office/powerpoint/2010/main" val="3789228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Find Minimum:</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In the inner loop, there's a conditional statement if A[j] &lt; A[min]. If the element at index j is smaller than the element at index min, update the value of min to j.</a:t>
            </a:r>
          </a:p>
        </p:txBody>
      </p:sp>
      <p:sp>
        <p:nvSpPr>
          <p:cNvPr id="4" name="Slide Number Placeholder 3"/>
          <p:cNvSpPr>
            <a:spLocks noGrp="1"/>
          </p:cNvSpPr>
          <p:nvPr>
            <p:ph type="sldNum" sz="quarter" idx="5"/>
          </p:nvPr>
        </p:nvSpPr>
        <p:spPr/>
        <p:txBody>
          <a:bodyPr/>
          <a:lstStyle/>
          <a:p>
            <a:fld id="{5B6B32FE-6B7F-4280-8171-FE27DCA1C8DC}" type="slidenum">
              <a:rPr lang="en-IN" smtClean="0"/>
              <a:t>9</a:t>
            </a:fld>
            <a:endParaRPr lang="en-IN"/>
          </a:p>
        </p:txBody>
      </p:sp>
    </p:spTree>
    <p:extLst>
      <p:ext uri="{BB962C8B-B14F-4D97-AF65-F5344CB8AC3E}">
        <p14:creationId xmlns:p14="http://schemas.microsoft.com/office/powerpoint/2010/main" val="2940042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5B6B32FE-6B7F-4280-8171-FE27DCA1C8DC}" type="slidenum">
              <a:rPr lang="en-IN" smtClean="0"/>
              <a:t>10</a:t>
            </a:fld>
            <a:endParaRPr lang="en-IN"/>
          </a:p>
        </p:txBody>
      </p:sp>
    </p:spTree>
    <p:extLst>
      <p:ext uri="{BB962C8B-B14F-4D97-AF65-F5344CB8AC3E}">
        <p14:creationId xmlns:p14="http://schemas.microsoft.com/office/powerpoint/2010/main" val="3222913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Swap:</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After the inner loop completes, it means we have found the index of the smallest element in the unsorted portion. We then swap the element at index </a:t>
            </a:r>
            <a:r>
              <a:rPr lang="en-US" b="0" i="0" dirty="0" err="1">
                <a:solidFill>
                  <a:srgbClr val="D1D5DB"/>
                </a:solidFill>
                <a:effectLst/>
                <a:latin typeface="Söhne"/>
              </a:rPr>
              <a:t>i</a:t>
            </a:r>
            <a:r>
              <a:rPr lang="en-US" b="0" i="0" dirty="0">
                <a:solidFill>
                  <a:srgbClr val="D1D5DB"/>
                </a:solidFill>
                <a:effectLst/>
                <a:latin typeface="Söhne"/>
              </a:rPr>
              <a:t> with the element at index min. This effectively moves the smallest element to its correct sorted position in the array.</a:t>
            </a:r>
          </a:p>
        </p:txBody>
      </p:sp>
      <p:sp>
        <p:nvSpPr>
          <p:cNvPr id="4" name="Slide Number Placeholder 3"/>
          <p:cNvSpPr>
            <a:spLocks noGrp="1"/>
          </p:cNvSpPr>
          <p:nvPr>
            <p:ph type="sldNum" sz="quarter" idx="5"/>
          </p:nvPr>
        </p:nvSpPr>
        <p:spPr/>
        <p:txBody>
          <a:bodyPr/>
          <a:lstStyle/>
          <a:p>
            <a:fld id="{5B6B32FE-6B7F-4280-8171-FE27DCA1C8DC}" type="slidenum">
              <a:rPr lang="en-IN" smtClean="0"/>
              <a:t>11</a:t>
            </a:fld>
            <a:endParaRPr lang="en-IN"/>
          </a:p>
        </p:txBody>
      </p:sp>
    </p:spTree>
    <p:extLst>
      <p:ext uri="{BB962C8B-B14F-4D97-AF65-F5344CB8AC3E}">
        <p14:creationId xmlns:p14="http://schemas.microsoft.com/office/powerpoint/2010/main" val="3233503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Repeat:</a:t>
            </a:r>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outer loop continues this process for each position in the array until the entire array is sorted.</a:t>
            </a:r>
          </a:p>
        </p:txBody>
      </p:sp>
      <p:sp>
        <p:nvSpPr>
          <p:cNvPr id="4" name="Slide Number Placeholder 3"/>
          <p:cNvSpPr>
            <a:spLocks noGrp="1"/>
          </p:cNvSpPr>
          <p:nvPr>
            <p:ph type="sldNum" sz="quarter" idx="5"/>
          </p:nvPr>
        </p:nvSpPr>
        <p:spPr/>
        <p:txBody>
          <a:bodyPr/>
          <a:lstStyle/>
          <a:p>
            <a:fld id="{5B6B32FE-6B7F-4280-8171-FE27DCA1C8DC}" type="slidenum">
              <a:rPr lang="en-IN" smtClean="0"/>
              <a:t>12</a:t>
            </a:fld>
            <a:endParaRPr lang="en-IN"/>
          </a:p>
        </p:txBody>
      </p:sp>
    </p:spTree>
    <p:extLst>
      <p:ext uri="{BB962C8B-B14F-4D97-AF65-F5344CB8AC3E}">
        <p14:creationId xmlns:p14="http://schemas.microsoft.com/office/powerpoint/2010/main" val="3270795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After substituting </a:t>
            </a:r>
            <a:r>
              <a:rPr lang="en-IN" dirty="0" err="1"/>
              <a:t>thr</a:t>
            </a:r>
            <a:r>
              <a:rPr lang="en-IN" dirty="0"/>
              <a:t> value….(n-1)+(n-2)+(n-3)+------1=(n-1)(n)/2=o(n^2)</a:t>
            </a:r>
          </a:p>
        </p:txBody>
      </p:sp>
      <p:sp>
        <p:nvSpPr>
          <p:cNvPr id="4" name="Slide Number Placeholder 3"/>
          <p:cNvSpPr>
            <a:spLocks noGrp="1"/>
          </p:cNvSpPr>
          <p:nvPr>
            <p:ph type="sldNum" sz="quarter" idx="5"/>
          </p:nvPr>
        </p:nvSpPr>
        <p:spPr/>
        <p:txBody>
          <a:bodyPr/>
          <a:lstStyle/>
          <a:p>
            <a:fld id="{5B6B32FE-6B7F-4280-8171-FE27DCA1C8DC}" type="slidenum">
              <a:rPr lang="en-IN" smtClean="0"/>
              <a:t>15</a:t>
            </a:fld>
            <a:endParaRPr lang="en-IN"/>
          </a:p>
        </p:txBody>
      </p:sp>
    </p:spTree>
    <p:extLst>
      <p:ext uri="{BB962C8B-B14F-4D97-AF65-F5344CB8AC3E}">
        <p14:creationId xmlns:p14="http://schemas.microsoft.com/office/powerpoint/2010/main" val="1504641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40C28"/>
                </a:solidFill>
                <a:effectLst/>
                <a:latin typeface="Google Sans"/>
              </a:rPr>
              <a:t>Selection sort is an in-place algorithm</a:t>
            </a:r>
            <a:r>
              <a:rPr lang="en-US" b="0" i="0" dirty="0">
                <a:solidFill>
                  <a:srgbClr val="1F1F1F"/>
                </a:solidFill>
                <a:effectLst/>
                <a:latin typeface="Google Sans"/>
              </a:rPr>
              <a:t>. It performs all computation in the original array and no other array is used. Hence, the space complexity works out to be O(1).</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16</a:t>
            </a:fld>
            <a:endParaRPr lang="en-IN"/>
          </a:p>
        </p:txBody>
      </p:sp>
    </p:spTree>
    <p:extLst>
      <p:ext uri="{BB962C8B-B14F-4D97-AF65-F5344CB8AC3E}">
        <p14:creationId xmlns:p14="http://schemas.microsoft.com/office/powerpoint/2010/main" val="2518475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for </a:t>
            </a:r>
            <a:r>
              <a:rPr lang="en-US" b="1" i="0" dirty="0" err="1">
                <a:solidFill>
                  <a:srgbClr val="D1D5DB"/>
                </a:solidFill>
                <a:effectLst/>
                <a:latin typeface="Söhne"/>
              </a:rPr>
              <a:t>i</a:t>
            </a:r>
            <a:r>
              <a:rPr lang="en-US" b="1" i="0" dirty="0">
                <a:solidFill>
                  <a:srgbClr val="D1D5DB"/>
                </a:solidFill>
                <a:effectLst/>
                <a:latin typeface="Söhne"/>
              </a:rPr>
              <a:t> &lt;-- 0 to n - 2 do:</a:t>
            </a:r>
          </a:p>
          <a:p>
            <a:pPr algn="l">
              <a:buFont typeface="Arial" panose="020B0604020202020204" pitchFamily="34" charset="0"/>
              <a:buChar char="•"/>
            </a:pPr>
            <a:r>
              <a:rPr lang="en-US" b="0" i="0" dirty="0">
                <a:solidFill>
                  <a:srgbClr val="D1D5DB"/>
                </a:solidFill>
                <a:effectLst/>
                <a:latin typeface="Söhne"/>
              </a:rPr>
              <a:t>The outer loop iterates over the array from the first element (index 0) to the second-to-last element (index n - 2). This is because, in each pass through the outer loop, the largest unsorted element "bubbles up" to its correct position at the end of the array. After each pass, the largest element is guaranteed to be in its final sorted position, so there is no need to include it in subsequent iterations.</a:t>
            </a: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18</a:t>
            </a:fld>
            <a:endParaRPr lang="en-IN"/>
          </a:p>
        </p:txBody>
      </p:sp>
    </p:spTree>
    <p:extLst>
      <p:ext uri="{BB962C8B-B14F-4D97-AF65-F5344CB8AC3E}">
        <p14:creationId xmlns:p14="http://schemas.microsoft.com/office/powerpoint/2010/main" val="3622411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D1D5DB"/>
                </a:solidFill>
                <a:effectLst/>
                <a:latin typeface="Söhne"/>
              </a:rPr>
              <a:t>for j &lt;-- 0 to n - 2 - </a:t>
            </a:r>
            <a:r>
              <a:rPr lang="en-US" b="1" i="0" dirty="0" err="1">
                <a:solidFill>
                  <a:srgbClr val="D1D5DB"/>
                </a:solidFill>
                <a:effectLst/>
                <a:latin typeface="Söhne"/>
              </a:rPr>
              <a:t>i</a:t>
            </a:r>
            <a:r>
              <a:rPr lang="en-US" b="1" i="0" dirty="0">
                <a:solidFill>
                  <a:srgbClr val="D1D5DB"/>
                </a:solidFill>
                <a:effectLst/>
                <a:latin typeface="Söhne"/>
              </a:rPr>
              <a:t> do:</a:t>
            </a:r>
          </a:p>
          <a:p>
            <a:pPr algn="l">
              <a:buFont typeface="Arial" panose="020B0604020202020204" pitchFamily="34" charset="0"/>
              <a:buChar char="•"/>
            </a:pPr>
            <a:r>
              <a:rPr lang="en-US" b="0" i="0" dirty="0">
                <a:solidFill>
                  <a:srgbClr val="D1D5DB"/>
                </a:solidFill>
                <a:effectLst/>
                <a:latin typeface="Söhne"/>
              </a:rPr>
              <a:t>The inner loop iterates over the unsorted part of the array. The condition n - 2 - </a:t>
            </a:r>
            <a:r>
              <a:rPr lang="en-US" b="0" i="0" dirty="0" err="1">
                <a:solidFill>
                  <a:srgbClr val="D1D5DB"/>
                </a:solidFill>
                <a:effectLst/>
                <a:latin typeface="Söhne"/>
              </a:rPr>
              <a:t>i</a:t>
            </a:r>
            <a:r>
              <a:rPr lang="en-US" b="0" i="0" dirty="0">
                <a:solidFill>
                  <a:srgbClr val="D1D5DB"/>
                </a:solidFill>
                <a:effectLst/>
                <a:latin typeface="Söhne"/>
              </a:rPr>
              <a:t> represents the range of elements that still need to be considered in the inner loop. As the outer loop progresses, the largest unsorted element is moved to its correct position, so there is no need to include it in the inner loop comparisons. This avoids unnecessary comparisons for elements that are already in their correct positions.</a:t>
            </a:r>
          </a:p>
        </p:txBody>
      </p:sp>
      <p:sp>
        <p:nvSpPr>
          <p:cNvPr id="4" name="Slide Number Placeholder 3"/>
          <p:cNvSpPr>
            <a:spLocks noGrp="1"/>
          </p:cNvSpPr>
          <p:nvPr>
            <p:ph type="sldNum" sz="quarter" idx="5"/>
          </p:nvPr>
        </p:nvSpPr>
        <p:spPr/>
        <p:txBody>
          <a:bodyPr/>
          <a:lstStyle/>
          <a:p>
            <a:fld id="{5B6B32FE-6B7F-4280-8171-FE27DCA1C8DC}" type="slidenum">
              <a:rPr lang="en-IN" smtClean="0"/>
              <a:t>19</a:t>
            </a:fld>
            <a:endParaRPr lang="en-IN"/>
          </a:p>
        </p:txBody>
      </p:sp>
    </p:spTree>
    <p:extLst>
      <p:ext uri="{BB962C8B-B14F-4D97-AF65-F5344CB8AC3E}">
        <p14:creationId xmlns:p14="http://schemas.microsoft.com/office/powerpoint/2010/main" val="3598364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inter-bold"/>
              </a:rPr>
              <a:t>Best Case Complexity -</a:t>
            </a:r>
            <a:r>
              <a:rPr lang="en-US" b="0" i="0" dirty="0">
                <a:solidFill>
                  <a:srgbClr val="000000"/>
                </a:solidFill>
                <a:effectLst/>
                <a:latin typeface="inter-regular"/>
              </a:rPr>
              <a:t> It occurs when there is no sorting required, i.e. the array is already sorted. The best-case time complexity of bubble sort is </a:t>
            </a:r>
            <a:r>
              <a:rPr lang="en-US" b="1" i="0" dirty="0">
                <a:solidFill>
                  <a:srgbClr val="000000"/>
                </a:solidFill>
                <a:effectLst/>
                <a:latin typeface="inter-bold"/>
              </a:rPr>
              <a:t>O(n).</a:t>
            </a:r>
            <a:endParaRPr lang="en-US" b="0" i="0" dirty="0">
              <a:solidFill>
                <a:srgbClr val="000000"/>
              </a:solidFill>
              <a:effectLst/>
              <a:latin typeface="inter-regular"/>
            </a:endParaRP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26</a:t>
            </a:fld>
            <a:endParaRPr lang="en-IN"/>
          </a:p>
        </p:txBody>
      </p:sp>
    </p:spTree>
    <p:extLst>
      <p:ext uri="{BB962C8B-B14F-4D97-AF65-F5344CB8AC3E}">
        <p14:creationId xmlns:p14="http://schemas.microsoft.com/office/powerpoint/2010/main" val="1126002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The time complexity of the provided </a:t>
            </a:r>
            <a:r>
              <a:rPr lang="en-US" dirty="0" err="1"/>
              <a:t>SequentialSearch</a:t>
            </a:r>
            <a:r>
              <a:rPr lang="en-US" b="0" i="0" dirty="0">
                <a:solidFill>
                  <a:srgbClr val="D1D5DB"/>
                </a:solidFill>
                <a:effectLst/>
                <a:latin typeface="Söhne"/>
              </a:rPr>
              <a:t> function is O(n), where 'n' is the number of elements in the array. Let's break down the analysis:</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27</a:t>
            </a:fld>
            <a:endParaRPr lang="en-IN"/>
          </a:p>
        </p:txBody>
      </p:sp>
    </p:spTree>
    <p:extLst>
      <p:ext uri="{BB962C8B-B14F-4D97-AF65-F5344CB8AC3E}">
        <p14:creationId xmlns:p14="http://schemas.microsoft.com/office/powerpoint/2010/main" val="222924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The function uses a </a:t>
            </a:r>
            <a:r>
              <a:rPr lang="en-US" dirty="0"/>
              <a:t>for</a:t>
            </a:r>
            <a:r>
              <a:rPr lang="en-US" b="0" i="0" dirty="0">
                <a:solidFill>
                  <a:srgbClr val="D1D5DB"/>
                </a:solidFill>
                <a:effectLst/>
                <a:latin typeface="Söhne"/>
              </a:rPr>
              <a:t> loop that iterates through each element of the array (</a:t>
            </a:r>
            <a:r>
              <a:rPr lang="en-US" dirty="0"/>
              <a:t>for (</a:t>
            </a:r>
            <a:r>
              <a:rPr lang="en-US" dirty="0" err="1"/>
              <a:t>i</a:t>
            </a:r>
            <a:r>
              <a:rPr lang="en-US" dirty="0"/>
              <a:t> = 0; </a:t>
            </a:r>
            <a:r>
              <a:rPr lang="en-US" dirty="0" err="1"/>
              <a:t>i</a:t>
            </a:r>
            <a:r>
              <a:rPr lang="en-US" dirty="0"/>
              <a:t> &lt; n &amp;&amp; a[</a:t>
            </a:r>
            <a:r>
              <a:rPr lang="en-US" dirty="0" err="1"/>
              <a:t>i</a:t>
            </a:r>
            <a:r>
              <a:rPr lang="en-US" dirty="0"/>
              <a:t>] != x; </a:t>
            </a:r>
            <a:r>
              <a:rPr lang="en-US" dirty="0" err="1"/>
              <a:t>i</a:t>
            </a:r>
            <a:r>
              <a:rPr lang="en-US" dirty="0"/>
              <a:t>++)</a:t>
            </a:r>
            <a:r>
              <a:rPr lang="en-US" b="0" i="0" dirty="0">
                <a:solidFill>
                  <a:srgbClr val="D1D5DB"/>
                </a:solidFill>
                <a:effectLst/>
                <a:latin typeface="Söhne"/>
              </a:rPr>
              <a:t>). </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28</a:t>
            </a:fld>
            <a:endParaRPr lang="en-IN"/>
          </a:p>
        </p:txBody>
      </p:sp>
    </p:spTree>
    <p:extLst>
      <p:ext uri="{BB962C8B-B14F-4D97-AF65-F5344CB8AC3E}">
        <p14:creationId xmlns:p14="http://schemas.microsoft.com/office/powerpoint/2010/main" val="2274602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The loop condition </a:t>
            </a:r>
            <a:r>
              <a:rPr lang="en-US" dirty="0" err="1"/>
              <a:t>i</a:t>
            </a:r>
            <a:r>
              <a:rPr lang="en-US" dirty="0"/>
              <a:t> &lt; n &amp;&amp; a[</a:t>
            </a:r>
            <a:r>
              <a:rPr lang="en-US" dirty="0" err="1"/>
              <a:t>i</a:t>
            </a:r>
            <a:r>
              <a:rPr lang="en-US" dirty="0"/>
              <a:t>] != x</a:t>
            </a:r>
            <a:r>
              <a:rPr lang="en-US" b="0" i="0" dirty="0">
                <a:solidFill>
                  <a:srgbClr val="D1D5DB"/>
                </a:solidFill>
                <a:effectLst/>
                <a:latin typeface="Söhne"/>
              </a:rPr>
              <a:t> ensures that the loop will terminate either when the element is found (</a:t>
            </a:r>
            <a:r>
              <a:rPr lang="en-US" dirty="0"/>
              <a:t>a[</a:t>
            </a:r>
            <a:r>
              <a:rPr lang="en-US" dirty="0" err="1"/>
              <a:t>i</a:t>
            </a:r>
            <a:r>
              <a:rPr lang="en-US" dirty="0"/>
              <a:t>] == x</a:t>
            </a:r>
            <a:r>
              <a:rPr lang="en-US" b="0" i="0" dirty="0">
                <a:solidFill>
                  <a:srgbClr val="D1D5DB"/>
                </a:solidFill>
                <a:effectLst/>
                <a:latin typeface="Söhne"/>
              </a:rPr>
              <a:t>) or when the end of the array is reached (</a:t>
            </a:r>
            <a:r>
              <a:rPr lang="en-US" dirty="0" err="1"/>
              <a:t>i</a:t>
            </a:r>
            <a:r>
              <a:rPr lang="en-US" dirty="0"/>
              <a:t> == n</a:t>
            </a:r>
            <a:r>
              <a:rPr lang="en-US" b="0" i="0" dirty="0">
                <a:solidFill>
                  <a:srgbClr val="D1D5DB"/>
                </a:solidFill>
                <a:effectLst/>
                <a:latin typeface="Söhne"/>
              </a:rPr>
              <a:t>).</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29</a:t>
            </a:fld>
            <a:endParaRPr lang="en-IN"/>
          </a:p>
        </p:txBody>
      </p:sp>
    </p:spTree>
    <p:extLst>
      <p:ext uri="{BB962C8B-B14F-4D97-AF65-F5344CB8AC3E}">
        <p14:creationId xmlns:p14="http://schemas.microsoft.com/office/powerpoint/2010/main" val="1983960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In the worst case, the loop will iterate through all 'n' elements of the array before finding the element or reaching the end.</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30</a:t>
            </a:fld>
            <a:endParaRPr lang="en-IN"/>
          </a:p>
        </p:txBody>
      </p:sp>
    </p:spTree>
    <p:extLst>
      <p:ext uri="{BB962C8B-B14F-4D97-AF65-F5344CB8AC3E}">
        <p14:creationId xmlns:p14="http://schemas.microsoft.com/office/powerpoint/2010/main" val="3190012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Therefore, the maximum number of iterations is directly proportional to the number of elements in the array, leading to a linear time complexity of O(n).</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31</a:t>
            </a:fld>
            <a:endParaRPr lang="en-IN"/>
          </a:p>
        </p:txBody>
      </p:sp>
    </p:spTree>
    <p:extLst>
      <p:ext uri="{BB962C8B-B14F-4D97-AF65-F5344CB8AC3E}">
        <p14:creationId xmlns:p14="http://schemas.microsoft.com/office/powerpoint/2010/main" val="250844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a string of n characters called the text and a string of m characters (m &lt;= n) called the pattern, find a substring of the text that matches the pattern. </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33</a:t>
            </a:fld>
            <a:endParaRPr lang="en-IN"/>
          </a:p>
        </p:txBody>
      </p:sp>
    </p:spTree>
    <p:extLst>
      <p:ext uri="{BB962C8B-B14F-4D97-AF65-F5344CB8AC3E}">
        <p14:creationId xmlns:p14="http://schemas.microsoft.com/office/powerpoint/2010/main" val="17632169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1.Start comparing the pattern "N 0 T" with the text from the beginning.</a:t>
            </a:r>
          </a:p>
          <a:p>
            <a:r>
              <a:rPr lang="en-US" b="0" i="0" dirty="0">
                <a:solidFill>
                  <a:srgbClr val="D1D5DB"/>
                </a:solidFill>
                <a:effectLst/>
                <a:latin typeface="Söhne"/>
              </a:rPr>
              <a:t>2. At the first position, "N" matches with the first character of the text, "0" matches the second, but "T" doesn't match "B.“</a:t>
            </a:r>
          </a:p>
          <a:p>
            <a:r>
              <a:rPr lang="en-US" b="0" i="0" dirty="0">
                <a:solidFill>
                  <a:srgbClr val="D1D5DB"/>
                </a:solidFill>
                <a:effectLst/>
                <a:latin typeface="Söhne"/>
              </a:rPr>
              <a:t>3. Since there's a mismatch, shift the pattern one position to the right: "0 T" is now aligned with "0 D" in the text.</a:t>
            </a:r>
          </a:p>
          <a:p>
            <a:r>
              <a:rPr lang="en-US" b="0" i="0" dirty="0">
                <a:solidFill>
                  <a:srgbClr val="D1D5DB"/>
                </a:solidFill>
                <a:effectLst/>
                <a:latin typeface="Söhne"/>
              </a:rPr>
              <a:t>4. Continue comparing until the end of the text or until a match is found.</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36</a:t>
            </a:fld>
            <a:endParaRPr lang="en-IN"/>
          </a:p>
        </p:txBody>
      </p:sp>
    </p:spTree>
    <p:extLst>
      <p:ext uri="{BB962C8B-B14F-4D97-AF65-F5344CB8AC3E}">
        <p14:creationId xmlns:p14="http://schemas.microsoft.com/office/powerpoint/2010/main" val="3846920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Outer Loop (for </a:t>
            </a:r>
            <a:r>
              <a:rPr lang="en-US" b="1" dirty="0" err="1"/>
              <a:t>i</a:t>
            </a:r>
            <a:r>
              <a:rPr lang="en-US" b="1" dirty="0"/>
              <a:t> ← 0 to n − m):</a:t>
            </a:r>
            <a:endParaRPr lang="en-US" dirty="0"/>
          </a:p>
          <a:p>
            <a:pPr>
              <a:buFont typeface="Arial" panose="020B0604020202020204" pitchFamily="34" charset="0"/>
              <a:buChar char="•"/>
            </a:pPr>
            <a:r>
              <a:rPr lang="en-US" dirty="0"/>
              <a:t>Iterates through every potential starting position in the text T where the pattern P might begin.</a:t>
            </a:r>
          </a:p>
          <a:p>
            <a:pPr>
              <a:buFont typeface="Arial" panose="020B0604020202020204" pitchFamily="34" charset="0"/>
              <a:buChar char="•"/>
            </a:pPr>
            <a:r>
              <a:rPr lang="en-US" dirty="0"/>
              <a:t>The loop runs until n − m, ensuring there’s enough room in T for the pattern P to match.</a:t>
            </a:r>
          </a:p>
          <a:p>
            <a:endParaRPr lang="en-IN" dirty="0"/>
          </a:p>
          <a:p>
            <a:r>
              <a:rPr lang="en-US" b="1" dirty="0"/>
              <a:t>Inner Loop (while j &lt; m and P[j] = T[</a:t>
            </a:r>
            <a:r>
              <a:rPr lang="en-US" b="1" dirty="0" err="1"/>
              <a:t>i</a:t>
            </a:r>
            <a:r>
              <a:rPr lang="en-US" b="1" dirty="0"/>
              <a:t> + j]):</a:t>
            </a:r>
            <a:endParaRPr lang="en-US" dirty="0"/>
          </a:p>
          <a:p>
            <a:pPr>
              <a:buFont typeface="Arial" panose="020B0604020202020204" pitchFamily="34" charset="0"/>
              <a:buChar char="•"/>
            </a:pPr>
            <a:r>
              <a:rPr lang="en-US" dirty="0"/>
              <a:t>Compares each character in the pattern P with the corresponding character in the text T starting at index </a:t>
            </a:r>
            <a:r>
              <a:rPr lang="en-US" dirty="0" err="1"/>
              <a:t>i</a:t>
            </a:r>
            <a:r>
              <a:rPr lang="en-US" dirty="0"/>
              <a:t>.</a:t>
            </a:r>
          </a:p>
          <a:p>
            <a:pPr>
              <a:buFont typeface="Arial" panose="020B0604020202020204" pitchFamily="34" charset="0"/>
              <a:buChar char="•"/>
            </a:pPr>
            <a:r>
              <a:rPr lang="en-US" dirty="0"/>
              <a:t>Continues as long as the characters match (P[j] = T[</a:t>
            </a:r>
            <a:r>
              <a:rPr lang="en-US" dirty="0" err="1"/>
              <a:t>i</a:t>
            </a:r>
            <a:r>
              <a:rPr lang="en-US" dirty="0"/>
              <a:t> + j]) and the index j is within the length of the pattern (j &lt; m).</a:t>
            </a:r>
          </a:p>
          <a:p>
            <a:r>
              <a:rPr lang="en-US" b="1" dirty="0"/>
              <a:t>Successful Match (if j = m):</a:t>
            </a:r>
            <a:endParaRPr lang="en-US" dirty="0"/>
          </a:p>
          <a:p>
            <a:pPr>
              <a:buFont typeface="Arial" panose="020B0604020202020204" pitchFamily="34" charset="0"/>
              <a:buChar char="•"/>
            </a:pPr>
            <a:r>
              <a:rPr lang="en-US" dirty="0"/>
              <a:t>If all characters of P match (j reaches m), the starting index </a:t>
            </a:r>
            <a:r>
              <a:rPr lang="en-US" dirty="0" err="1"/>
              <a:t>i</a:t>
            </a:r>
            <a:r>
              <a:rPr lang="en-US" dirty="0"/>
              <a:t> is returned as the result.</a:t>
            </a:r>
          </a:p>
          <a:p>
            <a:r>
              <a:rPr lang="en-US" b="1" dirty="0"/>
              <a:t>Unsuccessful Match (return −1):</a:t>
            </a:r>
            <a:endParaRPr lang="en-US" dirty="0"/>
          </a:p>
          <a:p>
            <a:pPr>
              <a:buFont typeface="Arial" panose="020B0604020202020204" pitchFamily="34" charset="0"/>
              <a:buChar char="•"/>
            </a:pPr>
            <a:r>
              <a:rPr lang="en-US" dirty="0"/>
              <a:t>If no match is found after all iterations, the function returns −1.</a:t>
            </a:r>
          </a:p>
          <a:p>
            <a:pPr>
              <a:buFont typeface="Arial" panose="020B0604020202020204" pitchFamily="34" charset="0"/>
              <a:buChar char="•"/>
            </a:pPr>
            <a:endParaRPr lang="en-US"/>
          </a:p>
          <a:p>
            <a:endParaRPr lang="en-IN"/>
          </a:p>
        </p:txBody>
      </p:sp>
      <p:sp>
        <p:nvSpPr>
          <p:cNvPr id="4" name="Slide Number Placeholder 3"/>
          <p:cNvSpPr>
            <a:spLocks noGrp="1"/>
          </p:cNvSpPr>
          <p:nvPr>
            <p:ph type="sldNum" sz="quarter" idx="5"/>
          </p:nvPr>
        </p:nvSpPr>
        <p:spPr/>
        <p:txBody>
          <a:bodyPr/>
          <a:lstStyle/>
          <a:p>
            <a:fld id="{5B6B32FE-6B7F-4280-8171-FE27DCA1C8DC}" type="slidenum">
              <a:rPr lang="en-IN" smtClean="0"/>
              <a:t>37</a:t>
            </a:fld>
            <a:endParaRPr lang="en-IN"/>
          </a:p>
        </p:txBody>
      </p:sp>
    </p:spTree>
    <p:extLst>
      <p:ext uri="{BB962C8B-B14F-4D97-AF65-F5344CB8AC3E}">
        <p14:creationId xmlns:p14="http://schemas.microsoft.com/office/powerpoint/2010/main" val="2234451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Exhaustive search  </a:t>
            </a:r>
            <a:r>
              <a:rPr lang="en-US" b="0" i="0" dirty="0">
                <a:solidFill>
                  <a:srgbClr val="202122"/>
                </a:solidFill>
                <a:effectLst/>
                <a:latin typeface="Arial" panose="020B0604020202020204" pitchFamily="34" charset="0"/>
              </a:rPr>
              <a:t>is a very general </a:t>
            </a:r>
            <a:r>
              <a:rPr lang="en-US" b="0" i="0" u="none" strike="noStrike" dirty="0">
                <a:solidFill>
                  <a:srgbClr val="3366CC"/>
                </a:solidFill>
                <a:effectLst/>
                <a:latin typeface="Arial" panose="020B0604020202020204" pitchFamily="34" charset="0"/>
                <a:hlinkClick r:id="rId3" tooltip="Problem-solving"/>
              </a:rPr>
              <a:t>problem-solving</a:t>
            </a:r>
            <a:r>
              <a:rPr lang="en-US" b="0" i="0" dirty="0">
                <a:solidFill>
                  <a:srgbClr val="202122"/>
                </a:solidFill>
                <a:effectLst/>
                <a:latin typeface="Arial" panose="020B0604020202020204" pitchFamily="34" charset="0"/>
              </a:rPr>
              <a:t> technique and </a:t>
            </a:r>
            <a:r>
              <a:rPr lang="en-US" b="0" i="0" u="none" strike="noStrike" dirty="0">
                <a:solidFill>
                  <a:srgbClr val="3366CC"/>
                </a:solidFill>
                <a:effectLst/>
                <a:latin typeface="Arial" panose="020B0604020202020204" pitchFamily="34" charset="0"/>
                <a:hlinkClick r:id="rId4" tooltip="Algorithmic paradigm"/>
              </a:rPr>
              <a:t>algorithmic paradigm</a:t>
            </a:r>
            <a:r>
              <a:rPr lang="en-US" b="0" i="0" dirty="0">
                <a:solidFill>
                  <a:srgbClr val="202122"/>
                </a:solidFill>
                <a:effectLst/>
                <a:latin typeface="Arial" panose="020B0604020202020204" pitchFamily="34" charset="0"/>
              </a:rPr>
              <a:t> that consists of </a:t>
            </a:r>
            <a:r>
              <a:rPr lang="en-US" b="0" i="0" u="none" strike="noStrike" dirty="0">
                <a:solidFill>
                  <a:srgbClr val="3366CC"/>
                </a:solidFill>
                <a:effectLst/>
                <a:latin typeface="Arial" panose="020B0604020202020204" pitchFamily="34" charset="0"/>
                <a:hlinkClick r:id="rId5" tooltip="Iteration"/>
              </a:rPr>
              <a:t>systematically checking</a:t>
            </a:r>
            <a:r>
              <a:rPr lang="en-US" b="0" i="0" dirty="0">
                <a:solidFill>
                  <a:srgbClr val="202122"/>
                </a:solidFill>
                <a:effectLst/>
                <a:latin typeface="Arial" panose="020B0604020202020204" pitchFamily="34" charset="0"/>
              </a:rPr>
              <a:t> all possible candidates for whether or not each candidate satisfies the problem's statement.</a:t>
            </a:r>
          </a:p>
          <a:p>
            <a:r>
              <a:rPr lang="en-US" dirty="0"/>
              <a:t>Exhaustive search is simply a brute-force approach to combinatorial problems. It suggests generating each and every element of the problem's domain, selecting those of them that satisfy all the constraints, and then finding a desired element (e.g., the one that optimizes some objective function). </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45</a:t>
            </a:fld>
            <a:endParaRPr lang="en-IN"/>
          </a:p>
        </p:txBody>
      </p:sp>
    </p:spTree>
    <p:extLst>
      <p:ext uri="{BB962C8B-B14F-4D97-AF65-F5344CB8AC3E}">
        <p14:creationId xmlns:p14="http://schemas.microsoft.com/office/powerpoint/2010/main" val="2467800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Many important problems require finding an element with a special property in a domain that grows exponentially (faster) with an instance size. Typically, such problems arise in situations that involve "combinatorial" objects such as permutations, combinations, and subsets of a given set. Many such problems are optimization problems (max or min).</a:t>
            </a: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B6B32FE-6B7F-4280-8171-FE27DCA1C8DC}" type="slidenum">
              <a:rPr lang="en-IN" smtClean="0"/>
              <a:t>46</a:t>
            </a:fld>
            <a:endParaRPr lang="en-IN"/>
          </a:p>
        </p:txBody>
      </p:sp>
    </p:spTree>
    <p:extLst>
      <p:ext uri="{BB962C8B-B14F-4D97-AF65-F5344CB8AC3E}">
        <p14:creationId xmlns:p14="http://schemas.microsoft.com/office/powerpoint/2010/main" val="3595852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Times New Roman" panose="02020603050405020304" pitchFamily="18" charset="0"/>
                <a:ea typeface="Times New Roman" panose="02020603050405020304" pitchFamily="18" charset="0"/>
              </a:rPr>
              <a:t>The exhaustive search is a brute-force approach to combinatorial problems. It suggests generating each and every element of the problem's domain, selecting those of them that satisfy the problem's constraints, and then finding a desired element</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B6B32FE-6B7F-4280-8171-FE27DCA1C8DC}" type="slidenum">
              <a:rPr lang="en-IN" smtClean="0"/>
              <a:t>47</a:t>
            </a:fld>
            <a:endParaRPr lang="en-IN"/>
          </a:p>
        </p:txBody>
      </p:sp>
    </p:spTree>
    <p:extLst>
      <p:ext uri="{BB962C8B-B14F-4D97-AF65-F5344CB8AC3E}">
        <p14:creationId xmlns:p14="http://schemas.microsoft.com/office/powerpoint/2010/main" val="12231552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can be conveniently modeled by a weighted graph, with the graph's vertices representing the cities and the edge weights specifying the distances. Then the problem can be stated as the problem of finding the shortest Hamiltonian circuit of the graph. (A Hamiltonian circuit is defined as a cycle that passes through all the vertices of the graph exactly once. </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49</a:t>
            </a:fld>
            <a:endParaRPr lang="en-IN"/>
          </a:p>
        </p:txBody>
      </p:sp>
    </p:spTree>
    <p:extLst>
      <p:ext uri="{BB962C8B-B14F-4D97-AF65-F5344CB8AC3E}">
        <p14:creationId xmlns:p14="http://schemas.microsoft.com/office/powerpoint/2010/main" val="2018432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Low"/>
            <a:r>
              <a:rPr lang="en-US" sz="1800" b="1" dirty="0">
                <a:effectLst/>
                <a:latin typeface="Times New Roman" panose="02020603050405020304" pitchFamily="18" charset="0"/>
                <a:ea typeface="Times New Roman" panose="02020603050405020304" pitchFamily="18" charset="0"/>
              </a:rPr>
              <a:t>The problem asks to find the shortest tour through a given set of (n) cities that visits each city exactly once before returning to the city where it started.</a:t>
            </a: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B6B32FE-6B7F-4280-8171-FE27DCA1C8DC}" type="slidenum">
              <a:rPr lang="en-IN" smtClean="0"/>
              <a:t>50</a:t>
            </a:fld>
            <a:endParaRPr lang="en-IN"/>
          </a:p>
        </p:txBody>
      </p:sp>
    </p:spTree>
    <p:extLst>
      <p:ext uri="{BB962C8B-B14F-4D97-AF65-F5344CB8AC3E}">
        <p14:creationId xmlns:p14="http://schemas.microsoft.com/office/powerpoint/2010/main" val="15660559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total number of permutations is still (n-1)! , which makes the exhaustive search approach impractical for all but very small values of n.</a:t>
            </a:r>
            <a:r>
              <a:rPr lang="en-US" sz="2800" b="0" i="0" dirty="0">
                <a:solidFill>
                  <a:srgbClr val="D1D5DB"/>
                </a:solidFill>
                <a:effectLst/>
                <a:latin typeface="Söhne"/>
              </a:rPr>
              <a:t> This is </a:t>
            </a:r>
            <a:r>
              <a:rPr lang="en-US" sz="2800" b="1" i="0" dirty="0">
                <a:solidFill>
                  <a:srgbClr val="D1D5DB"/>
                </a:solidFill>
                <a:effectLst/>
                <a:latin typeface="Söhne"/>
              </a:rPr>
              <a:t>because one city is typically fixed as the starting point, and the remaining (n-1) cities are permuted. </a:t>
            </a:r>
            <a:r>
              <a:rPr lang="en-US" sz="2800" b="0" i="0" dirty="0">
                <a:solidFill>
                  <a:srgbClr val="D1D5DB"/>
                </a:solidFill>
                <a:effectLst/>
                <a:latin typeface="Söhne"/>
              </a:rPr>
              <a:t>Therefore, the time complexity can also be expressed as O((n-1)!).</a:t>
            </a:r>
            <a:endParaRPr lang="en-IN" sz="18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51</a:t>
            </a:fld>
            <a:endParaRPr lang="en-IN"/>
          </a:p>
        </p:txBody>
      </p:sp>
    </p:spTree>
    <p:extLst>
      <p:ext uri="{BB962C8B-B14F-4D97-AF65-F5344CB8AC3E}">
        <p14:creationId xmlns:p14="http://schemas.microsoft.com/office/powerpoint/2010/main" val="3250154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Verdana" panose="020B0604030504040204" pitchFamily="34" charset="0"/>
              </a:rPr>
              <a:t>The shortest path that originates and ends at A is A → B → C → D → E → F → A</a:t>
            </a:r>
          </a:p>
          <a:p>
            <a:pPr algn="l"/>
            <a:r>
              <a:rPr lang="en-US" b="0" i="0" dirty="0">
                <a:solidFill>
                  <a:srgbClr val="000000"/>
                </a:solidFill>
                <a:effectLst/>
                <a:latin typeface="Verdana" panose="020B0604030504040204" pitchFamily="34" charset="0"/>
              </a:rPr>
              <a:t>The cost of the path is: 16 + 21 + 12 + 15 + 16 + 34 = 114.</a:t>
            </a: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54</a:t>
            </a:fld>
            <a:endParaRPr lang="en-IN"/>
          </a:p>
        </p:txBody>
      </p:sp>
    </p:spTree>
    <p:extLst>
      <p:ext uri="{BB962C8B-B14F-4D97-AF65-F5344CB8AC3E}">
        <p14:creationId xmlns:p14="http://schemas.microsoft.com/office/powerpoint/2010/main" val="20111364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latin typeface="Inter"/>
              </a:rPr>
              <a:t>Minimum weight Hamiltonian Cycle</a:t>
            </a:r>
            <a:r>
              <a:rPr lang="en-US" b="0" i="0" dirty="0">
                <a:solidFill>
                  <a:srgbClr val="000000"/>
                </a:solidFill>
                <a:effectLst/>
                <a:latin typeface="Inter"/>
              </a:rPr>
              <a:t>: EACBDE= 32</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56</a:t>
            </a:fld>
            <a:endParaRPr lang="en-IN"/>
          </a:p>
        </p:txBody>
      </p:sp>
    </p:spTree>
    <p:extLst>
      <p:ext uri="{BB962C8B-B14F-4D97-AF65-F5344CB8AC3E}">
        <p14:creationId xmlns:p14="http://schemas.microsoft.com/office/powerpoint/2010/main" val="25305260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item 1,3,4  and none…also </a:t>
            </a:r>
            <a:r>
              <a:rPr lang="en-IN" dirty="0" err="1"/>
              <a:t>there..so</a:t>
            </a:r>
            <a:r>
              <a:rPr lang="en-IN" dirty="0"/>
              <a:t> 2^4=16 possible sets</a:t>
            </a:r>
          </a:p>
        </p:txBody>
      </p:sp>
      <p:sp>
        <p:nvSpPr>
          <p:cNvPr id="4" name="Slide Number Placeholder 3"/>
          <p:cNvSpPr>
            <a:spLocks noGrp="1"/>
          </p:cNvSpPr>
          <p:nvPr>
            <p:ph type="sldNum" sz="quarter" idx="5"/>
          </p:nvPr>
        </p:nvSpPr>
        <p:spPr/>
        <p:txBody>
          <a:bodyPr/>
          <a:lstStyle/>
          <a:p>
            <a:fld id="{5B6B32FE-6B7F-4280-8171-FE27DCA1C8DC}" type="slidenum">
              <a:rPr lang="en-IN" smtClean="0"/>
              <a:t>61</a:t>
            </a:fld>
            <a:endParaRPr lang="en-IN"/>
          </a:p>
        </p:txBody>
      </p:sp>
    </p:spTree>
    <p:extLst>
      <p:ext uri="{BB962C8B-B14F-4D97-AF65-F5344CB8AC3E}">
        <p14:creationId xmlns:p14="http://schemas.microsoft.com/office/powerpoint/2010/main" val="1233464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D1D5DB"/>
                </a:solidFill>
                <a:effectLst/>
                <a:latin typeface="Söhne"/>
              </a:rPr>
              <a:t>The exhaustive search algorithm for subset problems involves considering all possible subsets to find the optimal solution based on certain criteria (e.g., maximizing or minimizing a value while staying within a constraint.)</a:t>
            </a:r>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62</a:t>
            </a:fld>
            <a:endParaRPr lang="en-IN"/>
          </a:p>
        </p:txBody>
      </p:sp>
    </p:spTree>
    <p:extLst>
      <p:ext uri="{BB962C8B-B14F-4D97-AF65-F5344CB8AC3E}">
        <p14:creationId xmlns:p14="http://schemas.microsoft.com/office/powerpoint/2010/main" val="16824457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1" i="0" dirty="0">
                <a:solidFill>
                  <a:srgbClr val="D1D5DB"/>
                </a:solidFill>
                <a:effectLst/>
                <a:latin typeface="Söhne"/>
              </a:rPr>
              <a:t>Exponential Time Complexity:</a:t>
            </a:r>
            <a:r>
              <a:rPr lang="en-US" b="0" i="0" dirty="0">
                <a:solidFill>
                  <a:srgbClr val="D1D5DB"/>
                </a:solidFill>
                <a:effectLst/>
                <a:latin typeface="Söhne"/>
              </a:rPr>
              <a:t> Due to the </a:t>
            </a:r>
            <a:r>
              <a:rPr lang="en-US" b="0" i="0" dirty="0">
                <a:solidFill>
                  <a:srgbClr val="D1D5DB"/>
                </a:solidFill>
                <a:effectLst/>
                <a:latin typeface="KaTeX_Main"/>
              </a:rPr>
              <a:t>2^</a:t>
            </a:r>
            <a:r>
              <a:rPr lang="en-US" b="0" i="1" dirty="0">
                <a:solidFill>
                  <a:srgbClr val="D1D5DB"/>
                </a:solidFill>
                <a:effectLst/>
                <a:latin typeface="KaTeX_Math"/>
              </a:rPr>
              <a:t>n</a:t>
            </a:r>
            <a:r>
              <a:rPr lang="en-US" b="0" i="0" dirty="0">
                <a:solidFill>
                  <a:srgbClr val="D1D5DB"/>
                </a:solidFill>
                <a:effectLst/>
                <a:latin typeface="Söhne"/>
              </a:rPr>
              <a:t> nature of the search space, the time complexity of the exhaustive search algorithm is exponential. Even if individual subsets are generated efficiently, the sheer number of subsets to consider makes the overall algorithm inefficient.</a:t>
            </a: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63</a:t>
            </a:fld>
            <a:endParaRPr lang="en-IN"/>
          </a:p>
        </p:txBody>
      </p:sp>
    </p:spTree>
    <p:extLst>
      <p:ext uri="{BB962C8B-B14F-4D97-AF65-F5344CB8AC3E}">
        <p14:creationId xmlns:p14="http://schemas.microsoft.com/office/powerpoint/2010/main" val="26738619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D1D5DB"/>
                </a:solidFill>
                <a:effectLst/>
                <a:latin typeface="Söhne"/>
              </a:rPr>
              <a:t>Algorithmic Complexity:</a:t>
            </a:r>
            <a:r>
              <a:rPr lang="en-US" b="0" i="0" dirty="0">
                <a:solidFill>
                  <a:srgbClr val="D1D5DB"/>
                </a:solidFill>
                <a:effectLst/>
                <a:latin typeface="Söhne"/>
              </a:rPr>
              <a:t> The statement refers to the algorithm having a time complexity of </a:t>
            </a:r>
            <a:r>
              <a:rPr lang="en-US" b="0" i="1" dirty="0">
                <a:solidFill>
                  <a:srgbClr val="D1D5DB"/>
                </a:solidFill>
                <a:effectLst/>
                <a:latin typeface="KaTeX_Math"/>
              </a:rPr>
              <a:t>O</a:t>
            </a:r>
            <a:r>
              <a:rPr lang="en-US" b="0" i="0" dirty="0">
                <a:solidFill>
                  <a:srgbClr val="D1D5DB"/>
                </a:solidFill>
                <a:effectLst/>
                <a:latin typeface="KaTeX_Main"/>
              </a:rPr>
              <a:t>(2^</a:t>
            </a:r>
            <a:r>
              <a:rPr lang="en-US" b="0" i="1" dirty="0">
                <a:solidFill>
                  <a:srgbClr val="D1D5DB"/>
                </a:solidFill>
                <a:effectLst/>
                <a:latin typeface="KaTeX_Math"/>
              </a:rPr>
              <a:t>n</a:t>
            </a:r>
            <a:r>
              <a:rPr lang="en-US" b="0" i="0" dirty="0">
                <a:solidFill>
                  <a:srgbClr val="D1D5DB"/>
                </a:solidFill>
                <a:effectLst/>
                <a:latin typeface="KaTeX_Main"/>
              </a:rPr>
              <a:t>)</a:t>
            </a:r>
            <a:r>
              <a:rPr lang="en-US" b="0" i="0" dirty="0">
                <a:solidFill>
                  <a:srgbClr val="D1D5DB"/>
                </a:solidFill>
                <a:effectLst/>
                <a:latin typeface="Söhne"/>
              </a:rPr>
              <a:t>. This is a very high complexity, and as </a:t>
            </a:r>
            <a:r>
              <a:rPr lang="en-US" b="0" i="1" dirty="0">
                <a:solidFill>
                  <a:srgbClr val="D1D5DB"/>
                </a:solidFill>
                <a:effectLst/>
                <a:latin typeface="KaTeX_Math"/>
              </a:rPr>
              <a:t>n</a:t>
            </a:r>
            <a:r>
              <a:rPr lang="en-US" b="0" i="0" dirty="0">
                <a:solidFill>
                  <a:srgbClr val="D1D5DB"/>
                </a:solidFill>
                <a:effectLst/>
                <a:latin typeface="Söhne"/>
              </a:rPr>
              <a:t> grows, the number of subsets and the time required for the exhaustive search grows exponentially.</a:t>
            </a: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64</a:t>
            </a:fld>
            <a:endParaRPr lang="en-IN"/>
          </a:p>
        </p:txBody>
      </p:sp>
    </p:spTree>
    <p:extLst>
      <p:ext uri="{BB962C8B-B14F-4D97-AF65-F5344CB8AC3E}">
        <p14:creationId xmlns:p14="http://schemas.microsoft.com/office/powerpoint/2010/main" val="8661629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problem is to find an assignment with the smallest total cost.</a:t>
            </a:r>
            <a:endParaRPr lang="en-IN" sz="18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65</a:t>
            </a:fld>
            <a:endParaRPr lang="en-IN"/>
          </a:p>
        </p:txBody>
      </p:sp>
    </p:spTree>
    <p:extLst>
      <p:ext uri="{BB962C8B-B14F-4D97-AF65-F5344CB8AC3E}">
        <p14:creationId xmlns:p14="http://schemas.microsoft.com/office/powerpoint/2010/main" val="6720178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problem calls for a selection of one element in each row of the matrix so that all selected elements are in different columns and the total sum of the selected elements is the smallest possible.</a:t>
            </a:r>
            <a:endParaRPr lang="en-IN" sz="18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67</a:t>
            </a:fld>
            <a:endParaRPr lang="en-IN"/>
          </a:p>
        </p:txBody>
      </p:sp>
    </p:spTree>
    <p:extLst>
      <p:ext uri="{BB962C8B-B14F-4D97-AF65-F5344CB8AC3E}">
        <p14:creationId xmlns:p14="http://schemas.microsoft.com/office/powerpoint/2010/main" val="38759005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The simplest algorithm is a direct </a:t>
            </a:r>
            <a:r>
              <a:rPr lang="en-US" sz="1800" b="1" u="sng" dirty="0">
                <a:effectLst/>
                <a:latin typeface="Times New Roman" panose="02020603050405020304" pitchFamily="18" charset="0"/>
                <a:ea typeface="Times New Roman" panose="02020603050405020304" pitchFamily="18" charset="0"/>
              </a:rPr>
              <a:t>exhaustive search</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brute force</a:t>
            </a:r>
            <a:r>
              <a:rPr lang="en-US" sz="1800" dirty="0">
                <a:effectLst/>
                <a:latin typeface="Times New Roman" panose="02020603050405020304" pitchFamily="18" charset="0"/>
                <a:ea typeface="Times New Roman" panose="02020603050405020304" pitchFamily="18" charset="0"/>
              </a:rPr>
              <a:t> algorithm), which is very simple algorithm.</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Exhaustive search algorithms are usually not as efficient as possible.</a:t>
            </a:r>
            <a:endParaRPr lang="en-IN" sz="18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71</a:t>
            </a:fld>
            <a:endParaRPr lang="en-IN"/>
          </a:p>
        </p:txBody>
      </p:sp>
    </p:spTree>
    <p:extLst>
      <p:ext uri="{BB962C8B-B14F-4D97-AF65-F5344CB8AC3E}">
        <p14:creationId xmlns:p14="http://schemas.microsoft.com/office/powerpoint/2010/main" val="30419578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it takes just the time proportional to the size of the data structure used for representing the graph in question. </a:t>
            </a:r>
            <a:endParaRPr lang="en-IN" dirty="0"/>
          </a:p>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81</a:t>
            </a:fld>
            <a:endParaRPr lang="en-IN"/>
          </a:p>
        </p:txBody>
      </p:sp>
    </p:spTree>
    <p:extLst>
      <p:ext uri="{BB962C8B-B14F-4D97-AF65-F5344CB8AC3E}">
        <p14:creationId xmlns:p14="http://schemas.microsoft.com/office/powerpoint/2010/main" val="17775172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6B32FE-6B7F-4280-8171-FE27DCA1C8DC}" type="slidenum">
              <a:rPr lang="en-IN" smtClean="0"/>
              <a:t>82</a:t>
            </a:fld>
            <a:endParaRPr lang="en-IN"/>
          </a:p>
        </p:txBody>
      </p:sp>
    </p:spTree>
    <p:extLst>
      <p:ext uri="{BB962C8B-B14F-4D97-AF65-F5344CB8AC3E}">
        <p14:creationId xmlns:p14="http://schemas.microsoft.com/office/powerpoint/2010/main" val="1327945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fld id="{4B35A91D-64E6-4C03-B5C0-EB7D138B344C}" type="datetime2">
              <a:rPr lang="en-US" smtClean="0"/>
              <a:t>Wednesday, January 14, 2026</a:t>
            </a:fld>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Department of ICT</a:t>
            </a:r>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47684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Department of ICT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722237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fld id="{C9645F3B-8D27-4AEA-9742-8E57C073A323}" type="datetime2">
              <a:rPr lang="en-US" smtClean="0"/>
              <a:t>Wednesday, January 14, 2026</a:t>
            </a:fld>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Department of ICT</a:t>
            </a:r>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287696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fld id="{08644746-2957-478D-8BE0-13BE38EE128F}" type="datetime2">
              <a:rPr lang="en-US" smtClean="0"/>
              <a:t>Wednesday, January 14, 2026</a:t>
            </a:fld>
            <a:endParaRPr lang="en-US"/>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Department of ICT</a:t>
            </a:r>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658088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fld id="{187176D5-706A-4A38-97AA-88A156BB4638}" type="datetime2">
              <a:rPr lang="en-US" smtClean="0"/>
              <a:t>Wednesday, January 14, 2026</a:t>
            </a:fld>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Department of ICT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892001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fld id="{87BE7A84-E469-4F60-B49B-24EF326D45D2}" type="datetime2">
              <a:rPr lang="en-US" smtClean="0"/>
              <a:t>Wednesday, January 14, 2026</a:t>
            </a:fld>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Department of ICT</a:t>
            </a:r>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266012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fld id="{6011A9A7-D84B-4F45-96EB-67EE4C140D9B}" type="datetime2">
              <a:rPr lang="en-US" smtClean="0"/>
              <a:t>Wednesday, January 14, 2026</a:t>
            </a:fld>
            <a:endParaRPr lang="en-US"/>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Department of ICT</a:t>
            </a:r>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1742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fld id="{D0B8ECE9-E1FC-4334-8ACA-097EA029F438}" type="datetime2">
              <a:rPr lang="en-US" smtClean="0"/>
              <a:t>Wednesday, January 14, 2026</a:t>
            </a:fld>
            <a:endParaRPr lang="en-US"/>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Department of ICT</a:t>
            </a:r>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59237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fld id="{13FDCE90-093F-4C51-9DD8-3B64B0FB2AFC}" type="datetime2">
              <a:rPr lang="en-US" smtClean="0"/>
              <a:t>Wednesday, January 14, 2026</a:t>
            </a:fld>
            <a:endParaRPr lang="en-US"/>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Department of ICT</a:t>
            </a:r>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504296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fld id="{7C7B8DB3-5325-4CB1-ACB4-AAD1F9512368}" type="datetime2">
              <a:rPr lang="en-US" smtClean="0"/>
              <a:t>Wednesday, January 14, 2026</a:t>
            </a:fld>
            <a:endParaRPr lang="en-US"/>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Department of ICT</a:t>
            </a:r>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775892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fld id="{58B46E36-443E-4FE9-8319-035CED67E298}" type="datetime2">
              <a:rPr lang="en-US" smtClean="0"/>
              <a:t>Wednesday, January 14, 2026</a:t>
            </a:fld>
            <a:endParaRPr lang="en-US"/>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Department of ICT</a:t>
            </a:r>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87362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000">
                <a:solidFill>
                  <a:schemeClr val="tx2"/>
                </a:solidFill>
              </a:defRPr>
            </a:lvl1pPr>
          </a:lstStyle>
          <a:p>
            <a:fld id="{65BBA827-BF29-4385-B45D-6BC3ECF2DD08}"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000">
                <a:solidFill>
                  <a:schemeClr val="tx2"/>
                </a:solidFill>
              </a:defRPr>
            </a:lvl1pPr>
          </a:lstStyle>
          <a:p>
            <a:r>
              <a:rPr lang="en-US"/>
              <a:t>Department of ICT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000">
                <a:solidFill>
                  <a:schemeClr val="tx2"/>
                </a:solidFill>
              </a:defRPr>
            </a:lvl1pPr>
          </a:lstStyle>
          <a:p>
            <a:fld id="{7BE69E03-4804-4553-A1EC-F089884EF50F}" type="slidenum">
              <a:rPr lang="en-US" smtClean="0"/>
              <a:t>‹#›</a:t>
            </a:fld>
            <a:endParaRPr lang="en-US"/>
          </a:p>
        </p:txBody>
      </p:sp>
    </p:spTree>
    <p:extLst>
      <p:ext uri="{BB962C8B-B14F-4D97-AF65-F5344CB8AC3E}">
        <p14:creationId xmlns:p14="http://schemas.microsoft.com/office/powerpoint/2010/main" val="279061386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Wingdings 2" panose="05020102010507070707" pitchFamily="18" charset="2"/>
        <a:buChar char=""/>
        <a:defRPr sz="20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Wingdings 2" panose="05020102010507070707" pitchFamily="18"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3.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8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8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955B3A-C08D-43E6-ABEF-A4F616FB6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C719694A-8B4E-4127-9C08-9B8F39B6F2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52D36E6B-D7EF-409B-B48D-1628C06EE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22899" y="3854831"/>
            <a:ext cx="5278995" cy="2156581"/>
          </a:xfrm>
        </p:spPr>
        <p:txBody>
          <a:bodyPr anchor="t">
            <a:normAutofit/>
          </a:bodyPr>
          <a:lstStyle/>
          <a:p>
            <a:pPr algn="l"/>
            <a:r>
              <a:rPr lang="en-US" sz="4800" dirty="0">
                <a:cs typeface="Calibri Light"/>
              </a:rPr>
              <a:t>BRUTE FORCE</a:t>
            </a:r>
            <a:endParaRPr lang="en-US" sz="4800" dirty="0"/>
          </a:p>
        </p:txBody>
      </p:sp>
      <p:sp>
        <p:nvSpPr>
          <p:cNvPr id="3" name="Subtitle 2"/>
          <p:cNvSpPr>
            <a:spLocks noGrp="1"/>
          </p:cNvSpPr>
          <p:nvPr>
            <p:ph type="subTitle" idx="1"/>
          </p:nvPr>
        </p:nvSpPr>
        <p:spPr>
          <a:xfrm>
            <a:off x="8645970" y="4824742"/>
            <a:ext cx="2857182" cy="1267064"/>
          </a:xfrm>
        </p:spPr>
        <p:txBody>
          <a:bodyPr anchor="t">
            <a:normAutofit/>
          </a:bodyPr>
          <a:lstStyle/>
          <a:p>
            <a:pPr algn="l"/>
            <a:endParaRPr lang="en-US" sz="2200" dirty="0"/>
          </a:p>
        </p:txBody>
      </p:sp>
      <p:sp>
        <p:nvSpPr>
          <p:cNvPr id="15" name="Rectangle 14">
            <a:extLst>
              <a:ext uri="{FF2B5EF4-FFF2-40B4-BE49-F238E27FC236}">
                <a16:creationId xmlns:a16="http://schemas.microsoft.com/office/drawing/2014/main" id="{816D2053-BB10-4615-A38D-86EEC0D86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422144" cy="3599020"/>
          </a:xfrm>
          <a:prstGeom prst="rect">
            <a:avLst/>
          </a:prstGeom>
          <a:solidFill>
            <a:srgbClr val="96E28B">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4" name="Picture 3">
            <a:extLst>
              <a:ext uri="{FF2B5EF4-FFF2-40B4-BE49-F238E27FC236}">
                <a16:creationId xmlns:a16="http://schemas.microsoft.com/office/drawing/2014/main" id="{115DC070-6247-5671-81F5-935B5D8BB819}"/>
              </a:ext>
            </a:extLst>
          </p:cNvPr>
          <p:cNvPicPr>
            <a:picLocks noChangeAspect="1"/>
          </p:cNvPicPr>
          <p:nvPr/>
        </p:nvPicPr>
        <p:blipFill rotWithShape="1">
          <a:blip r:embed="rId2"/>
          <a:srcRect t="28734" r="-7" b="22539"/>
          <a:stretch/>
        </p:blipFill>
        <p:spPr>
          <a:xfrm>
            <a:off x="422145" y="10"/>
            <a:ext cx="11082529" cy="3599011"/>
          </a:xfrm>
          <a:prstGeom prst="rect">
            <a:avLst/>
          </a:prstGeom>
        </p:spPr>
      </p:pic>
      <p:cxnSp>
        <p:nvCxnSpPr>
          <p:cNvPr id="17" name="Straight Connector 16">
            <a:extLst>
              <a:ext uri="{FF2B5EF4-FFF2-40B4-BE49-F238E27FC236}">
                <a16:creationId xmlns:a16="http://schemas.microsoft.com/office/drawing/2014/main" id="{CF2CC60F-C99A-48C5-856F-3C79856E9E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96E28B"/>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A2ED1C-4B10-41E7-9BF6-7447B99B98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96E28B"/>
            </a:solidFill>
            <a:prstDash val="dash"/>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7B98AEC8-31FD-46FC-9545-E21C95239F00}"/>
              </a:ext>
            </a:extLst>
          </p:cNvPr>
          <p:cNvSpPr>
            <a:spLocks noGrp="1"/>
          </p:cNvSpPr>
          <p:nvPr>
            <p:ph type="dt" sz="half" idx="10"/>
          </p:nvPr>
        </p:nvSpPr>
        <p:spPr/>
        <p:txBody>
          <a:bodyPr/>
          <a:lstStyle/>
          <a:p>
            <a:fld id="{31A37501-3922-49D8-92C7-7F06FA9D8F59}" type="datetime2">
              <a:rPr lang="en-US" smtClean="0"/>
              <a:t>Wednesday, January 14, 2026</a:t>
            </a:fld>
            <a:endParaRPr lang="en-US" dirty="0"/>
          </a:p>
        </p:txBody>
      </p:sp>
      <p:sp>
        <p:nvSpPr>
          <p:cNvPr id="6" name="Footer Placeholder 5">
            <a:extLst>
              <a:ext uri="{FF2B5EF4-FFF2-40B4-BE49-F238E27FC236}">
                <a16:creationId xmlns:a16="http://schemas.microsoft.com/office/drawing/2014/main" id="{25978D30-D0C5-49DC-A295-EE0C976318C8}"/>
              </a:ext>
            </a:extLst>
          </p:cNvPr>
          <p:cNvSpPr>
            <a:spLocks noGrp="1"/>
          </p:cNvSpPr>
          <p:nvPr>
            <p:ph type="ftr" sz="quarter" idx="11"/>
          </p:nvPr>
        </p:nvSpPr>
        <p:spPr/>
        <p:txBody>
          <a:bodyPr/>
          <a:lstStyle/>
          <a:p>
            <a:r>
              <a:rPr lang="en-US"/>
              <a:t>Department of ICT</a:t>
            </a:r>
          </a:p>
        </p:txBody>
      </p:sp>
      <p:sp>
        <p:nvSpPr>
          <p:cNvPr id="7" name="Slide Number Placeholder 6">
            <a:extLst>
              <a:ext uri="{FF2B5EF4-FFF2-40B4-BE49-F238E27FC236}">
                <a16:creationId xmlns:a16="http://schemas.microsoft.com/office/drawing/2014/main" id="{FC162074-534D-432C-BCE1-933C89DAF3BD}"/>
              </a:ext>
            </a:extLst>
          </p:cNvPr>
          <p:cNvSpPr>
            <a:spLocks noGrp="1"/>
          </p:cNvSpPr>
          <p:nvPr>
            <p:ph type="sldNum" sz="quarter" idx="12"/>
          </p:nvPr>
        </p:nvSpPr>
        <p:spPr/>
        <p:txBody>
          <a:bodyPr/>
          <a:lstStyle/>
          <a:p>
            <a:fld id="{7BE69E03-4804-4553-A1EC-F089884EF50F}"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6A0E3E-DC07-CAE2-8AD5-27667235E93C}"/>
              </a:ext>
            </a:extLst>
          </p:cNvPr>
          <p:cNvSpPr>
            <a:spLocks noGrp="1"/>
          </p:cNvSpPr>
          <p:nvPr>
            <p:ph type="title"/>
          </p:nvPr>
        </p:nvSpPr>
        <p:spPr>
          <a:xfrm>
            <a:off x="422145" y="940910"/>
            <a:ext cx="4471588" cy="4976179"/>
          </a:xfrm>
        </p:spPr>
        <p:txBody>
          <a:bodyPr>
            <a:normAutofit/>
          </a:bodyPr>
          <a:lstStyle/>
          <a:p>
            <a:r>
              <a:rPr lang="en-US" dirty="0"/>
              <a:t>Brute Force</a:t>
            </a:r>
          </a:p>
        </p:txBody>
      </p:sp>
      <p:sp>
        <p:nvSpPr>
          <p:cNvPr id="6" name="Slide Number Placeholder 5">
            <a:extLst>
              <a:ext uri="{FF2B5EF4-FFF2-40B4-BE49-F238E27FC236}">
                <a16:creationId xmlns:a16="http://schemas.microsoft.com/office/drawing/2014/main" id="{E383EE77-368E-9C4C-8B8B-357E759F716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2</a:t>
            </a:fld>
            <a:endParaRPr lang="en-US"/>
          </a:p>
        </p:txBody>
      </p:sp>
      <p:sp>
        <p:nvSpPr>
          <p:cNvPr id="4" name="Date Placeholder 3">
            <a:extLst>
              <a:ext uri="{FF2B5EF4-FFF2-40B4-BE49-F238E27FC236}">
                <a16:creationId xmlns:a16="http://schemas.microsoft.com/office/drawing/2014/main" id="{CED4907A-158E-07AB-52AC-EAD0D2912FA5}"/>
              </a:ext>
            </a:extLst>
          </p:cNvPr>
          <p:cNvSpPr>
            <a:spLocks noGrp="1"/>
          </p:cNvSpPr>
          <p:nvPr>
            <p:ph type="dt" sz="half" idx="10"/>
          </p:nvPr>
        </p:nvSpPr>
        <p:spPr>
          <a:xfrm>
            <a:off x="422899" y="6217920"/>
            <a:ext cx="2743200" cy="640080"/>
          </a:xfrm>
        </p:spPr>
        <p:txBody>
          <a:bodyPr>
            <a:normAutofit/>
          </a:bodyPr>
          <a:lstStyle/>
          <a:p>
            <a:pPr>
              <a:spcAft>
                <a:spcPts val="600"/>
              </a:spcAft>
            </a:pPr>
            <a:fld id="{377A32F8-7B9D-44D3-88DB-46E61F93D063}" type="datetime2">
              <a:rPr lang="en-US" smtClean="0"/>
              <a:t>Wednesday, January 14, 2026</a:t>
            </a:fld>
            <a:endParaRPr lang="en-US"/>
          </a:p>
        </p:txBody>
      </p:sp>
      <p:sp>
        <p:nvSpPr>
          <p:cNvPr id="5" name="Footer Placeholder 4">
            <a:extLst>
              <a:ext uri="{FF2B5EF4-FFF2-40B4-BE49-F238E27FC236}">
                <a16:creationId xmlns:a16="http://schemas.microsoft.com/office/drawing/2014/main" id="{2EBAA4C5-E010-AE59-D04D-F2D9781179E0}"/>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dirty="0"/>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4DEF74DC-8869-B151-F41B-943EFD418844}"/>
              </a:ext>
            </a:extLst>
          </p:cNvPr>
          <p:cNvGraphicFramePr>
            <a:graphicFrameLocks noGrp="1"/>
          </p:cNvGraphicFramePr>
          <p:nvPr>
            <p:ph idx="1"/>
            <p:extLst>
              <p:ext uri="{D42A27DB-BD31-4B8C-83A1-F6EECF244321}">
                <p14:modId xmlns:p14="http://schemas.microsoft.com/office/powerpoint/2010/main" val="2466383709"/>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5256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12193B-F4AD-E919-A8DC-B05DAF761882}"/>
              </a:ext>
            </a:extLst>
          </p:cNvPr>
          <p:cNvSpPr>
            <a:spLocks noGrp="1"/>
          </p:cNvSpPr>
          <p:nvPr>
            <p:ph type="title"/>
          </p:nvPr>
        </p:nvSpPr>
        <p:spPr>
          <a:xfrm>
            <a:off x="422145" y="940910"/>
            <a:ext cx="4471588" cy="4976179"/>
          </a:xfrm>
        </p:spPr>
        <p:txBody>
          <a:bodyPr>
            <a:normAutofit/>
          </a:bodyPr>
          <a:lstStyle/>
          <a:p>
            <a:r>
              <a:rPr lang="en-US" dirty="0">
                <a:ea typeface="+mj-lt"/>
                <a:cs typeface="+mj-lt"/>
              </a:rPr>
              <a:t>Selection Sort and </a:t>
            </a:r>
            <a:br>
              <a:rPr lang="en-US" dirty="0">
                <a:ea typeface="+mj-lt"/>
                <a:cs typeface="+mj-lt"/>
              </a:rPr>
            </a:br>
            <a:r>
              <a:rPr lang="en-US" dirty="0">
                <a:ea typeface="+mj-lt"/>
                <a:cs typeface="+mj-lt"/>
              </a:rPr>
              <a:t>Bubble Sort </a:t>
            </a:r>
            <a:endParaRPr lang="en-US"/>
          </a:p>
        </p:txBody>
      </p:sp>
      <p:sp>
        <p:nvSpPr>
          <p:cNvPr id="6" name="Slide Number Placeholder 5">
            <a:extLst>
              <a:ext uri="{FF2B5EF4-FFF2-40B4-BE49-F238E27FC236}">
                <a16:creationId xmlns:a16="http://schemas.microsoft.com/office/drawing/2014/main" id="{E0B96128-1538-9B60-1991-CA1CC7DFECAA}"/>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3</a:t>
            </a:fld>
            <a:endParaRPr lang="en-US"/>
          </a:p>
        </p:txBody>
      </p:sp>
      <p:sp>
        <p:nvSpPr>
          <p:cNvPr id="4" name="Date Placeholder 3">
            <a:extLst>
              <a:ext uri="{FF2B5EF4-FFF2-40B4-BE49-F238E27FC236}">
                <a16:creationId xmlns:a16="http://schemas.microsoft.com/office/drawing/2014/main" id="{45765C99-059E-6624-1080-392125CCA7DE}"/>
              </a:ext>
            </a:extLst>
          </p:cNvPr>
          <p:cNvSpPr>
            <a:spLocks noGrp="1"/>
          </p:cNvSpPr>
          <p:nvPr>
            <p:ph type="dt" sz="half" idx="10"/>
          </p:nvPr>
        </p:nvSpPr>
        <p:spPr>
          <a:xfrm>
            <a:off x="422899" y="6217920"/>
            <a:ext cx="2743200" cy="640080"/>
          </a:xfrm>
        </p:spPr>
        <p:txBody>
          <a:bodyPr>
            <a:normAutofit/>
          </a:bodyPr>
          <a:lstStyle/>
          <a:p>
            <a:pPr>
              <a:spcAft>
                <a:spcPts val="600"/>
              </a:spcAft>
            </a:pPr>
            <a:fld id="{81BD94D8-0CE3-4157-8FC6-CA6B00458E34}" type="datetime2">
              <a:rPr lang="en-US" smtClean="0"/>
              <a:t>Wednesday, January 14, 2026</a:t>
            </a:fld>
            <a:endParaRPr lang="en-US"/>
          </a:p>
        </p:txBody>
      </p:sp>
      <p:sp>
        <p:nvSpPr>
          <p:cNvPr id="5" name="Footer Placeholder 4">
            <a:extLst>
              <a:ext uri="{FF2B5EF4-FFF2-40B4-BE49-F238E27FC236}">
                <a16:creationId xmlns:a16="http://schemas.microsoft.com/office/drawing/2014/main" id="{62633D78-0583-7C23-7EFF-81A28EE383A8}"/>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A684024A-692E-A123-A2D2-1FD0C724AE76}"/>
              </a:ext>
            </a:extLst>
          </p:cNvPr>
          <p:cNvGraphicFramePr>
            <a:graphicFrameLocks noGrp="1"/>
          </p:cNvGraphicFramePr>
          <p:nvPr>
            <p:ph idx="1"/>
            <p:extLst>
              <p:ext uri="{D42A27DB-BD31-4B8C-83A1-F6EECF244321}">
                <p14:modId xmlns:p14="http://schemas.microsoft.com/office/powerpoint/2010/main" val="3203013439"/>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0699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Background Gray Rectangle">
            <a:extLst>
              <a:ext uri="{FF2B5EF4-FFF2-40B4-BE49-F238E27FC236}">
                <a16:creationId xmlns:a16="http://schemas.microsoft.com/office/drawing/2014/main" id="{DF77EA1D-CD58-47D1-895E-0E74AE5D1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a:extLst>
              <a:ext uri="{FF2B5EF4-FFF2-40B4-BE49-F238E27FC236}">
                <a16:creationId xmlns:a16="http://schemas.microsoft.com/office/drawing/2014/main" id="{30A2F27B-AF82-4F47-887C-2B4B9878E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6" name="Rectangle 25">
            <a:extLst>
              <a:ext uri="{FF2B5EF4-FFF2-40B4-BE49-F238E27FC236}">
                <a16:creationId xmlns:a16="http://schemas.microsoft.com/office/drawing/2014/main" id="{C73DAA41-976B-4A7A-91F5-FD48E4345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EB8BF5-BE3D-1288-3F44-5EBFEB7D208A}"/>
              </a:ext>
            </a:extLst>
          </p:cNvPr>
          <p:cNvSpPr>
            <a:spLocks noGrp="1"/>
          </p:cNvSpPr>
          <p:nvPr>
            <p:ph type="title"/>
          </p:nvPr>
        </p:nvSpPr>
        <p:spPr>
          <a:xfrm>
            <a:off x="914400" y="539496"/>
            <a:ext cx="8428383" cy="1340104"/>
          </a:xfrm>
        </p:spPr>
        <p:txBody>
          <a:bodyPr anchor="b">
            <a:normAutofit/>
          </a:bodyPr>
          <a:lstStyle/>
          <a:p>
            <a:r>
              <a:rPr lang="en-US" sz="4800" dirty="0"/>
              <a:t>Selection Sort</a:t>
            </a:r>
          </a:p>
        </p:txBody>
      </p:sp>
      <p:sp>
        <p:nvSpPr>
          <p:cNvPr id="6" name="Slide Number Placeholder 5">
            <a:extLst>
              <a:ext uri="{FF2B5EF4-FFF2-40B4-BE49-F238E27FC236}">
                <a16:creationId xmlns:a16="http://schemas.microsoft.com/office/drawing/2014/main" id="{055535F6-89AF-6024-9F5B-64315E4283EB}"/>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4</a:t>
            </a:fld>
            <a:endParaRPr lang="en-US"/>
          </a:p>
        </p:txBody>
      </p:sp>
      <p:sp>
        <p:nvSpPr>
          <p:cNvPr id="3" name="Content Placeholder 2">
            <a:extLst>
              <a:ext uri="{FF2B5EF4-FFF2-40B4-BE49-F238E27FC236}">
                <a16:creationId xmlns:a16="http://schemas.microsoft.com/office/drawing/2014/main" id="{EF01659D-1440-0E1E-CD24-AB51306F9147}"/>
              </a:ext>
            </a:extLst>
          </p:cNvPr>
          <p:cNvSpPr>
            <a:spLocks noGrp="1"/>
          </p:cNvSpPr>
          <p:nvPr>
            <p:ph idx="1"/>
          </p:nvPr>
        </p:nvSpPr>
        <p:spPr>
          <a:xfrm>
            <a:off x="1562100" y="2419096"/>
            <a:ext cx="9234350" cy="3303778"/>
          </a:xfrm>
        </p:spPr>
        <p:txBody>
          <a:bodyPr vert="horz" lIns="91440" tIns="45720" rIns="91440" bIns="45720" rtlCol="0" anchor="t">
            <a:normAutofit fontScale="92500" lnSpcReduction="10000"/>
          </a:bodyPr>
          <a:lstStyle/>
          <a:p>
            <a:pPr>
              <a:lnSpc>
                <a:spcPct val="90000"/>
              </a:lnSpc>
            </a:pPr>
            <a:r>
              <a:rPr lang="en-US" sz="1800" u="sng" dirty="0">
                <a:solidFill>
                  <a:schemeClr val="tx1"/>
                </a:solidFill>
                <a:latin typeface="Times New Roman"/>
                <a:cs typeface="Times New Roman"/>
              </a:rPr>
              <a:t>Procedure</a:t>
            </a:r>
          </a:p>
          <a:p>
            <a:pPr algn="just">
              <a:lnSpc>
                <a:spcPct val="90000"/>
              </a:lnSpc>
            </a:pPr>
            <a:r>
              <a:rPr lang="en-US" sz="2800" dirty="0">
                <a:solidFill>
                  <a:schemeClr val="tx1"/>
                </a:solidFill>
                <a:latin typeface="Times New Roman"/>
                <a:cs typeface="Times New Roman"/>
              </a:rPr>
              <a:t>              Scan the array to find its smallest element and swap it with the first element.  Then, starting with the second element, scan the elements to the right of it to find the smallest among them and swap it with the second elements.  Generally, on pass </a:t>
            </a:r>
            <a:r>
              <a:rPr lang="en-US" sz="2800" i="1" dirty="0" err="1">
                <a:solidFill>
                  <a:schemeClr val="tx1"/>
                </a:solidFill>
                <a:latin typeface="Times New Roman"/>
                <a:cs typeface="Times New Roman"/>
              </a:rPr>
              <a:t>i</a:t>
            </a:r>
            <a:r>
              <a:rPr lang="en-US" sz="2800" i="1" dirty="0">
                <a:solidFill>
                  <a:schemeClr val="tx1"/>
                </a:solidFill>
                <a:latin typeface="Times New Roman"/>
                <a:cs typeface="Times New Roman"/>
              </a:rPr>
              <a:t> </a:t>
            </a:r>
            <a:r>
              <a:rPr lang="en-US" sz="2800" dirty="0">
                <a:solidFill>
                  <a:schemeClr val="tx1"/>
                </a:solidFill>
                <a:latin typeface="Times New Roman"/>
                <a:cs typeface="Times New Roman"/>
              </a:rPr>
              <a:t>(0 </a:t>
            </a:r>
            <a:r>
              <a:rPr lang="en-US" sz="2800" dirty="0">
                <a:solidFill>
                  <a:schemeClr val="tx1"/>
                </a:solidFill>
                <a:latin typeface="Symbol"/>
                <a:sym typeface="Symbol"/>
              </a:rPr>
              <a:t>£</a:t>
            </a:r>
            <a:r>
              <a:rPr lang="en-US" sz="2800" dirty="0">
                <a:solidFill>
                  <a:schemeClr val="tx1"/>
                </a:solidFill>
                <a:latin typeface="Times New Roman"/>
                <a:cs typeface="Times New Roman"/>
              </a:rPr>
              <a:t> </a:t>
            </a:r>
            <a:r>
              <a:rPr lang="en-US" sz="2800" i="1" dirty="0" err="1">
                <a:solidFill>
                  <a:schemeClr val="tx1"/>
                </a:solidFill>
                <a:latin typeface="Times New Roman"/>
                <a:cs typeface="Times New Roman"/>
              </a:rPr>
              <a:t>i</a:t>
            </a:r>
            <a:r>
              <a:rPr lang="en-US" sz="2800" i="1" dirty="0">
                <a:solidFill>
                  <a:schemeClr val="tx1"/>
                </a:solidFill>
                <a:latin typeface="Times New Roman"/>
                <a:cs typeface="Times New Roman"/>
              </a:rPr>
              <a:t> </a:t>
            </a:r>
            <a:r>
              <a:rPr lang="en-US" sz="2800" dirty="0">
                <a:solidFill>
                  <a:schemeClr val="tx1"/>
                </a:solidFill>
                <a:latin typeface="Symbol"/>
                <a:sym typeface="Symbol"/>
              </a:rPr>
              <a:t>£</a:t>
            </a:r>
            <a:r>
              <a:rPr lang="en-US" sz="2800" dirty="0">
                <a:solidFill>
                  <a:schemeClr val="tx1"/>
                </a:solidFill>
                <a:latin typeface="Times New Roman"/>
                <a:cs typeface="Times New Roman"/>
              </a:rPr>
              <a:t> </a:t>
            </a:r>
            <a:r>
              <a:rPr lang="en-US" sz="2800" i="1" dirty="0">
                <a:solidFill>
                  <a:schemeClr val="tx1"/>
                </a:solidFill>
                <a:latin typeface="Times New Roman"/>
                <a:cs typeface="Times New Roman"/>
              </a:rPr>
              <a:t>n-</a:t>
            </a:r>
            <a:r>
              <a:rPr lang="en-US" sz="2800" dirty="0">
                <a:solidFill>
                  <a:schemeClr val="tx1"/>
                </a:solidFill>
                <a:latin typeface="Times New Roman"/>
                <a:cs typeface="Times New Roman"/>
              </a:rPr>
              <a:t>2), find the smallest element in </a:t>
            </a:r>
            <a:r>
              <a:rPr lang="en-US" sz="2800" i="1" dirty="0">
                <a:solidFill>
                  <a:schemeClr val="tx1"/>
                </a:solidFill>
                <a:latin typeface="Times New Roman"/>
                <a:cs typeface="Times New Roman"/>
              </a:rPr>
              <a:t>A</a:t>
            </a:r>
            <a:r>
              <a:rPr lang="en-US" sz="2800" dirty="0">
                <a:solidFill>
                  <a:schemeClr val="tx1"/>
                </a:solidFill>
                <a:latin typeface="Times New Roman"/>
                <a:cs typeface="Times New Roman"/>
              </a:rPr>
              <a:t>[</a:t>
            </a:r>
            <a:r>
              <a:rPr lang="en-US" sz="2800" i="1" dirty="0">
                <a:solidFill>
                  <a:schemeClr val="tx1"/>
                </a:solidFill>
                <a:latin typeface="Times New Roman"/>
                <a:cs typeface="Times New Roman"/>
              </a:rPr>
              <a:t>i..n-</a:t>
            </a:r>
            <a:r>
              <a:rPr lang="en-US" sz="2800" dirty="0">
                <a:solidFill>
                  <a:schemeClr val="tx1"/>
                </a:solidFill>
                <a:latin typeface="Times New Roman"/>
                <a:cs typeface="Times New Roman"/>
              </a:rPr>
              <a:t>1] and swap it with </a:t>
            </a:r>
            <a:r>
              <a:rPr lang="en-US" sz="2800" i="1" dirty="0">
                <a:solidFill>
                  <a:schemeClr val="tx1"/>
                </a:solidFill>
                <a:latin typeface="Times New Roman"/>
                <a:cs typeface="Times New Roman"/>
              </a:rPr>
              <a:t>A</a:t>
            </a:r>
            <a:r>
              <a:rPr lang="en-US" sz="2800" dirty="0">
                <a:solidFill>
                  <a:schemeClr val="tx1"/>
                </a:solidFill>
                <a:latin typeface="Times New Roman"/>
                <a:cs typeface="Times New Roman"/>
              </a:rPr>
              <a:t>[</a:t>
            </a:r>
            <a:r>
              <a:rPr lang="en-US" sz="2800" i="1" dirty="0" err="1">
                <a:solidFill>
                  <a:schemeClr val="tx1"/>
                </a:solidFill>
                <a:latin typeface="Times New Roman"/>
                <a:cs typeface="Times New Roman"/>
              </a:rPr>
              <a:t>i</a:t>
            </a:r>
            <a:r>
              <a:rPr lang="en-US" sz="2800" dirty="0">
                <a:solidFill>
                  <a:schemeClr val="tx1"/>
                </a:solidFill>
                <a:latin typeface="Times New Roman"/>
                <a:cs typeface="Times New Roman"/>
              </a:rPr>
              <a:t>]:</a:t>
            </a:r>
            <a:endParaRPr lang="en-US" sz="2800" dirty="0">
              <a:solidFill>
                <a:schemeClr val="tx1"/>
              </a:solidFill>
            </a:endParaRPr>
          </a:p>
          <a:p>
            <a:pPr algn="just">
              <a:lnSpc>
                <a:spcPct val="90000"/>
              </a:lnSpc>
            </a:pPr>
            <a:r>
              <a:rPr lang="en-US" sz="2800" i="1" dirty="0">
                <a:solidFill>
                  <a:schemeClr val="tx1"/>
                </a:solidFill>
                <a:latin typeface="Times New Roman"/>
                <a:cs typeface="Times New Roman"/>
              </a:rPr>
              <a:t>A</a:t>
            </a:r>
            <a:r>
              <a:rPr lang="en-US" sz="2800" dirty="0">
                <a:solidFill>
                  <a:schemeClr val="tx1"/>
                </a:solidFill>
                <a:latin typeface="Times New Roman"/>
                <a:cs typeface="Times New Roman"/>
              </a:rPr>
              <a:t>[0]  </a:t>
            </a:r>
            <a:r>
              <a:rPr lang="en-US" sz="2800" dirty="0">
                <a:solidFill>
                  <a:schemeClr val="tx1"/>
                </a:solidFill>
                <a:latin typeface="Symbol"/>
                <a:sym typeface="Symbol"/>
              </a:rPr>
              <a:t>£</a:t>
            </a:r>
            <a:r>
              <a:rPr lang="en-US" sz="2800" dirty="0">
                <a:solidFill>
                  <a:schemeClr val="tx1"/>
                </a:solidFill>
                <a:latin typeface="Times New Roman"/>
                <a:cs typeface="Times New Roman"/>
              </a:rPr>
              <a:t>   .   .   .   </a:t>
            </a:r>
            <a:r>
              <a:rPr lang="en-US" sz="2800" dirty="0">
                <a:solidFill>
                  <a:schemeClr val="tx1"/>
                </a:solidFill>
                <a:latin typeface="Symbol"/>
                <a:sym typeface="Symbol"/>
              </a:rPr>
              <a:t>£</a:t>
            </a:r>
            <a:r>
              <a:rPr lang="en-US" sz="2800" dirty="0">
                <a:solidFill>
                  <a:schemeClr val="tx1"/>
                </a:solidFill>
                <a:latin typeface="Times New Roman"/>
                <a:cs typeface="Times New Roman"/>
              </a:rPr>
              <a:t> </a:t>
            </a:r>
            <a:r>
              <a:rPr lang="en-US" sz="2800" i="1" dirty="0">
                <a:solidFill>
                  <a:schemeClr val="tx1"/>
                </a:solidFill>
                <a:latin typeface="Times New Roman"/>
                <a:cs typeface="Times New Roman"/>
              </a:rPr>
              <a:t>A</a:t>
            </a:r>
            <a:r>
              <a:rPr lang="en-US" sz="2800" dirty="0">
                <a:solidFill>
                  <a:schemeClr val="tx1"/>
                </a:solidFill>
                <a:latin typeface="Times New Roman"/>
                <a:cs typeface="Times New Roman"/>
              </a:rPr>
              <a:t>[</a:t>
            </a:r>
            <a:r>
              <a:rPr lang="en-US" sz="2800" i="1" dirty="0">
                <a:solidFill>
                  <a:schemeClr val="tx1"/>
                </a:solidFill>
                <a:latin typeface="Times New Roman"/>
                <a:cs typeface="Times New Roman"/>
              </a:rPr>
              <a:t>i</a:t>
            </a:r>
            <a:r>
              <a:rPr lang="en-US" sz="2800" dirty="0">
                <a:solidFill>
                  <a:schemeClr val="tx1"/>
                </a:solidFill>
                <a:latin typeface="Times New Roman"/>
                <a:cs typeface="Times New Roman"/>
              </a:rPr>
              <a:t>-1]  |  </a:t>
            </a:r>
            <a:r>
              <a:rPr lang="en-US" sz="2800" i="1" dirty="0">
                <a:solidFill>
                  <a:schemeClr val="tx1"/>
                </a:solidFill>
                <a:latin typeface="Times New Roman"/>
                <a:cs typeface="Times New Roman"/>
              </a:rPr>
              <a:t>A</a:t>
            </a:r>
            <a:r>
              <a:rPr lang="en-US" sz="2800" dirty="0">
                <a:solidFill>
                  <a:schemeClr val="tx1"/>
                </a:solidFill>
                <a:latin typeface="Times New Roman"/>
                <a:cs typeface="Times New Roman"/>
              </a:rPr>
              <a:t>[</a:t>
            </a:r>
            <a:r>
              <a:rPr lang="en-US" sz="2800" i="1" dirty="0" err="1">
                <a:solidFill>
                  <a:schemeClr val="tx1"/>
                </a:solidFill>
                <a:latin typeface="Times New Roman"/>
                <a:cs typeface="Times New Roman"/>
              </a:rPr>
              <a:t>i</a:t>
            </a:r>
            <a:r>
              <a:rPr lang="en-US" sz="2800" dirty="0">
                <a:solidFill>
                  <a:schemeClr val="tx1"/>
                </a:solidFill>
                <a:latin typeface="Times New Roman"/>
                <a:cs typeface="Times New Roman"/>
              </a:rPr>
              <a:t>],  .   .   .  , </a:t>
            </a:r>
            <a:r>
              <a:rPr lang="en-US" sz="2800" i="1" dirty="0">
                <a:solidFill>
                  <a:schemeClr val="tx1"/>
                </a:solidFill>
                <a:latin typeface="Times New Roman"/>
                <a:cs typeface="Times New Roman"/>
              </a:rPr>
              <a:t>A</a:t>
            </a:r>
            <a:r>
              <a:rPr lang="en-US" sz="2800" dirty="0">
                <a:solidFill>
                  <a:schemeClr val="tx1"/>
                </a:solidFill>
                <a:latin typeface="Times New Roman"/>
                <a:cs typeface="Times New Roman"/>
              </a:rPr>
              <a:t>[</a:t>
            </a:r>
            <a:r>
              <a:rPr lang="en-US" sz="2800" i="1" dirty="0">
                <a:solidFill>
                  <a:schemeClr val="tx1"/>
                </a:solidFill>
                <a:latin typeface="Times New Roman"/>
                <a:cs typeface="Times New Roman"/>
              </a:rPr>
              <a:t>min</a:t>
            </a:r>
            <a:r>
              <a:rPr lang="en-US" sz="2800" dirty="0">
                <a:solidFill>
                  <a:schemeClr val="tx1"/>
                </a:solidFill>
                <a:latin typeface="Times New Roman"/>
                <a:cs typeface="Times New Roman"/>
              </a:rPr>
              <a:t>], .   .   ., </a:t>
            </a:r>
            <a:r>
              <a:rPr lang="en-US" sz="2800" i="1" dirty="0">
                <a:solidFill>
                  <a:schemeClr val="tx1"/>
                </a:solidFill>
                <a:latin typeface="Times New Roman"/>
                <a:cs typeface="Times New Roman"/>
              </a:rPr>
              <a:t>A</a:t>
            </a:r>
            <a:r>
              <a:rPr lang="en-US" sz="2800" dirty="0">
                <a:solidFill>
                  <a:schemeClr val="tx1"/>
                </a:solidFill>
                <a:latin typeface="Times New Roman"/>
                <a:cs typeface="Times New Roman"/>
              </a:rPr>
              <a:t>[</a:t>
            </a:r>
            <a:r>
              <a:rPr lang="en-US" sz="2800" i="1" dirty="0">
                <a:solidFill>
                  <a:schemeClr val="tx1"/>
                </a:solidFill>
                <a:latin typeface="Times New Roman"/>
                <a:cs typeface="Times New Roman"/>
              </a:rPr>
              <a:t>n</a:t>
            </a:r>
            <a:r>
              <a:rPr lang="en-US" sz="2800" dirty="0">
                <a:solidFill>
                  <a:schemeClr val="tx1"/>
                </a:solidFill>
                <a:latin typeface="Times New Roman"/>
                <a:cs typeface="Times New Roman"/>
              </a:rPr>
              <a:t>-1]  </a:t>
            </a:r>
            <a:r>
              <a:rPr lang="en-US" sz="1800" dirty="0">
                <a:solidFill>
                  <a:schemeClr val="tx1"/>
                </a:solidFill>
                <a:latin typeface="Times New Roman"/>
                <a:cs typeface="Times New Roman"/>
              </a:rPr>
              <a:t>      </a:t>
            </a:r>
            <a:endParaRPr lang="en-US" sz="1800" dirty="0">
              <a:solidFill>
                <a:schemeClr val="tx1"/>
              </a:solidFill>
            </a:endParaRPr>
          </a:p>
          <a:p>
            <a:pPr marL="0" indent="0">
              <a:lnSpc>
                <a:spcPct val="90000"/>
              </a:lnSpc>
              <a:buNone/>
            </a:pPr>
            <a:br>
              <a:rPr lang="en-US" sz="1800" dirty="0"/>
            </a:br>
            <a:endParaRPr lang="en-US" sz="1800" dirty="0">
              <a:solidFill>
                <a:schemeClr val="tx1"/>
              </a:solidFill>
            </a:endParaRPr>
          </a:p>
          <a:p>
            <a:pPr>
              <a:lnSpc>
                <a:spcPct val="90000"/>
              </a:lnSpc>
            </a:pPr>
            <a:endParaRPr lang="en-US" sz="1800" dirty="0">
              <a:solidFill>
                <a:schemeClr val="tx1"/>
              </a:solidFill>
            </a:endParaRPr>
          </a:p>
        </p:txBody>
      </p:sp>
      <p:sp>
        <p:nvSpPr>
          <p:cNvPr id="4" name="Date Placeholder 3">
            <a:extLst>
              <a:ext uri="{FF2B5EF4-FFF2-40B4-BE49-F238E27FC236}">
                <a16:creationId xmlns:a16="http://schemas.microsoft.com/office/drawing/2014/main" id="{1A4A3332-1145-A02E-B5DD-0564529CE5D3}"/>
              </a:ext>
            </a:extLst>
          </p:cNvPr>
          <p:cNvSpPr>
            <a:spLocks noGrp="1"/>
          </p:cNvSpPr>
          <p:nvPr>
            <p:ph type="dt" sz="half" idx="10"/>
          </p:nvPr>
        </p:nvSpPr>
        <p:spPr>
          <a:xfrm>
            <a:off x="422899" y="6217920"/>
            <a:ext cx="2743200" cy="640080"/>
          </a:xfrm>
        </p:spPr>
        <p:txBody>
          <a:bodyPr anchor="ctr">
            <a:normAutofit/>
          </a:bodyPr>
          <a:lstStyle/>
          <a:p>
            <a:pPr>
              <a:spcAft>
                <a:spcPts val="600"/>
              </a:spcAft>
            </a:pPr>
            <a:endParaRPr lang="en-US" dirty="0"/>
          </a:p>
        </p:txBody>
      </p:sp>
      <p:sp>
        <p:nvSpPr>
          <p:cNvPr id="5" name="Footer Placeholder 4">
            <a:extLst>
              <a:ext uri="{FF2B5EF4-FFF2-40B4-BE49-F238E27FC236}">
                <a16:creationId xmlns:a16="http://schemas.microsoft.com/office/drawing/2014/main" id="{49575B5D-B1B1-23A1-69B7-68B261054C4B}"/>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28" name="Straight Connector 27">
            <a:extLst>
              <a:ext uri="{FF2B5EF4-FFF2-40B4-BE49-F238E27FC236}">
                <a16:creationId xmlns:a16="http://schemas.microsoft.com/office/drawing/2014/main" id="{5E5F5C0F-87CD-40D8-AD4B-452395E32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F40788-FC62-4F28-9E98-3973123174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216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Background Gray Rectangle">
            <a:extLst>
              <a:ext uri="{FF2B5EF4-FFF2-40B4-BE49-F238E27FC236}">
                <a16:creationId xmlns:a16="http://schemas.microsoft.com/office/drawing/2014/main" id="{DF77EA1D-CD58-47D1-895E-0E74AE5D1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a:extLst>
              <a:ext uri="{FF2B5EF4-FFF2-40B4-BE49-F238E27FC236}">
                <a16:creationId xmlns:a16="http://schemas.microsoft.com/office/drawing/2014/main" id="{30A2F27B-AF82-4F47-887C-2B4B9878E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6" name="Rectangle 25">
            <a:extLst>
              <a:ext uri="{FF2B5EF4-FFF2-40B4-BE49-F238E27FC236}">
                <a16:creationId xmlns:a16="http://schemas.microsoft.com/office/drawing/2014/main" id="{C73DAA41-976B-4A7A-91F5-FD48E4345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EB8BF5-BE3D-1288-3F44-5EBFEB7D208A}"/>
              </a:ext>
            </a:extLst>
          </p:cNvPr>
          <p:cNvSpPr>
            <a:spLocks noGrp="1"/>
          </p:cNvSpPr>
          <p:nvPr>
            <p:ph type="title"/>
          </p:nvPr>
        </p:nvSpPr>
        <p:spPr>
          <a:xfrm>
            <a:off x="1257300" y="539496"/>
            <a:ext cx="8085483" cy="794004"/>
          </a:xfrm>
        </p:spPr>
        <p:txBody>
          <a:bodyPr anchor="b">
            <a:normAutofit/>
          </a:bodyPr>
          <a:lstStyle/>
          <a:p>
            <a:r>
              <a:rPr lang="en-US" sz="4800" dirty="0"/>
              <a:t>Selection Sort</a:t>
            </a:r>
          </a:p>
        </p:txBody>
      </p:sp>
      <p:sp>
        <p:nvSpPr>
          <p:cNvPr id="6" name="Slide Number Placeholder 5">
            <a:extLst>
              <a:ext uri="{FF2B5EF4-FFF2-40B4-BE49-F238E27FC236}">
                <a16:creationId xmlns:a16="http://schemas.microsoft.com/office/drawing/2014/main" id="{055535F6-89AF-6024-9F5B-64315E4283EB}"/>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5</a:t>
            </a:fld>
            <a:endParaRPr lang="en-US"/>
          </a:p>
        </p:txBody>
      </p:sp>
      <p:sp>
        <p:nvSpPr>
          <p:cNvPr id="3" name="Content Placeholder 2">
            <a:extLst>
              <a:ext uri="{FF2B5EF4-FFF2-40B4-BE49-F238E27FC236}">
                <a16:creationId xmlns:a16="http://schemas.microsoft.com/office/drawing/2014/main" id="{EF01659D-1440-0E1E-CD24-AB51306F9147}"/>
              </a:ext>
            </a:extLst>
          </p:cNvPr>
          <p:cNvSpPr>
            <a:spLocks noGrp="1"/>
          </p:cNvSpPr>
          <p:nvPr>
            <p:ph idx="1"/>
          </p:nvPr>
        </p:nvSpPr>
        <p:spPr>
          <a:xfrm>
            <a:off x="1587501" y="1872996"/>
            <a:ext cx="9208949" cy="3849878"/>
          </a:xfrm>
        </p:spPr>
        <p:txBody>
          <a:bodyPr vert="horz" lIns="91440" tIns="45720" rIns="91440" bIns="45720" rtlCol="0" anchor="t">
            <a:normAutofit/>
          </a:bodyPr>
          <a:lstStyle/>
          <a:p>
            <a:pPr algn="just">
              <a:lnSpc>
                <a:spcPct val="90000"/>
              </a:lnSpc>
            </a:pPr>
            <a:r>
              <a:rPr lang="en-US" u="sng" dirty="0">
                <a:solidFill>
                  <a:schemeClr val="tx1"/>
                </a:solidFill>
                <a:latin typeface="Times New Roman"/>
                <a:cs typeface="Times New Roman"/>
              </a:rPr>
              <a:t>Procedure</a:t>
            </a:r>
          </a:p>
          <a:p>
            <a:pPr algn="just">
              <a:lnSpc>
                <a:spcPct val="90000"/>
              </a:lnSpc>
            </a:pPr>
            <a:r>
              <a:rPr lang="en-US" dirty="0">
                <a:solidFill>
                  <a:schemeClr val="tx1"/>
                </a:solidFill>
                <a:latin typeface="Times New Roman"/>
                <a:cs typeface="Times New Roman"/>
              </a:rPr>
              <a:t>              Scan the array to find its smallest element and swap it with the first element.  Then, starting with the second element, scan the elements to the right of it to find the smallest among them and swap it with the second elements.  Generally, on pass </a:t>
            </a:r>
            <a:r>
              <a:rPr lang="en-US" i="1" dirty="0" err="1">
                <a:solidFill>
                  <a:schemeClr val="tx1"/>
                </a:solidFill>
                <a:latin typeface="Times New Roman"/>
                <a:cs typeface="Times New Roman"/>
              </a:rPr>
              <a:t>i</a:t>
            </a:r>
            <a:r>
              <a:rPr lang="en-US" i="1" dirty="0">
                <a:solidFill>
                  <a:schemeClr val="tx1"/>
                </a:solidFill>
                <a:latin typeface="Times New Roman"/>
                <a:cs typeface="Times New Roman"/>
              </a:rPr>
              <a:t> </a:t>
            </a:r>
            <a:r>
              <a:rPr lang="en-US" dirty="0">
                <a:solidFill>
                  <a:schemeClr val="tx1"/>
                </a:solidFill>
                <a:latin typeface="Times New Roman"/>
                <a:cs typeface="Times New Roman"/>
              </a:rPr>
              <a:t>(0 </a:t>
            </a:r>
            <a:r>
              <a:rPr lang="en-US" dirty="0">
                <a:solidFill>
                  <a:schemeClr val="tx1"/>
                </a:solidFill>
                <a:latin typeface="Symbol"/>
                <a:sym typeface="Symbol"/>
              </a:rPr>
              <a:t>£</a:t>
            </a:r>
            <a:r>
              <a:rPr lang="en-US" dirty="0">
                <a:solidFill>
                  <a:schemeClr val="tx1"/>
                </a:solidFill>
                <a:latin typeface="Times New Roman"/>
                <a:cs typeface="Times New Roman"/>
              </a:rPr>
              <a:t> </a:t>
            </a:r>
            <a:r>
              <a:rPr lang="en-US" i="1" dirty="0" err="1">
                <a:solidFill>
                  <a:schemeClr val="tx1"/>
                </a:solidFill>
                <a:latin typeface="Times New Roman"/>
                <a:cs typeface="Times New Roman"/>
              </a:rPr>
              <a:t>i</a:t>
            </a:r>
            <a:r>
              <a:rPr lang="en-US" i="1" dirty="0">
                <a:solidFill>
                  <a:schemeClr val="tx1"/>
                </a:solidFill>
                <a:latin typeface="Times New Roman"/>
                <a:cs typeface="Times New Roman"/>
              </a:rPr>
              <a:t> </a:t>
            </a:r>
            <a:r>
              <a:rPr lang="en-US" dirty="0">
                <a:solidFill>
                  <a:schemeClr val="tx1"/>
                </a:solidFill>
                <a:latin typeface="Symbol"/>
                <a:sym typeface="Symbol"/>
              </a:rPr>
              <a:t>£</a:t>
            </a:r>
            <a:r>
              <a:rPr lang="en-US" dirty="0">
                <a:solidFill>
                  <a:schemeClr val="tx1"/>
                </a:solidFill>
                <a:latin typeface="Times New Roman"/>
                <a:cs typeface="Times New Roman"/>
              </a:rPr>
              <a:t> </a:t>
            </a:r>
            <a:r>
              <a:rPr lang="en-US" i="1" dirty="0">
                <a:solidFill>
                  <a:schemeClr val="tx1"/>
                </a:solidFill>
                <a:latin typeface="Times New Roman"/>
                <a:cs typeface="Times New Roman"/>
              </a:rPr>
              <a:t>n-</a:t>
            </a:r>
            <a:r>
              <a:rPr lang="en-US" dirty="0">
                <a:solidFill>
                  <a:schemeClr val="tx1"/>
                </a:solidFill>
                <a:latin typeface="Times New Roman"/>
                <a:cs typeface="Times New Roman"/>
              </a:rPr>
              <a:t>2), find the smallest element in </a:t>
            </a:r>
            <a:r>
              <a:rPr lang="en-US" i="1" dirty="0">
                <a:solidFill>
                  <a:schemeClr val="tx1"/>
                </a:solidFill>
                <a:latin typeface="Times New Roman"/>
                <a:cs typeface="Times New Roman"/>
              </a:rPr>
              <a:t>A</a:t>
            </a:r>
            <a:r>
              <a:rPr lang="en-US" dirty="0">
                <a:solidFill>
                  <a:schemeClr val="tx1"/>
                </a:solidFill>
                <a:latin typeface="Times New Roman"/>
                <a:cs typeface="Times New Roman"/>
              </a:rPr>
              <a:t>[</a:t>
            </a:r>
            <a:r>
              <a:rPr lang="en-US" i="1" dirty="0">
                <a:solidFill>
                  <a:schemeClr val="tx1"/>
                </a:solidFill>
                <a:latin typeface="Times New Roman"/>
                <a:cs typeface="Times New Roman"/>
              </a:rPr>
              <a:t>i..n-</a:t>
            </a:r>
            <a:r>
              <a:rPr lang="en-US" dirty="0">
                <a:solidFill>
                  <a:schemeClr val="tx1"/>
                </a:solidFill>
                <a:latin typeface="Times New Roman"/>
                <a:cs typeface="Times New Roman"/>
              </a:rPr>
              <a:t>1] and swap it with </a:t>
            </a:r>
            <a:r>
              <a:rPr lang="en-US" i="1" dirty="0">
                <a:solidFill>
                  <a:schemeClr val="tx1"/>
                </a:solidFill>
                <a:latin typeface="Times New Roman"/>
                <a:cs typeface="Times New Roman"/>
              </a:rPr>
              <a:t>A</a:t>
            </a:r>
            <a:r>
              <a:rPr lang="en-US" dirty="0">
                <a:solidFill>
                  <a:schemeClr val="tx1"/>
                </a:solidFill>
                <a:latin typeface="Times New Roman"/>
                <a:cs typeface="Times New Roman"/>
              </a:rPr>
              <a:t>[</a:t>
            </a:r>
            <a:r>
              <a:rPr lang="en-US" i="1" dirty="0" err="1">
                <a:solidFill>
                  <a:schemeClr val="tx1"/>
                </a:solidFill>
                <a:latin typeface="Times New Roman"/>
                <a:cs typeface="Times New Roman"/>
              </a:rPr>
              <a:t>i</a:t>
            </a:r>
            <a:r>
              <a:rPr lang="en-US" dirty="0">
                <a:solidFill>
                  <a:schemeClr val="tx1"/>
                </a:solidFill>
                <a:latin typeface="Times New Roman"/>
                <a:cs typeface="Times New Roman"/>
              </a:rPr>
              <a:t>]:</a:t>
            </a:r>
            <a:endParaRPr lang="en-US" dirty="0">
              <a:solidFill>
                <a:schemeClr val="tx1"/>
              </a:solidFill>
            </a:endParaRPr>
          </a:p>
          <a:p>
            <a:pPr algn="just">
              <a:lnSpc>
                <a:spcPct val="90000"/>
              </a:lnSpc>
            </a:pPr>
            <a:r>
              <a:rPr lang="en-US" i="1" dirty="0">
                <a:solidFill>
                  <a:schemeClr val="tx1"/>
                </a:solidFill>
                <a:latin typeface="Times New Roman"/>
                <a:cs typeface="Times New Roman"/>
              </a:rPr>
              <a:t>A</a:t>
            </a:r>
            <a:r>
              <a:rPr lang="en-US" dirty="0">
                <a:solidFill>
                  <a:schemeClr val="tx1"/>
                </a:solidFill>
                <a:latin typeface="Times New Roman"/>
                <a:cs typeface="Times New Roman"/>
              </a:rPr>
              <a:t>[0]  </a:t>
            </a:r>
            <a:r>
              <a:rPr lang="en-US" dirty="0">
                <a:solidFill>
                  <a:schemeClr val="tx1"/>
                </a:solidFill>
                <a:latin typeface="Symbol"/>
                <a:sym typeface="Symbol"/>
              </a:rPr>
              <a:t>£</a:t>
            </a:r>
            <a:r>
              <a:rPr lang="en-US" dirty="0">
                <a:solidFill>
                  <a:schemeClr val="tx1"/>
                </a:solidFill>
                <a:latin typeface="Times New Roman"/>
                <a:cs typeface="Times New Roman"/>
              </a:rPr>
              <a:t>   .   .   .   </a:t>
            </a:r>
            <a:r>
              <a:rPr lang="en-US" dirty="0">
                <a:solidFill>
                  <a:schemeClr val="tx1"/>
                </a:solidFill>
                <a:latin typeface="Symbol"/>
                <a:sym typeface="Symbol"/>
              </a:rPr>
              <a:t>£</a:t>
            </a:r>
            <a:r>
              <a:rPr lang="en-US" dirty="0">
                <a:solidFill>
                  <a:schemeClr val="tx1"/>
                </a:solidFill>
                <a:latin typeface="Times New Roman"/>
                <a:cs typeface="Times New Roman"/>
              </a:rPr>
              <a:t> </a:t>
            </a:r>
            <a:r>
              <a:rPr lang="en-US" i="1" dirty="0">
                <a:solidFill>
                  <a:schemeClr val="tx1"/>
                </a:solidFill>
                <a:latin typeface="Times New Roman"/>
                <a:cs typeface="Times New Roman"/>
              </a:rPr>
              <a:t>A</a:t>
            </a:r>
            <a:r>
              <a:rPr lang="en-US" dirty="0">
                <a:solidFill>
                  <a:schemeClr val="tx1"/>
                </a:solidFill>
                <a:latin typeface="Times New Roman"/>
                <a:cs typeface="Times New Roman"/>
              </a:rPr>
              <a:t>[</a:t>
            </a:r>
            <a:r>
              <a:rPr lang="en-US" i="1" dirty="0">
                <a:solidFill>
                  <a:schemeClr val="tx1"/>
                </a:solidFill>
                <a:latin typeface="Times New Roman"/>
                <a:cs typeface="Times New Roman"/>
              </a:rPr>
              <a:t>i</a:t>
            </a:r>
            <a:r>
              <a:rPr lang="en-US" dirty="0">
                <a:solidFill>
                  <a:schemeClr val="tx1"/>
                </a:solidFill>
                <a:latin typeface="Times New Roman"/>
                <a:cs typeface="Times New Roman"/>
              </a:rPr>
              <a:t>-1]  |  </a:t>
            </a:r>
            <a:r>
              <a:rPr lang="en-US" i="1" dirty="0">
                <a:solidFill>
                  <a:schemeClr val="tx1"/>
                </a:solidFill>
                <a:latin typeface="Times New Roman"/>
                <a:cs typeface="Times New Roman"/>
              </a:rPr>
              <a:t>A</a:t>
            </a:r>
            <a:r>
              <a:rPr lang="en-US" dirty="0">
                <a:solidFill>
                  <a:schemeClr val="tx1"/>
                </a:solidFill>
                <a:latin typeface="Times New Roman"/>
                <a:cs typeface="Times New Roman"/>
              </a:rPr>
              <a:t>[</a:t>
            </a:r>
            <a:r>
              <a:rPr lang="en-US" i="1" dirty="0" err="1">
                <a:solidFill>
                  <a:schemeClr val="tx1"/>
                </a:solidFill>
                <a:latin typeface="Times New Roman"/>
                <a:cs typeface="Times New Roman"/>
              </a:rPr>
              <a:t>i</a:t>
            </a:r>
            <a:r>
              <a:rPr lang="en-US" dirty="0">
                <a:solidFill>
                  <a:schemeClr val="tx1"/>
                </a:solidFill>
                <a:latin typeface="Times New Roman"/>
                <a:cs typeface="Times New Roman"/>
              </a:rPr>
              <a:t>],  .   .   .  , </a:t>
            </a:r>
            <a:r>
              <a:rPr lang="en-US" i="1" dirty="0">
                <a:solidFill>
                  <a:schemeClr val="tx1"/>
                </a:solidFill>
                <a:latin typeface="Times New Roman"/>
                <a:cs typeface="Times New Roman"/>
              </a:rPr>
              <a:t>A</a:t>
            </a:r>
            <a:r>
              <a:rPr lang="en-US" dirty="0">
                <a:solidFill>
                  <a:schemeClr val="tx1"/>
                </a:solidFill>
                <a:latin typeface="Times New Roman"/>
                <a:cs typeface="Times New Roman"/>
              </a:rPr>
              <a:t>[</a:t>
            </a:r>
            <a:r>
              <a:rPr lang="en-US" i="1" dirty="0">
                <a:solidFill>
                  <a:schemeClr val="tx1"/>
                </a:solidFill>
                <a:latin typeface="Times New Roman"/>
                <a:cs typeface="Times New Roman"/>
              </a:rPr>
              <a:t>min</a:t>
            </a:r>
            <a:r>
              <a:rPr lang="en-US" dirty="0">
                <a:solidFill>
                  <a:schemeClr val="tx1"/>
                </a:solidFill>
                <a:latin typeface="Times New Roman"/>
                <a:cs typeface="Times New Roman"/>
              </a:rPr>
              <a:t>], .   .   ., </a:t>
            </a:r>
            <a:r>
              <a:rPr lang="en-US" i="1" dirty="0">
                <a:solidFill>
                  <a:schemeClr val="tx1"/>
                </a:solidFill>
                <a:latin typeface="Times New Roman"/>
                <a:cs typeface="Times New Roman"/>
              </a:rPr>
              <a:t>A</a:t>
            </a:r>
            <a:r>
              <a:rPr lang="en-US" dirty="0">
                <a:solidFill>
                  <a:schemeClr val="tx1"/>
                </a:solidFill>
                <a:latin typeface="Times New Roman"/>
                <a:cs typeface="Times New Roman"/>
              </a:rPr>
              <a:t>[</a:t>
            </a:r>
            <a:r>
              <a:rPr lang="en-US" i="1" dirty="0">
                <a:solidFill>
                  <a:schemeClr val="tx1"/>
                </a:solidFill>
                <a:latin typeface="Times New Roman"/>
                <a:cs typeface="Times New Roman"/>
              </a:rPr>
              <a:t>n</a:t>
            </a:r>
            <a:r>
              <a:rPr lang="en-US" dirty="0">
                <a:solidFill>
                  <a:schemeClr val="tx1"/>
                </a:solidFill>
                <a:latin typeface="Times New Roman"/>
                <a:cs typeface="Times New Roman"/>
              </a:rPr>
              <a:t>-1]        </a:t>
            </a:r>
            <a:endParaRPr lang="en-US" dirty="0">
              <a:solidFill>
                <a:schemeClr val="tx1"/>
              </a:solidFill>
            </a:endParaRPr>
          </a:p>
          <a:p>
            <a:pPr marL="0" indent="0">
              <a:lnSpc>
                <a:spcPct val="90000"/>
              </a:lnSpc>
              <a:buNone/>
            </a:pPr>
            <a:br>
              <a:rPr lang="en-US" sz="1800" dirty="0"/>
            </a:br>
            <a:endParaRPr lang="en-US" sz="1800" dirty="0">
              <a:solidFill>
                <a:schemeClr val="tx1"/>
              </a:solidFill>
            </a:endParaRPr>
          </a:p>
          <a:p>
            <a:pPr>
              <a:lnSpc>
                <a:spcPct val="90000"/>
              </a:lnSpc>
            </a:pPr>
            <a:endParaRPr lang="en-US" sz="1800" dirty="0">
              <a:solidFill>
                <a:schemeClr val="tx1"/>
              </a:solidFill>
            </a:endParaRPr>
          </a:p>
        </p:txBody>
      </p:sp>
      <p:sp>
        <p:nvSpPr>
          <p:cNvPr id="4" name="Date Placeholder 3">
            <a:extLst>
              <a:ext uri="{FF2B5EF4-FFF2-40B4-BE49-F238E27FC236}">
                <a16:creationId xmlns:a16="http://schemas.microsoft.com/office/drawing/2014/main" id="{1A4A3332-1145-A02E-B5DD-0564529CE5D3}"/>
              </a:ext>
            </a:extLst>
          </p:cNvPr>
          <p:cNvSpPr>
            <a:spLocks noGrp="1"/>
          </p:cNvSpPr>
          <p:nvPr>
            <p:ph type="dt" sz="half" idx="10"/>
          </p:nvPr>
        </p:nvSpPr>
        <p:spPr>
          <a:xfrm>
            <a:off x="422899" y="6217920"/>
            <a:ext cx="2743200" cy="640080"/>
          </a:xfrm>
        </p:spPr>
        <p:txBody>
          <a:bodyPr anchor="ctr">
            <a:normAutofit/>
          </a:bodyPr>
          <a:lstStyle/>
          <a:p>
            <a:pPr>
              <a:spcAft>
                <a:spcPts val="600"/>
              </a:spcAft>
            </a:pPr>
            <a:endParaRPr lang="en-US" dirty="0"/>
          </a:p>
        </p:txBody>
      </p:sp>
      <p:sp>
        <p:nvSpPr>
          <p:cNvPr id="5" name="Footer Placeholder 4">
            <a:extLst>
              <a:ext uri="{FF2B5EF4-FFF2-40B4-BE49-F238E27FC236}">
                <a16:creationId xmlns:a16="http://schemas.microsoft.com/office/drawing/2014/main" id="{49575B5D-B1B1-23A1-69B7-68B261054C4B}"/>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28" name="Straight Connector 27">
            <a:extLst>
              <a:ext uri="{FF2B5EF4-FFF2-40B4-BE49-F238E27FC236}">
                <a16:creationId xmlns:a16="http://schemas.microsoft.com/office/drawing/2014/main" id="{5E5F5C0F-87CD-40D8-AD4B-452395E32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F40788-FC62-4F28-9E98-3973123174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93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34408" y="680192"/>
            <a:ext cx="2731687" cy="4018805"/>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3378205" y="727083"/>
            <a:ext cx="7636542" cy="5211431"/>
          </a:xfrm>
        </p:spPr>
        <p:txBody>
          <a:bodyPr vert="horz" lIns="91440" tIns="45720" rIns="91440" bIns="45720" rtlCol="0" anchor="ctr">
            <a:normAutofit/>
          </a:bodyPr>
          <a:lstStyle/>
          <a:p>
            <a:r>
              <a:rPr lang="en-US" sz="2800" b="1" dirty="0">
                <a:solidFill>
                  <a:schemeClr val="tx1"/>
                </a:solidFill>
                <a:latin typeface="Times New Roman"/>
                <a:cs typeface="Times New Roman"/>
              </a:rPr>
              <a:t>ALGORITHM Selection Sort(A[0 .. n-1])</a:t>
            </a:r>
            <a:endParaRPr lang="en-US" sz="2800" b="1" dirty="0">
              <a:solidFill>
                <a:schemeClr val="tx1"/>
              </a:solidFill>
              <a:latin typeface="Georgia Pro"/>
              <a:cs typeface="Times New Roman"/>
            </a:endParaRPr>
          </a:p>
          <a:p>
            <a:r>
              <a:rPr lang="en-US" sz="2800" dirty="0">
                <a:solidFill>
                  <a:schemeClr val="tx1"/>
                </a:solidFill>
                <a:latin typeface="Times New Roman"/>
                <a:cs typeface="Times New Roman"/>
              </a:rPr>
              <a:t>    // Sorts a given array using selection sort</a:t>
            </a:r>
            <a:endParaRPr lang="en-US" sz="2800" dirty="0">
              <a:solidFill>
                <a:schemeClr val="tx1"/>
              </a:solidFill>
            </a:endParaRPr>
          </a:p>
          <a:p>
            <a:r>
              <a:rPr lang="en-US" sz="2800" dirty="0">
                <a:solidFill>
                  <a:schemeClr val="tx1"/>
                </a:solidFill>
                <a:latin typeface="Times New Roman"/>
                <a:cs typeface="Times New Roman"/>
              </a:rPr>
              <a:t>    // Input: An array A[0 .. n-1] of orderable elements</a:t>
            </a:r>
            <a:endParaRPr lang="en-US" sz="2800" dirty="0">
              <a:solidFill>
                <a:schemeClr val="tx1"/>
              </a:solidFill>
            </a:endParaRPr>
          </a:p>
          <a:p>
            <a:r>
              <a:rPr lang="en-US" sz="2800" dirty="0">
                <a:solidFill>
                  <a:schemeClr val="tx1"/>
                </a:solidFill>
                <a:latin typeface="Times New Roman"/>
                <a:cs typeface="Times New Roman"/>
              </a:rPr>
              <a:t>    // Output: Array A[0 .. n-1] sorted in ascending order</a:t>
            </a:r>
            <a:endParaRPr lang="en-US" sz="2800" dirty="0">
              <a:solidFill>
                <a:schemeClr val="tx1"/>
              </a:solidFill>
            </a:endParaRPr>
          </a:p>
          <a:p>
            <a:r>
              <a:rPr lang="en-US" sz="2800" dirty="0">
                <a:solidFill>
                  <a:schemeClr val="tx1"/>
                </a:solidFill>
                <a:latin typeface="Times New Roman"/>
                <a:cs typeface="Times New Roman"/>
              </a:rPr>
              <a:t>    </a:t>
            </a:r>
            <a:r>
              <a:rPr lang="en-US" sz="2800" dirty="0">
                <a:solidFill>
                  <a:srgbClr val="FF0000"/>
                </a:solidFill>
                <a:latin typeface="Times New Roman"/>
                <a:cs typeface="Times New Roman"/>
              </a:rPr>
              <a:t>for </a:t>
            </a:r>
            <a:r>
              <a:rPr lang="en-US" sz="2800" dirty="0" err="1">
                <a:solidFill>
                  <a:srgbClr val="FF0000"/>
                </a:solidFill>
                <a:latin typeface="Times New Roman"/>
                <a:cs typeface="Times New Roman"/>
              </a:rPr>
              <a:t>i</a:t>
            </a:r>
            <a:r>
              <a:rPr lang="en-US" sz="2800" dirty="0">
                <a:solidFill>
                  <a:srgbClr val="FF0000"/>
                </a:solidFill>
                <a:latin typeface="Times New Roman"/>
                <a:cs typeface="Times New Roman"/>
              </a:rPr>
              <a:t> &lt;- 0 to n-2 do</a:t>
            </a:r>
            <a:endParaRPr lang="en-US" sz="2800" dirty="0">
              <a:solidFill>
                <a:srgbClr val="FF0000"/>
              </a:solidFill>
            </a:endParaRPr>
          </a:p>
          <a:p>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6</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Wednesday, January 14,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5839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34408" y="680192"/>
            <a:ext cx="2731687" cy="4018805"/>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3378205" y="727083"/>
            <a:ext cx="7636542" cy="5211431"/>
          </a:xfrm>
        </p:spPr>
        <p:txBody>
          <a:bodyPr vert="horz" lIns="91440" tIns="45720" rIns="91440" bIns="45720" rtlCol="0" anchor="ctr">
            <a:normAutofit/>
          </a:bodyPr>
          <a:lstStyle/>
          <a:p>
            <a:r>
              <a:rPr lang="en-US" sz="2800" b="1" dirty="0">
                <a:solidFill>
                  <a:schemeClr val="tx1"/>
                </a:solidFill>
                <a:latin typeface="Times New Roman"/>
                <a:cs typeface="Times New Roman"/>
              </a:rPr>
              <a:t>ALGORITHM Selection Sort(A[0 .. n-1])</a:t>
            </a:r>
            <a:endParaRPr lang="en-US" sz="2800" b="1" dirty="0">
              <a:solidFill>
                <a:schemeClr val="tx1"/>
              </a:solidFill>
              <a:latin typeface="Georgia Pro"/>
              <a:cs typeface="Times New Roman"/>
            </a:endParaRPr>
          </a:p>
          <a:p>
            <a:r>
              <a:rPr lang="en-US" sz="2800" dirty="0">
                <a:solidFill>
                  <a:schemeClr val="tx1"/>
                </a:solidFill>
                <a:latin typeface="Times New Roman"/>
                <a:cs typeface="Times New Roman"/>
              </a:rPr>
              <a:t>    // Sorts a given array using selection sort</a:t>
            </a:r>
            <a:endParaRPr lang="en-US" sz="2800" dirty="0">
              <a:solidFill>
                <a:schemeClr val="tx1"/>
              </a:solidFill>
            </a:endParaRPr>
          </a:p>
          <a:p>
            <a:r>
              <a:rPr lang="en-US" sz="2800" dirty="0">
                <a:solidFill>
                  <a:schemeClr val="tx1"/>
                </a:solidFill>
                <a:latin typeface="Times New Roman"/>
                <a:cs typeface="Times New Roman"/>
              </a:rPr>
              <a:t>    // Input: An array A[0 .. n-1] of orderable elements</a:t>
            </a:r>
            <a:endParaRPr lang="en-US" sz="2800" dirty="0">
              <a:solidFill>
                <a:schemeClr val="tx1"/>
              </a:solidFill>
            </a:endParaRPr>
          </a:p>
          <a:p>
            <a:r>
              <a:rPr lang="en-US" sz="2800" dirty="0">
                <a:solidFill>
                  <a:schemeClr val="tx1"/>
                </a:solidFill>
                <a:latin typeface="Times New Roman"/>
                <a:cs typeface="Times New Roman"/>
              </a:rPr>
              <a:t>    // Output: Array A[0 .. n-1] sorted in ascending order</a:t>
            </a:r>
            <a:endParaRPr lang="en-US" sz="2800" dirty="0">
              <a:solidFill>
                <a:schemeClr val="tx1"/>
              </a:solidFill>
            </a:endParaRPr>
          </a:p>
          <a:p>
            <a:r>
              <a:rPr lang="en-US" sz="2800" dirty="0">
                <a:solidFill>
                  <a:schemeClr val="tx1"/>
                </a:solidFill>
                <a:latin typeface="Times New Roman"/>
                <a:cs typeface="Times New Roman"/>
              </a:rPr>
              <a:t>    for </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 &lt;- 0 to n-2 do</a:t>
            </a:r>
            <a:endParaRPr lang="en-US" sz="2800" dirty="0">
              <a:solidFill>
                <a:schemeClr val="tx1"/>
              </a:solidFill>
            </a:endParaRPr>
          </a:p>
          <a:p>
            <a:r>
              <a:rPr lang="en-US" sz="2800" dirty="0">
                <a:solidFill>
                  <a:schemeClr val="tx1"/>
                </a:solidFill>
                <a:latin typeface="Times New Roman"/>
                <a:cs typeface="Times New Roman"/>
              </a:rPr>
              <a:t>        </a:t>
            </a:r>
            <a:r>
              <a:rPr lang="en-US" sz="2800" dirty="0">
                <a:solidFill>
                  <a:srgbClr val="FF0000"/>
                </a:solidFill>
                <a:latin typeface="Times New Roman"/>
                <a:cs typeface="Times New Roman"/>
              </a:rPr>
              <a:t>min &lt;- </a:t>
            </a:r>
            <a:r>
              <a:rPr lang="en-US" sz="2800" dirty="0" err="1">
                <a:solidFill>
                  <a:srgbClr val="FF0000"/>
                </a:solidFill>
                <a:latin typeface="Times New Roman"/>
                <a:cs typeface="Times New Roman"/>
              </a:rPr>
              <a:t>i</a:t>
            </a:r>
            <a:endParaRPr lang="en-US" sz="2800" dirty="0">
              <a:solidFill>
                <a:srgbClr val="FF0000"/>
              </a:solidFill>
            </a:endParaRPr>
          </a:p>
          <a:p>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7</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Wednesday, January 14,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1594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34408" y="680192"/>
            <a:ext cx="2731687" cy="4018805"/>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3378205" y="727083"/>
            <a:ext cx="7636542" cy="5211431"/>
          </a:xfrm>
        </p:spPr>
        <p:txBody>
          <a:bodyPr vert="horz" lIns="91440" tIns="45720" rIns="91440" bIns="45720" rtlCol="0" anchor="ctr">
            <a:normAutofit/>
          </a:bodyPr>
          <a:lstStyle/>
          <a:p>
            <a:r>
              <a:rPr lang="en-US" sz="2800" b="1" dirty="0">
                <a:solidFill>
                  <a:schemeClr val="tx1"/>
                </a:solidFill>
                <a:latin typeface="Times New Roman"/>
                <a:cs typeface="Times New Roman"/>
              </a:rPr>
              <a:t>ALGORITHM Selection Sort(A[0 .. n-1])</a:t>
            </a:r>
            <a:endParaRPr lang="en-US" sz="2800" b="1" dirty="0">
              <a:solidFill>
                <a:schemeClr val="tx1"/>
              </a:solidFill>
              <a:latin typeface="Georgia Pro"/>
              <a:cs typeface="Times New Roman"/>
            </a:endParaRPr>
          </a:p>
          <a:p>
            <a:r>
              <a:rPr lang="en-US" sz="2800" dirty="0">
                <a:solidFill>
                  <a:schemeClr val="tx1"/>
                </a:solidFill>
                <a:latin typeface="Times New Roman"/>
                <a:cs typeface="Times New Roman"/>
              </a:rPr>
              <a:t>    // Sorts a given array using selection sort</a:t>
            </a:r>
            <a:endParaRPr lang="en-US" sz="2800" dirty="0">
              <a:solidFill>
                <a:schemeClr val="tx1"/>
              </a:solidFill>
            </a:endParaRPr>
          </a:p>
          <a:p>
            <a:r>
              <a:rPr lang="en-US" sz="2800" dirty="0">
                <a:solidFill>
                  <a:schemeClr val="tx1"/>
                </a:solidFill>
                <a:latin typeface="Times New Roman"/>
                <a:cs typeface="Times New Roman"/>
              </a:rPr>
              <a:t>    // Input: An array A[0 .. n-1] of orderable elements</a:t>
            </a:r>
            <a:endParaRPr lang="en-US" sz="2800" dirty="0">
              <a:solidFill>
                <a:schemeClr val="tx1"/>
              </a:solidFill>
            </a:endParaRPr>
          </a:p>
          <a:p>
            <a:r>
              <a:rPr lang="en-US" sz="2800" dirty="0">
                <a:solidFill>
                  <a:schemeClr val="tx1"/>
                </a:solidFill>
                <a:latin typeface="Times New Roman"/>
                <a:cs typeface="Times New Roman"/>
              </a:rPr>
              <a:t>    // Output: Array A[0 .. n-1] sorted in ascending order</a:t>
            </a:r>
            <a:endParaRPr lang="en-US" sz="2800" dirty="0">
              <a:solidFill>
                <a:schemeClr val="tx1"/>
              </a:solidFill>
            </a:endParaRPr>
          </a:p>
          <a:p>
            <a:r>
              <a:rPr lang="en-US" sz="2800" dirty="0">
                <a:solidFill>
                  <a:schemeClr val="tx1"/>
                </a:solidFill>
                <a:latin typeface="Times New Roman"/>
                <a:cs typeface="Times New Roman"/>
              </a:rPr>
              <a:t>    for </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 &lt;- 0 to n-2 do</a:t>
            </a:r>
            <a:endParaRPr lang="en-US" sz="2800" dirty="0">
              <a:solidFill>
                <a:schemeClr val="tx1"/>
              </a:solidFill>
            </a:endParaRPr>
          </a:p>
          <a:p>
            <a:r>
              <a:rPr lang="en-US" sz="2800" dirty="0">
                <a:solidFill>
                  <a:schemeClr val="tx1"/>
                </a:solidFill>
                <a:latin typeface="Times New Roman"/>
                <a:cs typeface="Times New Roman"/>
              </a:rPr>
              <a:t>        min &lt;- </a:t>
            </a:r>
            <a:r>
              <a:rPr lang="en-US" sz="2800" dirty="0" err="1">
                <a:solidFill>
                  <a:schemeClr val="tx1"/>
                </a:solidFill>
                <a:latin typeface="Times New Roman"/>
                <a:cs typeface="Times New Roman"/>
              </a:rPr>
              <a:t>i</a:t>
            </a:r>
            <a:endParaRPr lang="en-US" sz="2800" dirty="0">
              <a:solidFill>
                <a:schemeClr val="tx1"/>
              </a:solidFill>
            </a:endParaRPr>
          </a:p>
          <a:p>
            <a:r>
              <a:rPr lang="en-US" sz="2800" dirty="0">
                <a:solidFill>
                  <a:schemeClr val="tx1"/>
                </a:solidFill>
                <a:latin typeface="Times New Roman"/>
                <a:cs typeface="Times New Roman"/>
              </a:rPr>
              <a:t>        </a:t>
            </a:r>
            <a:r>
              <a:rPr lang="en-US" sz="2800" dirty="0">
                <a:solidFill>
                  <a:srgbClr val="FF0000"/>
                </a:solidFill>
                <a:latin typeface="Times New Roman"/>
                <a:cs typeface="Times New Roman"/>
              </a:rPr>
              <a:t>for j &lt;- i+1 to n-1 do</a:t>
            </a:r>
            <a:endParaRPr lang="en-US" sz="2800" dirty="0">
              <a:solidFill>
                <a:srgbClr val="FF0000"/>
              </a:solidFill>
            </a:endParaRPr>
          </a:p>
          <a:p>
            <a:endParaRPr lang="en-US" sz="2800" dirty="0">
              <a:solidFill>
                <a:schemeClr val="tx1"/>
              </a:solidFill>
            </a:endParaRPr>
          </a:p>
          <a:p>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8</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Wednesday, January 14,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919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34408" y="680192"/>
            <a:ext cx="2731687" cy="4018805"/>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3378205" y="727083"/>
            <a:ext cx="7636542" cy="5211431"/>
          </a:xfrm>
        </p:spPr>
        <p:txBody>
          <a:bodyPr vert="horz" lIns="91440" tIns="45720" rIns="91440" bIns="45720" rtlCol="0" anchor="ctr">
            <a:normAutofit fontScale="92500"/>
          </a:bodyPr>
          <a:lstStyle/>
          <a:p>
            <a:r>
              <a:rPr lang="en-US" sz="2800" b="1" dirty="0">
                <a:solidFill>
                  <a:schemeClr val="tx1"/>
                </a:solidFill>
                <a:latin typeface="Times New Roman"/>
                <a:cs typeface="Times New Roman"/>
              </a:rPr>
              <a:t>ALGORITHM Selection Sort(A[0 .. n-1])</a:t>
            </a:r>
            <a:endParaRPr lang="en-US" sz="2800" b="1" dirty="0">
              <a:solidFill>
                <a:schemeClr val="tx1"/>
              </a:solidFill>
              <a:latin typeface="Georgia Pro"/>
              <a:cs typeface="Times New Roman"/>
            </a:endParaRPr>
          </a:p>
          <a:p>
            <a:r>
              <a:rPr lang="en-US" sz="2800" dirty="0">
                <a:solidFill>
                  <a:schemeClr val="tx1"/>
                </a:solidFill>
                <a:latin typeface="Times New Roman"/>
                <a:cs typeface="Times New Roman"/>
              </a:rPr>
              <a:t>    // Sorts a given array using selection sort</a:t>
            </a:r>
            <a:endParaRPr lang="en-US" sz="2800" dirty="0">
              <a:solidFill>
                <a:schemeClr val="tx1"/>
              </a:solidFill>
            </a:endParaRPr>
          </a:p>
          <a:p>
            <a:r>
              <a:rPr lang="en-US" sz="2800" dirty="0">
                <a:solidFill>
                  <a:schemeClr val="tx1"/>
                </a:solidFill>
                <a:latin typeface="Times New Roman"/>
                <a:cs typeface="Times New Roman"/>
              </a:rPr>
              <a:t>    // Input: An array A[0 .. n-1] of orderable elements</a:t>
            </a:r>
            <a:endParaRPr lang="en-US" sz="2800" dirty="0">
              <a:solidFill>
                <a:schemeClr val="tx1"/>
              </a:solidFill>
            </a:endParaRPr>
          </a:p>
          <a:p>
            <a:r>
              <a:rPr lang="en-US" sz="2800" dirty="0">
                <a:solidFill>
                  <a:schemeClr val="tx1"/>
                </a:solidFill>
                <a:latin typeface="Times New Roman"/>
                <a:cs typeface="Times New Roman"/>
              </a:rPr>
              <a:t>    // Output: Array A[0 .. n-1] sorted in ascending order</a:t>
            </a:r>
            <a:endParaRPr lang="en-US" sz="2800" dirty="0">
              <a:solidFill>
                <a:schemeClr val="tx1"/>
              </a:solidFill>
            </a:endParaRPr>
          </a:p>
          <a:p>
            <a:r>
              <a:rPr lang="en-US" sz="2800" dirty="0">
                <a:solidFill>
                  <a:schemeClr val="tx1"/>
                </a:solidFill>
                <a:latin typeface="Times New Roman"/>
                <a:cs typeface="Times New Roman"/>
              </a:rPr>
              <a:t>    for </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 &lt;- 0 to n-2 do</a:t>
            </a:r>
            <a:endParaRPr lang="en-US" sz="2800" dirty="0">
              <a:solidFill>
                <a:schemeClr val="tx1"/>
              </a:solidFill>
            </a:endParaRPr>
          </a:p>
          <a:p>
            <a:r>
              <a:rPr lang="en-US" sz="2800" dirty="0">
                <a:solidFill>
                  <a:schemeClr val="tx1"/>
                </a:solidFill>
                <a:latin typeface="Times New Roman"/>
                <a:cs typeface="Times New Roman"/>
              </a:rPr>
              <a:t>        min &lt;- </a:t>
            </a:r>
            <a:r>
              <a:rPr lang="en-US" sz="2800" dirty="0" err="1">
                <a:solidFill>
                  <a:schemeClr val="tx1"/>
                </a:solidFill>
                <a:latin typeface="Times New Roman"/>
                <a:cs typeface="Times New Roman"/>
              </a:rPr>
              <a:t>i</a:t>
            </a:r>
            <a:endParaRPr lang="en-US" sz="2800" dirty="0">
              <a:solidFill>
                <a:schemeClr val="tx1"/>
              </a:solidFill>
            </a:endParaRPr>
          </a:p>
          <a:p>
            <a:r>
              <a:rPr lang="en-US" sz="2800" dirty="0">
                <a:solidFill>
                  <a:schemeClr val="tx1"/>
                </a:solidFill>
                <a:latin typeface="Times New Roman"/>
                <a:cs typeface="Times New Roman"/>
              </a:rPr>
              <a:t>        for j &lt;- i+1 to n-1 do</a:t>
            </a:r>
            <a:endParaRPr lang="en-US" sz="2800" dirty="0">
              <a:solidFill>
                <a:schemeClr val="tx1"/>
              </a:solidFill>
            </a:endParaRPr>
          </a:p>
          <a:p>
            <a:r>
              <a:rPr lang="en-US" sz="2800" dirty="0">
                <a:solidFill>
                  <a:schemeClr val="tx1"/>
                </a:solidFill>
                <a:latin typeface="Times New Roman"/>
                <a:cs typeface="Times New Roman"/>
              </a:rPr>
              <a:t>            </a:t>
            </a:r>
            <a:r>
              <a:rPr lang="en-US" sz="2800" dirty="0">
                <a:solidFill>
                  <a:srgbClr val="FF0000"/>
                </a:solidFill>
                <a:latin typeface="Times New Roman"/>
                <a:cs typeface="Times New Roman"/>
              </a:rPr>
              <a:t>if A[j] &lt; A[min]</a:t>
            </a:r>
            <a:endParaRPr lang="en-US" sz="2800" dirty="0">
              <a:solidFill>
                <a:srgbClr val="FF0000"/>
              </a:solidFill>
            </a:endParaRPr>
          </a:p>
          <a:p>
            <a:r>
              <a:rPr lang="en-US" sz="2800" dirty="0">
                <a:solidFill>
                  <a:schemeClr val="tx1"/>
                </a:solidFill>
                <a:latin typeface="Times New Roman"/>
                <a:cs typeface="Times New Roman"/>
              </a:rPr>
              <a:t>               </a:t>
            </a:r>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9</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Wednesday, January 14,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314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34408" y="680192"/>
            <a:ext cx="2731687" cy="4018805"/>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3378205" y="727083"/>
            <a:ext cx="7636542" cy="5211431"/>
          </a:xfrm>
        </p:spPr>
        <p:txBody>
          <a:bodyPr vert="horz" lIns="91440" tIns="45720" rIns="91440" bIns="45720" rtlCol="0" anchor="ctr">
            <a:normAutofit fontScale="92500" lnSpcReduction="10000"/>
          </a:bodyPr>
          <a:lstStyle/>
          <a:p>
            <a:r>
              <a:rPr lang="en-US" sz="2800" b="1" dirty="0">
                <a:solidFill>
                  <a:schemeClr val="tx1"/>
                </a:solidFill>
                <a:latin typeface="Times New Roman"/>
                <a:cs typeface="Times New Roman"/>
              </a:rPr>
              <a:t>ALGORITHM Selection Sort(A[0 .. n-1])</a:t>
            </a:r>
            <a:endParaRPr lang="en-US" sz="2800" b="1" dirty="0">
              <a:solidFill>
                <a:schemeClr val="tx1"/>
              </a:solidFill>
              <a:latin typeface="Georgia Pro"/>
              <a:cs typeface="Times New Roman"/>
            </a:endParaRPr>
          </a:p>
          <a:p>
            <a:r>
              <a:rPr lang="en-US" sz="2800" dirty="0">
                <a:solidFill>
                  <a:schemeClr val="tx1"/>
                </a:solidFill>
                <a:latin typeface="Times New Roman"/>
                <a:cs typeface="Times New Roman"/>
              </a:rPr>
              <a:t>    // Sorts a given array using selection sort</a:t>
            </a:r>
            <a:endParaRPr lang="en-US" sz="2800" dirty="0">
              <a:solidFill>
                <a:schemeClr val="tx1"/>
              </a:solidFill>
            </a:endParaRPr>
          </a:p>
          <a:p>
            <a:r>
              <a:rPr lang="en-US" sz="2800" dirty="0">
                <a:solidFill>
                  <a:schemeClr val="tx1"/>
                </a:solidFill>
                <a:latin typeface="Times New Roman"/>
                <a:cs typeface="Times New Roman"/>
              </a:rPr>
              <a:t>    // Input: An array A[0 .. n-1] of orderable elements</a:t>
            </a:r>
            <a:endParaRPr lang="en-US" sz="2800" dirty="0">
              <a:solidFill>
                <a:schemeClr val="tx1"/>
              </a:solidFill>
            </a:endParaRPr>
          </a:p>
          <a:p>
            <a:r>
              <a:rPr lang="en-US" sz="2800" dirty="0">
                <a:solidFill>
                  <a:schemeClr val="tx1"/>
                </a:solidFill>
                <a:latin typeface="Times New Roman"/>
                <a:cs typeface="Times New Roman"/>
              </a:rPr>
              <a:t>    // Output: Array A[0 .. n-1] sorted in ascending order</a:t>
            </a:r>
            <a:endParaRPr lang="en-US" sz="2800" dirty="0">
              <a:solidFill>
                <a:schemeClr val="tx1"/>
              </a:solidFill>
            </a:endParaRPr>
          </a:p>
          <a:p>
            <a:r>
              <a:rPr lang="en-US" sz="2800" dirty="0">
                <a:solidFill>
                  <a:schemeClr val="tx1"/>
                </a:solidFill>
                <a:latin typeface="Times New Roman"/>
                <a:cs typeface="Times New Roman"/>
              </a:rPr>
              <a:t>    for </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 &lt;- 0 to n-2 do</a:t>
            </a:r>
            <a:endParaRPr lang="en-US" sz="2800" dirty="0">
              <a:solidFill>
                <a:schemeClr val="tx1"/>
              </a:solidFill>
            </a:endParaRPr>
          </a:p>
          <a:p>
            <a:r>
              <a:rPr lang="en-US" sz="2800" dirty="0">
                <a:solidFill>
                  <a:schemeClr val="tx1"/>
                </a:solidFill>
                <a:latin typeface="Times New Roman"/>
                <a:cs typeface="Times New Roman"/>
              </a:rPr>
              <a:t>        min &lt;- </a:t>
            </a:r>
            <a:r>
              <a:rPr lang="en-US" sz="2800" dirty="0" err="1">
                <a:solidFill>
                  <a:schemeClr val="tx1"/>
                </a:solidFill>
                <a:latin typeface="Times New Roman"/>
                <a:cs typeface="Times New Roman"/>
              </a:rPr>
              <a:t>i</a:t>
            </a:r>
            <a:endParaRPr lang="en-US" sz="2800" dirty="0">
              <a:solidFill>
                <a:schemeClr val="tx1"/>
              </a:solidFill>
            </a:endParaRPr>
          </a:p>
          <a:p>
            <a:r>
              <a:rPr lang="en-US" sz="2800" dirty="0">
                <a:solidFill>
                  <a:schemeClr val="tx1"/>
                </a:solidFill>
                <a:latin typeface="Times New Roman"/>
                <a:cs typeface="Times New Roman"/>
              </a:rPr>
              <a:t>        for j &lt;- i+1 to n-1 do</a:t>
            </a:r>
            <a:endParaRPr lang="en-US" sz="2800" dirty="0">
              <a:solidFill>
                <a:schemeClr val="tx1"/>
              </a:solidFill>
            </a:endParaRPr>
          </a:p>
          <a:p>
            <a:r>
              <a:rPr lang="en-US" sz="2800" dirty="0">
                <a:solidFill>
                  <a:schemeClr val="tx1"/>
                </a:solidFill>
                <a:latin typeface="Times New Roman"/>
                <a:cs typeface="Times New Roman"/>
              </a:rPr>
              <a:t>            if A[j] &lt; A[min]</a:t>
            </a:r>
            <a:endParaRPr lang="en-US" sz="2800" dirty="0">
              <a:solidFill>
                <a:schemeClr val="tx1"/>
              </a:solidFill>
            </a:endParaRPr>
          </a:p>
          <a:p>
            <a:r>
              <a:rPr lang="en-US" sz="2800" dirty="0">
                <a:solidFill>
                  <a:schemeClr val="tx1"/>
                </a:solidFill>
                <a:latin typeface="Times New Roman"/>
                <a:cs typeface="Times New Roman"/>
              </a:rPr>
              <a:t>                </a:t>
            </a:r>
            <a:r>
              <a:rPr lang="en-US" sz="2800" dirty="0">
                <a:solidFill>
                  <a:srgbClr val="FF0000"/>
                </a:solidFill>
                <a:latin typeface="Times New Roman"/>
                <a:cs typeface="Times New Roman"/>
              </a:rPr>
              <a:t>min &lt;- j</a:t>
            </a:r>
            <a:endParaRPr lang="en-US" sz="2800" dirty="0">
              <a:solidFill>
                <a:srgbClr val="FF0000"/>
              </a:solidFill>
            </a:endParaRPr>
          </a:p>
          <a:p>
            <a:r>
              <a:rPr lang="en-US" sz="2800" dirty="0">
                <a:solidFill>
                  <a:schemeClr val="tx1"/>
                </a:solidFill>
                <a:latin typeface="Times New Roman"/>
                <a:cs typeface="Times New Roman"/>
              </a:rPr>
              <a:t>      </a:t>
            </a:r>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10</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Wednesday, January 14,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5773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34408" y="680192"/>
            <a:ext cx="2731687" cy="4018805"/>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3378205" y="727083"/>
            <a:ext cx="7636542" cy="5211431"/>
          </a:xfrm>
        </p:spPr>
        <p:txBody>
          <a:bodyPr vert="horz" lIns="91440" tIns="45720" rIns="91440" bIns="45720" rtlCol="0" anchor="ctr">
            <a:normAutofit fontScale="92500" lnSpcReduction="10000"/>
          </a:bodyPr>
          <a:lstStyle/>
          <a:p>
            <a:r>
              <a:rPr lang="en-US" sz="2800" b="1" dirty="0">
                <a:solidFill>
                  <a:schemeClr val="tx1"/>
                </a:solidFill>
                <a:latin typeface="Times New Roman"/>
                <a:cs typeface="Times New Roman"/>
              </a:rPr>
              <a:t>ALGORITHM Selection Sort(A[0 .. n-1])</a:t>
            </a:r>
            <a:endParaRPr lang="en-US" sz="2800" b="1" dirty="0">
              <a:solidFill>
                <a:schemeClr val="tx1"/>
              </a:solidFill>
              <a:latin typeface="Georgia Pro"/>
              <a:cs typeface="Times New Roman"/>
            </a:endParaRPr>
          </a:p>
          <a:p>
            <a:r>
              <a:rPr lang="en-US" sz="2800" dirty="0">
                <a:solidFill>
                  <a:schemeClr val="tx1"/>
                </a:solidFill>
                <a:latin typeface="Times New Roman"/>
                <a:cs typeface="Times New Roman"/>
              </a:rPr>
              <a:t>    // Sorts a given array using selection sort</a:t>
            </a:r>
            <a:endParaRPr lang="en-US" sz="2800" dirty="0">
              <a:solidFill>
                <a:schemeClr val="tx1"/>
              </a:solidFill>
            </a:endParaRPr>
          </a:p>
          <a:p>
            <a:r>
              <a:rPr lang="en-US" sz="2800" dirty="0">
                <a:solidFill>
                  <a:schemeClr val="tx1"/>
                </a:solidFill>
                <a:latin typeface="Times New Roman"/>
                <a:cs typeface="Times New Roman"/>
              </a:rPr>
              <a:t>    // Input: An array A[0 .. n-1] of orderable elements</a:t>
            </a:r>
            <a:endParaRPr lang="en-US" sz="2800" dirty="0">
              <a:solidFill>
                <a:schemeClr val="tx1"/>
              </a:solidFill>
            </a:endParaRPr>
          </a:p>
          <a:p>
            <a:r>
              <a:rPr lang="en-US" sz="2800" dirty="0">
                <a:solidFill>
                  <a:schemeClr val="tx1"/>
                </a:solidFill>
                <a:latin typeface="Times New Roman"/>
                <a:cs typeface="Times New Roman"/>
              </a:rPr>
              <a:t>    // Output: Array A[0 .. n-1] sorted in ascending order</a:t>
            </a:r>
            <a:endParaRPr lang="en-US" sz="2800" dirty="0">
              <a:solidFill>
                <a:schemeClr val="tx1"/>
              </a:solidFill>
            </a:endParaRPr>
          </a:p>
          <a:p>
            <a:r>
              <a:rPr lang="en-US" sz="2800" dirty="0">
                <a:solidFill>
                  <a:schemeClr val="tx1"/>
                </a:solidFill>
                <a:latin typeface="Times New Roman"/>
                <a:cs typeface="Times New Roman"/>
              </a:rPr>
              <a:t>    for </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 &lt;- 0 to n-2 do</a:t>
            </a:r>
            <a:endParaRPr lang="en-US" sz="2800" dirty="0">
              <a:solidFill>
                <a:schemeClr val="tx1"/>
              </a:solidFill>
            </a:endParaRPr>
          </a:p>
          <a:p>
            <a:r>
              <a:rPr lang="en-US" sz="2800" dirty="0">
                <a:solidFill>
                  <a:schemeClr val="tx1"/>
                </a:solidFill>
                <a:latin typeface="Times New Roman"/>
                <a:cs typeface="Times New Roman"/>
              </a:rPr>
              <a:t>        min &lt;- </a:t>
            </a:r>
            <a:r>
              <a:rPr lang="en-US" sz="2800" dirty="0" err="1">
                <a:solidFill>
                  <a:schemeClr val="tx1"/>
                </a:solidFill>
                <a:latin typeface="Times New Roman"/>
                <a:cs typeface="Times New Roman"/>
              </a:rPr>
              <a:t>i</a:t>
            </a:r>
            <a:endParaRPr lang="en-US" sz="2800" dirty="0">
              <a:solidFill>
                <a:schemeClr val="tx1"/>
              </a:solidFill>
            </a:endParaRPr>
          </a:p>
          <a:p>
            <a:r>
              <a:rPr lang="en-US" sz="2800" dirty="0">
                <a:solidFill>
                  <a:schemeClr val="tx1"/>
                </a:solidFill>
                <a:latin typeface="Times New Roman"/>
                <a:cs typeface="Times New Roman"/>
              </a:rPr>
              <a:t>        for j &lt;- i+1 to n-1 do</a:t>
            </a:r>
            <a:endParaRPr lang="en-US" sz="2800" dirty="0">
              <a:solidFill>
                <a:schemeClr val="tx1"/>
              </a:solidFill>
            </a:endParaRPr>
          </a:p>
          <a:p>
            <a:r>
              <a:rPr lang="en-US" sz="2800" dirty="0">
                <a:solidFill>
                  <a:schemeClr val="tx1"/>
                </a:solidFill>
                <a:latin typeface="Times New Roman"/>
                <a:cs typeface="Times New Roman"/>
              </a:rPr>
              <a:t>            if A[j] &lt; A[min]</a:t>
            </a:r>
            <a:endParaRPr lang="en-US" sz="2800" dirty="0">
              <a:solidFill>
                <a:schemeClr val="tx1"/>
              </a:solidFill>
            </a:endParaRPr>
          </a:p>
          <a:p>
            <a:r>
              <a:rPr lang="en-US" sz="2800" dirty="0">
                <a:solidFill>
                  <a:schemeClr val="tx1"/>
                </a:solidFill>
                <a:latin typeface="Times New Roman"/>
                <a:cs typeface="Times New Roman"/>
              </a:rPr>
              <a:t>                min &lt;- j</a:t>
            </a:r>
            <a:endParaRPr lang="en-US" sz="2800" dirty="0">
              <a:solidFill>
                <a:schemeClr val="tx1"/>
              </a:solidFill>
            </a:endParaRPr>
          </a:p>
          <a:p>
            <a:r>
              <a:rPr lang="en-US" sz="2800" dirty="0">
                <a:solidFill>
                  <a:schemeClr val="tx1"/>
                </a:solidFill>
                <a:latin typeface="Times New Roman"/>
                <a:cs typeface="Times New Roman"/>
              </a:rPr>
              <a:t>        </a:t>
            </a:r>
            <a:r>
              <a:rPr lang="en-US" sz="2800" dirty="0">
                <a:solidFill>
                  <a:srgbClr val="FF0000"/>
                </a:solidFill>
                <a:latin typeface="Times New Roman"/>
                <a:cs typeface="Times New Roman"/>
              </a:rPr>
              <a:t>swap A[</a:t>
            </a:r>
            <a:r>
              <a:rPr lang="en-US" sz="2800" dirty="0" err="1">
                <a:solidFill>
                  <a:srgbClr val="FF0000"/>
                </a:solidFill>
                <a:latin typeface="Times New Roman"/>
                <a:cs typeface="Times New Roman"/>
              </a:rPr>
              <a:t>i</a:t>
            </a:r>
            <a:r>
              <a:rPr lang="en-US" sz="2800" dirty="0">
                <a:solidFill>
                  <a:srgbClr val="FF0000"/>
                </a:solidFill>
                <a:latin typeface="Times New Roman"/>
                <a:cs typeface="Times New Roman"/>
              </a:rPr>
              <a:t>] and A[min]</a:t>
            </a:r>
            <a:endParaRPr lang="en-US" sz="2800" dirty="0">
              <a:solidFill>
                <a:srgbClr val="FF0000"/>
              </a:solidFill>
            </a:endParaRPr>
          </a:p>
          <a:p>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11</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Wednesday, January 14,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061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1DCF9-62CF-B1B6-7859-12EA08472A72}"/>
              </a:ext>
            </a:extLst>
          </p:cNvPr>
          <p:cNvSpPr>
            <a:spLocks noGrp="1"/>
          </p:cNvSpPr>
          <p:nvPr>
            <p:ph type="title"/>
          </p:nvPr>
        </p:nvSpPr>
        <p:spPr>
          <a:xfrm>
            <a:off x="434408" y="680192"/>
            <a:ext cx="2731687" cy="4018805"/>
          </a:xfrm>
        </p:spPr>
        <p:txBody>
          <a:bodyPr>
            <a:normAutofit/>
          </a:bodyPr>
          <a:lstStyle/>
          <a:p>
            <a:r>
              <a:rPr lang="en-US" sz="4800" dirty="0"/>
              <a:t>Selection Sort Algorithm</a:t>
            </a:r>
          </a:p>
        </p:txBody>
      </p:sp>
      <p:sp>
        <p:nvSpPr>
          <p:cNvPr id="3" name="Content Placeholder 2">
            <a:extLst>
              <a:ext uri="{FF2B5EF4-FFF2-40B4-BE49-F238E27FC236}">
                <a16:creationId xmlns:a16="http://schemas.microsoft.com/office/drawing/2014/main" id="{989133A4-4B82-07F6-0752-CF3F09CAF1E6}"/>
              </a:ext>
            </a:extLst>
          </p:cNvPr>
          <p:cNvSpPr>
            <a:spLocks noGrp="1"/>
          </p:cNvSpPr>
          <p:nvPr>
            <p:ph idx="1"/>
          </p:nvPr>
        </p:nvSpPr>
        <p:spPr>
          <a:xfrm>
            <a:off x="3378205" y="727083"/>
            <a:ext cx="7636542" cy="5211431"/>
          </a:xfrm>
        </p:spPr>
        <p:txBody>
          <a:bodyPr vert="horz" lIns="91440" tIns="45720" rIns="91440" bIns="45720" rtlCol="0" anchor="ctr">
            <a:normAutofit fontScale="92500" lnSpcReduction="10000"/>
          </a:bodyPr>
          <a:lstStyle/>
          <a:p>
            <a:r>
              <a:rPr lang="en-US" sz="2800" b="1" dirty="0">
                <a:solidFill>
                  <a:schemeClr val="tx1"/>
                </a:solidFill>
                <a:latin typeface="Times New Roman"/>
                <a:cs typeface="Times New Roman"/>
              </a:rPr>
              <a:t>ALGORITHM Selection Sort(A[0 .. n-1])</a:t>
            </a:r>
            <a:endParaRPr lang="en-US" sz="2800" b="1" dirty="0">
              <a:solidFill>
                <a:schemeClr val="tx1"/>
              </a:solidFill>
              <a:latin typeface="Georgia Pro"/>
              <a:cs typeface="Times New Roman"/>
            </a:endParaRPr>
          </a:p>
          <a:p>
            <a:r>
              <a:rPr lang="en-US" sz="2800" dirty="0">
                <a:solidFill>
                  <a:schemeClr val="tx1"/>
                </a:solidFill>
                <a:latin typeface="Times New Roman"/>
                <a:cs typeface="Times New Roman"/>
              </a:rPr>
              <a:t>    // Sorts a given array using selection sort</a:t>
            </a:r>
            <a:endParaRPr lang="en-US" sz="2800" dirty="0">
              <a:solidFill>
                <a:schemeClr val="tx1"/>
              </a:solidFill>
            </a:endParaRPr>
          </a:p>
          <a:p>
            <a:r>
              <a:rPr lang="en-US" sz="2800" dirty="0">
                <a:solidFill>
                  <a:schemeClr val="tx1"/>
                </a:solidFill>
                <a:latin typeface="Times New Roman"/>
                <a:cs typeface="Times New Roman"/>
              </a:rPr>
              <a:t>    // Input: An array A[0 .. n-1] of orderable elements</a:t>
            </a:r>
            <a:endParaRPr lang="en-US" sz="2800" dirty="0">
              <a:solidFill>
                <a:schemeClr val="tx1"/>
              </a:solidFill>
            </a:endParaRPr>
          </a:p>
          <a:p>
            <a:r>
              <a:rPr lang="en-US" sz="2800" dirty="0">
                <a:solidFill>
                  <a:schemeClr val="tx1"/>
                </a:solidFill>
                <a:latin typeface="Times New Roman"/>
                <a:cs typeface="Times New Roman"/>
              </a:rPr>
              <a:t>    // Output: Array A[0 .. n-1] sorted in ascending order</a:t>
            </a:r>
            <a:endParaRPr lang="en-US" sz="2800" dirty="0">
              <a:solidFill>
                <a:schemeClr val="tx1"/>
              </a:solidFill>
            </a:endParaRPr>
          </a:p>
          <a:p>
            <a:r>
              <a:rPr lang="en-US" sz="2800" dirty="0">
                <a:solidFill>
                  <a:schemeClr val="tx1"/>
                </a:solidFill>
                <a:latin typeface="Times New Roman"/>
                <a:cs typeface="Times New Roman"/>
              </a:rPr>
              <a:t>    for </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 &lt;- 0 to n-2 do</a:t>
            </a:r>
            <a:endParaRPr lang="en-US" sz="2800" dirty="0">
              <a:solidFill>
                <a:schemeClr val="tx1"/>
              </a:solidFill>
            </a:endParaRPr>
          </a:p>
          <a:p>
            <a:r>
              <a:rPr lang="en-US" sz="2800" dirty="0">
                <a:solidFill>
                  <a:schemeClr val="tx1"/>
                </a:solidFill>
                <a:latin typeface="Times New Roman"/>
                <a:cs typeface="Times New Roman"/>
              </a:rPr>
              <a:t>        min &lt;- </a:t>
            </a:r>
            <a:r>
              <a:rPr lang="en-US" sz="2800" dirty="0" err="1">
                <a:solidFill>
                  <a:schemeClr val="tx1"/>
                </a:solidFill>
                <a:latin typeface="Times New Roman"/>
                <a:cs typeface="Times New Roman"/>
              </a:rPr>
              <a:t>i</a:t>
            </a:r>
            <a:endParaRPr lang="en-US" sz="2800" dirty="0">
              <a:solidFill>
                <a:schemeClr val="tx1"/>
              </a:solidFill>
            </a:endParaRPr>
          </a:p>
          <a:p>
            <a:r>
              <a:rPr lang="en-US" sz="2800" dirty="0">
                <a:solidFill>
                  <a:schemeClr val="tx1"/>
                </a:solidFill>
                <a:latin typeface="Times New Roman"/>
                <a:cs typeface="Times New Roman"/>
              </a:rPr>
              <a:t>        for j &lt;- i+1 to n-1 do</a:t>
            </a:r>
            <a:endParaRPr lang="en-US" sz="2800" dirty="0">
              <a:solidFill>
                <a:schemeClr val="tx1"/>
              </a:solidFill>
            </a:endParaRPr>
          </a:p>
          <a:p>
            <a:r>
              <a:rPr lang="en-US" sz="2800" dirty="0">
                <a:solidFill>
                  <a:schemeClr val="tx1"/>
                </a:solidFill>
                <a:latin typeface="Times New Roman"/>
                <a:cs typeface="Times New Roman"/>
              </a:rPr>
              <a:t>            if A[j] &lt; A[min]</a:t>
            </a:r>
            <a:endParaRPr lang="en-US" sz="2800" dirty="0">
              <a:solidFill>
                <a:schemeClr val="tx1"/>
              </a:solidFill>
            </a:endParaRPr>
          </a:p>
          <a:p>
            <a:r>
              <a:rPr lang="en-US" sz="2800" dirty="0">
                <a:solidFill>
                  <a:schemeClr val="tx1"/>
                </a:solidFill>
                <a:latin typeface="Times New Roman"/>
                <a:cs typeface="Times New Roman"/>
              </a:rPr>
              <a:t>                min &lt;- j</a:t>
            </a:r>
            <a:endParaRPr lang="en-US" sz="2800" dirty="0">
              <a:solidFill>
                <a:schemeClr val="tx1"/>
              </a:solidFill>
            </a:endParaRPr>
          </a:p>
          <a:p>
            <a:r>
              <a:rPr lang="en-US" sz="2800" dirty="0">
                <a:solidFill>
                  <a:schemeClr val="tx1"/>
                </a:solidFill>
                <a:latin typeface="Times New Roman"/>
                <a:cs typeface="Times New Roman"/>
              </a:rPr>
              <a:t>        swap A[</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 and A[min]</a:t>
            </a:r>
            <a:endParaRPr lang="en-US" sz="2800" dirty="0">
              <a:solidFill>
                <a:schemeClr val="tx1"/>
              </a:solidFill>
            </a:endParaRPr>
          </a:p>
          <a:p>
            <a:endParaRPr lang="en-US" sz="1800" dirty="0">
              <a:solidFill>
                <a:schemeClr val="tx1"/>
              </a:solidFill>
              <a:latin typeface="Georgia Pro"/>
              <a:cs typeface="Times New Roman"/>
            </a:endParaRPr>
          </a:p>
        </p:txBody>
      </p:sp>
      <p:sp>
        <p:nvSpPr>
          <p:cNvPr id="6" name="Slide Number Placeholder 5">
            <a:extLst>
              <a:ext uri="{FF2B5EF4-FFF2-40B4-BE49-F238E27FC236}">
                <a16:creationId xmlns:a16="http://schemas.microsoft.com/office/drawing/2014/main" id="{A339076E-937C-6151-1FE8-1813FA06771A}"/>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12</a:t>
            </a:fld>
            <a:endParaRPr lang="en-US"/>
          </a:p>
        </p:txBody>
      </p:sp>
      <p:sp>
        <p:nvSpPr>
          <p:cNvPr id="4" name="Date Placeholder 3">
            <a:extLst>
              <a:ext uri="{FF2B5EF4-FFF2-40B4-BE49-F238E27FC236}">
                <a16:creationId xmlns:a16="http://schemas.microsoft.com/office/drawing/2014/main" id="{740E8302-6FBC-9C21-69B2-31723F195E83}"/>
              </a:ext>
            </a:extLst>
          </p:cNvPr>
          <p:cNvSpPr>
            <a:spLocks noGrp="1"/>
          </p:cNvSpPr>
          <p:nvPr>
            <p:ph type="dt" sz="half" idx="10"/>
          </p:nvPr>
        </p:nvSpPr>
        <p:spPr>
          <a:xfrm>
            <a:off x="422899" y="6217920"/>
            <a:ext cx="2743200" cy="640080"/>
          </a:xfrm>
        </p:spPr>
        <p:txBody>
          <a:bodyPr anchor="ctr">
            <a:normAutofit/>
          </a:bodyPr>
          <a:lstStyle/>
          <a:p>
            <a:pPr>
              <a:spcAft>
                <a:spcPts val="600"/>
              </a:spcAft>
            </a:pPr>
            <a:fld id="{1818C67D-987C-4731-A3F4-FD6C0282C724}" type="datetime2">
              <a:rPr lang="en-US" smtClean="0"/>
              <a:t>Wednesday, January 14, 2026</a:t>
            </a:fld>
            <a:endParaRPr lang="en-US"/>
          </a:p>
        </p:txBody>
      </p:sp>
      <p:sp>
        <p:nvSpPr>
          <p:cNvPr id="5" name="Footer Placeholder 4">
            <a:extLst>
              <a:ext uri="{FF2B5EF4-FFF2-40B4-BE49-F238E27FC236}">
                <a16:creationId xmlns:a16="http://schemas.microsoft.com/office/drawing/2014/main" id="{9A01594F-4D89-13ED-5ABF-A6359C691906}"/>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624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8F87A-1518-29C7-8D66-3381CAAAD200}"/>
              </a:ext>
            </a:extLst>
          </p:cNvPr>
          <p:cNvSpPr>
            <a:spLocks noGrp="1"/>
          </p:cNvSpPr>
          <p:nvPr>
            <p:ph type="title"/>
          </p:nvPr>
        </p:nvSpPr>
        <p:spPr/>
        <p:txBody>
          <a:bodyPr/>
          <a:lstStyle/>
          <a:p>
            <a:r>
              <a:rPr lang="en-IN" dirty="0"/>
              <a:t>Example:{3,1,2}…</a:t>
            </a:r>
            <a:r>
              <a:rPr lang="en-IN" dirty="0" err="1"/>
              <a:t>Ist</a:t>
            </a:r>
            <a:r>
              <a:rPr lang="en-IN" dirty="0"/>
              <a:t> iteration</a:t>
            </a:r>
          </a:p>
        </p:txBody>
      </p:sp>
      <p:sp>
        <p:nvSpPr>
          <p:cNvPr id="3" name="Content Placeholder 2">
            <a:extLst>
              <a:ext uri="{FF2B5EF4-FFF2-40B4-BE49-F238E27FC236}">
                <a16:creationId xmlns:a16="http://schemas.microsoft.com/office/drawing/2014/main" id="{5268B998-02BA-45F3-D272-E5820A711ECB}"/>
              </a:ext>
            </a:extLst>
          </p:cNvPr>
          <p:cNvSpPr>
            <a:spLocks noGrp="1"/>
          </p:cNvSpPr>
          <p:nvPr>
            <p:ph idx="1"/>
          </p:nvPr>
        </p:nvSpPr>
        <p:spPr/>
        <p:txBody>
          <a:bodyPr/>
          <a:lstStyle/>
          <a:p>
            <a:r>
              <a:rPr lang="en-IN" dirty="0" err="1"/>
              <a:t>i</a:t>
            </a:r>
            <a:r>
              <a:rPr lang="en-IN" dirty="0"/>
              <a:t>=0</a:t>
            </a:r>
          </a:p>
          <a:p>
            <a:r>
              <a:rPr lang="en-IN" dirty="0"/>
              <a:t>Min=</a:t>
            </a:r>
            <a:r>
              <a:rPr lang="en-IN" dirty="0" err="1"/>
              <a:t>i</a:t>
            </a:r>
            <a:endParaRPr lang="en-IN" dirty="0"/>
          </a:p>
          <a:p>
            <a:r>
              <a:rPr lang="en-IN" dirty="0"/>
              <a:t>j=i+1=0+1=1</a:t>
            </a:r>
          </a:p>
          <a:p>
            <a:r>
              <a:rPr lang="en-IN" dirty="0"/>
              <a:t>A[1]&lt;A[0]</a:t>
            </a:r>
          </a:p>
          <a:p>
            <a:r>
              <a:rPr lang="en-IN" dirty="0"/>
              <a:t>1&lt;3 (True)</a:t>
            </a:r>
          </a:p>
          <a:p>
            <a:r>
              <a:rPr lang="en-IN" dirty="0"/>
              <a:t>Min=j</a:t>
            </a:r>
          </a:p>
          <a:p>
            <a:r>
              <a:rPr lang="en-IN" dirty="0"/>
              <a:t>Min=1</a:t>
            </a:r>
          </a:p>
          <a:p>
            <a:r>
              <a:rPr lang="en-IN" dirty="0"/>
              <a:t>Swap(a[</a:t>
            </a:r>
            <a:r>
              <a:rPr lang="en-IN" dirty="0" err="1"/>
              <a:t>i</a:t>
            </a:r>
            <a:r>
              <a:rPr lang="en-IN" dirty="0"/>
              <a:t>] and a[min])=swap(a[0] and a[1])=[1,3,2]</a:t>
            </a:r>
          </a:p>
          <a:p>
            <a:endParaRPr lang="en-IN" dirty="0"/>
          </a:p>
        </p:txBody>
      </p:sp>
      <p:sp>
        <p:nvSpPr>
          <p:cNvPr id="4" name="Date Placeholder 3">
            <a:extLst>
              <a:ext uri="{FF2B5EF4-FFF2-40B4-BE49-F238E27FC236}">
                <a16:creationId xmlns:a16="http://schemas.microsoft.com/office/drawing/2014/main" id="{72B5D7F2-80A7-84EA-2BEA-F4C328FF43CD}"/>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9D5EB40D-E48B-B97B-514C-0C3502D044A0}"/>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8F3961B0-445B-0373-36F0-C59F4ACBBCEE}"/>
              </a:ext>
            </a:extLst>
          </p:cNvPr>
          <p:cNvSpPr>
            <a:spLocks noGrp="1"/>
          </p:cNvSpPr>
          <p:nvPr>
            <p:ph type="sldNum" sz="quarter" idx="12"/>
          </p:nvPr>
        </p:nvSpPr>
        <p:spPr/>
        <p:txBody>
          <a:bodyPr/>
          <a:lstStyle/>
          <a:p>
            <a:fld id="{7BE69E03-4804-4553-A1EC-F089884EF50F}" type="slidenum">
              <a:rPr lang="en-US" smtClean="0"/>
              <a:t>13</a:t>
            </a:fld>
            <a:endParaRPr lang="en-US"/>
          </a:p>
        </p:txBody>
      </p:sp>
    </p:spTree>
    <p:extLst>
      <p:ext uri="{BB962C8B-B14F-4D97-AF65-F5344CB8AC3E}">
        <p14:creationId xmlns:p14="http://schemas.microsoft.com/office/powerpoint/2010/main" val="249340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8F87A-1518-29C7-8D66-3381CAAAD200}"/>
              </a:ext>
            </a:extLst>
          </p:cNvPr>
          <p:cNvSpPr>
            <a:spLocks noGrp="1"/>
          </p:cNvSpPr>
          <p:nvPr>
            <p:ph type="title"/>
          </p:nvPr>
        </p:nvSpPr>
        <p:spPr/>
        <p:txBody>
          <a:bodyPr/>
          <a:lstStyle/>
          <a:p>
            <a:r>
              <a:rPr lang="en-IN" dirty="0" err="1"/>
              <a:t>IInd</a:t>
            </a:r>
            <a:r>
              <a:rPr lang="en-IN" dirty="0"/>
              <a:t> iteration</a:t>
            </a:r>
          </a:p>
        </p:txBody>
      </p:sp>
      <p:sp>
        <p:nvSpPr>
          <p:cNvPr id="3" name="Content Placeholder 2">
            <a:extLst>
              <a:ext uri="{FF2B5EF4-FFF2-40B4-BE49-F238E27FC236}">
                <a16:creationId xmlns:a16="http://schemas.microsoft.com/office/drawing/2014/main" id="{5268B998-02BA-45F3-D272-E5820A711ECB}"/>
              </a:ext>
            </a:extLst>
          </p:cNvPr>
          <p:cNvSpPr>
            <a:spLocks noGrp="1"/>
          </p:cNvSpPr>
          <p:nvPr>
            <p:ph idx="1"/>
          </p:nvPr>
        </p:nvSpPr>
        <p:spPr/>
        <p:txBody>
          <a:bodyPr/>
          <a:lstStyle/>
          <a:p>
            <a:r>
              <a:rPr lang="en-IN" dirty="0" err="1"/>
              <a:t>i</a:t>
            </a:r>
            <a:r>
              <a:rPr lang="en-IN" dirty="0"/>
              <a:t>=1</a:t>
            </a:r>
          </a:p>
          <a:p>
            <a:r>
              <a:rPr lang="en-IN" dirty="0"/>
              <a:t>Min=</a:t>
            </a:r>
            <a:r>
              <a:rPr lang="en-IN" dirty="0" err="1"/>
              <a:t>i</a:t>
            </a:r>
            <a:endParaRPr lang="en-IN" dirty="0"/>
          </a:p>
          <a:p>
            <a:r>
              <a:rPr lang="en-IN" dirty="0"/>
              <a:t>j=i+1=1+1=2</a:t>
            </a:r>
          </a:p>
          <a:p>
            <a:r>
              <a:rPr lang="en-IN" dirty="0"/>
              <a:t>A[2]&lt;A[1]</a:t>
            </a:r>
          </a:p>
          <a:p>
            <a:r>
              <a:rPr lang="en-IN" dirty="0"/>
              <a:t>2&lt;3 (True)</a:t>
            </a:r>
          </a:p>
          <a:p>
            <a:r>
              <a:rPr lang="en-IN" dirty="0"/>
              <a:t>Min=j</a:t>
            </a:r>
          </a:p>
          <a:p>
            <a:r>
              <a:rPr lang="en-IN" dirty="0"/>
              <a:t>Min=2</a:t>
            </a:r>
          </a:p>
          <a:p>
            <a:r>
              <a:rPr lang="en-IN" dirty="0"/>
              <a:t>Swap(a[</a:t>
            </a:r>
            <a:r>
              <a:rPr lang="en-IN" dirty="0" err="1"/>
              <a:t>i</a:t>
            </a:r>
            <a:r>
              <a:rPr lang="en-IN" dirty="0"/>
              <a:t>] and a[min])=swap(a[1] and a[2])=[1,2,3]</a:t>
            </a:r>
          </a:p>
          <a:p>
            <a:endParaRPr lang="en-IN" dirty="0"/>
          </a:p>
        </p:txBody>
      </p:sp>
      <p:sp>
        <p:nvSpPr>
          <p:cNvPr id="4" name="Date Placeholder 3">
            <a:extLst>
              <a:ext uri="{FF2B5EF4-FFF2-40B4-BE49-F238E27FC236}">
                <a16:creationId xmlns:a16="http://schemas.microsoft.com/office/drawing/2014/main" id="{72B5D7F2-80A7-84EA-2BEA-F4C328FF43CD}"/>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9D5EB40D-E48B-B97B-514C-0C3502D044A0}"/>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8F3961B0-445B-0373-36F0-C59F4ACBBCEE}"/>
              </a:ext>
            </a:extLst>
          </p:cNvPr>
          <p:cNvSpPr>
            <a:spLocks noGrp="1"/>
          </p:cNvSpPr>
          <p:nvPr>
            <p:ph type="sldNum" sz="quarter" idx="12"/>
          </p:nvPr>
        </p:nvSpPr>
        <p:spPr/>
        <p:txBody>
          <a:bodyPr/>
          <a:lstStyle/>
          <a:p>
            <a:fld id="{7BE69E03-4804-4553-A1EC-F089884EF50F}" type="slidenum">
              <a:rPr lang="en-US" smtClean="0"/>
              <a:t>14</a:t>
            </a:fld>
            <a:endParaRPr lang="en-US"/>
          </a:p>
        </p:txBody>
      </p:sp>
    </p:spTree>
    <p:extLst>
      <p:ext uri="{BB962C8B-B14F-4D97-AF65-F5344CB8AC3E}">
        <p14:creationId xmlns:p14="http://schemas.microsoft.com/office/powerpoint/2010/main" val="187519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Rectangle 17">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6B37C-A54F-9477-86A5-C9FB7D5920D0}"/>
              </a:ext>
            </a:extLst>
          </p:cNvPr>
          <p:cNvSpPr>
            <a:spLocks noGrp="1"/>
          </p:cNvSpPr>
          <p:nvPr>
            <p:ph type="title"/>
          </p:nvPr>
        </p:nvSpPr>
        <p:spPr>
          <a:xfrm>
            <a:off x="1477977" y="541093"/>
            <a:ext cx="3932532" cy="2967606"/>
          </a:xfrm>
        </p:spPr>
        <p:txBody>
          <a:bodyPr vert="horz" lIns="91440" tIns="45720" rIns="91440" bIns="45720" rtlCol="0" anchor="b">
            <a:normAutofit/>
          </a:bodyPr>
          <a:lstStyle/>
          <a:p>
            <a:r>
              <a:rPr lang="en-US" sz="4800" dirty="0"/>
              <a:t>Selection Sort Analysis with example</a:t>
            </a:r>
          </a:p>
        </p:txBody>
      </p:sp>
      <p:sp>
        <p:nvSpPr>
          <p:cNvPr id="6" name="Slide Number Placeholder 5">
            <a:extLst>
              <a:ext uri="{FF2B5EF4-FFF2-40B4-BE49-F238E27FC236}">
                <a16:creationId xmlns:a16="http://schemas.microsoft.com/office/drawing/2014/main" id="{E2C729D5-C3DC-2FB7-4F12-07B292A5529E}"/>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15</a:t>
            </a:fld>
            <a:endParaRPr lang="en-US" sz="1200"/>
          </a:p>
        </p:txBody>
      </p:sp>
      <p:sp>
        <p:nvSpPr>
          <p:cNvPr id="4" name="Date Placeholder 3">
            <a:extLst>
              <a:ext uri="{FF2B5EF4-FFF2-40B4-BE49-F238E27FC236}">
                <a16:creationId xmlns:a16="http://schemas.microsoft.com/office/drawing/2014/main" id="{841CD41E-5EC2-EF69-2648-57C69CFF11F9}"/>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F26A9A17-A27D-4DF3-849E-3C57CE89E148}" type="datetime2">
              <a:rPr lang="en-US" sz="1200" smtClean="0"/>
              <a:t>Wednesday, January 14, 2026</a:t>
            </a:fld>
            <a:endParaRPr lang="en-US" sz="1200"/>
          </a:p>
        </p:txBody>
      </p:sp>
      <p:sp>
        <p:nvSpPr>
          <p:cNvPr id="20" name="Rectangle 19">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5" name="Footer Placeholder 4">
            <a:extLst>
              <a:ext uri="{FF2B5EF4-FFF2-40B4-BE49-F238E27FC236}">
                <a16:creationId xmlns:a16="http://schemas.microsoft.com/office/drawing/2014/main" id="{B1B57ED5-0CB7-0EA2-316D-D71D2623812C}"/>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22" name="Straight Connector 21">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626AA2"/>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626AA2"/>
            </a:solidFill>
            <a:prstDash val="dash"/>
          </a:ln>
        </p:spPr>
        <p:style>
          <a:lnRef idx="1">
            <a:schemeClr val="accent1"/>
          </a:lnRef>
          <a:fillRef idx="0">
            <a:schemeClr val="accent1"/>
          </a:fillRef>
          <a:effectRef idx="0">
            <a:schemeClr val="accent1"/>
          </a:effectRef>
          <a:fontRef idx="minor">
            <a:schemeClr val="tx1"/>
          </a:fontRef>
        </p:style>
      </p:cxnSp>
      <p:pic>
        <p:nvPicPr>
          <p:cNvPr id="8" name="Picture 7" descr="A mathematical equation with numbers and symbols&#10;&#10;Description automatically generated">
            <a:extLst>
              <a:ext uri="{FF2B5EF4-FFF2-40B4-BE49-F238E27FC236}">
                <a16:creationId xmlns:a16="http://schemas.microsoft.com/office/drawing/2014/main" id="{5FF44D75-B27A-8C11-71A1-085FCCA67783}"/>
              </a:ext>
            </a:extLst>
          </p:cNvPr>
          <p:cNvPicPr>
            <a:picLocks noChangeAspect="1"/>
          </p:cNvPicPr>
          <p:nvPr/>
        </p:nvPicPr>
        <p:blipFill>
          <a:blip r:embed="rId3"/>
          <a:stretch>
            <a:fillRect/>
          </a:stretch>
        </p:blipFill>
        <p:spPr>
          <a:xfrm>
            <a:off x="4986704" y="4740885"/>
            <a:ext cx="5231423" cy="1068998"/>
          </a:xfrm>
          <a:prstGeom prst="rect">
            <a:avLst/>
          </a:prstGeom>
        </p:spPr>
      </p:pic>
      <p:pic>
        <p:nvPicPr>
          <p:cNvPr id="11" name="Content Placeholder 10">
            <a:extLst>
              <a:ext uri="{FF2B5EF4-FFF2-40B4-BE49-F238E27FC236}">
                <a16:creationId xmlns:a16="http://schemas.microsoft.com/office/drawing/2014/main" id="{E5C04501-3E6F-7429-6E27-A39E412224C1}"/>
              </a:ext>
            </a:extLst>
          </p:cNvPr>
          <p:cNvPicPr>
            <a:picLocks noGrp="1" noChangeAspect="1"/>
          </p:cNvPicPr>
          <p:nvPr>
            <p:ph idx="1"/>
          </p:nvPr>
        </p:nvPicPr>
        <p:blipFill>
          <a:blip r:embed="rId4"/>
          <a:stretch>
            <a:fillRect/>
          </a:stretch>
        </p:blipFill>
        <p:spPr>
          <a:xfrm>
            <a:off x="4851214" y="3846021"/>
            <a:ext cx="5921619" cy="892419"/>
          </a:xfrm>
        </p:spPr>
      </p:pic>
      <p:pic>
        <p:nvPicPr>
          <p:cNvPr id="13" name="Picture 12" descr="A number grid with numbers&#10;&#10;Description automatically generated">
            <a:extLst>
              <a:ext uri="{FF2B5EF4-FFF2-40B4-BE49-F238E27FC236}">
                <a16:creationId xmlns:a16="http://schemas.microsoft.com/office/drawing/2014/main" id="{9FD4988E-3074-8A15-F36F-0E09D7C4E8D7}"/>
              </a:ext>
            </a:extLst>
          </p:cNvPr>
          <p:cNvPicPr>
            <a:picLocks noChangeAspect="1"/>
          </p:cNvPicPr>
          <p:nvPr/>
        </p:nvPicPr>
        <p:blipFill>
          <a:blip r:embed="rId5"/>
          <a:stretch>
            <a:fillRect/>
          </a:stretch>
        </p:blipFill>
        <p:spPr>
          <a:xfrm>
            <a:off x="5523034" y="819743"/>
            <a:ext cx="4554027" cy="2747735"/>
          </a:xfrm>
          <a:prstGeom prst="rect">
            <a:avLst/>
          </a:prstGeom>
        </p:spPr>
      </p:pic>
    </p:spTree>
    <p:extLst>
      <p:ext uri="{BB962C8B-B14F-4D97-AF65-F5344CB8AC3E}">
        <p14:creationId xmlns:p14="http://schemas.microsoft.com/office/powerpoint/2010/main" val="2800081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AAD3-B09F-823E-082E-352EF06D2C69}"/>
              </a:ext>
            </a:extLst>
          </p:cNvPr>
          <p:cNvSpPr>
            <a:spLocks noGrp="1"/>
          </p:cNvSpPr>
          <p:nvPr>
            <p:ph type="title"/>
          </p:nvPr>
        </p:nvSpPr>
        <p:spPr/>
        <p:txBody>
          <a:bodyPr/>
          <a:lstStyle/>
          <a:p>
            <a:r>
              <a:rPr lang="en-US" dirty="0"/>
              <a:t>Time and Space Complexity</a:t>
            </a:r>
          </a:p>
        </p:txBody>
      </p:sp>
      <p:pic>
        <p:nvPicPr>
          <p:cNvPr id="7" name="Content Placeholder 6">
            <a:extLst>
              <a:ext uri="{FF2B5EF4-FFF2-40B4-BE49-F238E27FC236}">
                <a16:creationId xmlns:a16="http://schemas.microsoft.com/office/drawing/2014/main" id="{6CC6ECE0-77AF-663D-8832-C78BB7D0A9FD}"/>
              </a:ext>
            </a:extLst>
          </p:cNvPr>
          <p:cNvPicPr>
            <a:picLocks noGrp="1" noChangeAspect="1"/>
          </p:cNvPicPr>
          <p:nvPr>
            <p:ph idx="1"/>
          </p:nvPr>
        </p:nvPicPr>
        <p:blipFill>
          <a:blip r:embed="rId3"/>
          <a:stretch>
            <a:fillRect/>
          </a:stretch>
        </p:blipFill>
        <p:spPr>
          <a:xfrm>
            <a:off x="420624" y="2477379"/>
            <a:ext cx="10515600" cy="2902874"/>
          </a:xfrm>
        </p:spPr>
      </p:pic>
      <p:sp>
        <p:nvSpPr>
          <p:cNvPr id="4" name="Date Placeholder 3">
            <a:extLst>
              <a:ext uri="{FF2B5EF4-FFF2-40B4-BE49-F238E27FC236}">
                <a16:creationId xmlns:a16="http://schemas.microsoft.com/office/drawing/2014/main" id="{056C9D4C-C21C-9E98-C6E0-B103005C10D6}"/>
              </a:ext>
            </a:extLst>
          </p:cNvPr>
          <p:cNvSpPr>
            <a:spLocks noGrp="1"/>
          </p:cNvSpPr>
          <p:nvPr>
            <p:ph type="dt" sz="half" idx="10"/>
          </p:nvPr>
        </p:nvSpPr>
        <p:spPr/>
        <p:txBody>
          <a:bodyPr/>
          <a:lstStyle/>
          <a:p>
            <a:fld id="{8EC4ECC8-4EF0-449D-98EC-F83AAAB084FD}"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6D9244AC-54C2-1A1E-104C-219614C01C7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E55E5309-AC69-FFF6-BBAF-3190E56F1E3D}"/>
              </a:ext>
            </a:extLst>
          </p:cNvPr>
          <p:cNvSpPr>
            <a:spLocks noGrp="1"/>
          </p:cNvSpPr>
          <p:nvPr>
            <p:ph type="sldNum" sz="quarter" idx="12"/>
          </p:nvPr>
        </p:nvSpPr>
        <p:spPr/>
        <p:txBody>
          <a:bodyPr/>
          <a:lstStyle/>
          <a:p>
            <a:fld id="{7BE69E03-4804-4553-A1EC-F089884EF50F}" type="slidenum">
              <a:rPr lang="en-US" smtClean="0"/>
              <a:t>16</a:t>
            </a:fld>
            <a:endParaRPr lang="en-US"/>
          </a:p>
        </p:txBody>
      </p:sp>
      <p:pic>
        <p:nvPicPr>
          <p:cNvPr id="8" name="Picture 7" descr="A black background with orange text&#10;&#10;Description automatically generated">
            <a:extLst>
              <a:ext uri="{FF2B5EF4-FFF2-40B4-BE49-F238E27FC236}">
                <a16:creationId xmlns:a16="http://schemas.microsoft.com/office/drawing/2014/main" id="{B1208D01-13FE-EB56-F211-0A9E8EF175C9}"/>
              </a:ext>
            </a:extLst>
          </p:cNvPr>
          <p:cNvPicPr>
            <a:picLocks noChangeAspect="1"/>
          </p:cNvPicPr>
          <p:nvPr/>
        </p:nvPicPr>
        <p:blipFill>
          <a:blip r:embed="rId4"/>
          <a:stretch>
            <a:fillRect/>
          </a:stretch>
        </p:blipFill>
        <p:spPr>
          <a:xfrm>
            <a:off x="5373565" y="2539145"/>
            <a:ext cx="2839916" cy="994264"/>
          </a:xfrm>
          <a:prstGeom prst="rect">
            <a:avLst/>
          </a:prstGeom>
        </p:spPr>
      </p:pic>
      <p:pic>
        <p:nvPicPr>
          <p:cNvPr id="9" name="Picture 8" descr="A black background with orange letters&#10;&#10;Description automatically generated">
            <a:extLst>
              <a:ext uri="{FF2B5EF4-FFF2-40B4-BE49-F238E27FC236}">
                <a16:creationId xmlns:a16="http://schemas.microsoft.com/office/drawing/2014/main" id="{05A66DFB-2382-56C5-9B52-7BAD9549A449}"/>
              </a:ext>
            </a:extLst>
          </p:cNvPr>
          <p:cNvPicPr>
            <a:picLocks noChangeAspect="1"/>
          </p:cNvPicPr>
          <p:nvPr/>
        </p:nvPicPr>
        <p:blipFill>
          <a:blip r:embed="rId5"/>
          <a:stretch>
            <a:fillRect/>
          </a:stretch>
        </p:blipFill>
        <p:spPr>
          <a:xfrm>
            <a:off x="5330702" y="3481754"/>
            <a:ext cx="3476625" cy="1066800"/>
          </a:xfrm>
          <a:prstGeom prst="rect">
            <a:avLst/>
          </a:prstGeom>
        </p:spPr>
      </p:pic>
      <p:pic>
        <p:nvPicPr>
          <p:cNvPr id="10" name="Picture 9">
            <a:extLst>
              <a:ext uri="{FF2B5EF4-FFF2-40B4-BE49-F238E27FC236}">
                <a16:creationId xmlns:a16="http://schemas.microsoft.com/office/drawing/2014/main" id="{19D6A96E-AC78-B17F-0119-ADA8A373C793}"/>
              </a:ext>
            </a:extLst>
          </p:cNvPr>
          <p:cNvPicPr>
            <a:picLocks noChangeAspect="1"/>
          </p:cNvPicPr>
          <p:nvPr/>
        </p:nvPicPr>
        <p:blipFill>
          <a:blip r:embed="rId6"/>
          <a:stretch>
            <a:fillRect/>
          </a:stretch>
        </p:blipFill>
        <p:spPr>
          <a:xfrm>
            <a:off x="5363308" y="4372708"/>
            <a:ext cx="3505200" cy="1066800"/>
          </a:xfrm>
          <a:prstGeom prst="rect">
            <a:avLst/>
          </a:prstGeom>
        </p:spPr>
      </p:pic>
    </p:spTree>
    <p:extLst>
      <p:ext uri="{BB962C8B-B14F-4D97-AF65-F5344CB8AC3E}">
        <p14:creationId xmlns:p14="http://schemas.microsoft.com/office/powerpoint/2010/main" val="3034344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6286B1">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3" name="Rectangle 32">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2EFA1C-86C3-AD4A-F9B0-CB5E36BF52E8}"/>
              </a:ext>
            </a:extLst>
          </p:cNvPr>
          <p:cNvSpPr>
            <a:spLocks noGrp="1"/>
          </p:cNvSpPr>
          <p:nvPr>
            <p:ph type="title"/>
          </p:nvPr>
        </p:nvSpPr>
        <p:spPr>
          <a:xfrm>
            <a:off x="1587500" y="540167"/>
            <a:ext cx="9372902" cy="1237833"/>
          </a:xfrm>
        </p:spPr>
        <p:txBody>
          <a:bodyPr anchor="b">
            <a:normAutofit/>
          </a:bodyPr>
          <a:lstStyle/>
          <a:p>
            <a:r>
              <a:rPr lang="en-US" sz="4800" dirty="0">
                <a:solidFill>
                  <a:schemeClr val="tx1"/>
                </a:solidFill>
              </a:rPr>
              <a:t>Bubble Sort</a:t>
            </a:r>
          </a:p>
        </p:txBody>
      </p:sp>
      <p:sp>
        <p:nvSpPr>
          <p:cNvPr id="6" name="Slide Number Placeholder 5">
            <a:extLst>
              <a:ext uri="{FF2B5EF4-FFF2-40B4-BE49-F238E27FC236}">
                <a16:creationId xmlns:a16="http://schemas.microsoft.com/office/drawing/2014/main" id="{27648EA3-D970-1C0C-748D-7F25A6A184E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17</a:t>
            </a:fld>
            <a:endParaRPr lang="en-US"/>
          </a:p>
        </p:txBody>
      </p:sp>
      <p:sp>
        <p:nvSpPr>
          <p:cNvPr id="3" name="Content Placeholder 2">
            <a:extLst>
              <a:ext uri="{FF2B5EF4-FFF2-40B4-BE49-F238E27FC236}">
                <a16:creationId xmlns:a16="http://schemas.microsoft.com/office/drawing/2014/main" id="{E4020494-AD70-5624-7150-08E3F475B49F}"/>
              </a:ext>
            </a:extLst>
          </p:cNvPr>
          <p:cNvSpPr>
            <a:spLocks noGrp="1"/>
          </p:cNvSpPr>
          <p:nvPr>
            <p:ph idx="1"/>
          </p:nvPr>
        </p:nvSpPr>
        <p:spPr>
          <a:xfrm>
            <a:off x="957927" y="2458190"/>
            <a:ext cx="10389337" cy="3505985"/>
          </a:xfrm>
        </p:spPr>
        <p:txBody>
          <a:bodyPr vert="horz" lIns="91440" tIns="45720" rIns="91440" bIns="45720" rtlCol="0" anchor="t">
            <a:normAutofit/>
          </a:bodyPr>
          <a:lstStyle/>
          <a:p>
            <a:pPr algn="just"/>
            <a:r>
              <a:rPr lang="en-US" sz="1800" dirty="0">
                <a:solidFill>
                  <a:schemeClr val="tx1"/>
                </a:solidFill>
                <a:latin typeface="Times New Roman"/>
                <a:cs typeface="Times New Roman"/>
              </a:rPr>
              <a:t>           </a:t>
            </a:r>
            <a:r>
              <a:rPr lang="en-US" sz="2800" dirty="0">
                <a:solidFill>
                  <a:schemeClr val="tx1"/>
                </a:solidFill>
                <a:latin typeface="Times New Roman"/>
                <a:cs typeface="Times New Roman"/>
              </a:rPr>
              <a:t>      Another brute-force application to the sorting problem is to compare  of the list and exchange them if they are out of order. By doing it repeatedly, we end up “bubbling up” the largest element to the last position on the list. The next pass bubbles up the second largest element, and so on, until after n−1 passes the list is  sorted. Pass </a:t>
            </a:r>
            <a:r>
              <a:rPr lang="en-US" sz="2800" dirty="0" err="1">
                <a:solidFill>
                  <a:schemeClr val="tx1"/>
                </a:solidFill>
                <a:latin typeface="Times New Roman"/>
                <a:cs typeface="Times New Roman"/>
              </a:rPr>
              <a:t>i</a:t>
            </a:r>
            <a:r>
              <a:rPr lang="en-US" sz="2800" dirty="0">
                <a:solidFill>
                  <a:schemeClr val="tx1"/>
                </a:solidFill>
                <a:latin typeface="Times New Roman"/>
                <a:cs typeface="Times New Roman"/>
              </a:rPr>
              <a:t>(0≤i≤n−2)of bubble sort.</a:t>
            </a:r>
            <a:endParaRPr lang="en-US" sz="2800" dirty="0">
              <a:solidFill>
                <a:schemeClr val="tx1"/>
              </a:solidFill>
            </a:endParaRPr>
          </a:p>
          <a:p>
            <a:pPr algn="just"/>
            <a:r>
              <a:rPr lang="en-US" sz="2800" dirty="0">
                <a:solidFill>
                  <a:schemeClr val="tx1"/>
                </a:solidFill>
                <a:latin typeface="Times New Roman"/>
                <a:cs typeface="Times New Roman"/>
              </a:rPr>
              <a:t>                        A0,...,Aj↔Aj+1,...,An−i−1|An−i≤...≤An−1</a:t>
            </a:r>
            <a:endParaRPr lang="en-US" sz="2800" dirty="0">
              <a:solidFill>
                <a:schemeClr val="tx1"/>
              </a:solidFill>
            </a:endParaRPr>
          </a:p>
          <a:p>
            <a:pPr algn="just"/>
            <a:endParaRPr lang="en-US" sz="1800" dirty="0">
              <a:solidFill>
                <a:schemeClr val="tx1"/>
              </a:solidFill>
              <a:latin typeface="Times New Roman"/>
              <a:cs typeface="Times New Roman"/>
            </a:endParaRPr>
          </a:p>
          <a:p>
            <a:pPr algn="just"/>
            <a:endParaRPr lang="en-US" sz="1800" dirty="0">
              <a:solidFill>
                <a:schemeClr val="tx1"/>
              </a:solidFill>
            </a:endParaRPr>
          </a:p>
        </p:txBody>
      </p:sp>
      <p:sp>
        <p:nvSpPr>
          <p:cNvPr id="4" name="Date Placeholder 3">
            <a:extLst>
              <a:ext uri="{FF2B5EF4-FFF2-40B4-BE49-F238E27FC236}">
                <a16:creationId xmlns:a16="http://schemas.microsoft.com/office/drawing/2014/main" id="{8411304D-74A3-1212-CAD5-38325D08D89A}"/>
              </a:ext>
            </a:extLst>
          </p:cNvPr>
          <p:cNvSpPr>
            <a:spLocks noGrp="1"/>
          </p:cNvSpPr>
          <p:nvPr>
            <p:ph type="dt" sz="half" idx="10"/>
          </p:nvPr>
        </p:nvSpPr>
        <p:spPr>
          <a:xfrm>
            <a:off x="422899" y="6217920"/>
            <a:ext cx="2743200" cy="640080"/>
          </a:xfrm>
        </p:spPr>
        <p:txBody>
          <a:bodyPr>
            <a:normAutofit/>
          </a:bodyPr>
          <a:lstStyle/>
          <a:p>
            <a:pPr>
              <a:spcAft>
                <a:spcPts val="600"/>
              </a:spcAft>
            </a:pPr>
            <a:fld id="{27796E89-C42B-42E0-AF1A-8B3DBB2A51C9}" type="datetime2">
              <a:rPr lang="en-US" smtClean="0"/>
              <a:t>Wednesday, January 14, 2026</a:t>
            </a:fld>
            <a:endParaRPr lang="en-US"/>
          </a:p>
        </p:txBody>
      </p:sp>
      <p:sp>
        <p:nvSpPr>
          <p:cNvPr id="5" name="Footer Placeholder 4">
            <a:extLst>
              <a:ext uri="{FF2B5EF4-FFF2-40B4-BE49-F238E27FC236}">
                <a16:creationId xmlns:a16="http://schemas.microsoft.com/office/drawing/2014/main" id="{686516E5-2B13-D5C1-7A9A-5E4C17E04563}"/>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5" name="Straight Connector 34">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6286B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6286B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2286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Rectangle 43">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Rectangle 45">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DBB374">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48" name="Rectangle 47">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62D73-FF05-DFD6-8301-C15B12247E30}"/>
              </a:ext>
            </a:extLst>
          </p:cNvPr>
          <p:cNvSpPr>
            <a:spLocks noGrp="1"/>
          </p:cNvSpPr>
          <p:nvPr>
            <p:ph type="title"/>
          </p:nvPr>
        </p:nvSpPr>
        <p:spPr>
          <a:xfrm>
            <a:off x="5132026" y="540167"/>
            <a:ext cx="4850171" cy="983833"/>
          </a:xfrm>
        </p:spPr>
        <p:txBody>
          <a:bodyPr anchor="b">
            <a:normAutofit/>
          </a:bodyPr>
          <a:lstStyle/>
          <a:p>
            <a:r>
              <a:rPr lang="en-US" sz="2400" dirty="0">
                <a:solidFill>
                  <a:schemeClr val="tx1"/>
                </a:solidFill>
              </a:rPr>
              <a:t>Bubble Sort Algorithm</a:t>
            </a:r>
          </a:p>
        </p:txBody>
      </p:sp>
      <p:sp>
        <p:nvSpPr>
          <p:cNvPr id="6" name="Slide Number Placeholder 5">
            <a:extLst>
              <a:ext uri="{FF2B5EF4-FFF2-40B4-BE49-F238E27FC236}">
                <a16:creationId xmlns:a16="http://schemas.microsoft.com/office/drawing/2014/main" id="{03A09B68-6F94-A6BB-CB91-E273F10AC183}"/>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18</a:t>
            </a:fld>
            <a:endParaRPr lang="en-US"/>
          </a:p>
        </p:txBody>
      </p:sp>
      <p:pic>
        <p:nvPicPr>
          <p:cNvPr id="8" name="Picture 7" descr="Close-up of bubbles floating against blurred background">
            <a:extLst>
              <a:ext uri="{FF2B5EF4-FFF2-40B4-BE49-F238E27FC236}">
                <a16:creationId xmlns:a16="http://schemas.microsoft.com/office/drawing/2014/main" id="{1EFF2CFE-7033-EE19-5D51-20CC5D797792}"/>
              </a:ext>
            </a:extLst>
          </p:cNvPr>
          <p:cNvPicPr>
            <a:picLocks noChangeAspect="1"/>
          </p:cNvPicPr>
          <p:nvPr/>
        </p:nvPicPr>
        <p:blipFill rotWithShape="1">
          <a:blip r:embed="rId3"/>
          <a:srcRect l="18797" r="31637" b="-2"/>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3F9E0B6A-4F52-59F0-17C0-6EF1FD1898D1}"/>
              </a:ext>
            </a:extLst>
          </p:cNvPr>
          <p:cNvSpPr>
            <a:spLocks noGrp="1"/>
          </p:cNvSpPr>
          <p:nvPr>
            <p:ph idx="1"/>
          </p:nvPr>
        </p:nvSpPr>
        <p:spPr>
          <a:xfrm>
            <a:off x="4898415" y="1968500"/>
            <a:ext cx="6061987" cy="4007397"/>
          </a:xfrm>
        </p:spPr>
        <p:txBody>
          <a:bodyPr vert="horz" lIns="91440" tIns="45720" rIns="91440" bIns="45720" rtlCol="0" anchor="t">
            <a:normAutofit fontScale="55000" lnSpcReduction="20000"/>
          </a:bodyPr>
          <a:lstStyle/>
          <a:p>
            <a:pPr>
              <a:lnSpc>
                <a:spcPct val="90000"/>
              </a:lnSpc>
            </a:pPr>
            <a:r>
              <a:rPr lang="en-US" sz="4400" dirty="0">
                <a:solidFill>
                  <a:schemeClr val="tx1"/>
                </a:solidFill>
                <a:ea typeface="+mn-lt"/>
                <a:cs typeface="+mn-lt"/>
              </a:rPr>
              <a:t>//Sorts a given array by bubble sort in their final positions </a:t>
            </a:r>
            <a:endParaRPr lang="en-US" sz="4400" dirty="0">
              <a:solidFill>
                <a:schemeClr val="tx1"/>
              </a:solidFill>
              <a:latin typeface="Times New Roman"/>
              <a:cs typeface="Times New Roman"/>
            </a:endParaRPr>
          </a:p>
          <a:p>
            <a:pPr>
              <a:lnSpc>
                <a:spcPct val="90000"/>
              </a:lnSpc>
            </a:pPr>
            <a:r>
              <a:rPr lang="en-US" sz="4400" dirty="0">
                <a:solidFill>
                  <a:schemeClr val="tx1"/>
                </a:solidFill>
                <a:ea typeface="+mn-lt"/>
                <a:cs typeface="+mn-lt"/>
              </a:rPr>
              <a:t>//Input: An array A[0 .. n- 1] of orderable elements </a:t>
            </a:r>
            <a:endParaRPr lang="en-US" sz="4400" dirty="0">
              <a:solidFill>
                <a:schemeClr val="tx1"/>
              </a:solidFill>
            </a:endParaRPr>
          </a:p>
          <a:p>
            <a:pPr>
              <a:lnSpc>
                <a:spcPct val="90000"/>
              </a:lnSpc>
            </a:pPr>
            <a:r>
              <a:rPr lang="en-US" sz="4400" dirty="0">
                <a:solidFill>
                  <a:schemeClr val="tx1"/>
                </a:solidFill>
                <a:ea typeface="+mn-lt"/>
                <a:cs typeface="+mn-lt"/>
              </a:rPr>
              <a:t>//Output: Array A[0 .. n- 1] sorted in ascending order</a:t>
            </a:r>
            <a:endParaRPr lang="en-US" sz="4400" dirty="0">
              <a:solidFill>
                <a:schemeClr val="tx1"/>
              </a:solidFill>
            </a:endParaRPr>
          </a:p>
          <a:p>
            <a:pPr>
              <a:lnSpc>
                <a:spcPct val="90000"/>
              </a:lnSpc>
            </a:pPr>
            <a:r>
              <a:rPr lang="en-US" sz="4400" b="1" dirty="0" err="1">
                <a:solidFill>
                  <a:schemeClr val="tx1"/>
                </a:solidFill>
                <a:latin typeface="Times New Roman"/>
                <a:cs typeface="Times New Roman"/>
              </a:rPr>
              <a:t>BubbleSort</a:t>
            </a:r>
            <a:r>
              <a:rPr lang="en-US" sz="4400" b="1" dirty="0">
                <a:solidFill>
                  <a:schemeClr val="tx1"/>
                </a:solidFill>
                <a:latin typeface="Times New Roman"/>
                <a:cs typeface="Times New Roman"/>
              </a:rPr>
              <a:t>(A[0 .. n - 1])</a:t>
            </a:r>
            <a:endParaRPr lang="en-US" sz="4400" b="1" dirty="0">
              <a:solidFill>
                <a:schemeClr val="tx1"/>
              </a:solidFill>
            </a:endParaRPr>
          </a:p>
          <a:p>
            <a:pPr>
              <a:lnSpc>
                <a:spcPct val="90000"/>
              </a:lnSpc>
            </a:pPr>
            <a:r>
              <a:rPr lang="en-US" sz="4400" dirty="0">
                <a:solidFill>
                  <a:schemeClr val="tx1"/>
                </a:solidFill>
                <a:latin typeface="Times New Roman"/>
                <a:cs typeface="Times New Roman"/>
              </a:rPr>
              <a:t>    for </a:t>
            </a:r>
            <a:r>
              <a:rPr lang="en-US" sz="4400" dirty="0" err="1">
                <a:solidFill>
                  <a:schemeClr val="tx1"/>
                </a:solidFill>
                <a:latin typeface="Times New Roman"/>
                <a:cs typeface="Times New Roman"/>
              </a:rPr>
              <a:t>i</a:t>
            </a:r>
            <a:r>
              <a:rPr lang="en-US" sz="4400" dirty="0">
                <a:solidFill>
                  <a:schemeClr val="tx1"/>
                </a:solidFill>
                <a:latin typeface="Times New Roman"/>
                <a:cs typeface="Times New Roman"/>
              </a:rPr>
              <a:t> &lt;-- 0 to n - 2 do</a:t>
            </a:r>
            <a:endParaRPr lang="en-US" sz="4400" dirty="0">
              <a:solidFill>
                <a:schemeClr val="tx1"/>
              </a:solidFill>
            </a:endParaRPr>
          </a:p>
          <a:p>
            <a:pPr>
              <a:lnSpc>
                <a:spcPct val="90000"/>
              </a:lnSpc>
            </a:pPr>
            <a:r>
              <a:rPr lang="en-US" sz="4400" dirty="0">
                <a:solidFill>
                  <a:schemeClr val="tx1"/>
                </a:solidFill>
                <a:latin typeface="Times New Roman"/>
                <a:cs typeface="Times New Roman"/>
              </a:rPr>
              <a:t>        for j &lt;-- 0 to n - 2 - </a:t>
            </a:r>
            <a:r>
              <a:rPr lang="en-US" sz="4400" dirty="0" err="1">
                <a:solidFill>
                  <a:schemeClr val="tx1"/>
                </a:solidFill>
                <a:latin typeface="Times New Roman"/>
                <a:cs typeface="Times New Roman"/>
              </a:rPr>
              <a:t>i</a:t>
            </a:r>
            <a:r>
              <a:rPr lang="en-US" sz="4400" dirty="0">
                <a:solidFill>
                  <a:schemeClr val="tx1"/>
                </a:solidFill>
                <a:latin typeface="Times New Roman"/>
                <a:cs typeface="Times New Roman"/>
              </a:rPr>
              <a:t> do</a:t>
            </a:r>
            <a:endParaRPr lang="en-US" sz="4400" dirty="0">
              <a:solidFill>
                <a:schemeClr val="tx1"/>
              </a:solidFill>
            </a:endParaRPr>
          </a:p>
          <a:p>
            <a:pPr>
              <a:lnSpc>
                <a:spcPct val="90000"/>
              </a:lnSpc>
            </a:pPr>
            <a:r>
              <a:rPr lang="en-US" sz="4400" dirty="0">
                <a:solidFill>
                  <a:schemeClr val="tx1"/>
                </a:solidFill>
                <a:latin typeface="Times New Roman"/>
                <a:cs typeface="Times New Roman"/>
              </a:rPr>
              <a:t>            if A[j + 1] &lt; A[j] then</a:t>
            </a:r>
            <a:endParaRPr lang="en-US" sz="4400" dirty="0">
              <a:solidFill>
                <a:schemeClr val="tx1"/>
              </a:solidFill>
            </a:endParaRPr>
          </a:p>
          <a:p>
            <a:pPr>
              <a:lnSpc>
                <a:spcPct val="90000"/>
              </a:lnSpc>
            </a:pPr>
            <a:r>
              <a:rPr lang="en-US" sz="4400" dirty="0">
                <a:solidFill>
                  <a:schemeClr val="tx1"/>
                </a:solidFill>
                <a:latin typeface="Times New Roman"/>
                <a:cs typeface="Times New Roman"/>
              </a:rPr>
              <a:t>                swap A[j] and A[j + 1]</a:t>
            </a:r>
            <a:endParaRPr lang="en-US" sz="4400" dirty="0">
              <a:solidFill>
                <a:schemeClr val="tx1"/>
              </a:solidFill>
            </a:endParaRPr>
          </a:p>
          <a:p>
            <a:pPr>
              <a:lnSpc>
                <a:spcPct val="90000"/>
              </a:lnSpc>
            </a:pPr>
            <a:endParaRPr lang="en-US" sz="1500" dirty="0">
              <a:solidFill>
                <a:schemeClr val="tx1"/>
              </a:solidFill>
            </a:endParaRPr>
          </a:p>
        </p:txBody>
      </p:sp>
      <p:sp>
        <p:nvSpPr>
          <p:cNvPr id="4" name="Date Placeholder 3">
            <a:extLst>
              <a:ext uri="{FF2B5EF4-FFF2-40B4-BE49-F238E27FC236}">
                <a16:creationId xmlns:a16="http://schemas.microsoft.com/office/drawing/2014/main" id="{367DA3A2-22B1-7BD1-C638-19E2BBEBB7F6}"/>
              </a:ext>
            </a:extLst>
          </p:cNvPr>
          <p:cNvSpPr>
            <a:spLocks noGrp="1"/>
          </p:cNvSpPr>
          <p:nvPr>
            <p:ph type="dt" sz="half" idx="10"/>
          </p:nvPr>
        </p:nvSpPr>
        <p:spPr>
          <a:xfrm>
            <a:off x="422899" y="6217920"/>
            <a:ext cx="2743200" cy="640080"/>
          </a:xfrm>
        </p:spPr>
        <p:txBody>
          <a:bodyPr>
            <a:normAutofit/>
          </a:bodyPr>
          <a:lstStyle/>
          <a:p>
            <a:pPr>
              <a:spcAft>
                <a:spcPts val="600"/>
              </a:spcAft>
            </a:pPr>
            <a:fld id="{A1B7BD43-2F25-420B-A3E1-73212C0BB769}" type="datetime2">
              <a:rPr lang="en-US" smtClean="0"/>
              <a:t>Wednesday, January 14, 2026</a:t>
            </a:fld>
            <a:endParaRPr lang="en-US"/>
          </a:p>
        </p:txBody>
      </p:sp>
      <p:sp>
        <p:nvSpPr>
          <p:cNvPr id="5" name="Footer Placeholder 4">
            <a:extLst>
              <a:ext uri="{FF2B5EF4-FFF2-40B4-BE49-F238E27FC236}">
                <a16:creationId xmlns:a16="http://schemas.microsoft.com/office/drawing/2014/main" id="{B6364CAB-A31D-BF1B-E4AE-A5226422BD97}"/>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50" name="Straight Connector 49">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DBB374"/>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DBB37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679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Rectangle 43">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Rectangle 45">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DBB374">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48" name="Rectangle 47">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62D73-FF05-DFD6-8301-C15B12247E30}"/>
              </a:ext>
            </a:extLst>
          </p:cNvPr>
          <p:cNvSpPr>
            <a:spLocks noGrp="1"/>
          </p:cNvSpPr>
          <p:nvPr>
            <p:ph type="title"/>
          </p:nvPr>
        </p:nvSpPr>
        <p:spPr>
          <a:xfrm>
            <a:off x="5132026" y="540167"/>
            <a:ext cx="4850171" cy="983833"/>
          </a:xfrm>
        </p:spPr>
        <p:txBody>
          <a:bodyPr anchor="b">
            <a:normAutofit/>
          </a:bodyPr>
          <a:lstStyle/>
          <a:p>
            <a:r>
              <a:rPr lang="en-US" sz="2400" dirty="0">
                <a:solidFill>
                  <a:schemeClr val="tx1"/>
                </a:solidFill>
              </a:rPr>
              <a:t>Bubble Sort Algorithm</a:t>
            </a:r>
          </a:p>
        </p:txBody>
      </p:sp>
      <p:sp>
        <p:nvSpPr>
          <p:cNvPr id="6" name="Slide Number Placeholder 5">
            <a:extLst>
              <a:ext uri="{FF2B5EF4-FFF2-40B4-BE49-F238E27FC236}">
                <a16:creationId xmlns:a16="http://schemas.microsoft.com/office/drawing/2014/main" id="{03A09B68-6F94-A6BB-CB91-E273F10AC183}"/>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19</a:t>
            </a:fld>
            <a:endParaRPr lang="en-US"/>
          </a:p>
        </p:txBody>
      </p:sp>
      <p:pic>
        <p:nvPicPr>
          <p:cNvPr id="8" name="Picture 7" descr="Close-up of bubbles floating against blurred background">
            <a:extLst>
              <a:ext uri="{FF2B5EF4-FFF2-40B4-BE49-F238E27FC236}">
                <a16:creationId xmlns:a16="http://schemas.microsoft.com/office/drawing/2014/main" id="{1EFF2CFE-7033-EE19-5D51-20CC5D797792}"/>
              </a:ext>
            </a:extLst>
          </p:cNvPr>
          <p:cNvPicPr>
            <a:picLocks noChangeAspect="1"/>
          </p:cNvPicPr>
          <p:nvPr/>
        </p:nvPicPr>
        <p:blipFill rotWithShape="1">
          <a:blip r:embed="rId3"/>
          <a:srcRect l="18797" r="31637" b="-2"/>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3F9E0B6A-4F52-59F0-17C0-6EF1FD1898D1}"/>
              </a:ext>
            </a:extLst>
          </p:cNvPr>
          <p:cNvSpPr>
            <a:spLocks noGrp="1"/>
          </p:cNvSpPr>
          <p:nvPr>
            <p:ph idx="1"/>
          </p:nvPr>
        </p:nvSpPr>
        <p:spPr>
          <a:xfrm>
            <a:off x="4898415" y="1968500"/>
            <a:ext cx="6061987" cy="4007397"/>
          </a:xfrm>
        </p:spPr>
        <p:txBody>
          <a:bodyPr vert="horz" lIns="91440" tIns="45720" rIns="91440" bIns="45720" rtlCol="0" anchor="t">
            <a:normAutofit fontScale="55000" lnSpcReduction="20000"/>
          </a:bodyPr>
          <a:lstStyle/>
          <a:p>
            <a:pPr>
              <a:lnSpc>
                <a:spcPct val="90000"/>
              </a:lnSpc>
            </a:pPr>
            <a:r>
              <a:rPr lang="en-US" sz="4400" dirty="0">
                <a:solidFill>
                  <a:schemeClr val="tx1"/>
                </a:solidFill>
                <a:ea typeface="+mn-lt"/>
                <a:cs typeface="+mn-lt"/>
              </a:rPr>
              <a:t>//Sorts a given array by bubble sort in their final positions </a:t>
            </a:r>
            <a:endParaRPr lang="en-US" sz="4400" dirty="0">
              <a:solidFill>
                <a:schemeClr val="tx1"/>
              </a:solidFill>
              <a:latin typeface="Times New Roman"/>
              <a:cs typeface="Times New Roman"/>
            </a:endParaRPr>
          </a:p>
          <a:p>
            <a:pPr>
              <a:lnSpc>
                <a:spcPct val="90000"/>
              </a:lnSpc>
            </a:pPr>
            <a:r>
              <a:rPr lang="en-US" sz="4400" dirty="0">
                <a:solidFill>
                  <a:schemeClr val="tx1"/>
                </a:solidFill>
                <a:ea typeface="+mn-lt"/>
                <a:cs typeface="+mn-lt"/>
              </a:rPr>
              <a:t>//Input: An array A[0 .. n- 1] of orderable elements </a:t>
            </a:r>
            <a:endParaRPr lang="en-US" sz="4400" dirty="0">
              <a:solidFill>
                <a:schemeClr val="tx1"/>
              </a:solidFill>
            </a:endParaRPr>
          </a:p>
          <a:p>
            <a:pPr>
              <a:lnSpc>
                <a:spcPct val="90000"/>
              </a:lnSpc>
            </a:pPr>
            <a:r>
              <a:rPr lang="en-US" sz="4400" dirty="0">
                <a:solidFill>
                  <a:schemeClr val="tx1"/>
                </a:solidFill>
                <a:ea typeface="+mn-lt"/>
                <a:cs typeface="+mn-lt"/>
              </a:rPr>
              <a:t>//Output: Array A[0 .. n- 1] sorted in ascending order</a:t>
            </a:r>
            <a:endParaRPr lang="en-US" sz="4400" dirty="0">
              <a:solidFill>
                <a:schemeClr val="tx1"/>
              </a:solidFill>
            </a:endParaRPr>
          </a:p>
          <a:p>
            <a:pPr>
              <a:lnSpc>
                <a:spcPct val="90000"/>
              </a:lnSpc>
            </a:pPr>
            <a:r>
              <a:rPr lang="en-US" sz="4400" b="1" dirty="0" err="1">
                <a:solidFill>
                  <a:schemeClr val="tx1"/>
                </a:solidFill>
                <a:latin typeface="Times New Roman"/>
                <a:cs typeface="Times New Roman"/>
              </a:rPr>
              <a:t>BubbleSort</a:t>
            </a:r>
            <a:r>
              <a:rPr lang="en-US" sz="4400" b="1" dirty="0">
                <a:solidFill>
                  <a:schemeClr val="tx1"/>
                </a:solidFill>
                <a:latin typeface="Times New Roman"/>
                <a:cs typeface="Times New Roman"/>
              </a:rPr>
              <a:t>(A[0 .. n - 1])</a:t>
            </a:r>
            <a:endParaRPr lang="en-US" sz="4400" b="1" dirty="0">
              <a:solidFill>
                <a:schemeClr val="tx1"/>
              </a:solidFill>
            </a:endParaRPr>
          </a:p>
          <a:p>
            <a:pPr>
              <a:lnSpc>
                <a:spcPct val="90000"/>
              </a:lnSpc>
            </a:pPr>
            <a:r>
              <a:rPr lang="en-US" sz="4400" dirty="0">
                <a:solidFill>
                  <a:schemeClr val="tx1"/>
                </a:solidFill>
                <a:latin typeface="Times New Roman"/>
                <a:cs typeface="Times New Roman"/>
              </a:rPr>
              <a:t>    for </a:t>
            </a:r>
            <a:r>
              <a:rPr lang="en-US" sz="4400" dirty="0" err="1">
                <a:solidFill>
                  <a:schemeClr val="tx1"/>
                </a:solidFill>
                <a:latin typeface="Times New Roman"/>
                <a:cs typeface="Times New Roman"/>
              </a:rPr>
              <a:t>i</a:t>
            </a:r>
            <a:r>
              <a:rPr lang="en-US" sz="4400" dirty="0">
                <a:solidFill>
                  <a:schemeClr val="tx1"/>
                </a:solidFill>
                <a:latin typeface="Times New Roman"/>
                <a:cs typeface="Times New Roman"/>
              </a:rPr>
              <a:t> &lt;-- 0 to n - 2 do</a:t>
            </a:r>
            <a:endParaRPr lang="en-US" sz="4400" dirty="0">
              <a:solidFill>
                <a:schemeClr val="tx1"/>
              </a:solidFill>
            </a:endParaRPr>
          </a:p>
          <a:p>
            <a:pPr>
              <a:lnSpc>
                <a:spcPct val="90000"/>
              </a:lnSpc>
            </a:pPr>
            <a:r>
              <a:rPr lang="en-US" sz="4400" dirty="0">
                <a:solidFill>
                  <a:schemeClr val="tx1"/>
                </a:solidFill>
                <a:latin typeface="Times New Roman"/>
                <a:cs typeface="Times New Roman"/>
              </a:rPr>
              <a:t>        for j &lt;-- 0 to n - 2 - </a:t>
            </a:r>
            <a:r>
              <a:rPr lang="en-US" sz="4400" dirty="0" err="1">
                <a:solidFill>
                  <a:schemeClr val="tx1"/>
                </a:solidFill>
                <a:latin typeface="Times New Roman"/>
                <a:cs typeface="Times New Roman"/>
              </a:rPr>
              <a:t>i</a:t>
            </a:r>
            <a:r>
              <a:rPr lang="en-US" sz="4400" dirty="0">
                <a:solidFill>
                  <a:schemeClr val="tx1"/>
                </a:solidFill>
                <a:latin typeface="Times New Roman"/>
                <a:cs typeface="Times New Roman"/>
              </a:rPr>
              <a:t> do</a:t>
            </a:r>
            <a:endParaRPr lang="en-US" sz="4400" dirty="0">
              <a:solidFill>
                <a:schemeClr val="tx1"/>
              </a:solidFill>
            </a:endParaRPr>
          </a:p>
          <a:p>
            <a:pPr>
              <a:lnSpc>
                <a:spcPct val="90000"/>
              </a:lnSpc>
            </a:pPr>
            <a:r>
              <a:rPr lang="en-US" sz="4400" dirty="0">
                <a:solidFill>
                  <a:schemeClr val="tx1"/>
                </a:solidFill>
                <a:latin typeface="Times New Roman"/>
                <a:cs typeface="Times New Roman"/>
              </a:rPr>
              <a:t>            if A[j + 1] &lt; A[j] then</a:t>
            </a:r>
            <a:endParaRPr lang="en-US" sz="4400" dirty="0">
              <a:solidFill>
                <a:schemeClr val="tx1"/>
              </a:solidFill>
            </a:endParaRPr>
          </a:p>
          <a:p>
            <a:pPr>
              <a:lnSpc>
                <a:spcPct val="90000"/>
              </a:lnSpc>
            </a:pPr>
            <a:r>
              <a:rPr lang="en-US" sz="4400" dirty="0">
                <a:solidFill>
                  <a:schemeClr val="tx1"/>
                </a:solidFill>
                <a:latin typeface="Times New Roman"/>
                <a:cs typeface="Times New Roman"/>
              </a:rPr>
              <a:t>                swap A[j] and A[j + 1]</a:t>
            </a:r>
            <a:endParaRPr lang="en-US" sz="4400" dirty="0">
              <a:solidFill>
                <a:schemeClr val="tx1"/>
              </a:solidFill>
            </a:endParaRPr>
          </a:p>
          <a:p>
            <a:pPr>
              <a:lnSpc>
                <a:spcPct val="90000"/>
              </a:lnSpc>
            </a:pPr>
            <a:endParaRPr lang="en-US" sz="1500" dirty="0">
              <a:solidFill>
                <a:schemeClr val="tx1"/>
              </a:solidFill>
            </a:endParaRPr>
          </a:p>
        </p:txBody>
      </p:sp>
      <p:sp>
        <p:nvSpPr>
          <p:cNvPr id="4" name="Date Placeholder 3">
            <a:extLst>
              <a:ext uri="{FF2B5EF4-FFF2-40B4-BE49-F238E27FC236}">
                <a16:creationId xmlns:a16="http://schemas.microsoft.com/office/drawing/2014/main" id="{367DA3A2-22B1-7BD1-C638-19E2BBEBB7F6}"/>
              </a:ext>
            </a:extLst>
          </p:cNvPr>
          <p:cNvSpPr>
            <a:spLocks noGrp="1"/>
          </p:cNvSpPr>
          <p:nvPr>
            <p:ph type="dt" sz="half" idx="10"/>
          </p:nvPr>
        </p:nvSpPr>
        <p:spPr>
          <a:xfrm>
            <a:off x="422899" y="6217920"/>
            <a:ext cx="2743200" cy="640080"/>
          </a:xfrm>
        </p:spPr>
        <p:txBody>
          <a:bodyPr>
            <a:normAutofit/>
          </a:bodyPr>
          <a:lstStyle/>
          <a:p>
            <a:pPr>
              <a:spcAft>
                <a:spcPts val="600"/>
              </a:spcAft>
            </a:pPr>
            <a:fld id="{A1B7BD43-2F25-420B-A3E1-73212C0BB769}" type="datetime2">
              <a:rPr lang="en-US" smtClean="0"/>
              <a:t>Wednesday, January 14, 2026</a:t>
            </a:fld>
            <a:endParaRPr lang="en-US"/>
          </a:p>
        </p:txBody>
      </p:sp>
      <p:sp>
        <p:nvSpPr>
          <p:cNvPr id="5" name="Footer Placeholder 4">
            <a:extLst>
              <a:ext uri="{FF2B5EF4-FFF2-40B4-BE49-F238E27FC236}">
                <a16:creationId xmlns:a16="http://schemas.microsoft.com/office/drawing/2014/main" id="{B6364CAB-A31D-BF1B-E4AE-A5226422BD97}"/>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50" name="Straight Connector 49">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DBB374"/>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DBB37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5770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780DC-C24A-685F-DA95-0AE9FC6D7940}"/>
              </a:ext>
            </a:extLst>
          </p:cNvPr>
          <p:cNvSpPr>
            <a:spLocks noGrp="1"/>
          </p:cNvSpPr>
          <p:nvPr>
            <p:ph type="title"/>
          </p:nvPr>
        </p:nvSpPr>
        <p:spPr/>
        <p:txBody>
          <a:bodyPr>
            <a:normAutofit fontScale="90000"/>
          </a:bodyPr>
          <a:lstStyle/>
          <a:p>
            <a:r>
              <a:rPr lang="en-US" b="0" i="0" dirty="0">
                <a:solidFill>
                  <a:srgbClr val="610B38"/>
                </a:solidFill>
                <a:effectLst/>
                <a:latin typeface="erdana"/>
              </a:rPr>
              <a:t>Working of Bubble sort Algorithm</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554F5551-6048-7DC8-A4CE-AE092852746B}"/>
              </a:ext>
            </a:extLst>
          </p:cNvPr>
          <p:cNvSpPr>
            <a:spLocks noGrp="1"/>
          </p:cNvSpPr>
          <p:nvPr>
            <p:ph idx="1"/>
          </p:nvPr>
        </p:nvSpPr>
        <p:spPr>
          <a:xfrm>
            <a:off x="1319103" y="1244601"/>
            <a:ext cx="11579737" cy="10177930"/>
          </a:xfrm>
        </p:spPr>
        <p:txBody>
          <a:bodyPr/>
          <a:lstStyle/>
          <a:p>
            <a:r>
              <a:rPr lang="en-US" b="0" i="0" dirty="0">
                <a:solidFill>
                  <a:srgbClr val="333333"/>
                </a:solidFill>
                <a:effectLst/>
                <a:latin typeface="inter-regular"/>
              </a:rPr>
              <a:t>Let the elements of array are -</a:t>
            </a:r>
            <a:endParaRPr lang="en-IN" dirty="0"/>
          </a:p>
        </p:txBody>
      </p:sp>
      <p:sp>
        <p:nvSpPr>
          <p:cNvPr id="4" name="Date Placeholder 3">
            <a:extLst>
              <a:ext uri="{FF2B5EF4-FFF2-40B4-BE49-F238E27FC236}">
                <a16:creationId xmlns:a16="http://schemas.microsoft.com/office/drawing/2014/main" id="{8346B95E-1788-F2ED-1CCD-E1637DA7DC1E}"/>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0961C21A-5FD6-9017-39B6-26E57710A12E}"/>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01A3CBD8-222F-158D-2790-3B34F42284FB}"/>
              </a:ext>
            </a:extLst>
          </p:cNvPr>
          <p:cNvSpPr>
            <a:spLocks noGrp="1"/>
          </p:cNvSpPr>
          <p:nvPr>
            <p:ph type="sldNum" sz="quarter" idx="12"/>
          </p:nvPr>
        </p:nvSpPr>
        <p:spPr/>
        <p:txBody>
          <a:bodyPr/>
          <a:lstStyle/>
          <a:p>
            <a:fld id="{7BE69E03-4804-4553-A1EC-F089884EF50F}" type="slidenum">
              <a:rPr lang="en-US" smtClean="0"/>
              <a:t>20</a:t>
            </a:fld>
            <a:endParaRPr lang="en-US"/>
          </a:p>
        </p:txBody>
      </p:sp>
      <p:pic>
        <p:nvPicPr>
          <p:cNvPr id="1026" name="Picture 2" descr="Bubble sort Algorithm">
            <a:extLst>
              <a:ext uri="{FF2B5EF4-FFF2-40B4-BE49-F238E27FC236}">
                <a16:creationId xmlns:a16="http://schemas.microsoft.com/office/drawing/2014/main" id="{6CD11257-9DA8-4858-4B26-F4BF2E292D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103" y="1965961"/>
            <a:ext cx="6556800" cy="1325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279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852DA-00CD-F49E-7E90-E8007A364EEE}"/>
              </a:ext>
            </a:extLst>
          </p:cNvPr>
          <p:cNvSpPr>
            <a:spLocks noGrp="1"/>
          </p:cNvSpPr>
          <p:nvPr>
            <p:ph type="title"/>
          </p:nvPr>
        </p:nvSpPr>
        <p:spPr/>
        <p:txBody>
          <a:bodyPr/>
          <a:lstStyle/>
          <a:p>
            <a:r>
              <a:rPr lang="en-US" dirty="0"/>
              <a:t>First pass</a:t>
            </a:r>
            <a:endParaRPr lang="en-IN" dirty="0"/>
          </a:p>
        </p:txBody>
      </p:sp>
      <p:sp>
        <p:nvSpPr>
          <p:cNvPr id="3" name="Content Placeholder 2">
            <a:extLst>
              <a:ext uri="{FF2B5EF4-FFF2-40B4-BE49-F238E27FC236}">
                <a16:creationId xmlns:a16="http://schemas.microsoft.com/office/drawing/2014/main" id="{AC7122E1-6009-4407-60A2-8FF79518CDEF}"/>
              </a:ext>
            </a:extLst>
          </p:cNvPr>
          <p:cNvSpPr>
            <a:spLocks noGrp="1"/>
          </p:cNvSpPr>
          <p:nvPr>
            <p:ph idx="1"/>
          </p:nvPr>
        </p:nvSpPr>
        <p:spPr/>
        <p:txBody>
          <a:bodyPr/>
          <a:lstStyle/>
          <a:p>
            <a:r>
              <a:rPr lang="en-US" dirty="0"/>
              <a:t>             </a:t>
            </a:r>
            <a:r>
              <a:rPr lang="en-US" dirty="0">
                <a:solidFill>
                  <a:srgbClr val="FF0000"/>
                </a:solidFill>
              </a:rPr>
              <a:t>13 ,32</a:t>
            </a:r>
            <a:r>
              <a:rPr lang="en-US" dirty="0"/>
              <a:t>,26,35,10</a:t>
            </a:r>
          </a:p>
          <a:p>
            <a:r>
              <a:rPr lang="en-US" dirty="0"/>
              <a:t>              13 ,</a:t>
            </a:r>
            <a:r>
              <a:rPr lang="en-US" dirty="0">
                <a:solidFill>
                  <a:srgbClr val="FF0000"/>
                </a:solidFill>
              </a:rPr>
              <a:t>32,26</a:t>
            </a:r>
            <a:r>
              <a:rPr lang="en-US" dirty="0"/>
              <a:t>,35,10</a:t>
            </a:r>
          </a:p>
          <a:p>
            <a:r>
              <a:rPr lang="en-US" dirty="0"/>
              <a:t>              13 ,26,</a:t>
            </a:r>
            <a:r>
              <a:rPr lang="en-US" dirty="0">
                <a:solidFill>
                  <a:srgbClr val="FF0000"/>
                </a:solidFill>
              </a:rPr>
              <a:t>32,35</a:t>
            </a:r>
            <a:r>
              <a:rPr lang="en-US" dirty="0"/>
              <a:t>,10</a:t>
            </a:r>
          </a:p>
          <a:p>
            <a:r>
              <a:rPr lang="en-US" dirty="0"/>
              <a:t>              13 ,26,32,</a:t>
            </a:r>
            <a:r>
              <a:rPr lang="en-US" dirty="0">
                <a:solidFill>
                  <a:srgbClr val="FF0000"/>
                </a:solidFill>
              </a:rPr>
              <a:t>35,10</a:t>
            </a:r>
          </a:p>
          <a:p>
            <a:r>
              <a:rPr lang="en-US" dirty="0"/>
              <a:t>              </a:t>
            </a:r>
            <a:r>
              <a:rPr lang="en-US" dirty="0">
                <a:solidFill>
                  <a:srgbClr val="FF0000"/>
                </a:solidFill>
              </a:rPr>
              <a:t>13 ,26,32,10,35</a:t>
            </a:r>
          </a:p>
          <a:p>
            <a:endParaRPr lang="en-US" dirty="0"/>
          </a:p>
          <a:p>
            <a:endParaRPr lang="en-US" dirty="0"/>
          </a:p>
          <a:p>
            <a:endParaRPr lang="en-IN" dirty="0"/>
          </a:p>
        </p:txBody>
      </p:sp>
      <p:sp>
        <p:nvSpPr>
          <p:cNvPr id="4" name="Date Placeholder 3">
            <a:extLst>
              <a:ext uri="{FF2B5EF4-FFF2-40B4-BE49-F238E27FC236}">
                <a16:creationId xmlns:a16="http://schemas.microsoft.com/office/drawing/2014/main" id="{0645670D-DFAA-5595-BE32-F47292F1C65A}"/>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20C255DA-8959-CCB6-7FB2-28450BEE6C87}"/>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6BCB332D-EC6A-78B0-79C0-D636617EB029}"/>
              </a:ext>
            </a:extLst>
          </p:cNvPr>
          <p:cNvSpPr>
            <a:spLocks noGrp="1"/>
          </p:cNvSpPr>
          <p:nvPr>
            <p:ph type="sldNum" sz="quarter" idx="12"/>
          </p:nvPr>
        </p:nvSpPr>
        <p:spPr/>
        <p:txBody>
          <a:bodyPr/>
          <a:lstStyle/>
          <a:p>
            <a:fld id="{7BE69E03-4804-4553-A1EC-F089884EF50F}" type="slidenum">
              <a:rPr lang="en-US" smtClean="0"/>
              <a:t>21</a:t>
            </a:fld>
            <a:endParaRPr lang="en-US"/>
          </a:p>
        </p:txBody>
      </p:sp>
    </p:spTree>
    <p:extLst>
      <p:ext uri="{BB962C8B-B14F-4D97-AF65-F5344CB8AC3E}">
        <p14:creationId xmlns:p14="http://schemas.microsoft.com/office/powerpoint/2010/main" val="387876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852DA-00CD-F49E-7E90-E8007A364EEE}"/>
              </a:ext>
            </a:extLst>
          </p:cNvPr>
          <p:cNvSpPr>
            <a:spLocks noGrp="1"/>
          </p:cNvSpPr>
          <p:nvPr>
            <p:ph type="title"/>
          </p:nvPr>
        </p:nvSpPr>
        <p:spPr/>
        <p:txBody>
          <a:bodyPr/>
          <a:lstStyle/>
          <a:p>
            <a:r>
              <a:rPr lang="en-US" dirty="0"/>
              <a:t>Second pass</a:t>
            </a:r>
            <a:endParaRPr lang="en-IN" dirty="0"/>
          </a:p>
        </p:txBody>
      </p:sp>
      <p:sp>
        <p:nvSpPr>
          <p:cNvPr id="3" name="Content Placeholder 2">
            <a:extLst>
              <a:ext uri="{FF2B5EF4-FFF2-40B4-BE49-F238E27FC236}">
                <a16:creationId xmlns:a16="http://schemas.microsoft.com/office/drawing/2014/main" id="{AC7122E1-6009-4407-60A2-8FF79518CDEF}"/>
              </a:ext>
            </a:extLst>
          </p:cNvPr>
          <p:cNvSpPr>
            <a:spLocks noGrp="1"/>
          </p:cNvSpPr>
          <p:nvPr>
            <p:ph idx="1"/>
          </p:nvPr>
        </p:nvSpPr>
        <p:spPr/>
        <p:txBody>
          <a:bodyPr/>
          <a:lstStyle/>
          <a:p>
            <a:r>
              <a:rPr lang="en-US" dirty="0"/>
              <a:t>             </a:t>
            </a:r>
            <a:r>
              <a:rPr lang="en-US" dirty="0">
                <a:solidFill>
                  <a:srgbClr val="FF0000"/>
                </a:solidFill>
              </a:rPr>
              <a:t>13 ,26</a:t>
            </a:r>
            <a:r>
              <a:rPr lang="en-US" dirty="0"/>
              <a:t>,32,10,35</a:t>
            </a:r>
          </a:p>
          <a:p>
            <a:r>
              <a:rPr lang="en-US" dirty="0"/>
              <a:t>              13 ,</a:t>
            </a:r>
            <a:r>
              <a:rPr lang="en-US" dirty="0">
                <a:solidFill>
                  <a:srgbClr val="FF0000"/>
                </a:solidFill>
              </a:rPr>
              <a:t>26,32</a:t>
            </a:r>
            <a:r>
              <a:rPr lang="en-US" dirty="0"/>
              <a:t>,10,35</a:t>
            </a:r>
          </a:p>
          <a:p>
            <a:r>
              <a:rPr lang="en-US" dirty="0"/>
              <a:t>              13 ,26,</a:t>
            </a:r>
            <a:r>
              <a:rPr lang="en-US" dirty="0">
                <a:solidFill>
                  <a:srgbClr val="FF0000"/>
                </a:solidFill>
              </a:rPr>
              <a:t>32,10</a:t>
            </a:r>
            <a:r>
              <a:rPr lang="en-US" dirty="0"/>
              <a:t>,35</a:t>
            </a:r>
          </a:p>
          <a:p>
            <a:r>
              <a:rPr lang="en-US" dirty="0"/>
              <a:t>              13 ,26,10,</a:t>
            </a:r>
            <a:r>
              <a:rPr lang="en-US" dirty="0">
                <a:solidFill>
                  <a:srgbClr val="FF0000"/>
                </a:solidFill>
              </a:rPr>
              <a:t>32,35</a:t>
            </a:r>
          </a:p>
          <a:p>
            <a:r>
              <a:rPr lang="en-US" dirty="0"/>
              <a:t>              </a:t>
            </a:r>
            <a:r>
              <a:rPr lang="en-US" dirty="0">
                <a:solidFill>
                  <a:srgbClr val="FF0000"/>
                </a:solidFill>
              </a:rPr>
              <a:t>13 ,26,10,32,35</a:t>
            </a:r>
          </a:p>
          <a:p>
            <a:endParaRPr lang="en-US" dirty="0"/>
          </a:p>
          <a:p>
            <a:endParaRPr lang="en-US" dirty="0"/>
          </a:p>
          <a:p>
            <a:endParaRPr lang="en-IN" dirty="0"/>
          </a:p>
        </p:txBody>
      </p:sp>
      <p:sp>
        <p:nvSpPr>
          <p:cNvPr id="4" name="Date Placeholder 3">
            <a:extLst>
              <a:ext uri="{FF2B5EF4-FFF2-40B4-BE49-F238E27FC236}">
                <a16:creationId xmlns:a16="http://schemas.microsoft.com/office/drawing/2014/main" id="{0645670D-DFAA-5595-BE32-F47292F1C65A}"/>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20C255DA-8959-CCB6-7FB2-28450BEE6C87}"/>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6BCB332D-EC6A-78B0-79C0-D636617EB029}"/>
              </a:ext>
            </a:extLst>
          </p:cNvPr>
          <p:cNvSpPr>
            <a:spLocks noGrp="1"/>
          </p:cNvSpPr>
          <p:nvPr>
            <p:ph type="sldNum" sz="quarter" idx="12"/>
          </p:nvPr>
        </p:nvSpPr>
        <p:spPr/>
        <p:txBody>
          <a:bodyPr/>
          <a:lstStyle/>
          <a:p>
            <a:fld id="{7BE69E03-4804-4553-A1EC-F089884EF50F}" type="slidenum">
              <a:rPr lang="en-US" smtClean="0"/>
              <a:t>22</a:t>
            </a:fld>
            <a:endParaRPr lang="en-US"/>
          </a:p>
        </p:txBody>
      </p:sp>
    </p:spTree>
    <p:extLst>
      <p:ext uri="{BB962C8B-B14F-4D97-AF65-F5344CB8AC3E}">
        <p14:creationId xmlns:p14="http://schemas.microsoft.com/office/powerpoint/2010/main" val="24296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additive="base">
                                        <p:cTn id="3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 calcmode="lin" valueType="num">
                                      <p:cBhvr additive="base">
                                        <p:cTn id="4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852DA-00CD-F49E-7E90-E8007A364EEE}"/>
              </a:ext>
            </a:extLst>
          </p:cNvPr>
          <p:cNvSpPr>
            <a:spLocks noGrp="1"/>
          </p:cNvSpPr>
          <p:nvPr>
            <p:ph type="title"/>
          </p:nvPr>
        </p:nvSpPr>
        <p:spPr/>
        <p:txBody>
          <a:bodyPr/>
          <a:lstStyle/>
          <a:p>
            <a:r>
              <a:rPr lang="en-US" dirty="0"/>
              <a:t>Third pass</a:t>
            </a:r>
            <a:endParaRPr lang="en-IN" dirty="0"/>
          </a:p>
        </p:txBody>
      </p:sp>
      <p:sp>
        <p:nvSpPr>
          <p:cNvPr id="3" name="Content Placeholder 2">
            <a:extLst>
              <a:ext uri="{FF2B5EF4-FFF2-40B4-BE49-F238E27FC236}">
                <a16:creationId xmlns:a16="http://schemas.microsoft.com/office/drawing/2014/main" id="{AC7122E1-6009-4407-60A2-8FF79518CDEF}"/>
              </a:ext>
            </a:extLst>
          </p:cNvPr>
          <p:cNvSpPr>
            <a:spLocks noGrp="1"/>
          </p:cNvSpPr>
          <p:nvPr>
            <p:ph idx="1"/>
          </p:nvPr>
        </p:nvSpPr>
        <p:spPr/>
        <p:txBody>
          <a:bodyPr/>
          <a:lstStyle/>
          <a:p>
            <a:r>
              <a:rPr lang="en-US" dirty="0"/>
              <a:t>             </a:t>
            </a:r>
            <a:r>
              <a:rPr lang="en-US" dirty="0">
                <a:solidFill>
                  <a:srgbClr val="FF0000"/>
                </a:solidFill>
              </a:rPr>
              <a:t>13 ,26,</a:t>
            </a:r>
            <a:r>
              <a:rPr lang="en-US" dirty="0">
                <a:solidFill>
                  <a:schemeClr val="tx1"/>
                </a:solidFill>
              </a:rPr>
              <a:t>10,32,35</a:t>
            </a:r>
          </a:p>
          <a:p>
            <a:r>
              <a:rPr lang="en-US" dirty="0"/>
              <a:t>              13 ,</a:t>
            </a:r>
            <a:r>
              <a:rPr lang="en-US" dirty="0">
                <a:solidFill>
                  <a:srgbClr val="FF0000"/>
                </a:solidFill>
              </a:rPr>
              <a:t>26,10</a:t>
            </a:r>
            <a:r>
              <a:rPr lang="en-US" dirty="0"/>
              <a:t>,32,35</a:t>
            </a:r>
          </a:p>
          <a:p>
            <a:r>
              <a:rPr lang="en-US" dirty="0"/>
              <a:t>              13 ,10,</a:t>
            </a:r>
            <a:r>
              <a:rPr lang="en-US" dirty="0">
                <a:solidFill>
                  <a:srgbClr val="FF0000"/>
                </a:solidFill>
              </a:rPr>
              <a:t>26,32</a:t>
            </a:r>
            <a:r>
              <a:rPr lang="en-US" dirty="0"/>
              <a:t>,35</a:t>
            </a:r>
          </a:p>
          <a:p>
            <a:r>
              <a:rPr lang="en-US" dirty="0"/>
              <a:t>              13 ,10,26,</a:t>
            </a:r>
            <a:r>
              <a:rPr lang="en-US" dirty="0">
                <a:solidFill>
                  <a:srgbClr val="FF0000"/>
                </a:solidFill>
              </a:rPr>
              <a:t>32,35</a:t>
            </a:r>
          </a:p>
          <a:p>
            <a:r>
              <a:rPr lang="en-US" dirty="0"/>
              <a:t>              </a:t>
            </a:r>
            <a:r>
              <a:rPr lang="en-US" dirty="0">
                <a:solidFill>
                  <a:srgbClr val="FF0000"/>
                </a:solidFill>
              </a:rPr>
              <a:t>13 ,10,26,32,35</a:t>
            </a:r>
          </a:p>
          <a:p>
            <a:endParaRPr lang="en-US" dirty="0"/>
          </a:p>
          <a:p>
            <a:endParaRPr lang="en-US" dirty="0"/>
          </a:p>
          <a:p>
            <a:endParaRPr lang="en-IN" dirty="0"/>
          </a:p>
        </p:txBody>
      </p:sp>
      <p:sp>
        <p:nvSpPr>
          <p:cNvPr id="4" name="Date Placeholder 3">
            <a:extLst>
              <a:ext uri="{FF2B5EF4-FFF2-40B4-BE49-F238E27FC236}">
                <a16:creationId xmlns:a16="http://schemas.microsoft.com/office/drawing/2014/main" id="{0645670D-DFAA-5595-BE32-F47292F1C65A}"/>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20C255DA-8959-CCB6-7FB2-28450BEE6C87}"/>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6BCB332D-EC6A-78B0-79C0-D636617EB029}"/>
              </a:ext>
            </a:extLst>
          </p:cNvPr>
          <p:cNvSpPr>
            <a:spLocks noGrp="1"/>
          </p:cNvSpPr>
          <p:nvPr>
            <p:ph type="sldNum" sz="quarter" idx="12"/>
          </p:nvPr>
        </p:nvSpPr>
        <p:spPr/>
        <p:txBody>
          <a:bodyPr/>
          <a:lstStyle/>
          <a:p>
            <a:fld id="{7BE69E03-4804-4553-A1EC-F089884EF50F}" type="slidenum">
              <a:rPr lang="en-US" smtClean="0"/>
              <a:t>23</a:t>
            </a:fld>
            <a:endParaRPr lang="en-US"/>
          </a:p>
        </p:txBody>
      </p:sp>
    </p:spTree>
    <p:extLst>
      <p:ext uri="{BB962C8B-B14F-4D97-AF65-F5344CB8AC3E}">
        <p14:creationId xmlns:p14="http://schemas.microsoft.com/office/powerpoint/2010/main" val="1193707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852DA-00CD-F49E-7E90-E8007A364EEE}"/>
              </a:ext>
            </a:extLst>
          </p:cNvPr>
          <p:cNvSpPr>
            <a:spLocks noGrp="1"/>
          </p:cNvSpPr>
          <p:nvPr>
            <p:ph type="title"/>
          </p:nvPr>
        </p:nvSpPr>
        <p:spPr/>
        <p:txBody>
          <a:bodyPr/>
          <a:lstStyle/>
          <a:p>
            <a:r>
              <a:rPr lang="en-US" dirty="0"/>
              <a:t>Fourth pass</a:t>
            </a:r>
            <a:endParaRPr lang="en-IN" dirty="0"/>
          </a:p>
        </p:txBody>
      </p:sp>
      <p:sp>
        <p:nvSpPr>
          <p:cNvPr id="3" name="Content Placeholder 2">
            <a:extLst>
              <a:ext uri="{FF2B5EF4-FFF2-40B4-BE49-F238E27FC236}">
                <a16:creationId xmlns:a16="http://schemas.microsoft.com/office/drawing/2014/main" id="{AC7122E1-6009-4407-60A2-8FF79518CDEF}"/>
              </a:ext>
            </a:extLst>
          </p:cNvPr>
          <p:cNvSpPr>
            <a:spLocks noGrp="1"/>
          </p:cNvSpPr>
          <p:nvPr>
            <p:ph idx="1"/>
          </p:nvPr>
        </p:nvSpPr>
        <p:spPr>
          <a:xfrm>
            <a:off x="2173224" y="1920875"/>
            <a:ext cx="10972800" cy="12457365"/>
          </a:xfrm>
        </p:spPr>
        <p:txBody>
          <a:bodyPr/>
          <a:lstStyle/>
          <a:p>
            <a:r>
              <a:rPr lang="en-US" dirty="0"/>
              <a:t>             </a:t>
            </a:r>
            <a:r>
              <a:rPr lang="en-US" b="0" i="0" dirty="0">
                <a:solidFill>
                  <a:srgbClr val="333333"/>
                </a:solidFill>
                <a:effectLst/>
                <a:latin typeface="inter-regular"/>
              </a:rPr>
              <a:t>Similarly, after the fourth iteration, the array will be –</a:t>
            </a:r>
          </a:p>
          <a:p>
            <a:endParaRPr lang="en-US" dirty="0"/>
          </a:p>
          <a:p>
            <a:endParaRPr lang="en-US" dirty="0"/>
          </a:p>
          <a:p>
            <a:endParaRPr lang="en-IN" dirty="0"/>
          </a:p>
        </p:txBody>
      </p:sp>
      <p:sp>
        <p:nvSpPr>
          <p:cNvPr id="4" name="Date Placeholder 3">
            <a:extLst>
              <a:ext uri="{FF2B5EF4-FFF2-40B4-BE49-F238E27FC236}">
                <a16:creationId xmlns:a16="http://schemas.microsoft.com/office/drawing/2014/main" id="{0645670D-DFAA-5595-BE32-F47292F1C65A}"/>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20C255DA-8959-CCB6-7FB2-28450BEE6C87}"/>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6BCB332D-EC6A-78B0-79C0-D636617EB029}"/>
              </a:ext>
            </a:extLst>
          </p:cNvPr>
          <p:cNvSpPr>
            <a:spLocks noGrp="1"/>
          </p:cNvSpPr>
          <p:nvPr>
            <p:ph type="sldNum" sz="quarter" idx="12"/>
          </p:nvPr>
        </p:nvSpPr>
        <p:spPr/>
        <p:txBody>
          <a:bodyPr/>
          <a:lstStyle/>
          <a:p>
            <a:fld id="{7BE69E03-4804-4553-A1EC-F089884EF50F}" type="slidenum">
              <a:rPr lang="en-US" smtClean="0"/>
              <a:t>24</a:t>
            </a:fld>
            <a:endParaRPr lang="en-US"/>
          </a:p>
        </p:txBody>
      </p:sp>
      <p:pic>
        <p:nvPicPr>
          <p:cNvPr id="3074" name="Picture 2" descr="Bubble sort Algorithm">
            <a:extLst>
              <a:ext uri="{FF2B5EF4-FFF2-40B4-BE49-F238E27FC236}">
                <a16:creationId xmlns:a16="http://schemas.microsoft.com/office/drawing/2014/main" id="{A320988C-8895-5513-7DDA-141E71AF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4662" y="3276600"/>
            <a:ext cx="7785588" cy="1466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82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D5163-2D31-C4EE-22C7-5A6C72A47858}"/>
              </a:ext>
            </a:extLst>
          </p:cNvPr>
          <p:cNvSpPr>
            <a:spLocks noGrp="1"/>
          </p:cNvSpPr>
          <p:nvPr>
            <p:ph type="title"/>
          </p:nvPr>
        </p:nvSpPr>
        <p:spPr/>
        <p:txBody>
          <a:bodyPr/>
          <a:lstStyle/>
          <a:p>
            <a:r>
              <a:rPr lang="en-US" dirty="0"/>
              <a:t>Bubble Sort Example</a:t>
            </a:r>
          </a:p>
        </p:txBody>
      </p:sp>
      <p:sp>
        <p:nvSpPr>
          <p:cNvPr id="4" name="Date Placeholder 3">
            <a:extLst>
              <a:ext uri="{FF2B5EF4-FFF2-40B4-BE49-F238E27FC236}">
                <a16:creationId xmlns:a16="http://schemas.microsoft.com/office/drawing/2014/main" id="{057B769D-6828-E09E-D4A1-A607F28854A4}"/>
              </a:ext>
            </a:extLst>
          </p:cNvPr>
          <p:cNvSpPr>
            <a:spLocks noGrp="1"/>
          </p:cNvSpPr>
          <p:nvPr>
            <p:ph type="dt" sz="half" idx="10"/>
          </p:nvPr>
        </p:nvSpPr>
        <p:spPr/>
        <p:txBody>
          <a:bodyPr/>
          <a:lstStyle/>
          <a:p>
            <a:fld id="{6BD8A65D-BD8C-442F-8825-F4589FB23D46}"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0C0A50B5-00D4-6680-D144-AEB902905A9C}"/>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2FF81DF6-4F21-C974-849A-CAEE49164F44}"/>
              </a:ext>
            </a:extLst>
          </p:cNvPr>
          <p:cNvSpPr>
            <a:spLocks noGrp="1"/>
          </p:cNvSpPr>
          <p:nvPr>
            <p:ph type="sldNum" sz="quarter" idx="12"/>
          </p:nvPr>
        </p:nvSpPr>
        <p:spPr/>
        <p:txBody>
          <a:bodyPr/>
          <a:lstStyle/>
          <a:p>
            <a:fld id="{7BE69E03-4804-4553-A1EC-F089884EF50F}" type="slidenum">
              <a:rPr lang="en-US" smtClean="0"/>
              <a:t>25</a:t>
            </a:fld>
            <a:endParaRPr lang="en-US"/>
          </a:p>
        </p:txBody>
      </p:sp>
      <p:pic>
        <p:nvPicPr>
          <p:cNvPr id="10" name="Content Placeholder 9">
            <a:extLst>
              <a:ext uri="{FF2B5EF4-FFF2-40B4-BE49-F238E27FC236}">
                <a16:creationId xmlns:a16="http://schemas.microsoft.com/office/drawing/2014/main" id="{6B7FDA38-B2B8-D84D-415E-41F8B7E4A9EB}"/>
              </a:ext>
            </a:extLst>
          </p:cNvPr>
          <p:cNvPicPr>
            <a:picLocks noGrp="1" noChangeAspect="1"/>
          </p:cNvPicPr>
          <p:nvPr>
            <p:ph idx="1"/>
          </p:nvPr>
        </p:nvPicPr>
        <p:blipFill>
          <a:blip r:embed="rId2"/>
          <a:stretch>
            <a:fillRect/>
          </a:stretch>
        </p:blipFill>
        <p:spPr>
          <a:xfrm>
            <a:off x="3137080" y="1490051"/>
            <a:ext cx="6231547" cy="4455501"/>
          </a:xfrm>
        </p:spPr>
      </p:pic>
    </p:spTree>
    <p:extLst>
      <p:ext uri="{BB962C8B-B14F-4D97-AF65-F5344CB8AC3E}">
        <p14:creationId xmlns:p14="http://schemas.microsoft.com/office/powerpoint/2010/main" val="2515878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9685E-F1D7-8831-A784-8F3617DB421D}"/>
              </a:ext>
            </a:extLst>
          </p:cNvPr>
          <p:cNvSpPr>
            <a:spLocks noGrp="1"/>
          </p:cNvSpPr>
          <p:nvPr>
            <p:ph type="title"/>
          </p:nvPr>
        </p:nvSpPr>
        <p:spPr/>
        <p:txBody>
          <a:bodyPr/>
          <a:lstStyle/>
          <a:p>
            <a:r>
              <a:rPr lang="en-US" dirty="0"/>
              <a:t>Bubble Sort Analysis</a:t>
            </a:r>
          </a:p>
        </p:txBody>
      </p:sp>
      <p:pic>
        <p:nvPicPr>
          <p:cNvPr id="7" name="Content Placeholder 6">
            <a:extLst>
              <a:ext uri="{FF2B5EF4-FFF2-40B4-BE49-F238E27FC236}">
                <a16:creationId xmlns:a16="http://schemas.microsoft.com/office/drawing/2014/main" id="{BD182213-524E-5818-5515-24C31D3DE2EB}"/>
              </a:ext>
            </a:extLst>
          </p:cNvPr>
          <p:cNvPicPr>
            <a:picLocks noGrp="1" noChangeAspect="1"/>
          </p:cNvPicPr>
          <p:nvPr>
            <p:ph idx="1"/>
          </p:nvPr>
        </p:nvPicPr>
        <p:blipFill>
          <a:blip r:embed="rId3"/>
          <a:stretch>
            <a:fillRect/>
          </a:stretch>
        </p:blipFill>
        <p:spPr>
          <a:xfrm>
            <a:off x="1849740" y="1807306"/>
            <a:ext cx="7821490" cy="3234836"/>
          </a:xfrm>
        </p:spPr>
      </p:pic>
      <p:sp>
        <p:nvSpPr>
          <p:cNvPr id="4" name="Date Placeholder 3">
            <a:extLst>
              <a:ext uri="{FF2B5EF4-FFF2-40B4-BE49-F238E27FC236}">
                <a16:creationId xmlns:a16="http://schemas.microsoft.com/office/drawing/2014/main" id="{4C6C3277-BFBF-7F95-86CE-F8E31F8F50F0}"/>
              </a:ext>
            </a:extLst>
          </p:cNvPr>
          <p:cNvSpPr>
            <a:spLocks noGrp="1"/>
          </p:cNvSpPr>
          <p:nvPr>
            <p:ph type="dt" sz="half" idx="10"/>
          </p:nvPr>
        </p:nvSpPr>
        <p:spPr/>
        <p:txBody>
          <a:bodyPr/>
          <a:lstStyle/>
          <a:p>
            <a:fld id="{708C4C5A-06ED-4B6F-9A22-06675FF826EB}"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2F1B7481-EB84-6830-9D56-A9D18A2F853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182DF6E0-8F1A-4B7E-E62D-DD6E6B838A02}"/>
              </a:ext>
            </a:extLst>
          </p:cNvPr>
          <p:cNvSpPr>
            <a:spLocks noGrp="1"/>
          </p:cNvSpPr>
          <p:nvPr>
            <p:ph type="sldNum" sz="quarter" idx="12"/>
          </p:nvPr>
        </p:nvSpPr>
        <p:spPr/>
        <p:txBody>
          <a:bodyPr/>
          <a:lstStyle/>
          <a:p>
            <a:fld id="{7BE69E03-4804-4553-A1EC-F089884EF50F}" type="slidenum">
              <a:rPr lang="en-US" smtClean="0"/>
              <a:t>26</a:t>
            </a:fld>
            <a:endParaRPr lang="en-US"/>
          </a:p>
        </p:txBody>
      </p:sp>
    </p:spTree>
    <p:extLst>
      <p:ext uri="{BB962C8B-B14F-4D97-AF65-F5344CB8AC3E}">
        <p14:creationId xmlns:p14="http://schemas.microsoft.com/office/powerpoint/2010/main" val="1062497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52D2-CF89-E76D-25A4-28CA87A3C573}"/>
              </a:ext>
            </a:extLst>
          </p:cNvPr>
          <p:cNvSpPr>
            <a:spLocks noGrp="1"/>
          </p:cNvSpPr>
          <p:nvPr>
            <p:ph type="title"/>
          </p:nvPr>
        </p:nvSpPr>
        <p:spPr/>
        <p:txBody>
          <a:bodyPr/>
          <a:lstStyle/>
          <a:p>
            <a:r>
              <a:rPr lang="en-US" sz="5400" b="1" dirty="0"/>
              <a:t>Sequential or Linear Search</a:t>
            </a:r>
            <a:endParaRPr lang="en-IN" dirty="0"/>
          </a:p>
        </p:txBody>
      </p:sp>
      <p:sp>
        <p:nvSpPr>
          <p:cNvPr id="3" name="Content Placeholder 2">
            <a:extLst>
              <a:ext uri="{FF2B5EF4-FFF2-40B4-BE49-F238E27FC236}">
                <a16:creationId xmlns:a16="http://schemas.microsoft.com/office/drawing/2014/main" id="{9BA88666-EA05-70DB-1CF6-FAC2CDCE4A39}"/>
              </a:ext>
            </a:extLst>
          </p:cNvPr>
          <p:cNvSpPr>
            <a:spLocks noGrp="1"/>
          </p:cNvSpPr>
          <p:nvPr>
            <p:ph idx="1"/>
          </p:nvPr>
        </p:nvSpPr>
        <p:spPr/>
        <p:txBody>
          <a:bodyPr>
            <a:normAutofit lnSpcReduction="10000"/>
          </a:bodyPr>
          <a:lstStyle/>
          <a:p>
            <a:pPr marL="0" indent="0">
              <a:buNone/>
            </a:pPr>
            <a:r>
              <a:rPr lang="en-US" sz="2800" dirty="0"/>
              <a:t>Int </a:t>
            </a:r>
            <a:r>
              <a:rPr lang="en-US" sz="2800" dirty="0" err="1"/>
              <a:t>SequentialSearch</a:t>
            </a:r>
            <a:r>
              <a:rPr lang="en-US" sz="2800" dirty="0"/>
              <a:t>(int a[], int n, const int&amp; x)            a[0] a[1] ….a[n-1]</a:t>
            </a:r>
          </a:p>
          <a:p>
            <a:pPr marL="0" indent="0">
              <a:buNone/>
            </a:pPr>
            <a:r>
              <a:rPr lang="en-US" sz="2800" dirty="0"/>
              <a:t>   {</a:t>
            </a:r>
          </a:p>
          <a:p>
            <a:pPr marL="0" indent="0">
              <a:buNone/>
            </a:pPr>
            <a:r>
              <a:rPr lang="en-US" sz="2800" dirty="0"/>
              <a:t>	int </a:t>
            </a:r>
            <a:r>
              <a:rPr lang="en-US" sz="2800" dirty="0" err="1"/>
              <a:t>i</a:t>
            </a:r>
            <a:r>
              <a:rPr lang="en-US" sz="2800" dirty="0"/>
              <a:t>;</a:t>
            </a:r>
          </a:p>
          <a:p>
            <a:pPr marL="0" indent="0">
              <a:buNone/>
            </a:pPr>
            <a:r>
              <a:rPr lang="en-US" sz="2800" dirty="0"/>
              <a:t>	for (</a:t>
            </a:r>
            <a:r>
              <a:rPr lang="en-US" sz="2800" dirty="0" err="1"/>
              <a:t>i</a:t>
            </a:r>
            <a:r>
              <a:rPr lang="en-US" sz="2800" dirty="0"/>
              <a:t> = 0; </a:t>
            </a:r>
            <a:r>
              <a:rPr lang="en-US" sz="2800" dirty="0" err="1"/>
              <a:t>i</a:t>
            </a:r>
            <a:r>
              <a:rPr lang="en-US" sz="2800" dirty="0"/>
              <a:t> &lt; n &amp;&amp; a[</a:t>
            </a:r>
            <a:r>
              <a:rPr lang="en-US" sz="2800" dirty="0" err="1"/>
              <a:t>i</a:t>
            </a:r>
            <a:r>
              <a:rPr lang="en-US" sz="2800" dirty="0"/>
              <a:t>] != x; </a:t>
            </a:r>
            <a:r>
              <a:rPr lang="en-US" sz="2800" dirty="0" err="1"/>
              <a:t>i</a:t>
            </a:r>
            <a:r>
              <a:rPr lang="en-US" sz="2800" dirty="0"/>
              <a:t>++);</a:t>
            </a:r>
          </a:p>
          <a:p>
            <a:pPr marL="0" indent="0">
              <a:buNone/>
            </a:pPr>
            <a:r>
              <a:rPr lang="en-US" sz="2800" dirty="0"/>
              <a:t>	if (</a:t>
            </a:r>
            <a:r>
              <a:rPr lang="en-US" sz="2800" dirty="0" err="1"/>
              <a:t>i</a:t>
            </a:r>
            <a:r>
              <a:rPr lang="en-US" sz="2800" dirty="0"/>
              <a:t> == n) return -1;</a:t>
            </a:r>
          </a:p>
          <a:p>
            <a:pPr marL="0" indent="0">
              <a:buNone/>
            </a:pPr>
            <a:r>
              <a:rPr lang="en-US" sz="2800" dirty="0"/>
              <a:t>	else return </a:t>
            </a:r>
            <a:r>
              <a:rPr lang="en-US" sz="2800" dirty="0" err="1"/>
              <a:t>i</a:t>
            </a:r>
            <a:r>
              <a:rPr lang="en-US" sz="2800" dirty="0"/>
              <a:t>;</a:t>
            </a:r>
          </a:p>
          <a:p>
            <a:pPr marL="0" indent="0">
              <a:buNone/>
            </a:pPr>
            <a:r>
              <a:rPr lang="en-US" sz="2800" dirty="0"/>
              <a:t>    }</a:t>
            </a:r>
          </a:p>
          <a:p>
            <a:endParaRPr lang="en-IN" dirty="0"/>
          </a:p>
        </p:txBody>
      </p:sp>
      <p:sp>
        <p:nvSpPr>
          <p:cNvPr id="4" name="Date Placeholder 3">
            <a:extLst>
              <a:ext uri="{FF2B5EF4-FFF2-40B4-BE49-F238E27FC236}">
                <a16:creationId xmlns:a16="http://schemas.microsoft.com/office/drawing/2014/main" id="{C71EE359-BA62-A6FE-BE57-9384FE656359}"/>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E82CFABF-9E70-1DFB-9A88-F5D47F71B87F}"/>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B71E1418-CD74-EDE4-3AF7-A92F6D2DD4D1}"/>
              </a:ext>
            </a:extLst>
          </p:cNvPr>
          <p:cNvSpPr>
            <a:spLocks noGrp="1"/>
          </p:cNvSpPr>
          <p:nvPr>
            <p:ph type="sldNum" sz="quarter" idx="12"/>
          </p:nvPr>
        </p:nvSpPr>
        <p:spPr/>
        <p:txBody>
          <a:bodyPr/>
          <a:lstStyle/>
          <a:p>
            <a:fld id="{7BE69E03-4804-4553-A1EC-F089884EF50F}" type="slidenum">
              <a:rPr lang="en-US" smtClean="0"/>
              <a:t>27</a:t>
            </a:fld>
            <a:endParaRPr lang="en-US"/>
          </a:p>
        </p:txBody>
      </p:sp>
    </p:spTree>
    <p:extLst>
      <p:ext uri="{BB962C8B-B14F-4D97-AF65-F5344CB8AC3E}">
        <p14:creationId xmlns:p14="http://schemas.microsoft.com/office/powerpoint/2010/main" val="2672658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52D2-CF89-E76D-25A4-28CA87A3C573}"/>
              </a:ext>
            </a:extLst>
          </p:cNvPr>
          <p:cNvSpPr>
            <a:spLocks noGrp="1"/>
          </p:cNvSpPr>
          <p:nvPr>
            <p:ph type="title"/>
          </p:nvPr>
        </p:nvSpPr>
        <p:spPr/>
        <p:txBody>
          <a:bodyPr/>
          <a:lstStyle/>
          <a:p>
            <a:r>
              <a:rPr lang="en-US" sz="5400" b="1" dirty="0"/>
              <a:t>Sequential or Linear Search</a:t>
            </a:r>
            <a:endParaRPr lang="en-IN" dirty="0"/>
          </a:p>
        </p:txBody>
      </p:sp>
      <p:sp>
        <p:nvSpPr>
          <p:cNvPr id="3" name="Content Placeholder 2">
            <a:extLst>
              <a:ext uri="{FF2B5EF4-FFF2-40B4-BE49-F238E27FC236}">
                <a16:creationId xmlns:a16="http://schemas.microsoft.com/office/drawing/2014/main" id="{9BA88666-EA05-70DB-1CF6-FAC2CDCE4A39}"/>
              </a:ext>
            </a:extLst>
          </p:cNvPr>
          <p:cNvSpPr>
            <a:spLocks noGrp="1"/>
          </p:cNvSpPr>
          <p:nvPr>
            <p:ph idx="1"/>
          </p:nvPr>
        </p:nvSpPr>
        <p:spPr/>
        <p:txBody>
          <a:bodyPr>
            <a:normAutofit lnSpcReduction="10000"/>
          </a:bodyPr>
          <a:lstStyle/>
          <a:p>
            <a:pPr marL="0" indent="0">
              <a:buNone/>
            </a:pPr>
            <a:r>
              <a:rPr lang="en-US" sz="2800" dirty="0"/>
              <a:t>Int </a:t>
            </a:r>
            <a:r>
              <a:rPr lang="en-US" sz="2800" dirty="0" err="1"/>
              <a:t>SequentialSearch</a:t>
            </a:r>
            <a:r>
              <a:rPr lang="en-US" sz="2800" dirty="0"/>
              <a:t>(int a[], int n, const int&amp; x)            a[0] a[1] ….a[n-1]</a:t>
            </a:r>
          </a:p>
          <a:p>
            <a:pPr marL="0" indent="0">
              <a:buNone/>
            </a:pPr>
            <a:r>
              <a:rPr lang="en-US" sz="2800" dirty="0"/>
              <a:t>   {</a:t>
            </a:r>
          </a:p>
          <a:p>
            <a:pPr marL="0" indent="0">
              <a:buNone/>
            </a:pPr>
            <a:r>
              <a:rPr lang="en-US" sz="2800" dirty="0"/>
              <a:t>	int </a:t>
            </a:r>
            <a:r>
              <a:rPr lang="en-US" sz="2800" dirty="0" err="1"/>
              <a:t>i</a:t>
            </a:r>
            <a:r>
              <a:rPr lang="en-US" sz="2800" dirty="0"/>
              <a:t>;</a:t>
            </a:r>
          </a:p>
          <a:p>
            <a:pPr marL="0" indent="0">
              <a:buNone/>
            </a:pPr>
            <a:r>
              <a:rPr lang="en-US" sz="2800" dirty="0"/>
              <a:t>	for (</a:t>
            </a:r>
            <a:r>
              <a:rPr lang="en-US" sz="2800" dirty="0" err="1"/>
              <a:t>i</a:t>
            </a:r>
            <a:r>
              <a:rPr lang="en-US" sz="2800" dirty="0"/>
              <a:t> = 0; </a:t>
            </a:r>
            <a:r>
              <a:rPr lang="en-US" sz="2800" dirty="0" err="1"/>
              <a:t>i</a:t>
            </a:r>
            <a:r>
              <a:rPr lang="en-US" sz="2800" dirty="0"/>
              <a:t> &lt; n &amp;&amp; a[</a:t>
            </a:r>
            <a:r>
              <a:rPr lang="en-US" sz="2800" dirty="0" err="1"/>
              <a:t>i</a:t>
            </a:r>
            <a:r>
              <a:rPr lang="en-US" sz="2800" dirty="0"/>
              <a:t>] != x; </a:t>
            </a:r>
            <a:r>
              <a:rPr lang="en-US" sz="2800" dirty="0" err="1"/>
              <a:t>i</a:t>
            </a:r>
            <a:r>
              <a:rPr lang="en-US" sz="2800" dirty="0"/>
              <a:t>++);</a:t>
            </a:r>
          </a:p>
          <a:p>
            <a:pPr marL="0" indent="0">
              <a:buNone/>
            </a:pPr>
            <a:r>
              <a:rPr lang="en-US" sz="2800" dirty="0"/>
              <a:t>	if (</a:t>
            </a:r>
            <a:r>
              <a:rPr lang="en-US" sz="2800" dirty="0" err="1"/>
              <a:t>i</a:t>
            </a:r>
            <a:r>
              <a:rPr lang="en-US" sz="2800" dirty="0"/>
              <a:t> == n) return -1;</a:t>
            </a:r>
          </a:p>
          <a:p>
            <a:pPr marL="0" indent="0">
              <a:buNone/>
            </a:pPr>
            <a:r>
              <a:rPr lang="en-US" sz="2800" dirty="0"/>
              <a:t>	else return </a:t>
            </a:r>
            <a:r>
              <a:rPr lang="en-US" sz="2800" dirty="0" err="1"/>
              <a:t>i</a:t>
            </a:r>
            <a:r>
              <a:rPr lang="en-US" sz="2800" dirty="0"/>
              <a:t>;</a:t>
            </a:r>
          </a:p>
          <a:p>
            <a:pPr marL="0" indent="0">
              <a:buNone/>
            </a:pPr>
            <a:r>
              <a:rPr lang="en-US" sz="2800" dirty="0"/>
              <a:t>    }</a:t>
            </a:r>
          </a:p>
          <a:p>
            <a:endParaRPr lang="en-IN" dirty="0"/>
          </a:p>
        </p:txBody>
      </p:sp>
      <p:sp>
        <p:nvSpPr>
          <p:cNvPr id="4" name="Date Placeholder 3">
            <a:extLst>
              <a:ext uri="{FF2B5EF4-FFF2-40B4-BE49-F238E27FC236}">
                <a16:creationId xmlns:a16="http://schemas.microsoft.com/office/drawing/2014/main" id="{C71EE359-BA62-A6FE-BE57-9384FE656359}"/>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E82CFABF-9E70-1DFB-9A88-F5D47F71B87F}"/>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B71E1418-CD74-EDE4-3AF7-A92F6D2DD4D1}"/>
              </a:ext>
            </a:extLst>
          </p:cNvPr>
          <p:cNvSpPr>
            <a:spLocks noGrp="1"/>
          </p:cNvSpPr>
          <p:nvPr>
            <p:ph type="sldNum" sz="quarter" idx="12"/>
          </p:nvPr>
        </p:nvSpPr>
        <p:spPr/>
        <p:txBody>
          <a:bodyPr/>
          <a:lstStyle/>
          <a:p>
            <a:fld id="{7BE69E03-4804-4553-A1EC-F089884EF50F}" type="slidenum">
              <a:rPr lang="en-US" smtClean="0"/>
              <a:t>28</a:t>
            </a:fld>
            <a:endParaRPr lang="en-US"/>
          </a:p>
        </p:txBody>
      </p:sp>
    </p:spTree>
    <p:extLst>
      <p:ext uri="{BB962C8B-B14F-4D97-AF65-F5344CB8AC3E}">
        <p14:creationId xmlns:p14="http://schemas.microsoft.com/office/powerpoint/2010/main" val="169057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52D2-CF89-E76D-25A4-28CA87A3C573}"/>
              </a:ext>
            </a:extLst>
          </p:cNvPr>
          <p:cNvSpPr>
            <a:spLocks noGrp="1"/>
          </p:cNvSpPr>
          <p:nvPr>
            <p:ph type="title"/>
          </p:nvPr>
        </p:nvSpPr>
        <p:spPr/>
        <p:txBody>
          <a:bodyPr/>
          <a:lstStyle/>
          <a:p>
            <a:r>
              <a:rPr lang="en-US" sz="5400" b="1" dirty="0"/>
              <a:t>Sequential or Linear Search</a:t>
            </a:r>
            <a:endParaRPr lang="en-IN" dirty="0"/>
          </a:p>
        </p:txBody>
      </p:sp>
      <p:sp>
        <p:nvSpPr>
          <p:cNvPr id="3" name="Content Placeholder 2">
            <a:extLst>
              <a:ext uri="{FF2B5EF4-FFF2-40B4-BE49-F238E27FC236}">
                <a16:creationId xmlns:a16="http://schemas.microsoft.com/office/drawing/2014/main" id="{9BA88666-EA05-70DB-1CF6-FAC2CDCE4A39}"/>
              </a:ext>
            </a:extLst>
          </p:cNvPr>
          <p:cNvSpPr>
            <a:spLocks noGrp="1"/>
          </p:cNvSpPr>
          <p:nvPr>
            <p:ph idx="1"/>
          </p:nvPr>
        </p:nvSpPr>
        <p:spPr/>
        <p:txBody>
          <a:bodyPr>
            <a:normAutofit lnSpcReduction="10000"/>
          </a:bodyPr>
          <a:lstStyle/>
          <a:p>
            <a:pPr marL="0" indent="0">
              <a:buNone/>
            </a:pPr>
            <a:r>
              <a:rPr lang="en-US" sz="2800" dirty="0"/>
              <a:t>Int </a:t>
            </a:r>
            <a:r>
              <a:rPr lang="en-US" sz="2800" dirty="0" err="1"/>
              <a:t>SequentialSearch</a:t>
            </a:r>
            <a:r>
              <a:rPr lang="en-US" sz="2800" dirty="0"/>
              <a:t>(int a[], int n, const int&amp; x)            a[0] a[1] ….a[n-1]</a:t>
            </a:r>
          </a:p>
          <a:p>
            <a:pPr marL="0" indent="0">
              <a:buNone/>
            </a:pPr>
            <a:r>
              <a:rPr lang="en-US" sz="2800" dirty="0"/>
              <a:t>   {</a:t>
            </a:r>
          </a:p>
          <a:p>
            <a:pPr marL="0" indent="0">
              <a:buNone/>
            </a:pPr>
            <a:r>
              <a:rPr lang="en-US" sz="2800" dirty="0"/>
              <a:t>	int </a:t>
            </a:r>
            <a:r>
              <a:rPr lang="en-US" sz="2800" dirty="0" err="1"/>
              <a:t>i</a:t>
            </a:r>
            <a:r>
              <a:rPr lang="en-US" sz="2800" dirty="0"/>
              <a:t>;</a:t>
            </a:r>
          </a:p>
          <a:p>
            <a:pPr marL="0" indent="0">
              <a:buNone/>
            </a:pPr>
            <a:r>
              <a:rPr lang="en-US" sz="2800" dirty="0"/>
              <a:t>	for (</a:t>
            </a:r>
            <a:r>
              <a:rPr lang="en-US" sz="2800" dirty="0" err="1"/>
              <a:t>i</a:t>
            </a:r>
            <a:r>
              <a:rPr lang="en-US" sz="2800" dirty="0"/>
              <a:t> = 0; </a:t>
            </a:r>
            <a:r>
              <a:rPr lang="en-US" sz="2800" dirty="0" err="1"/>
              <a:t>i</a:t>
            </a:r>
            <a:r>
              <a:rPr lang="en-US" sz="2800" dirty="0"/>
              <a:t> &lt; n &amp;&amp; a[</a:t>
            </a:r>
            <a:r>
              <a:rPr lang="en-US" sz="2800" dirty="0" err="1"/>
              <a:t>i</a:t>
            </a:r>
            <a:r>
              <a:rPr lang="en-US" sz="2800" dirty="0"/>
              <a:t>] != x; </a:t>
            </a:r>
            <a:r>
              <a:rPr lang="en-US" sz="2800" dirty="0" err="1"/>
              <a:t>i</a:t>
            </a:r>
            <a:r>
              <a:rPr lang="en-US" sz="2800" dirty="0"/>
              <a:t>++);</a:t>
            </a:r>
          </a:p>
          <a:p>
            <a:pPr marL="0" indent="0">
              <a:buNone/>
            </a:pPr>
            <a:r>
              <a:rPr lang="en-US" sz="2800" dirty="0"/>
              <a:t>	if (</a:t>
            </a:r>
            <a:r>
              <a:rPr lang="en-US" sz="2800" dirty="0" err="1"/>
              <a:t>i</a:t>
            </a:r>
            <a:r>
              <a:rPr lang="en-US" sz="2800" dirty="0"/>
              <a:t> == n) return -1;</a:t>
            </a:r>
          </a:p>
          <a:p>
            <a:pPr marL="0" indent="0">
              <a:buNone/>
            </a:pPr>
            <a:r>
              <a:rPr lang="en-US" sz="2800" dirty="0"/>
              <a:t>	else return </a:t>
            </a:r>
            <a:r>
              <a:rPr lang="en-US" sz="2800" dirty="0" err="1"/>
              <a:t>i</a:t>
            </a:r>
            <a:r>
              <a:rPr lang="en-US" sz="2800" dirty="0"/>
              <a:t>;</a:t>
            </a:r>
          </a:p>
          <a:p>
            <a:pPr marL="0" indent="0">
              <a:buNone/>
            </a:pPr>
            <a:r>
              <a:rPr lang="en-US" sz="2800" dirty="0"/>
              <a:t>    }</a:t>
            </a:r>
          </a:p>
          <a:p>
            <a:endParaRPr lang="en-IN" dirty="0"/>
          </a:p>
        </p:txBody>
      </p:sp>
      <p:sp>
        <p:nvSpPr>
          <p:cNvPr id="4" name="Date Placeholder 3">
            <a:extLst>
              <a:ext uri="{FF2B5EF4-FFF2-40B4-BE49-F238E27FC236}">
                <a16:creationId xmlns:a16="http://schemas.microsoft.com/office/drawing/2014/main" id="{C71EE359-BA62-A6FE-BE57-9384FE656359}"/>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E82CFABF-9E70-1DFB-9A88-F5D47F71B87F}"/>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B71E1418-CD74-EDE4-3AF7-A92F6D2DD4D1}"/>
              </a:ext>
            </a:extLst>
          </p:cNvPr>
          <p:cNvSpPr>
            <a:spLocks noGrp="1"/>
          </p:cNvSpPr>
          <p:nvPr>
            <p:ph type="sldNum" sz="quarter" idx="12"/>
          </p:nvPr>
        </p:nvSpPr>
        <p:spPr/>
        <p:txBody>
          <a:bodyPr/>
          <a:lstStyle/>
          <a:p>
            <a:fld id="{7BE69E03-4804-4553-A1EC-F089884EF50F}" type="slidenum">
              <a:rPr lang="en-US" smtClean="0"/>
              <a:t>29</a:t>
            </a:fld>
            <a:endParaRPr lang="en-US"/>
          </a:p>
        </p:txBody>
      </p:sp>
    </p:spTree>
    <p:extLst>
      <p:ext uri="{BB962C8B-B14F-4D97-AF65-F5344CB8AC3E}">
        <p14:creationId xmlns:p14="http://schemas.microsoft.com/office/powerpoint/2010/main" val="2130441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52D2-CF89-E76D-25A4-28CA87A3C573}"/>
              </a:ext>
            </a:extLst>
          </p:cNvPr>
          <p:cNvSpPr>
            <a:spLocks noGrp="1"/>
          </p:cNvSpPr>
          <p:nvPr>
            <p:ph type="title"/>
          </p:nvPr>
        </p:nvSpPr>
        <p:spPr/>
        <p:txBody>
          <a:bodyPr/>
          <a:lstStyle/>
          <a:p>
            <a:r>
              <a:rPr lang="en-US" sz="5400" b="1" dirty="0"/>
              <a:t>Sequential or Linear Search</a:t>
            </a:r>
            <a:endParaRPr lang="en-IN" dirty="0"/>
          </a:p>
        </p:txBody>
      </p:sp>
      <p:sp>
        <p:nvSpPr>
          <p:cNvPr id="3" name="Content Placeholder 2">
            <a:extLst>
              <a:ext uri="{FF2B5EF4-FFF2-40B4-BE49-F238E27FC236}">
                <a16:creationId xmlns:a16="http://schemas.microsoft.com/office/drawing/2014/main" id="{9BA88666-EA05-70DB-1CF6-FAC2CDCE4A39}"/>
              </a:ext>
            </a:extLst>
          </p:cNvPr>
          <p:cNvSpPr>
            <a:spLocks noGrp="1"/>
          </p:cNvSpPr>
          <p:nvPr>
            <p:ph idx="1"/>
          </p:nvPr>
        </p:nvSpPr>
        <p:spPr/>
        <p:txBody>
          <a:bodyPr>
            <a:normAutofit lnSpcReduction="10000"/>
          </a:bodyPr>
          <a:lstStyle/>
          <a:p>
            <a:pPr marL="0" indent="0">
              <a:buNone/>
            </a:pPr>
            <a:r>
              <a:rPr lang="en-US" sz="2800" dirty="0"/>
              <a:t>Int </a:t>
            </a:r>
            <a:r>
              <a:rPr lang="en-US" sz="2800" dirty="0" err="1"/>
              <a:t>SequentialSearch</a:t>
            </a:r>
            <a:r>
              <a:rPr lang="en-US" sz="2800" dirty="0"/>
              <a:t>(int a[], int n, const int&amp; x)            a[0] a[1] ….a[n-1]</a:t>
            </a:r>
          </a:p>
          <a:p>
            <a:pPr marL="0" indent="0">
              <a:buNone/>
            </a:pPr>
            <a:r>
              <a:rPr lang="en-US" sz="2800" dirty="0"/>
              <a:t>   {</a:t>
            </a:r>
          </a:p>
          <a:p>
            <a:pPr marL="0" indent="0">
              <a:buNone/>
            </a:pPr>
            <a:r>
              <a:rPr lang="en-US" sz="2800" dirty="0"/>
              <a:t>	int </a:t>
            </a:r>
            <a:r>
              <a:rPr lang="en-US" sz="2800" dirty="0" err="1"/>
              <a:t>i</a:t>
            </a:r>
            <a:r>
              <a:rPr lang="en-US" sz="2800" dirty="0"/>
              <a:t>;</a:t>
            </a:r>
          </a:p>
          <a:p>
            <a:pPr marL="0" indent="0">
              <a:buNone/>
            </a:pPr>
            <a:r>
              <a:rPr lang="en-US" sz="2800" dirty="0"/>
              <a:t>	for (</a:t>
            </a:r>
            <a:r>
              <a:rPr lang="en-US" sz="2800" dirty="0" err="1"/>
              <a:t>i</a:t>
            </a:r>
            <a:r>
              <a:rPr lang="en-US" sz="2800" dirty="0"/>
              <a:t> = 0; </a:t>
            </a:r>
            <a:r>
              <a:rPr lang="en-US" sz="2800" dirty="0" err="1"/>
              <a:t>i</a:t>
            </a:r>
            <a:r>
              <a:rPr lang="en-US" sz="2800" dirty="0"/>
              <a:t> &lt; n &amp;&amp; a[</a:t>
            </a:r>
            <a:r>
              <a:rPr lang="en-US" sz="2800" dirty="0" err="1"/>
              <a:t>i</a:t>
            </a:r>
            <a:r>
              <a:rPr lang="en-US" sz="2800" dirty="0"/>
              <a:t>] != x; </a:t>
            </a:r>
            <a:r>
              <a:rPr lang="en-US" sz="2800" dirty="0" err="1"/>
              <a:t>i</a:t>
            </a:r>
            <a:r>
              <a:rPr lang="en-US" sz="2800" dirty="0"/>
              <a:t>++);</a:t>
            </a:r>
          </a:p>
          <a:p>
            <a:pPr marL="0" indent="0">
              <a:buNone/>
            </a:pPr>
            <a:r>
              <a:rPr lang="en-US" sz="2800" dirty="0"/>
              <a:t>	if (</a:t>
            </a:r>
            <a:r>
              <a:rPr lang="en-US" sz="2800" dirty="0" err="1"/>
              <a:t>i</a:t>
            </a:r>
            <a:r>
              <a:rPr lang="en-US" sz="2800" dirty="0"/>
              <a:t> == n) return -1;</a:t>
            </a:r>
          </a:p>
          <a:p>
            <a:pPr marL="0" indent="0">
              <a:buNone/>
            </a:pPr>
            <a:r>
              <a:rPr lang="en-US" sz="2800" dirty="0"/>
              <a:t>	else return </a:t>
            </a:r>
            <a:r>
              <a:rPr lang="en-US" sz="2800" dirty="0" err="1"/>
              <a:t>i</a:t>
            </a:r>
            <a:r>
              <a:rPr lang="en-US" sz="2800" dirty="0"/>
              <a:t>;</a:t>
            </a:r>
          </a:p>
          <a:p>
            <a:pPr marL="0" indent="0">
              <a:buNone/>
            </a:pPr>
            <a:r>
              <a:rPr lang="en-US" sz="2800" dirty="0"/>
              <a:t>    }</a:t>
            </a:r>
          </a:p>
          <a:p>
            <a:endParaRPr lang="en-IN" dirty="0"/>
          </a:p>
        </p:txBody>
      </p:sp>
      <p:sp>
        <p:nvSpPr>
          <p:cNvPr id="4" name="Date Placeholder 3">
            <a:extLst>
              <a:ext uri="{FF2B5EF4-FFF2-40B4-BE49-F238E27FC236}">
                <a16:creationId xmlns:a16="http://schemas.microsoft.com/office/drawing/2014/main" id="{C71EE359-BA62-A6FE-BE57-9384FE656359}"/>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E82CFABF-9E70-1DFB-9A88-F5D47F71B87F}"/>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B71E1418-CD74-EDE4-3AF7-A92F6D2DD4D1}"/>
              </a:ext>
            </a:extLst>
          </p:cNvPr>
          <p:cNvSpPr>
            <a:spLocks noGrp="1"/>
          </p:cNvSpPr>
          <p:nvPr>
            <p:ph type="sldNum" sz="quarter" idx="12"/>
          </p:nvPr>
        </p:nvSpPr>
        <p:spPr/>
        <p:txBody>
          <a:bodyPr/>
          <a:lstStyle/>
          <a:p>
            <a:fld id="{7BE69E03-4804-4553-A1EC-F089884EF50F}" type="slidenum">
              <a:rPr lang="en-US" smtClean="0"/>
              <a:t>30</a:t>
            </a:fld>
            <a:endParaRPr lang="en-US"/>
          </a:p>
        </p:txBody>
      </p:sp>
    </p:spTree>
    <p:extLst>
      <p:ext uri="{BB962C8B-B14F-4D97-AF65-F5344CB8AC3E}">
        <p14:creationId xmlns:p14="http://schemas.microsoft.com/office/powerpoint/2010/main" val="2119189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52D2-CF89-E76D-25A4-28CA87A3C573}"/>
              </a:ext>
            </a:extLst>
          </p:cNvPr>
          <p:cNvSpPr>
            <a:spLocks noGrp="1"/>
          </p:cNvSpPr>
          <p:nvPr>
            <p:ph type="title"/>
          </p:nvPr>
        </p:nvSpPr>
        <p:spPr/>
        <p:txBody>
          <a:bodyPr/>
          <a:lstStyle/>
          <a:p>
            <a:r>
              <a:rPr lang="en-US" sz="5400" b="1" dirty="0"/>
              <a:t>Sequential or Linear Search</a:t>
            </a:r>
            <a:endParaRPr lang="en-IN" dirty="0"/>
          </a:p>
        </p:txBody>
      </p:sp>
      <p:sp>
        <p:nvSpPr>
          <p:cNvPr id="3" name="Content Placeholder 2">
            <a:extLst>
              <a:ext uri="{FF2B5EF4-FFF2-40B4-BE49-F238E27FC236}">
                <a16:creationId xmlns:a16="http://schemas.microsoft.com/office/drawing/2014/main" id="{9BA88666-EA05-70DB-1CF6-FAC2CDCE4A39}"/>
              </a:ext>
            </a:extLst>
          </p:cNvPr>
          <p:cNvSpPr>
            <a:spLocks noGrp="1"/>
          </p:cNvSpPr>
          <p:nvPr>
            <p:ph idx="1"/>
          </p:nvPr>
        </p:nvSpPr>
        <p:spPr/>
        <p:txBody>
          <a:bodyPr>
            <a:normAutofit lnSpcReduction="10000"/>
          </a:bodyPr>
          <a:lstStyle/>
          <a:p>
            <a:pPr marL="0" indent="0">
              <a:buNone/>
            </a:pPr>
            <a:r>
              <a:rPr lang="en-US" sz="2800" dirty="0"/>
              <a:t>Int </a:t>
            </a:r>
            <a:r>
              <a:rPr lang="en-US" sz="2800" dirty="0" err="1"/>
              <a:t>SequentialSearch</a:t>
            </a:r>
            <a:r>
              <a:rPr lang="en-US" sz="2800" dirty="0"/>
              <a:t>(int a[], int n, const int&amp; x)            a[0] a[1] ….a[n-1]</a:t>
            </a:r>
          </a:p>
          <a:p>
            <a:pPr marL="0" indent="0">
              <a:buNone/>
            </a:pPr>
            <a:r>
              <a:rPr lang="en-US" sz="2800" dirty="0"/>
              <a:t>   {</a:t>
            </a:r>
          </a:p>
          <a:p>
            <a:pPr marL="0" indent="0">
              <a:buNone/>
            </a:pPr>
            <a:r>
              <a:rPr lang="en-US" sz="2800" dirty="0"/>
              <a:t>	int </a:t>
            </a:r>
            <a:r>
              <a:rPr lang="en-US" sz="2800" dirty="0" err="1"/>
              <a:t>i</a:t>
            </a:r>
            <a:r>
              <a:rPr lang="en-US" sz="2800" dirty="0"/>
              <a:t>;</a:t>
            </a:r>
          </a:p>
          <a:p>
            <a:pPr marL="0" indent="0">
              <a:buNone/>
            </a:pPr>
            <a:r>
              <a:rPr lang="en-US" sz="2800" dirty="0"/>
              <a:t>	for (</a:t>
            </a:r>
            <a:r>
              <a:rPr lang="en-US" sz="2800" dirty="0" err="1"/>
              <a:t>i</a:t>
            </a:r>
            <a:r>
              <a:rPr lang="en-US" sz="2800" dirty="0"/>
              <a:t> = 0; </a:t>
            </a:r>
            <a:r>
              <a:rPr lang="en-US" sz="2800" dirty="0" err="1"/>
              <a:t>i</a:t>
            </a:r>
            <a:r>
              <a:rPr lang="en-US" sz="2800" dirty="0"/>
              <a:t> &lt; n &amp;&amp; a[</a:t>
            </a:r>
            <a:r>
              <a:rPr lang="en-US" sz="2800" dirty="0" err="1"/>
              <a:t>i</a:t>
            </a:r>
            <a:r>
              <a:rPr lang="en-US" sz="2800" dirty="0"/>
              <a:t>] != x; </a:t>
            </a:r>
            <a:r>
              <a:rPr lang="en-US" sz="2800" dirty="0" err="1"/>
              <a:t>i</a:t>
            </a:r>
            <a:r>
              <a:rPr lang="en-US" sz="2800" dirty="0"/>
              <a:t>++);</a:t>
            </a:r>
          </a:p>
          <a:p>
            <a:pPr marL="0" indent="0">
              <a:buNone/>
            </a:pPr>
            <a:r>
              <a:rPr lang="en-US" sz="2800" dirty="0"/>
              <a:t>	if (</a:t>
            </a:r>
            <a:r>
              <a:rPr lang="en-US" sz="2800" dirty="0" err="1"/>
              <a:t>i</a:t>
            </a:r>
            <a:r>
              <a:rPr lang="en-US" sz="2800" dirty="0"/>
              <a:t> == n) return -1;</a:t>
            </a:r>
          </a:p>
          <a:p>
            <a:pPr marL="0" indent="0">
              <a:buNone/>
            </a:pPr>
            <a:r>
              <a:rPr lang="en-US" sz="2800" dirty="0"/>
              <a:t>	else return </a:t>
            </a:r>
            <a:r>
              <a:rPr lang="en-US" sz="2800" dirty="0" err="1"/>
              <a:t>i</a:t>
            </a:r>
            <a:r>
              <a:rPr lang="en-US" sz="2800" dirty="0"/>
              <a:t>;</a:t>
            </a:r>
          </a:p>
          <a:p>
            <a:pPr marL="0" indent="0">
              <a:buNone/>
            </a:pPr>
            <a:r>
              <a:rPr lang="en-US" sz="2800" dirty="0"/>
              <a:t>    }</a:t>
            </a:r>
          </a:p>
          <a:p>
            <a:endParaRPr lang="en-IN" dirty="0"/>
          </a:p>
        </p:txBody>
      </p:sp>
      <p:sp>
        <p:nvSpPr>
          <p:cNvPr id="4" name="Date Placeholder 3">
            <a:extLst>
              <a:ext uri="{FF2B5EF4-FFF2-40B4-BE49-F238E27FC236}">
                <a16:creationId xmlns:a16="http://schemas.microsoft.com/office/drawing/2014/main" id="{C71EE359-BA62-A6FE-BE57-9384FE656359}"/>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E82CFABF-9E70-1DFB-9A88-F5D47F71B87F}"/>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B71E1418-CD74-EDE4-3AF7-A92F6D2DD4D1}"/>
              </a:ext>
            </a:extLst>
          </p:cNvPr>
          <p:cNvSpPr>
            <a:spLocks noGrp="1"/>
          </p:cNvSpPr>
          <p:nvPr>
            <p:ph type="sldNum" sz="quarter" idx="12"/>
          </p:nvPr>
        </p:nvSpPr>
        <p:spPr/>
        <p:txBody>
          <a:bodyPr/>
          <a:lstStyle/>
          <a:p>
            <a:fld id="{7BE69E03-4804-4553-A1EC-F089884EF50F}" type="slidenum">
              <a:rPr lang="en-US" smtClean="0"/>
              <a:t>31</a:t>
            </a:fld>
            <a:endParaRPr lang="en-US"/>
          </a:p>
        </p:txBody>
      </p:sp>
    </p:spTree>
    <p:extLst>
      <p:ext uri="{BB962C8B-B14F-4D97-AF65-F5344CB8AC3E}">
        <p14:creationId xmlns:p14="http://schemas.microsoft.com/office/powerpoint/2010/main" val="4190043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9D62F4B-698C-4A3E-B150-8D32AEC26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0" name="Rectangle 29">
            <a:extLst>
              <a:ext uri="{FF2B5EF4-FFF2-40B4-BE49-F238E27FC236}">
                <a16:creationId xmlns:a16="http://schemas.microsoft.com/office/drawing/2014/main" id="{3033D699-F972-442A-9111-79DD65A42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2" name="Rectangle 31">
            <a:extLst>
              <a:ext uri="{FF2B5EF4-FFF2-40B4-BE49-F238E27FC236}">
                <a16:creationId xmlns:a16="http://schemas.microsoft.com/office/drawing/2014/main" id="{48CB0E37-DA39-43FD-AA53-B5F23D898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3" y="-5610"/>
            <a:ext cx="692763" cy="69989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4" name="Rectangle 33">
            <a:extLst>
              <a:ext uri="{FF2B5EF4-FFF2-40B4-BE49-F238E27FC236}">
                <a16:creationId xmlns:a16="http://schemas.microsoft.com/office/drawing/2014/main" id="{46C4A765-D564-4CAD-8AAD-184C71DAE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0E502B-588D-039A-8A1B-472785C27D66}"/>
              </a:ext>
            </a:extLst>
          </p:cNvPr>
          <p:cNvSpPr>
            <a:spLocks noGrp="1"/>
          </p:cNvSpPr>
          <p:nvPr>
            <p:ph type="title"/>
          </p:nvPr>
        </p:nvSpPr>
        <p:spPr>
          <a:xfrm>
            <a:off x="4924612" y="-1218295"/>
            <a:ext cx="6575050" cy="2135867"/>
          </a:xfrm>
        </p:spPr>
        <p:txBody>
          <a:bodyPr anchor="b">
            <a:normAutofit/>
          </a:bodyPr>
          <a:lstStyle/>
          <a:p>
            <a:r>
              <a:rPr lang="en-US" sz="4800">
                <a:solidFill>
                  <a:schemeClr val="tx1"/>
                </a:solidFill>
              </a:rPr>
              <a:t>Sequential Search</a:t>
            </a:r>
          </a:p>
        </p:txBody>
      </p:sp>
      <p:sp>
        <p:nvSpPr>
          <p:cNvPr id="6" name="Slide Number Placeholder 5">
            <a:extLst>
              <a:ext uri="{FF2B5EF4-FFF2-40B4-BE49-F238E27FC236}">
                <a16:creationId xmlns:a16="http://schemas.microsoft.com/office/drawing/2014/main" id="{57BEC3D7-65B1-86CF-494B-B3C0B8C72CAB}"/>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32</a:t>
            </a:fld>
            <a:endParaRPr lang="en-US"/>
          </a:p>
        </p:txBody>
      </p:sp>
      <p:sp>
        <p:nvSpPr>
          <p:cNvPr id="3" name="Content Placeholder 2">
            <a:extLst>
              <a:ext uri="{FF2B5EF4-FFF2-40B4-BE49-F238E27FC236}">
                <a16:creationId xmlns:a16="http://schemas.microsoft.com/office/drawing/2014/main" id="{655D608E-C7D0-EA42-E7DD-FD2C1F480520}"/>
              </a:ext>
            </a:extLst>
          </p:cNvPr>
          <p:cNvSpPr>
            <a:spLocks noGrp="1"/>
          </p:cNvSpPr>
          <p:nvPr>
            <p:ph idx="1"/>
          </p:nvPr>
        </p:nvSpPr>
        <p:spPr>
          <a:xfrm>
            <a:off x="1232730" y="917572"/>
            <a:ext cx="9727672" cy="5058325"/>
          </a:xfrm>
        </p:spPr>
        <p:txBody>
          <a:bodyPr vert="horz" lIns="91440" tIns="45720" rIns="91440" bIns="45720" rtlCol="0" anchor="t">
            <a:noAutofit/>
          </a:bodyPr>
          <a:lstStyle/>
          <a:p>
            <a:pPr>
              <a:lnSpc>
                <a:spcPct val="90000"/>
              </a:lnSpc>
            </a:pPr>
            <a:r>
              <a:rPr lang="en-US" sz="1800" dirty="0">
                <a:solidFill>
                  <a:schemeClr val="tx1"/>
                </a:solidFill>
                <a:ea typeface="+mn-lt"/>
                <a:cs typeface="+mn-lt"/>
              </a:rPr>
              <a:t>//Implements sequential search with a search key as a sentinel </a:t>
            </a:r>
            <a:endParaRPr lang="en-US" sz="1800" dirty="0">
              <a:solidFill>
                <a:schemeClr val="tx1"/>
              </a:solidFill>
              <a:latin typeface="Times New Roman"/>
              <a:cs typeface="Times New Roman"/>
            </a:endParaRPr>
          </a:p>
          <a:p>
            <a:pPr>
              <a:lnSpc>
                <a:spcPct val="90000"/>
              </a:lnSpc>
            </a:pPr>
            <a:r>
              <a:rPr lang="en-US" sz="1800" dirty="0">
                <a:solidFill>
                  <a:schemeClr val="tx1"/>
                </a:solidFill>
                <a:ea typeface="+mn-lt"/>
                <a:cs typeface="+mn-lt"/>
              </a:rPr>
              <a:t>//Input: An array A of n elements and a search key K </a:t>
            </a:r>
            <a:endParaRPr lang="en-US" sz="1800" dirty="0">
              <a:solidFill>
                <a:schemeClr val="tx1"/>
              </a:solidFill>
            </a:endParaRPr>
          </a:p>
          <a:p>
            <a:pPr>
              <a:lnSpc>
                <a:spcPct val="90000"/>
              </a:lnSpc>
            </a:pPr>
            <a:r>
              <a:rPr lang="en-US" sz="1800" dirty="0">
                <a:solidFill>
                  <a:schemeClr val="tx1"/>
                </a:solidFill>
                <a:ea typeface="+mn-lt"/>
                <a:cs typeface="+mn-lt"/>
              </a:rPr>
              <a:t>//Output: The index of the first element in A[O .. n -1) whose value is II equal to K or -1 if no such element is found</a:t>
            </a:r>
            <a:endParaRPr lang="en-US" sz="1800" dirty="0">
              <a:solidFill>
                <a:schemeClr val="tx1"/>
              </a:solidFill>
            </a:endParaRPr>
          </a:p>
          <a:p>
            <a:pPr>
              <a:lnSpc>
                <a:spcPct val="90000"/>
              </a:lnSpc>
            </a:pPr>
            <a:r>
              <a:rPr lang="en-US" sz="1800" dirty="0" err="1">
                <a:solidFill>
                  <a:schemeClr val="tx1"/>
                </a:solidFill>
                <a:latin typeface="Times New Roman"/>
                <a:cs typeface="Times New Roman"/>
              </a:rPr>
              <a:t>SequentialSearch</a:t>
            </a:r>
            <a:r>
              <a:rPr lang="en-US" sz="1800" dirty="0">
                <a:solidFill>
                  <a:schemeClr val="tx1"/>
                </a:solidFill>
                <a:latin typeface="Times New Roman"/>
                <a:cs typeface="Times New Roman"/>
              </a:rPr>
              <a:t>(A[0..n], K)</a:t>
            </a:r>
            <a:endParaRPr lang="en-US" sz="1800" dirty="0">
              <a:solidFill>
                <a:schemeClr val="tx1"/>
              </a:solidFill>
            </a:endParaRPr>
          </a:p>
          <a:p>
            <a:pPr>
              <a:lnSpc>
                <a:spcPct val="90000"/>
              </a:lnSpc>
            </a:pPr>
            <a:r>
              <a:rPr lang="en-US" sz="1800" dirty="0">
                <a:solidFill>
                  <a:schemeClr val="tx1"/>
                </a:solidFill>
                <a:latin typeface="Times New Roman"/>
                <a:cs typeface="Times New Roman"/>
              </a:rPr>
              <a:t>    A[n] </a:t>
            </a:r>
            <a:r>
              <a:rPr lang="en-US" sz="1800" b="1" dirty="0">
                <a:solidFill>
                  <a:schemeClr val="tx1"/>
                </a:solidFill>
                <a:latin typeface="Times New Roman"/>
                <a:cs typeface="Times New Roman"/>
              </a:rPr>
              <a:t>&lt;-</a:t>
            </a:r>
            <a:r>
              <a:rPr lang="en-US" sz="1800" dirty="0">
                <a:solidFill>
                  <a:schemeClr val="tx1"/>
                </a:solidFill>
                <a:latin typeface="Times New Roman"/>
                <a:cs typeface="Times New Roman"/>
              </a:rPr>
              <a:t> K</a:t>
            </a:r>
            <a:endParaRPr lang="en-US" sz="1800" dirty="0">
              <a:solidFill>
                <a:schemeClr val="tx1"/>
              </a:solidFill>
            </a:endParaRPr>
          </a:p>
          <a:p>
            <a:pPr>
              <a:lnSpc>
                <a:spcPct val="90000"/>
              </a:lnSpc>
            </a:pPr>
            <a:r>
              <a:rPr lang="en-US" sz="1800" dirty="0">
                <a:solidFill>
                  <a:schemeClr val="tx1"/>
                </a:solidFill>
                <a:latin typeface="Times New Roman"/>
                <a:cs typeface="Times New Roman"/>
              </a:rPr>
              <a:t>    </a:t>
            </a:r>
            <a:r>
              <a:rPr lang="en-US" sz="1800" dirty="0" err="1">
                <a:solidFill>
                  <a:schemeClr val="tx1"/>
                </a:solidFill>
                <a:latin typeface="Times New Roman"/>
                <a:cs typeface="Times New Roman"/>
              </a:rPr>
              <a:t>i</a:t>
            </a:r>
            <a:r>
              <a:rPr lang="en-US" sz="1800" dirty="0">
                <a:solidFill>
                  <a:schemeClr val="tx1"/>
                </a:solidFill>
                <a:latin typeface="Times New Roman"/>
                <a:cs typeface="Times New Roman"/>
              </a:rPr>
              <a:t> &lt;- 0</a:t>
            </a:r>
            <a:endParaRPr lang="en-US" sz="1800" dirty="0">
              <a:solidFill>
                <a:schemeClr val="tx1"/>
              </a:solidFill>
            </a:endParaRPr>
          </a:p>
          <a:p>
            <a:pPr>
              <a:lnSpc>
                <a:spcPct val="90000"/>
              </a:lnSpc>
            </a:pPr>
            <a:r>
              <a:rPr lang="en-US" sz="1800" dirty="0">
                <a:solidFill>
                  <a:schemeClr val="tx1"/>
                </a:solidFill>
                <a:latin typeface="Times New Roman"/>
                <a:cs typeface="Times New Roman"/>
              </a:rPr>
              <a:t>    while A[</a:t>
            </a:r>
            <a:r>
              <a:rPr lang="en-US" sz="1800" dirty="0" err="1">
                <a:solidFill>
                  <a:schemeClr val="tx1"/>
                </a:solidFill>
                <a:latin typeface="Times New Roman"/>
                <a:cs typeface="Times New Roman"/>
              </a:rPr>
              <a:t>i</a:t>
            </a:r>
            <a:r>
              <a:rPr lang="en-US" sz="1800" dirty="0">
                <a:solidFill>
                  <a:schemeClr val="tx1"/>
                </a:solidFill>
                <a:latin typeface="Times New Roman"/>
                <a:cs typeface="Times New Roman"/>
              </a:rPr>
              <a:t>] != K do</a:t>
            </a:r>
            <a:endParaRPr lang="en-US" sz="1800" dirty="0">
              <a:solidFill>
                <a:schemeClr val="tx1"/>
              </a:solidFill>
            </a:endParaRPr>
          </a:p>
          <a:p>
            <a:pPr>
              <a:lnSpc>
                <a:spcPct val="90000"/>
              </a:lnSpc>
            </a:pPr>
            <a:r>
              <a:rPr lang="en-US" sz="1800" dirty="0">
                <a:solidFill>
                  <a:schemeClr val="tx1"/>
                </a:solidFill>
                <a:latin typeface="Times New Roman"/>
                <a:cs typeface="Times New Roman"/>
              </a:rPr>
              <a:t>        </a:t>
            </a:r>
            <a:r>
              <a:rPr lang="en-US" sz="1800" dirty="0" err="1">
                <a:solidFill>
                  <a:schemeClr val="tx1"/>
                </a:solidFill>
                <a:latin typeface="Times New Roman"/>
                <a:cs typeface="Times New Roman"/>
              </a:rPr>
              <a:t>i</a:t>
            </a:r>
            <a:r>
              <a:rPr lang="en-US" sz="1800" dirty="0">
                <a:solidFill>
                  <a:schemeClr val="tx1"/>
                </a:solidFill>
                <a:latin typeface="Times New Roman"/>
                <a:cs typeface="Times New Roman"/>
              </a:rPr>
              <a:t> &lt;- </a:t>
            </a:r>
            <a:r>
              <a:rPr lang="en-US" sz="1800" dirty="0" err="1">
                <a:solidFill>
                  <a:schemeClr val="tx1"/>
                </a:solidFill>
                <a:latin typeface="Times New Roman"/>
                <a:cs typeface="Times New Roman"/>
              </a:rPr>
              <a:t>i</a:t>
            </a:r>
            <a:r>
              <a:rPr lang="en-US" sz="1800" dirty="0">
                <a:solidFill>
                  <a:schemeClr val="tx1"/>
                </a:solidFill>
                <a:latin typeface="Times New Roman"/>
                <a:cs typeface="Times New Roman"/>
              </a:rPr>
              <a:t> + 1</a:t>
            </a:r>
            <a:endParaRPr lang="en-US" sz="1800" dirty="0">
              <a:solidFill>
                <a:schemeClr val="tx1"/>
              </a:solidFill>
            </a:endParaRPr>
          </a:p>
          <a:p>
            <a:pPr>
              <a:lnSpc>
                <a:spcPct val="90000"/>
              </a:lnSpc>
            </a:pPr>
            <a:r>
              <a:rPr lang="en-US" sz="1800" dirty="0">
                <a:solidFill>
                  <a:schemeClr val="tx1"/>
                </a:solidFill>
                <a:latin typeface="Times New Roman"/>
                <a:cs typeface="Times New Roman"/>
              </a:rPr>
              <a:t>    if </a:t>
            </a:r>
            <a:r>
              <a:rPr lang="en-US" sz="1800" dirty="0" err="1">
                <a:solidFill>
                  <a:schemeClr val="tx1"/>
                </a:solidFill>
                <a:latin typeface="Times New Roman"/>
                <a:cs typeface="Times New Roman"/>
              </a:rPr>
              <a:t>i</a:t>
            </a:r>
            <a:r>
              <a:rPr lang="en-US" sz="1800" dirty="0">
                <a:solidFill>
                  <a:schemeClr val="tx1"/>
                </a:solidFill>
                <a:latin typeface="Times New Roman"/>
                <a:cs typeface="Times New Roman"/>
              </a:rPr>
              <a:t> &lt; n then</a:t>
            </a:r>
            <a:endParaRPr lang="en-US" sz="1800" dirty="0">
              <a:solidFill>
                <a:schemeClr val="tx1"/>
              </a:solidFill>
            </a:endParaRPr>
          </a:p>
          <a:p>
            <a:pPr>
              <a:lnSpc>
                <a:spcPct val="90000"/>
              </a:lnSpc>
            </a:pPr>
            <a:r>
              <a:rPr lang="en-US" sz="1800" dirty="0">
                <a:solidFill>
                  <a:schemeClr val="tx1"/>
                </a:solidFill>
                <a:latin typeface="Times New Roman"/>
                <a:cs typeface="Times New Roman"/>
              </a:rPr>
              <a:t>        return </a:t>
            </a:r>
            <a:r>
              <a:rPr lang="en-US" sz="1800" dirty="0" err="1">
                <a:solidFill>
                  <a:schemeClr val="tx1"/>
                </a:solidFill>
                <a:latin typeface="Times New Roman"/>
                <a:cs typeface="Times New Roman"/>
              </a:rPr>
              <a:t>i</a:t>
            </a:r>
            <a:endParaRPr lang="en-US" sz="1800" dirty="0">
              <a:solidFill>
                <a:schemeClr val="tx1"/>
              </a:solidFill>
            </a:endParaRPr>
          </a:p>
          <a:p>
            <a:pPr>
              <a:lnSpc>
                <a:spcPct val="90000"/>
              </a:lnSpc>
            </a:pPr>
            <a:r>
              <a:rPr lang="en-US" sz="1800" dirty="0">
                <a:solidFill>
                  <a:schemeClr val="tx1"/>
                </a:solidFill>
                <a:latin typeface="Times New Roman"/>
                <a:cs typeface="Times New Roman"/>
              </a:rPr>
              <a:t>    else</a:t>
            </a:r>
            <a:endParaRPr lang="en-US" sz="1800" dirty="0">
              <a:solidFill>
                <a:schemeClr val="tx1"/>
              </a:solidFill>
            </a:endParaRPr>
          </a:p>
          <a:p>
            <a:pPr>
              <a:lnSpc>
                <a:spcPct val="90000"/>
              </a:lnSpc>
            </a:pPr>
            <a:r>
              <a:rPr lang="en-US" sz="1800" dirty="0">
                <a:solidFill>
                  <a:schemeClr val="tx1"/>
                </a:solidFill>
                <a:latin typeface="Times New Roman"/>
                <a:cs typeface="Times New Roman"/>
              </a:rPr>
              <a:t>        return –1</a:t>
            </a:r>
            <a:endParaRPr lang="en-US" sz="1800" dirty="0">
              <a:solidFill>
                <a:schemeClr val="tx1"/>
              </a:solidFill>
              <a:latin typeface="Georgia Pro"/>
              <a:cs typeface="Times New Roman"/>
            </a:endParaRPr>
          </a:p>
          <a:p>
            <a:pPr>
              <a:lnSpc>
                <a:spcPct val="90000"/>
              </a:lnSpc>
            </a:pPr>
            <a:r>
              <a:rPr lang="en-US" sz="1800" dirty="0">
                <a:solidFill>
                  <a:schemeClr val="tx1"/>
                </a:solidFill>
                <a:latin typeface="Times New Roman"/>
                <a:cs typeface="Times New Roman"/>
              </a:rPr>
              <a:t>Time Complexity ---- ???</a:t>
            </a:r>
          </a:p>
          <a:p>
            <a:pPr>
              <a:lnSpc>
                <a:spcPct val="90000"/>
              </a:lnSpc>
            </a:pPr>
            <a:endParaRPr lang="en-US" sz="1800" dirty="0">
              <a:solidFill>
                <a:schemeClr val="tx1"/>
              </a:solidFill>
            </a:endParaRPr>
          </a:p>
        </p:txBody>
      </p:sp>
      <p:sp>
        <p:nvSpPr>
          <p:cNvPr id="4" name="Date Placeholder 3">
            <a:extLst>
              <a:ext uri="{FF2B5EF4-FFF2-40B4-BE49-F238E27FC236}">
                <a16:creationId xmlns:a16="http://schemas.microsoft.com/office/drawing/2014/main" id="{C93A0A45-97F4-3DF3-8817-3188643181E4}"/>
              </a:ext>
            </a:extLst>
          </p:cNvPr>
          <p:cNvSpPr>
            <a:spLocks noGrp="1"/>
          </p:cNvSpPr>
          <p:nvPr>
            <p:ph type="dt" sz="half" idx="10"/>
          </p:nvPr>
        </p:nvSpPr>
        <p:spPr>
          <a:xfrm>
            <a:off x="422899" y="6217920"/>
            <a:ext cx="2743200" cy="640080"/>
          </a:xfrm>
        </p:spPr>
        <p:txBody>
          <a:bodyPr>
            <a:normAutofit/>
          </a:bodyPr>
          <a:lstStyle/>
          <a:p>
            <a:pPr>
              <a:spcAft>
                <a:spcPts val="600"/>
              </a:spcAft>
            </a:pPr>
            <a:fld id="{DA1EB235-8222-4F5D-B30A-402968F05951}" type="datetime2">
              <a:rPr lang="en-US" smtClean="0"/>
              <a:t>Wednesday, January 14, 2026</a:t>
            </a:fld>
            <a:endParaRPr lang="en-US"/>
          </a:p>
        </p:txBody>
      </p:sp>
      <p:sp>
        <p:nvSpPr>
          <p:cNvPr id="5" name="Footer Placeholder 4">
            <a:extLst>
              <a:ext uri="{FF2B5EF4-FFF2-40B4-BE49-F238E27FC236}">
                <a16:creationId xmlns:a16="http://schemas.microsoft.com/office/drawing/2014/main" id="{E598A441-AFE7-FB3E-2F51-E67B38F27218}"/>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6" name="Straight Connector 35">
            <a:extLst>
              <a:ext uri="{FF2B5EF4-FFF2-40B4-BE49-F238E27FC236}">
                <a16:creationId xmlns:a16="http://schemas.microsoft.com/office/drawing/2014/main" id="{EA28B1DC-0672-4B37-99C8-1A33D3D31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FDB89D3-7786-4CAE-BB16-92D36C8251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895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D62F4B-698C-4A3E-B150-8D32AEC26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3033D699-F972-442A-9111-79DD65A42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Rectangle 16">
            <a:extLst>
              <a:ext uri="{FF2B5EF4-FFF2-40B4-BE49-F238E27FC236}">
                <a16:creationId xmlns:a16="http://schemas.microsoft.com/office/drawing/2014/main" id="{48CB0E37-DA39-43FD-AA53-B5F23D898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3" y="-5610"/>
            <a:ext cx="692763" cy="69989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46C4A765-D564-4CAD-8AAD-184C71DAE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6E0F8-ECF9-8C00-EDA9-6271A38B99B4}"/>
              </a:ext>
            </a:extLst>
          </p:cNvPr>
          <p:cNvSpPr>
            <a:spLocks noGrp="1"/>
          </p:cNvSpPr>
          <p:nvPr>
            <p:ph type="title"/>
          </p:nvPr>
        </p:nvSpPr>
        <p:spPr>
          <a:xfrm>
            <a:off x="4654981" y="669120"/>
            <a:ext cx="4863481" cy="236729"/>
          </a:xfrm>
        </p:spPr>
        <p:txBody>
          <a:bodyPr anchor="b">
            <a:normAutofit fontScale="90000"/>
          </a:bodyPr>
          <a:lstStyle/>
          <a:p>
            <a:r>
              <a:rPr lang="en-US" sz="4800">
                <a:solidFill>
                  <a:schemeClr val="tx1"/>
                </a:solidFill>
              </a:rPr>
              <a:t>String Matching</a:t>
            </a:r>
          </a:p>
        </p:txBody>
      </p:sp>
      <p:sp>
        <p:nvSpPr>
          <p:cNvPr id="6" name="Slide Number Placeholder 5">
            <a:extLst>
              <a:ext uri="{FF2B5EF4-FFF2-40B4-BE49-F238E27FC236}">
                <a16:creationId xmlns:a16="http://schemas.microsoft.com/office/drawing/2014/main" id="{DD410973-678E-4439-5780-70E96369CC0B}"/>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33</a:t>
            </a:fld>
            <a:endParaRPr lang="en-US"/>
          </a:p>
        </p:txBody>
      </p:sp>
      <p:sp>
        <p:nvSpPr>
          <p:cNvPr id="3" name="Content Placeholder 2">
            <a:extLst>
              <a:ext uri="{FF2B5EF4-FFF2-40B4-BE49-F238E27FC236}">
                <a16:creationId xmlns:a16="http://schemas.microsoft.com/office/drawing/2014/main" id="{4414D7D7-0C38-6ECC-43D5-C0F9D0AAA820}"/>
              </a:ext>
            </a:extLst>
          </p:cNvPr>
          <p:cNvSpPr>
            <a:spLocks noGrp="1"/>
          </p:cNvSpPr>
          <p:nvPr>
            <p:ph idx="1"/>
          </p:nvPr>
        </p:nvSpPr>
        <p:spPr>
          <a:xfrm>
            <a:off x="965201" y="946145"/>
            <a:ext cx="10991662" cy="4971136"/>
          </a:xfrm>
        </p:spPr>
        <p:txBody>
          <a:bodyPr vert="horz" lIns="91440" tIns="45720" rIns="91440" bIns="45720" rtlCol="0" anchor="t">
            <a:noAutofit/>
          </a:bodyPr>
          <a:lstStyle/>
          <a:p>
            <a:pPr algn="just">
              <a:lnSpc>
                <a:spcPct val="90000"/>
              </a:lnSpc>
            </a:pPr>
            <a:endParaRPr lang="en-US" sz="2800" b="1" dirty="0">
              <a:solidFill>
                <a:schemeClr val="tx1"/>
              </a:solidFill>
              <a:ea typeface="+mn-lt"/>
              <a:cs typeface="+mn-lt"/>
            </a:endParaRPr>
          </a:p>
          <a:p>
            <a:pPr algn="just">
              <a:lnSpc>
                <a:spcPct val="90000"/>
              </a:lnSpc>
            </a:pPr>
            <a:endParaRPr lang="en-US" sz="2800" b="1" dirty="0">
              <a:solidFill>
                <a:schemeClr val="tx1"/>
              </a:solidFill>
              <a:ea typeface="+mn-lt"/>
              <a:cs typeface="+mn-lt"/>
            </a:endParaRPr>
          </a:p>
          <a:p>
            <a:pPr algn="just">
              <a:lnSpc>
                <a:spcPct val="90000"/>
              </a:lnSpc>
            </a:pPr>
            <a:r>
              <a:rPr lang="en-US" sz="2800" b="1" dirty="0">
                <a:solidFill>
                  <a:schemeClr val="tx1"/>
                </a:solidFill>
                <a:ea typeface="+mn-lt"/>
                <a:cs typeface="+mn-lt"/>
              </a:rPr>
              <a:t>The string-matching problem involves finding a substring in a given text that matches a given pattern.</a:t>
            </a:r>
            <a:endParaRPr lang="en-US" sz="2800" b="1" dirty="0">
              <a:solidFill>
                <a:schemeClr val="tx1"/>
              </a:solidFill>
            </a:endParaRPr>
          </a:p>
          <a:p>
            <a:pPr algn="ctr">
              <a:lnSpc>
                <a:spcPct val="90000"/>
              </a:lnSpc>
            </a:pPr>
            <a:r>
              <a:rPr lang="en-US" sz="2800" b="1" dirty="0">
                <a:solidFill>
                  <a:schemeClr val="tx1"/>
                </a:solidFill>
                <a:latin typeface="Times New Roman"/>
                <a:ea typeface="+mn-lt"/>
                <a:cs typeface="Times New Roman"/>
              </a:rPr>
              <a:t>Example : Nobody </a:t>
            </a:r>
            <a:r>
              <a:rPr lang="en-US" sz="2800" b="1" dirty="0">
                <a:solidFill>
                  <a:srgbClr val="FF0000"/>
                </a:solidFill>
                <a:latin typeface="Times New Roman"/>
                <a:ea typeface="+mn-lt"/>
                <a:cs typeface="Times New Roman"/>
              </a:rPr>
              <a:t>not</a:t>
            </a:r>
            <a:r>
              <a:rPr lang="en-US" sz="2800" b="1" dirty="0">
                <a:solidFill>
                  <a:schemeClr val="tx1"/>
                </a:solidFill>
                <a:latin typeface="Times New Roman"/>
                <a:ea typeface="+mn-lt"/>
                <a:cs typeface="Times New Roman"/>
              </a:rPr>
              <a:t>iced him</a:t>
            </a:r>
            <a:endParaRPr lang="en-US" sz="2800" b="1" dirty="0">
              <a:solidFill>
                <a:schemeClr val="tx1"/>
              </a:solidFill>
              <a:ea typeface="+mn-lt"/>
              <a:cs typeface="+mn-lt"/>
            </a:endParaRPr>
          </a:p>
          <a:p>
            <a:pPr algn="just">
              <a:lnSpc>
                <a:spcPct val="90000"/>
              </a:lnSpc>
            </a:pPr>
            <a:endParaRPr lang="en-US" sz="1400" dirty="0">
              <a:solidFill>
                <a:schemeClr val="tx1"/>
              </a:solidFill>
            </a:endParaRPr>
          </a:p>
        </p:txBody>
      </p:sp>
      <p:sp>
        <p:nvSpPr>
          <p:cNvPr id="4" name="Date Placeholder 3">
            <a:extLst>
              <a:ext uri="{FF2B5EF4-FFF2-40B4-BE49-F238E27FC236}">
                <a16:creationId xmlns:a16="http://schemas.microsoft.com/office/drawing/2014/main" id="{14BD5ABE-68B4-885F-EC1D-54D51F40F5FB}"/>
              </a:ext>
            </a:extLst>
          </p:cNvPr>
          <p:cNvSpPr>
            <a:spLocks noGrp="1"/>
          </p:cNvSpPr>
          <p:nvPr>
            <p:ph type="dt" sz="half" idx="10"/>
          </p:nvPr>
        </p:nvSpPr>
        <p:spPr>
          <a:xfrm>
            <a:off x="422899" y="6217920"/>
            <a:ext cx="2743200" cy="640080"/>
          </a:xfrm>
        </p:spPr>
        <p:txBody>
          <a:bodyPr>
            <a:normAutofit/>
          </a:bodyPr>
          <a:lstStyle/>
          <a:p>
            <a:pPr>
              <a:spcAft>
                <a:spcPts val="600"/>
              </a:spcAft>
            </a:pPr>
            <a:fld id="{5550F575-9235-4C09-B332-B7C088D5C2F0}" type="datetime2">
              <a:rPr lang="en-US" smtClean="0"/>
              <a:t>Wednesday, January 14, 2026</a:t>
            </a:fld>
            <a:endParaRPr lang="en-US"/>
          </a:p>
        </p:txBody>
      </p:sp>
      <p:sp>
        <p:nvSpPr>
          <p:cNvPr id="5" name="Footer Placeholder 4">
            <a:extLst>
              <a:ext uri="{FF2B5EF4-FFF2-40B4-BE49-F238E27FC236}">
                <a16:creationId xmlns:a16="http://schemas.microsoft.com/office/drawing/2014/main" id="{E1E61E04-FA60-CB28-32B5-D792D71A0C55}"/>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21" name="Straight Connector 20">
            <a:extLst>
              <a:ext uri="{FF2B5EF4-FFF2-40B4-BE49-F238E27FC236}">
                <a16:creationId xmlns:a16="http://schemas.microsoft.com/office/drawing/2014/main" id="{EA28B1DC-0672-4B37-99C8-1A33D3D31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DB89D3-7786-4CAE-BB16-92D36C8251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881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D62F4B-698C-4A3E-B150-8D32AEC26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3033D699-F972-442A-9111-79DD65A42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Rectangle 16">
            <a:extLst>
              <a:ext uri="{FF2B5EF4-FFF2-40B4-BE49-F238E27FC236}">
                <a16:creationId xmlns:a16="http://schemas.microsoft.com/office/drawing/2014/main" id="{48CB0E37-DA39-43FD-AA53-B5F23D898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3" y="-5610"/>
            <a:ext cx="692763" cy="69989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46C4A765-D564-4CAD-8AAD-184C71DAE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6E0F8-ECF9-8C00-EDA9-6271A38B99B4}"/>
              </a:ext>
            </a:extLst>
          </p:cNvPr>
          <p:cNvSpPr>
            <a:spLocks noGrp="1"/>
          </p:cNvSpPr>
          <p:nvPr>
            <p:ph type="title"/>
          </p:nvPr>
        </p:nvSpPr>
        <p:spPr>
          <a:xfrm>
            <a:off x="4654981" y="669120"/>
            <a:ext cx="4863481" cy="236729"/>
          </a:xfrm>
        </p:spPr>
        <p:txBody>
          <a:bodyPr anchor="b">
            <a:normAutofit fontScale="90000"/>
          </a:bodyPr>
          <a:lstStyle/>
          <a:p>
            <a:r>
              <a:rPr lang="en-US" sz="4800">
                <a:solidFill>
                  <a:schemeClr val="tx1"/>
                </a:solidFill>
              </a:rPr>
              <a:t>String Matching</a:t>
            </a:r>
          </a:p>
        </p:txBody>
      </p:sp>
      <p:sp>
        <p:nvSpPr>
          <p:cNvPr id="6" name="Slide Number Placeholder 5">
            <a:extLst>
              <a:ext uri="{FF2B5EF4-FFF2-40B4-BE49-F238E27FC236}">
                <a16:creationId xmlns:a16="http://schemas.microsoft.com/office/drawing/2014/main" id="{DD410973-678E-4439-5780-70E96369CC0B}"/>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34</a:t>
            </a:fld>
            <a:endParaRPr lang="en-US"/>
          </a:p>
        </p:txBody>
      </p:sp>
      <p:sp>
        <p:nvSpPr>
          <p:cNvPr id="3" name="Content Placeholder 2">
            <a:extLst>
              <a:ext uri="{FF2B5EF4-FFF2-40B4-BE49-F238E27FC236}">
                <a16:creationId xmlns:a16="http://schemas.microsoft.com/office/drawing/2014/main" id="{4414D7D7-0C38-6ECC-43D5-C0F9D0AAA820}"/>
              </a:ext>
            </a:extLst>
          </p:cNvPr>
          <p:cNvSpPr>
            <a:spLocks noGrp="1"/>
          </p:cNvSpPr>
          <p:nvPr>
            <p:ph idx="1"/>
          </p:nvPr>
        </p:nvSpPr>
        <p:spPr>
          <a:xfrm>
            <a:off x="977901" y="905849"/>
            <a:ext cx="10991662" cy="4971136"/>
          </a:xfrm>
        </p:spPr>
        <p:txBody>
          <a:bodyPr vert="horz" lIns="91440" tIns="45720" rIns="91440" bIns="45720" rtlCol="0" anchor="t">
            <a:noAutofit/>
          </a:bodyPr>
          <a:lstStyle/>
          <a:p>
            <a:pPr algn="just">
              <a:lnSpc>
                <a:spcPct val="90000"/>
              </a:lnSpc>
            </a:pPr>
            <a:r>
              <a:rPr lang="en-US" sz="2000" dirty="0">
                <a:solidFill>
                  <a:schemeClr val="tx1"/>
                </a:solidFill>
                <a:ea typeface="+mn-lt"/>
                <a:cs typeface="+mn-lt"/>
              </a:rPr>
              <a:t>The goal is to find the index </a:t>
            </a:r>
            <a:r>
              <a:rPr lang="en-US" sz="2000" dirty="0" err="1">
                <a:solidFill>
                  <a:schemeClr val="tx1"/>
                </a:solidFill>
                <a:ea typeface="+mn-lt"/>
                <a:cs typeface="+mn-lt"/>
              </a:rPr>
              <a:t>i</a:t>
            </a:r>
            <a:r>
              <a:rPr lang="en-US" sz="2000" dirty="0">
                <a:solidFill>
                  <a:schemeClr val="tx1"/>
                </a:solidFill>
                <a:ea typeface="+mn-lt"/>
                <a:cs typeface="+mn-lt"/>
              </a:rPr>
              <a:t> of the leftmost character of the first matching substring in the text.</a:t>
            </a:r>
            <a:endParaRPr lang="en-US" sz="2000" dirty="0">
              <a:solidFill>
                <a:schemeClr val="tx1"/>
              </a:solidFill>
            </a:endParaRPr>
          </a:p>
          <a:p>
            <a:pPr algn="just">
              <a:lnSpc>
                <a:spcPct val="90000"/>
              </a:lnSpc>
            </a:pPr>
            <a:r>
              <a:rPr lang="en-US" sz="2000" dirty="0">
                <a:solidFill>
                  <a:schemeClr val="tx1"/>
                </a:solidFill>
                <a:ea typeface="+mn-lt"/>
                <a:cs typeface="+mn-lt"/>
              </a:rPr>
              <a:t>The algorithm starts by comparing the first character of the pattern with the characters in the text starting from the first character.</a:t>
            </a:r>
            <a:endParaRPr lang="en-US" sz="2000" dirty="0">
              <a:solidFill>
                <a:schemeClr val="tx1"/>
              </a:solidFill>
            </a:endParaRPr>
          </a:p>
          <a:p>
            <a:pPr algn="just">
              <a:lnSpc>
                <a:spcPct val="90000"/>
              </a:lnSpc>
            </a:pPr>
            <a:r>
              <a:rPr lang="en-US" sz="2000" dirty="0">
                <a:solidFill>
                  <a:schemeClr val="tx1"/>
                </a:solidFill>
                <a:ea typeface="+mn-lt"/>
                <a:cs typeface="+mn-lt"/>
              </a:rPr>
              <a:t>If there is a match, it continues to compare the next characters of the pattern with the consecutive characters in the text.</a:t>
            </a:r>
            <a:endParaRPr lang="en-US" sz="2000" dirty="0">
              <a:solidFill>
                <a:schemeClr val="tx1"/>
              </a:solidFill>
            </a:endParaRPr>
          </a:p>
          <a:p>
            <a:pPr algn="just">
              <a:lnSpc>
                <a:spcPct val="90000"/>
              </a:lnSpc>
            </a:pPr>
            <a:r>
              <a:rPr lang="en-US" sz="2000" dirty="0">
                <a:solidFill>
                  <a:schemeClr val="tx1"/>
                </a:solidFill>
                <a:ea typeface="+mn-lt"/>
                <a:cs typeface="+mn-lt"/>
              </a:rPr>
              <a:t>If there is a mismatch at any point, the algorithm moves to the next character in the text and starts comparing again from there.</a:t>
            </a:r>
            <a:endParaRPr lang="en-US" sz="2000" dirty="0">
              <a:solidFill>
                <a:schemeClr val="tx1"/>
              </a:solidFill>
            </a:endParaRPr>
          </a:p>
          <a:p>
            <a:pPr algn="just">
              <a:lnSpc>
                <a:spcPct val="90000"/>
              </a:lnSpc>
            </a:pPr>
            <a:r>
              <a:rPr lang="en-US" sz="2000" dirty="0">
                <a:solidFill>
                  <a:schemeClr val="tx1"/>
                </a:solidFill>
                <a:ea typeface="+mn-lt"/>
                <a:cs typeface="+mn-lt"/>
              </a:rPr>
              <a:t>In our example, the algorithm would compare "not" with the first three characters of the text - "Nob". It would find a mismatch and move to the next character.</a:t>
            </a:r>
            <a:endParaRPr lang="en-US" sz="2000" dirty="0">
              <a:solidFill>
                <a:schemeClr val="tx1"/>
              </a:solidFill>
            </a:endParaRPr>
          </a:p>
          <a:p>
            <a:pPr algn="just">
              <a:lnSpc>
                <a:spcPct val="90000"/>
              </a:lnSpc>
            </a:pPr>
            <a:r>
              <a:rPr lang="en-US" sz="2000" dirty="0">
                <a:solidFill>
                  <a:schemeClr val="tx1"/>
                </a:solidFill>
                <a:ea typeface="+mn-lt"/>
                <a:cs typeface="+mn-lt"/>
              </a:rPr>
              <a:t>The algorithm continues this process until either a complete match is found or the end of the text is reached.</a:t>
            </a:r>
            <a:endParaRPr lang="en-US" sz="2000" dirty="0">
              <a:solidFill>
                <a:schemeClr val="tx1"/>
              </a:solidFill>
            </a:endParaRPr>
          </a:p>
          <a:p>
            <a:pPr algn="just">
              <a:lnSpc>
                <a:spcPct val="90000"/>
              </a:lnSpc>
            </a:pPr>
            <a:r>
              <a:rPr lang="en-US" sz="2000" dirty="0">
                <a:solidFill>
                  <a:schemeClr val="tx1"/>
                </a:solidFill>
                <a:ea typeface="+mn-lt"/>
                <a:cs typeface="+mn-lt"/>
              </a:rPr>
              <a:t>If a match is found, the algorithm returns the index </a:t>
            </a:r>
            <a:r>
              <a:rPr lang="en-US" sz="2000" dirty="0" err="1">
                <a:solidFill>
                  <a:schemeClr val="tx1"/>
                </a:solidFill>
                <a:ea typeface="+mn-lt"/>
                <a:cs typeface="+mn-lt"/>
              </a:rPr>
              <a:t>i</a:t>
            </a:r>
            <a:r>
              <a:rPr lang="en-US" sz="2000" dirty="0">
                <a:solidFill>
                  <a:schemeClr val="tx1"/>
                </a:solidFill>
                <a:ea typeface="+mn-lt"/>
                <a:cs typeface="+mn-lt"/>
              </a:rPr>
              <a:t> of the leftmost character of the matching substring.</a:t>
            </a:r>
            <a:endParaRPr lang="en-US" sz="2000" dirty="0">
              <a:solidFill>
                <a:schemeClr val="tx1"/>
              </a:solidFill>
            </a:endParaRPr>
          </a:p>
          <a:p>
            <a:pPr algn="just">
              <a:lnSpc>
                <a:spcPct val="90000"/>
              </a:lnSpc>
            </a:pPr>
            <a:endParaRPr lang="en-US" sz="1400" dirty="0">
              <a:solidFill>
                <a:schemeClr val="tx1"/>
              </a:solidFill>
            </a:endParaRPr>
          </a:p>
        </p:txBody>
      </p:sp>
      <p:sp>
        <p:nvSpPr>
          <p:cNvPr id="4" name="Date Placeholder 3">
            <a:extLst>
              <a:ext uri="{FF2B5EF4-FFF2-40B4-BE49-F238E27FC236}">
                <a16:creationId xmlns:a16="http://schemas.microsoft.com/office/drawing/2014/main" id="{14BD5ABE-68B4-885F-EC1D-54D51F40F5FB}"/>
              </a:ext>
            </a:extLst>
          </p:cNvPr>
          <p:cNvSpPr>
            <a:spLocks noGrp="1"/>
          </p:cNvSpPr>
          <p:nvPr>
            <p:ph type="dt" sz="half" idx="10"/>
          </p:nvPr>
        </p:nvSpPr>
        <p:spPr>
          <a:xfrm>
            <a:off x="422899" y="6217920"/>
            <a:ext cx="2743200" cy="640080"/>
          </a:xfrm>
        </p:spPr>
        <p:txBody>
          <a:bodyPr>
            <a:normAutofit/>
          </a:bodyPr>
          <a:lstStyle/>
          <a:p>
            <a:pPr>
              <a:spcAft>
                <a:spcPts val="600"/>
              </a:spcAft>
            </a:pPr>
            <a:fld id="{5550F575-9235-4C09-B332-B7C088D5C2F0}" type="datetime2">
              <a:rPr lang="en-US" smtClean="0"/>
              <a:t>Wednesday, January 14, 2026</a:t>
            </a:fld>
            <a:endParaRPr lang="en-US"/>
          </a:p>
        </p:txBody>
      </p:sp>
      <p:sp>
        <p:nvSpPr>
          <p:cNvPr id="5" name="Footer Placeholder 4">
            <a:extLst>
              <a:ext uri="{FF2B5EF4-FFF2-40B4-BE49-F238E27FC236}">
                <a16:creationId xmlns:a16="http://schemas.microsoft.com/office/drawing/2014/main" id="{E1E61E04-FA60-CB28-32B5-D792D71A0C55}"/>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21" name="Straight Connector 20">
            <a:extLst>
              <a:ext uri="{FF2B5EF4-FFF2-40B4-BE49-F238E27FC236}">
                <a16:creationId xmlns:a16="http://schemas.microsoft.com/office/drawing/2014/main" id="{EA28B1DC-0672-4B37-99C8-1A33D3D31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DB89D3-7786-4CAE-BB16-92D36C8251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1248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D62F4B-698C-4A3E-B150-8D32AEC26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3033D699-F972-442A-9111-79DD65A42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Rectangle 16">
            <a:extLst>
              <a:ext uri="{FF2B5EF4-FFF2-40B4-BE49-F238E27FC236}">
                <a16:creationId xmlns:a16="http://schemas.microsoft.com/office/drawing/2014/main" id="{48CB0E37-DA39-43FD-AA53-B5F23D898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3" y="-5610"/>
            <a:ext cx="692763" cy="699899"/>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46C4A765-D564-4CAD-8AAD-184C71DAE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6E0F8-ECF9-8C00-EDA9-6271A38B99B4}"/>
              </a:ext>
            </a:extLst>
          </p:cNvPr>
          <p:cNvSpPr>
            <a:spLocks noGrp="1"/>
          </p:cNvSpPr>
          <p:nvPr>
            <p:ph type="title"/>
          </p:nvPr>
        </p:nvSpPr>
        <p:spPr>
          <a:xfrm>
            <a:off x="4654981" y="669120"/>
            <a:ext cx="4863481" cy="236729"/>
          </a:xfrm>
        </p:spPr>
        <p:txBody>
          <a:bodyPr anchor="b">
            <a:normAutofit fontScale="90000"/>
          </a:bodyPr>
          <a:lstStyle/>
          <a:p>
            <a:r>
              <a:rPr lang="en-US" sz="4800">
                <a:solidFill>
                  <a:schemeClr val="tx1"/>
                </a:solidFill>
              </a:rPr>
              <a:t>String Matching</a:t>
            </a:r>
          </a:p>
        </p:txBody>
      </p:sp>
      <p:sp>
        <p:nvSpPr>
          <p:cNvPr id="6" name="Slide Number Placeholder 5">
            <a:extLst>
              <a:ext uri="{FF2B5EF4-FFF2-40B4-BE49-F238E27FC236}">
                <a16:creationId xmlns:a16="http://schemas.microsoft.com/office/drawing/2014/main" id="{DD410973-678E-4439-5780-70E96369CC0B}"/>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35</a:t>
            </a:fld>
            <a:endParaRPr lang="en-US"/>
          </a:p>
        </p:txBody>
      </p:sp>
      <p:sp>
        <p:nvSpPr>
          <p:cNvPr id="3" name="Content Placeholder 2">
            <a:extLst>
              <a:ext uri="{FF2B5EF4-FFF2-40B4-BE49-F238E27FC236}">
                <a16:creationId xmlns:a16="http://schemas.microsoft.com/office/drawing/2014/main" id="{4414D7D7-0C38-6ECC-43D5-C0F9D0AAA820}"/>
              </a:ext>
            </a:extLst>
          </p:cNvPr>
          <p:cNvSpPr>
            <a:spLocks noGrp="1"/>
          </p:cNvSpPr>
          <p:nvPr>
            <p:ph idx="1"/>
          </p:nvPr>
        </p:nvSpPr>
        <p:spPr>
          <a:xfrm>
            <a:off x="965201" y="946145"/>
            <a:ext cx="10991662" cy="4971136"/>
          </a:xfrm>
        </p:spPr>
        <p:txBody>
          <a:bodyPr vert="horz" lIns="91440" tIns="45720" rIns="91440" bIns="45720" rtlCol="0" anchor="t">
            <a:noAutofit/>
          </a:bodyPr>
          <a:lstStyle/>
          <a:p>
            <a:pPr algn="just">
              <a:lnSpc>
                <a:spcPct val="90000"/>
              </a:lnSpc>
            </a:pPr>
            <a:endParaRPr lang="en-US" dirty="0">
              <a:solidFill>
                <a:schemeClr val="tx1"/>
              </a:solidFill>
              <a:ea typeface="+mn-lt"/>
              <a:cs typeface="+mn-lt"/>
            </a:endParaRPr>
          </a:p>
          <a:p>
            <a:pPr algn="just">
              <a:lnSpc>
                <a:spcPct val="90000"/>
              </a:lnSpc>
            </a:pPr>
            <a:endParaRPr lang="en-US" dirty="0">
              <a:solidFill>
                <a:schemeClr val="tx1"/>
              </a:solidFill>
              <a:ea typeface="+mn-lt"/>
              <a:cs typeface="+mn-lt"/>
            </a:endParaRPr>
          </a:p>
          <a:p>
            <a:pPr algn="just">
              <a:lnSpc>
                <a:spcPct val="90000"/>
              </a:lnSpc>
            </a:pPr>
            <a:r>
              <a:rPr lang="en-US" dirty="0">
                <a:solidFill>
                  <a:schemeClr val="tx1"/>
                </a:solidFill>
                <a:ea typeface="+mn-lt"/>
                <a:cs typeface="+mn-lt"/>
              </a:rPr>
              <a:t>The string-matching problem involves finding a substring in a given text that matches a given pattern.</a:t>
            </a:r>
            <a:endParaRPr lang="en-US" dirty="0">
              <a:solidFill>
                <a:schemeClr val="tx1"/>
              </a:solidFill>
            </a:endParaRPr>
          </a:p>
          <a:p>
            <a:pPr algn="ctr">
              <a:lnSpc>
                <a:spcPct val="90000"/>
              </a:lnSpc>
            </a:pPr>
            <a:r>
              <a:rPr lang="en-US" b="1" dirty="0">
                <a:solidFill>
                  <a:schemeClr val="tx1"/>
                </a:solidFill>
                <a:latin typeface="Times New Roman"/>
                <a:ea typeface="+mn-lt"/>
                <a:cs typeface="Times New Roman"/>
              </a:rPr>
              <a:t>Example : Nobody </a:t>
            </a:r>
            <a:r>
              <a:rPr lang="en-US" b="1" dirty="0">
                <a:solidFill>
                  <a:srgbClr val="FF0000"/>
                </a:solidFill>
                <a:latin typeface="Times New Roman"/>
                <a:ea typeface="+mn-lt"/>
                <a:cs typeface="Times New Roman"/>
              </a:rPr>
              <a:t>not</a:t>
            </a:r>
            <a:r>
              <a:rPr lang="en-US" b="1" dirty="0">
                <a:solidFill>
                  <a:schemeClr val="tx1"/>
                </a:solidFill>
                <a:latin typeface="Times New Roman"/>
                <a:ea typeface="+mn-lt"/>
                <a:cs typeface="Times New Roman"/>
              </a:rPr>
              <a:t>iced him</a:t>
            </a:r>
            <a:endParaRPr lang="en-US" b="1" dirty="0">
              <a:solidFill>
                <a:schemeClr val="tx1"/>
              </a:solidFill>
              <a:ea typeface="+mn-lt"/>
              <a:cs typeface="+mn-lt"/>
            </a:endParaRPr>
          </a:p>
          <a:p>
            <a:pPr algn="just">
              <a:lnSpc>
                <a:spcPct val="90000"/>
              </a:lnSpc>
            </a:pPr>
            <a:r>
              <a:rPr lang="en-US" dirty="0">
                <a:solidFill>
                  <a:schemeClr val="tx1"/>
                </a:solidFill>
                <a:ea typeface="+mn-lt"/>
                <a:cs typeface="+mn-lt"/>
              </a:rPr>
              <a:t>In this example, the text is "Nobody noticed him" and the pattern is not specified. We'll assume the pattern is "not" for demonstration purposes.</a:t>
            </a:r>
            <a:endParaRPr lang="en-US" dirty="0">
              <a:solidFill>
                <a:schemeClr val="tx1"/>
              </a:solidFill>
            </a:endParaRPr>
          </a:p>
          <a:p>
            <a:pPr algn="just">
              <a:lnSpc>
                <a:spcPct val="90000"/>
              </a:lnSpc>
            </a:pPr>
            <a:endParaRPr lang="en-US" sz="1400" dirty="0">
              <a:solidFill>
                <a:schemeClr val="tx1"/>
              </a:solidFill>
            </a:endParaRPr>
          </a:p>
        </p:txBody>
      </p:sp>
      <p:sp>
        <p:nvSpPr>
          <p:cNvPr id="4" name="Date Placeholder 3">
            <a:extLst>
              <a:ext uri="{FF2B5EF4-FFF2-40B4-BE49-F238E27FC236}">
                <a16:creationId xmlns:a16="http://schemas.microsoft.com/office/drawing/2014/main" id="{14BD5ABE-68B4-885F-EC1D-54D51F40F5FB}"/>
              </a:ext>
            </a:extLst>
          </p:cNvPr>
          <p:cNvSpPr>
            <a:spLocks noGrp="1"/>
          </p:cNvSpPr>
          <p:nvPr>
            <p:ph type="dt" sz="half" idx="10"/>
          </p:nvPr>
        </p:nvSpPr>
        <p:spPr>
          <a:xfrm>
            <a:off x="422899" y="6217920"/>
            <a:ext cx="2743200" cy="640080"/>
          </a:xfrm>
        </p:spPr>
        <p:txBody>
          <a:bodyPr>
            <a:normAutofit/>
          </a:bodyPr>
          <a:lstStyle/>
          <a:p>
            <a:pPr>
              <a:spcAft>
                <a:spcPts val="600"/>
              </a:spcAft>
            </a:pPr>
            <a:fld id="{5550F575-9235-4C09-B332-B7C088D5C2F0}" type="datetime2">
              <a:rPr lang="en-US" smtClean="0"/>
              <a:t>Wednesday, January 14, 2026</a:t>
            </a:fld>
            <a:endParaRPr lang="en-US"/>
          </a:p>
        </p:txBody>
      </p:sp>
      <p:sp>
        <p:nvSpPr>
          <p:cNvPr id="5" name="Footer Placeholder 4">
            <a:extLst>
              <a:ext uri="{FF2B5EF4-FFF2-40B4-BE49-F238E27FC236}">
                <a16:creationId xmlns:a16="http://schemas.microsoft.com/office/drawing/2014/main" id="{E1E61E04-FA60-CB28-32B5-D792D71A0C55}"/>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21" name="Straight Connector 20">
            <a:extLst>
              <a:ext uri="{FF2B5EF4-FFF2-40B4-BE49-F238E27FC236}">
                <a16:creationId xmlns:a16="http://schemas.microsoft.com/office/drawing/2014/main" id="{EA28B1DC-0672-4B37-99C8-1A33D3D31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DB89D3-7786-4CAE-BB16-92D36C8251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87334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Rectangle 32">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Rectangle 34">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6AF26-0D39-1D11-3C97-D9FB3F153F05}"/>
              </a:ext>
            </a:extLst>
          </p:cNvPr>
          <p:cNvSpPr>
            <a:spLocks noGrp="1"/>
          </p:cNvSpPr>
          <p:nvPr>
            <p:ph type="title"/>
          </p:nvPr>
        </p:nvSpPr>
        <p:spPr>
          <a:xfrm rot="-900000">
            <a:off x="678970" y="256016"/>
            <a:ext cx="3129945" cy="1605642"/>
          </a:xfrm>
        </p:spPr>
        <p:txBody>
          <a:bodyPr vert="horz" lIns="91440" tIns="45720" rIns="91440" bIns="45720" rtlCol="0" anchor="b">
            <a:normAutofit/>
          </a:bodyPr>
          <a:lstStyle/>
          <a:p>
            <a:r>
              <a:rPr lang="en-US" sz="4800" dirty="0"/>
              <a:t>String Matching</a:t>
            </a:r>
          </a:p>
        </p:txBody>
      </p:sp>
      <p:sp>
        <p:nvSpPr>
          <p:cNvPr id="6" name="Slide Number Placeholder 5">
            <a:extLst>
              <a:ext uri="{FF2B5EF4-FFF2-40B4-BE49-F238E27FC236}">
                <a16:creationId xmlns:a16="http://schemas.microsoft.com/office/drawing/2014/main" id="{E86CE82F-8512-1844-39E8-0F57D51DE1B7}"/>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36</a:t>
            </a:fld>
            <a:endParaRPr lang="en-US" sz="1200"/>
          </a:p>
        </p:txBody>
      </p:sp>
      <p:sp>
        <p:nvSpPr>
          <p:cNvPr id="4" name="Date Placeholder 3">
            <a:extLst>
              <a:ext uri="{FF2B5EF4-FFF2-40B4-BE49-F238E27FC236}">
                <a16:creationId xmlns:a16="http://schemas.microsoft.com/office/drawing/2014/main" id="{7DACD614-E91C-B571-36CC-FFD55140243D}"/>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2BE908C4-698B-460E-B05B-E046E0421062}" type="datetime2">
              <a:rPr lang="en-US" sz="1200" smtClean="0"/>
              <a:t>Wednesday, January 14, 2026</a:t>
            </a:fld>
            <a:endParaRPr lang="en-US" sz="1200"/>
          </a:p>
        </p:txBody>
      </p:sp>
      <p:sp>
        <p:nvSpPr>
          <p:cNvPr id="37" name="Rectangle 36">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 name="Content Placeholder 6" descr="A black and white crossword puzzle&#10;&#10;Description automatically generated">
            <a:extLst>
              <a:ext uri="{FF2B5EF4-FFF2-40B4-BE49-F238E27FC236}">
                <a16:creationId xmlns:a16="http://schemas.microsoft.com/office/drawing/2014/main" id="{305F2D5B-D000-2C8A-9745-73317BA83E1E}"/>
              </a:ext>
            </a:extLst>
          </p:cNvPr>
          <p:cNvPicPr>
            <a:picLocks noGrp="1" noChangeAspect="1"/>
          </p:cNvPicPr>
          <p:nvPr>
            <p:ph idx="1"/>
          </p:nvPr>
        </p:nvPicPr>
        <p:blipFill>
          <a:blip r:embed="rId3"/>
          <a:stretch>
            <a:fillRect/>
          </a:stretch>
        </p:blipFill>
        <p:spPr>
          <a:xfrm>
            <a:off x="1478319" y="1838435"/>
            <a:ext cx="9818141" cy="2945443"/>
          </a:xfrm>
          <a:prstGeom prst="rect">
            <a:avLst/>
          </a:prstGeom>
        </p:spPr>
      </p:pic>
      <p:sp>
        <p:nvSpPr>
          <p:cNvPr id="5" name="Footer Placeholder 4">
            <a:extLst>
              <a:ext uri="{FF2B5EF4-FFF2-40B4-BE49-F238E27FC236}">
                <a16:creationId xmlns:a16="http://schemas.microsoft.com/office/drawing/2014/main" id="{BCEDBBB2-8AB3-74E4-7175-2F31464A81EC}"/>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39" name="Straight Connector 38">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8519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3" name="Rectangle 22">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E56E88-8A59-0CC9-FF94-987DBE47F815}"/>
              </a:ext>
            </a:extLst>
          </p:cNvPr>
          <p:cNvSpPr>
            <a:spLocks noGrp="1"/>
          </p:cNvSpPr>
          <p:nvPr>
            <p:ph type="title"/>
          </p:nvPr>
        </p:nvSpPr>
        <p:spPr>
          <a:xfrm>
            <a:off x="434408" y="680192"/>
            <a:ext cx="2486592" cy="4806208"/>
          </a:xfrm>
        </p:spPr>
        <p:txBody>
          <a:bodyPr>
            <a:normAutofit/>
          </a:bodyPr>
          <a:lstStyle/>
          <a:p>
            <a:r>
              <a:rPr lang="en-US" sz="4800" dirty="0"/>
              <a:t>String Matching Algo</a:t>
            </a:r>
          </a:p>
        </p:txBody>
      </p:sp>
      <p:sp>
        <p:nvSpPr>
          <p:cNvPr id="3" name="Content Placeholder 2">
            <a:extLst>
              <a:ext uri="{FF2B5EF4-FFF2-40B4-BE49-F238E27FC236}">
                <a16:creationId xmlns:a16="http://schemas.microsoft.com/office/drawing/2014/main" id="{9567A28E-4893-C555-6DE1-4D4CA2466763}"/>
              </a:ext>
            </a:extLst>
          </p:cNvPr>
          <p:cNvSpPr>
            <a:spLocks noGrp="1"/>
          </p:cNvSpPr>
          <p:nvPr>
            <p:ph idx="1"/>
          </p:nvPr>
        </p:nvSpPr>
        <p:spPr>
          <a:xfrm>
            <a:off x="3166099" y="680191"/>
            <a:ext cx="8329293" cy="5314209"/>
          </a:xfrm>
        </p:spPr>
        <p:txBody>
          <a:bodyPr vert="horz" lIns="91440" tIns="45720" rIns="91440" bIns="45720" rtlCol="0" anchor="ctr">
            <a:normAutofit fontScale="92500"/>
          </a:bodyPr>
          <a:lstStyle/>
          <a:p>
            <a:pPr>
              <a:lnSpc>
                <a:spcPct val="90000"/>
              </a:lnSpc>
            </a:pPr>
            <a:r>
              <a:rPr lang="en-US" b="1" dirty="0">
                <a:solidFill>
                  <a:schemeClr val="tx1"/>
                </a:solidFill>
                <a:latin typeface="Times New Roman"/>
                <a:cs typeface="Arial"/>
              </a:rPr>
              <a:t>ALGORITHM Brute Force String Match(T[0..n−1],P[0..m−1])</a:t>
            </a:r>
            <a:endParaRPr lang="en-US" b="1"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//Implements brute-force string matching</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//Input: An array T[0..n−1] of n characters representing a text and</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//an array P[0..m−1] of m characters representing a pattern</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//Output: The index of the first character in the text that starts a</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//matching substring or−1 if the search is unsuccessful for</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for i←0 to n−m do </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     j←0</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    While j&lt;m and P[j]=T[</a:t>
            </a:r>
            <a:r>
              <a:rPr lang="en-US" dirty="0" err="1">
                <a:solidFill>
                  <a:schemeClr val="tx1"/>
                </a:solidFill>
                <a:latin typeface="Times New Roman"/>
                <a:cs typeface="Arial"/>
              </a:rPr>
              <a:t>i+j</a:t>
            </a:r>
            <a:r>
              <a:rPr lang="en-US" dirty="0">
                <a:solidFill>
                  <a:schemeClr val="tx1"/>
                </a:solidFill>
                <a:latin typeface="Times New Roman"/>
                <a:cs typeface="Arial"/>
              </a:rPr>
              <a:t>]do</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         j←j+1</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    if j=m return </a:t>
            </a:r>
            <a:r>
              <a:rPr lang="en-US" dirty="0" err="1">
                <a:solidFill>
                  <a:schemeClr val="tx1"/>
                </a:solidFill>
                <a:latin typeface="Times New Roman"/>
                <a:cs typeface="Arial"/>
              </a:rPr>
              <a:t>i</a:t>
            </a:r>
            <a:endParaRPr lang="en-US" dirty="0">
              <a:solidFill>
                <a:schemeClr val="tx1"/>
              </a:solidFill>
              <a:latin typeface="Times New Roman"/>
              <a:cs typeface="Times New Roman"/>
            </a:endParaRPr>
          </a:p>
          <a:p>
            <a:pPr>
              <a:lnSpc>
                <a:spcPct val="90000"/>
              </a:lnSpc>
            </a:pPr>
            <a:r>
              <a:rPr lang="en-US" dirty="0">
                <a:solidFill>
                  <a:schemeClr val="tx1"/>
                </a:solidFill>
                <a:latin typeface="Times New Roman"/>
                <a:cs typeface="Arial"/>
              </a:rPr>
              <a:t>return−1</a:t>
            </a:r>
            <a:endParaRPr lang="en-US" dirty="0">
              <a:solidFill>
                <a:schemeClr val="tx1"/>
              </a:solidFill>
              <a:latin typeface="Times New Roman"/>
              <a:cs typeface="Times New Roman"/>
            </a:endParaRPr>
          </a:p>
          <a:p>
            <a:pPr>
              <a:lnSpc>
                <a:spcPct val="90000"/>
              </a:lnSpc>
            </a:pPr>
            <a:endParaRPr lang="en-US" sz="1500" dirty="0">
              <a:solidFill>
                <a:schemeClr val="tx1"/>
              </a:solidFill>
              <a:latin typeface="Times New Roman"/>
              <a:cs typeface="Times New Roman"/>
            </a:endParaRPr>
          </a:p>
        </p:txBody>
      </p:sp>
      <p:sp>
        <p:nvSpPr>
          <p:cNvPr id="6" name="Slide Number Placeholder 5">
            <a:extLst>
              <a:ext uri="{FF2B5EF4-FFF2-40B4-BE49-F238E27FC236}">
                <a16:creationId xmlns:a16="http://schemas.microsoft.com/office/drawing/2014/main" id="{D9513F1E-35A5-F5E8-1D9B-665EDC9CF4EC}"/>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37</a:t>
            </a:fld>
            <a:endParaRPr lang="en-US"/>
          </a:p>
        </p:txBody>
      </p:sp>
      <p:sp>
        <p:nvSpPr>
          <p:cNvPr id="4" name="Date Placeholder 3">
            <a:extLst>
              <a:ext uri="{FF2B5EF4-FFF2-40B4-BE49-F238E27FC236}">
                <a16:creationId xmlns:a16="http://schemas.microsoft.com/office/drawing/2014/main" id="{1D8B19C6-E3CF-B063-7C8D-C09CAE7A5C59}"/>
              </a:ext>
            </a:extLst>
          </p:cNvPr>
          <p:cNvSpPr>
            <a:spLocks noGrp="1"/>
          </p:cNvSpPr>
          <p:nvPr>
            <p:ph type="dt" sz="half" idx="10"/>
          </p:nvPr>
        </p:nvSpPr>
        <p:spPr>
          <a:xfrm>
            <a:off x="422899" y="6217920"/>
            <a:ext cx="2743200" cy="640080"/>
          </a:xfrm>
        </p:spPr>
        <p:txBody>
          <a:bodyPr anchor="ctr">
            <a:normAutofit/>
          </a:bodyPr>
          <a:lstStyle/>
          <a:p>
            <a:pPr>
              <a:spcAft>
                <a:spcPts val="600"/>
              </a:spcAft>
            </a:pPr>
            <a:fld id="{234B7F1E-033A-41FB-9A66-897686B85E11}" type="datetime2">
              <a:rPr lang="en-US" smtClean="0"/>
              <a:t>Wednesday, January 14, 2026</a:t>
            </a:fld>
            <a:endParaRPr lang="en-US"/>
          </a:p>
        </p:txBody>
      </p:sp>
      <p:sp>
        <p:nvSpPr>
          <p:cNvPr id="5" name="Footer Placeholder 4">
            <a:extLst>
              <a:ext uri="{FF2B5EF4-FFF2-40B4-BE49-F238E27FC236}">
                <a16:creationId xmlns:a16="http://schemas.microsoft.com/office/drawing/2014/main" id="{5B8049C8-4478-0C81-9284-2FB36E3C2507}"/>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24" name="Straight Connector 23">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908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Background Gray Rectangle">
            <a:extLst>
              <a:ext uri="{FF2B5EF4-FFF2-40B4-BE49-F238E27FC236}">
                <a16:creationId xmlns:a16="http://schemas.microsoft.com/office/drawing/2014/main" id="{429E1EE9-E4C2-40A9-B9DE-FF110156C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Background Gray Rectangle">
            <a:extLst>
              <a:ext uri="{FF2B5EF4-FFF2-40B4-BE49-F238E27FC236}">
                <a16:creationId xmlns:a16="http://schemas.microsoft.com/office/drawing/2014/main" id="{1FF5E391-13EA-4378-95B1-C73488181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AD0DC7A3-7ED0-4155-ADCF-D332541FA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28B89FFC-9974-8EA8-B73E-BEBD14991EF7}"/>
              </a:ext>
            </a:extLst>
          </p:cNvPr>
          <p:cNvSpPr>
            <a:spLocks noGrp="1"/>
          </p:cNvSpPr>
          <p:nvPr>
            <p:ph type="sldNum" sz="quarter" idx="12"/>
          </p:nvPr>
        </p:nvSpPr>
        <p:spPr>
          <a:xfrm>
            <a:off x="11504676" y="-14198"/>
            <a:ext cx="685800" cy="685800"/>
          </a:xfrm>
        </p:spPr>
        <p:txBody>
          <a:bodyPr vert="horz" lIns="91440" tIns="45720" rIns="91440" bIns="45720" rtlCol="0" anchor="ctr">
            <a:normAutofit/>
          </a:bodyPr>
          <a:lstStyle/>
          <a:p>
            <a:pPr>
              <a:spcAft>
                <a:spcPts val="600"/>
              </a:spcAft>
            </a:pPr>
            <a:fld id="{7BE69E03-4804-4553-A1EC-F089884EF50F}" type="slidenum">
              <a:rPr lang="en-US" sz="1200">
                <a:solidFill>
                  <a:schemeClr val="bg1"/>
                </a:solidFill>
              </a:rPr>
              <a:pPr>
                <a:spcAft>
                  <a:spcPts val="600"/>
                </a:spcAft>
              </a:pPr>
              <a:t>38</a:t>
            </a:fld>
            <a:endParaRPr lang="en-US" sz="1200">
              <a:solidFill>
                <a:schemeClr val="bg1"/>
              </a:solidFill>
            </a:endParaRPr>
          </a:p>
        </p:txBody>
      </p:sp>
      <p:sp>
        <p:nvSpPr>
          <p:cNvPr id="4" name="Date Placeholder 3">
            <a:extLst>
              <a:ext uri="{FF2B5EF4-FFF2-40B4-BE49-F238E27FC236}">
                <a16:creationId xmlns:a16="http://schemas.microsoft.com/office/drawing/2014/main" id="{4D19E8F4-17A0-FB90-DCD9-5096F5E3CFC7}"/>
              </a:ext>
            </a:extLst>
          </p:cNvPr>
          <p:cNvSpPr>
            <a:spLocks noGrp="1"/>
          </p:cNvSpPr>
          <p:nvPr>
            <p:ph type="dt" sz="half" idx="10"/>
          </p:nvPr>
        </p:nvSpPr>
        <p:spPr>
          <a:xfrm>
            <a:off x="422899" y="6217920"/>
            <a:ext cx="2743200" cy="640080"/>
          </a:xfrm>
        </p:spPr>
        <p:txBody>
          <a:bodyPr vert="horz" lIns="91440" tIns="45720" rIns="91440" bIns="45720" rtlCol="0" anchor="ctr">
            <a:normAutofit/>
          </a:bodyPr>
          <a:lstStyle/>
          <a:p>
            <a:pPr>
              <a:spcAft>
                <a:spcPts val="600"/>
              </a:spcAft>
            </a:pPr>
            <a:fld id="{1A1383CB-15EA-4EE8-AA24-9B39618AB567}" type="datetime2">
              <a:rPr lang="en-US" sz="1200">
                <a:solidFill>
                  <a:schemeClr val="bg1"/>
                </a:solidFill>
              </a:rPr>
              <a:pPr>
                <a:spcAft>
                  <a:spcPts val="600"/>
                </a:spcAft>
              </a:pPr>
              <a:t>Wednesday, January 14, 2026</a:t>
            </a:fld>
            <a:endParaRPr lang="en-US" sz="1200">
              <a:solidFill>
                <a:schemeClr val="bg1"/>
              </a:solidFill>
            </a:endParaRPr>
          </a:p>
        </p:txBody>
      </p:sp>
      <p:sp>
        <p:nvSpPr>
          <p:cNvPr id="5" name="Footer Placeholder 4">
            <a:extLst>
              <a:ext uri="{FF2B5EF4-FFF2-40B4-BE49-F238E27FC236}">
                <a16:creationId xmlns:a16="http://schemas.microsoft.com/office/drawing/2014/main" id="{D6546AA9-C517-2A39-1772-03A5EA37C2E0}"/>
              </a:ext>
            </a:extLst>
          </p:cNvPr>
          <p:cNvSpPr>
            <a:spLocks noGrp="1"/>
          </p:cNvSpPr>
          <p:nvPr>
            <p:ph type="ftr" sz="quarter" idx="11"/>
          </p:nvPr>
        </p:nvSpPr>
        <p:spPr>
          <a:xfrm>
            <a:off x="6842943" y="6217920"/>
            <a:ext cx="4114800" cy="640080"/>
          </a:xfrm>
        </p:spPr>
        <p:txBody>
          <a:bodyPr vert="horz" lIns="91440" tIns="45720" rIns="91440" bIns="45720" rtlCol="0" anchor="ctr">
            <a:normAutofit/>
          </a:bodyPr>
          <a:lstStyle/>
          <a:p>
            <a:pPr>
              <a:spcAft>
                <a:spcPts val="600"/>
              </a:spcAft>
            </a:pPr>
            <a:r>
              <a:rPr lang="en-US" sz="1200" kern="1200">
                <a:solidFill>
                  <a:schemeClr val="bg1"/>
                </a:solidFill>
                <a:latin typeface="+mn-lt"/>
                <a:ea typeface="+mn-ea"/>
                <a:cs typeface="+mn-cs"/>
              </a:rPr>
              <a:t>Department of ICT</a:t>
            </a:r>
          </a:p>
        </p:txBody>
      </p:sp>
      <p:cxnSp>
        <p:nvCxnSpPr>
          <p:cNvPr id="19" name="Vertical Connector">
            <a:extLst>
              <a:ext uri="{FF2B5EF4-FFF2-40B4-BE49-F238E27FC236}">
                <a16:creationId xmlns:a16="http://schemas.microsoft.com/office/drawing/2014/main" id="{4CDF7082-55B3-4B7D-8ECF-F1C96C500D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F6C48"/>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67D64140-8BC6-4CD1-8C2A-FB5BCE2354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F6C48"/>
            </a:solidFill>
            <a:prstDash val="dash"/>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FBAFB603-399F-C6D4-2510-BF6BFD132C6A}"/>
              </a:ext>
            </a:extLst>
          </p:cNvPr>
          <p:cNvSpPr>
            <a:spLocks noGrp="1"/>
          </p:cNvSpPr>
          <p:nvPr>
            <p:ph idx="1"/>
          </p:nvPr>
        </p:nvSpPr>
        <p:spPr/>
        <p:txBody>
          <a:bodyPr/>
          <a:lstStyle/>
          <a:p>
            <a:endParaRPr lang="en-IN"/>
          </a:p>
        </p:txBody>
      </p:sp>
      <p:pic>
        <p:nvPicPr>
          <p:cNvPr id="12" name="Picture 11">
            <a:extLst>
              <a:ext uri="{FF2B5EF4-FFF2-40B4-BE49-F238E27FC236}">
                <a16:creationId xmlns:a16="http://schemas.microsoft.com/office/drawing/2014/main" id="{8564FCE9-6C73-9C8E-BE1E-DFF92CEE4C9F}"/>
              </a:ext>
            </a:extLst>
          </p:cNvPr>
          <p:cNvPicPr>
            <a:picLocks noChangeAspect="1"/>
          </p:cNvPicPr>
          <p:nvPr/>
        </p:nvPicPr>
        <p:blipFill>
          <a:blip r:embed="rId2"/>
          <a:stretch>
            <a:fillRect/>
          </a:stretch>
        </p:blipFill>
        <p:spPr>
          <a:xfrm>
            <a:off x="558802" y="414337"/>
            <a:ext cx="10515600" cy="6217704"/>
          </a:xfrm>
          <a:prstGeom prst="rect">
            <a:avLst/>
          </a:prstGeom>
        </p:spPr>
      </p:pic>
    </p:spTree>
    <p:extLst>
      <p:ext uri="{BB962C8B-B14F-4D97-AF65-F5344CB8AC3E}">
        <p14:creationId xmlns:p14="http://schemas.microsoft.com/office/powerpoint/2010/main" val="6902336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Background Gray Rectangle">
            <a:extLst>
              <a:ext uri="{FF2B5EF4-FFF2-40B4-BE49-F238E27FC236}">
                <a16:creationId xmlns:a16="http://schemas.microsoft.com/office/drawing/2014/main" id="{429E1EE9-E4C2-40A9-B9DE-FF110156C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Background Gray Rectangle">
            <a:extLst>
              <a:ext uri="{FF2B5EF4-FFF2-40B4-BE49-F238E27FC236}">
                <a16:creationId xmlns:a16="http://schemas.microsoft.com/office/drawing/2014/main" id="{1FF5E391-13EA-4378-95B1-C73488181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AD0DC7A3-7ED0-4155-ADCF-D332541FA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51130665-3F0A-1A9A-D066-03FEF9254E63}"/>
              </a:ext>
            </a:extLst>
          </p:cNvPr>
          <p:cNvPicPr>
            <a:picLocks noGrp="1" noChangeAspect="1"/>
          </p:cNvPicPr>
          <p:nvPr>
            <p:ph idx="1"/>
          </p:nvPr>
        </p:nvPicPr>
        <p:blipFill rotWithShape="1">
          <a:blip r:embed="rId2"/>
          <a:srcRect l="1187" r="6217" b="-1"/>
          <a:stretch/>
        </p:blipFill>
        <p:spPr>
          <a:xfrm>
            <a:off x="-1" y="5609"/>
            <a:ext cx="12192000" cy="6846780"/>
          </a:xfrm>
          <a:prstGeom prst="rect">
            <a:avLst/>
          </a:prstGeom>
        </p:spPr>
      </p:pic>
      <p:sp>
        <p:nvSpPr>
          <p:cNvPr id="6" name="Slide Number Placeholder 5">
            <a:extLst>
              <a:ext uri="{FF2B5EF4-FFF2-40B4-BE49-F238E27FC236}">
                <a16:creationId xmlns:a16="http://schemas.microsoft.com/office/drawing/2014/main" id="{BB14D3BB-B87F-6602-A5E4-F98374E48112}"/>
              </a:ext>
            </a:extLst>
          </p:cNvPr>
          <p:cNvSpPr>
            <a:spLocks noGrp="1"/>
          </p:cNvSpPr>
          <p:nvPr>
            <p:ph type="sldNum" sz="quarter" idx="12"/>
          </p:nvPr>
        </p:nvSpPr>
        <p:spPr>
          <a:xfrm>
            <a:off x="11504676" y="-14198"/>
            <a:ext cx="685800" cy="685800"/>
          </a:xfrm>
        </p:spPr>
        <p:txBody>
          <a:bodyPr vert="horz" lIns="91440" tIns="45720" rIns="91440" bIns="45720" rtlCol="0" anchor="ctr">
            <a:normAutofit/>
          </a:bodyPr>
          <a:lstStyle/>
          <a:p>
            <a:pPr>
              <a:spcAft>
                <a:spcPts val="600"/>
              </a:spcAft>
            </a:pPr>
            <a:fld id="{7BE69E03-4804-4553-A1EC-F089884EF50F}" type="slidenum">
              <a:rPr lang="en-US" sz="1200">
                <a:solidFill>
                  <a:schemeClr val="bg1"/>
                </a:solidFill>
              </a:rPr>
              <a:pPr>
                <a:spcAft>
                  <a:spcPts val="600"/>
                </a:spcAft>
              </a:pPr>
              <a:t>39</a:t>
            </a:fld>
            <a:endParaRPr lang="en-US" sz="1200">
              <a:solidFill>
                <a:schemeClr val="bg1"/>
              </a:solidFill>
            </a:endParaRPr>
          </a:p>
        </p:txBody>
      </p:sp>
      <p:sp>
        <p:nvSpPr>
          <p:cNvPr id="4" name="Date Placeholder 3">
            <a:extLst>
              <a:ext uri="{FF2B5EF4-FFF2-40B4-BE49-F238E27FC236}">
                <a16:creationId xmlns:a16="http://schemas.microsoft.com/office/drawing/2014/main" id="{CF4FF36E-CBAD-31EE-24C6-955B9FF8C342}"/>
              </a:ext>
            </a:extLst>
          </p:cNvPr>
          <p:cNvSpPr>
            <a:spLocks noGrp="1"/>
          </p:cNvSpPr>
          <p:nvPr>
            <p:ph type="dt" sz="half" idx="10"/>
          </p:nvPr>
        </p:nvSpPr>
        <p:spPr>
          <a:xfrm>
            <a:off x="422899" y="6217920"/>
            <a:ext cx="2743200" cy="640080"/>
          </a:xfrm>
        </p:spPr>
        <p:txBody>
          <a:bodyPr vert="horz" lIns="91440" tIns="45720" rIns="91440" bIns="45720" rtlCol="0" anchor="ctr">
            <a:normAutofit/>
          </a:bodyPr>
          <a:lstStyle/>
          <a:p>
            <a:pPr>
              <a:spcAft>
                <a:spcPts val="600"/>
              </a:spcAft>
            </a:pPr>
            <a:fld id="{1A1383CB-15EA-4EE8-AA24-9B39618AB567}" type="datetime2">
              <a:rPr lang="en-US" sz="1200">
                <a:solidFill>
                  <a:schemeClr val="bg1"/>
                </a:solidFill>
              </a:rPr>
              <a:pPr>
                <a:spcAft>
                  <a:spcPts val="600"/>
                </a:spcAft>
              </a:pPr>
              <a:t>Wednesday, January 14, 2026</a:t>
            </a:fld>
            <a:endParaRPr lang="en-US" sz="1200">
              <a:solidFill>
                <a:schemeClr val="bg1"/>
              </a:solidFill>
            </a:endParaRPr>
          </a:p>
        </p:txBody>
      </p:sp>
      <p:sp>
        <p:nvSpPr>
          <p:cNvPr id="5" name="Footer Placeholder 4">
            <a:extLst>
              <a:ext uri="{FF2B5EF4-FFF2-40B4-BE49-F238E27FC236}">
                <a16:creationId xmlns:a16="http://schemas.microsoft.com/office/drawing/2014/main" id="{6967928C-E8D4-0726-C5D8-CE2D4A4C0580}"/>
              </a:ext>
            </a:extLst>
          </p:cNvPr>
          <p:cNvSpPr>
            <a:spLocks noGrp="1"/>
          </p:cNvSpPr>
          <p:nvPr>
            <p:ph type="ftr" sz="quarter" idx="11"/>
          </p:nvPr>
        </p:nvSpPr>
        <p:spPr>
          <a:xfrm>
            <a:off x="6842943" y="6217920"/>
            <a:ext cx="4114800" cy="640080"/>
          </a:xfrm>
        </p:spPr>
        <p:txBody>
          <a:bodyPr vert="horz" lIns="91440" tIns="45720" rIns="91440" bIns="45720" rtlCol="0" anchor="ctr">
            <a:normAutofit/>
          </a:bodyPr>
          <a:lstStyle/>
          <a:p>
            <a:pPr>
              <a:spcAft>
                <a:spcPts val="600"/>
              </a:spcAft>
            </a:pPr>
            <a:r>
              <a:rPr lang="en-US" sz="1200" kern="1200">
                <a:solidFill>
                  <a:schemeClr val="bg1"/>
                </a:solidFill>
                <a:latin typeface="+mn-lt"/>
                <a:ea typeface="+mn-ea"/>
                <a:cs typeface="+mn-cs"/>
              </a:rPr>
              <a:t>Department of ICT</a:t>
            </a:r>
          </a:p>
        </p:txBody>
      </p:sp>
      <p:cxnSp>
        <p:nvCxnSpPr>
          <p:cNvPr id="19" name="Vertical Connector">
            <a:extLst>
              <a:ext uri="{FF2B5EF4-FFF2-40B4-BE49-F238E27FC236}">
                <a16:creationId xmlns:a16="http://schemas.microsoft.com/office/drawing/2014/main" id="{4CDF7082-55B3-4B7D-8ECF-F1C96C500D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8FE5FF"/>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67D64140-8BC6-4CD1-8C2A-FB5BCE2354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8FE5FF"/>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932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Rectangle 29">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2" name="Rectangle 31">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00B25726-06CA-C007-E0CD-3756EA3A4C21}"/>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a:pPr>
                <a:spcAft>
                  <a:spcPts val="600"/>
                </a:spcAft>
              </a:pPr>
              <a:t>40</a:t>
            </a:fld>
            <a:endParaRPr lang="en-US" sz="1200"/>
          </a:p>
        </p:txBody>
      </p:sp>
      <p:sp>
        <p:nvSpPr>
          <p:cNvPr id="4" name="Date Placeholder 3">
            <a:extLst>
              <a:ext uri="{FF2B5EF4-FFF2-40B4-BE49-F238E27FC236}">
                <a16:creationId xmlns:a16="http://schemas.microsoft.com/office/drawing/2014/main" id="{E5A3A354-9D92-33E3-DD57-0831CEEBB05A}"/>
              </a:ext>
            </a:extLst>
          </p:cNvPr>
          <p:cNvSpPr>
            <a:spLocks noGrp="1"/>
          </p:cNvSpPr>
          <p:nvPr>
            <p:ph type="dt" sz="half" idx="10"/>
          </p:nvPr>
        </p:nvSpPr>
        <p:spPr>
          <a:xfrm>
            <a:off x="422899" y="6217920"/>
            <a:ext cx="2743200" cy="640080"/>
          </a:xfrm>
        </p:spPr>
        <p:txBody>
          <a:bodyPr vert="horz" lIns="91440" tIns="45720" rIns="91440" bIns="45720" rtlCol="0" anchor="ctr" anchorCtr="0">
            <a:normAutofit/>
          </a:bodyPr>
          <a:lstStyle/>
          <a:p>
            <a:pPr>
              <a:spcAft>
                <a:spcPts val="600"/>
              </a:spcAft>
            </a:pPr>
            <a:fld id="{1A1383CB-15EA-4EE8-AA24-9B39618AB567}" type="datetime2">
              <a:rPr lang="en-US" sz="1200"/>
              <a:pPr>
                <a:spcAft>
                  <a:spcPts val="600"/>
                </a:spcAft>
              </a:pPr>
              <a:t>Wednesday, January 14, 2026</a:t>
            </a:fld>
            <a:endParaRPr lang="en-US" sz="1200"/>
          </a:p>
        </p:txBody>
      </p:sp>
      <p:sp>
        <p:nvSpPr>
          <p:cNvPr id="34" name="Rectangle 33">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5" name="Footer Placeholder 4">
            <a:extLst>
              <a:ext uri="{FF2B5EF4-FFF2-40B4-BE49-F238E27FC236}">
                <a16:creationId xmlns:a16="http://schemas.microsoft.com/office/drawing/2014/main" id="{BCCD2DB0-C09B-A80F-9026-9933F1E156CE}"/>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36" name="Straight Connector 35">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F3B0A"/>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F3B0A"/>
            </a:solidFill>
            <a:prstDash val="dash"/>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95D80FE4-B332-3FAB-8387-B2DDCACECD59}"/>
              </a:ext>
            </a:extLst>
          </p:cNvPr>
          <p:cNvSpPr>
            <a:spLocks noGrp="1"/>
          </p:cNvSpPr>
          <p:nvPr>
            <p:ph idx="1"/>
          </p:nvPr>
        </p:nvSpPr>
        <p:spPr/>
        <p:txBody>
          <a:bodyPr/>
          <a:lstStyle/>
          <a:p>
            <a:endParaRPr lang="en-IN" dirty="0"/>
          </a:p>
        </p:txBody>
      </p:sp>
      <p:pic>
        <p:nvPicPr>
          <p:cNvPr id="12" name="Picture 11">
            <a:extLst>
              <a:ext uri="{FF2B5EF4-FFF2-40B4-BE49-F238E27FC236}">
                <a16:creationId xmlns:a16="http://schemas.microsoft.com/office/drawing/2014/main" id="{39BFB19C-585A-0F71-1EE1-BECDBC3A8B5E}"/>
              </a:ext>
            </a:extLst>
          </p:cNvPr>
          <p:cNvPicPr>
            <a:picLocks noChangeAspect="1"/>
          </p:cNvPicPr>
          <p:nvPr/>
        </p:nvPicPr>
        <p:blipFill>
          <a:blip r:embed="rId2"/>
          <a:stretch>
            <a:fillRect/>
          </a:stretch>
        </p:blipFill>
        <p:spPr>
          <a:xfrm>
            <a:off x="1079499" y="157698"/>
            <a:ext cx="9022707" cy="5883783"/>
          </a:xfrm>
          <a:prstGeom prst="rect">
            <a:avLst/>
          </a:prstGeom>
        </p:spPr>
      </p:pic>
    </p:spTree>
    <p:extLst>
      <p:ext uri="{BB962C8B-B14F-4D97-AF65-F5344CB8AC3E}">
        <p14:creationId xmlns:p14="http://schemas.microsoft.com/office/powerpoint/2010/main" val="786624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BE2B187-F924-0B3E-5E31-BDAACEC18BCD}"/>
              </a:ext>
            </a:extLst>
          </p:cNvPr>
          <p:cNvPicPr>
            <a:picLocks noGrp="1" noChangeAspect="1"/>
          </p:cNvPicPr>
          <p:nvPr>
            <p:ph idx="1"/>
          </p:nvPr>
        </p:nvPicPr>
        <p:blipFill>
          <a:blip r:embed="rId2"/>
          <a:stretch>
            <a:fillRect/>
          </a:stretch>
        </p:blipFill>
        <p:spPr>
          <a:xfrm>
            <a:off x="1358899" y="-18288"/>
            <a:ext cx="9128929" cy="6438900"/>
          </a:xfrm>
        </p:spPr>
      </p:pic>
      <p:sp>
        <p:nvSpPr>
          <p:cNvPr id="6" name="Slide Number Placeholder 5">
            <a:extLst>
              <a:ext uri="{FF2B5EF4-FFF2-40B4-BE49-F238E27FC236}">
                <a16:creationId xmlns:a16="http://schemas.microsoft.com/office/drawing/2014/main" id="{84914576-989C-DD61-D73C-FA7F0ED51674}"/>
              </a:ext>
            </a:extLst>
          </p:cNvPr>
          <p:cNvSpPr>
            <a:spLocks noGrp="1"/>
          </p:cNvSpPr>
          <p:nvPr>
            <p:ph type="sldNum" sz="quarter" idx="12"/>
          </p:nvPr>
        </p:nvSpPr>
        <p:spPr/>
        <p:txBody>
          <a:bodyPr/>
          <a:lstStyle/>
          <a:p>
            <a:fld id="{7BE69E03-4804-4553-A1EC-F089884EF50F}" type="slidenum">
              <a:rPr lang="en-US" smtClean="0"/>
              <a:t>41</a:t>
            </a:fld>
            <a:endParaRPr lang="en-US"/>
          </a:p>
        </p:txBody>
      </p:sp>
    </p:spTree>
    <p:extLst>
      <p:ext uri="{BB962C8B-B14F-4D97-AF65-F5344CB8AC3E}">
        <p14:creationId xmlns:p14="http://schemas.microsoft.com/office/powerpoint/2010/main" val="1556620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Rectangle 16">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Rectangle 18">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5519AF22-E824-9503-8514-08EC6C0B5A1E}"/>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42</a:t>
            </a:fld>
            <a:endParaRPr lang="en-US" sz="1200"/>
          </a:p>
        </p:txBody>
      </p:sp>
      <p:sp>
        <p:nvSpPr>
          <p:cNvPr id="4" name="Date Placeholder 3">
            <a:extLst>
              <a:ext uri="{FF2B5EF4-FFF2-40B4-BE49-F238E27FC236}">
                <a16:creationId xmlns:a16="http://schemas.microsoft.com/office/drawing/2014/main" id="{81DF30E1-7EF3-51BA-F46B-CCFC18E1C2E9}"/>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1A1383CB-15EA-4EE8-AA24-9B39618AB567}" type="datetime2">
              <a:rPr lang="en-US" sz="1200" smtClean="0"/>
              <a:pPr>
                <a:spcAft>
                  <a:spcPts val="600"/>
                </a:spcAft>
              </a:pPr>
              <a:t>Wednesday, January 14, 2026</a:t>
            </a:fld>
            <a:endParaRPr lang="en-US" sz="1200"/>
          </a:p>
        </p:txBody>
      </p:sp>
      <p:sp>
        <p:nvSpPr>
          <p:cNvPr id="21" name="Rectangle 20">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8" name="Content Placeholder 7">
            <a:extLst>
              <a:ext uri="{FF2B5EF4-FFF2-40B4-BE49-F238E27FC236}">
                <a16:creationId xmlns:a16="http://schemas.microsoft.com/office/drawing/2014/main" id="{D3AF2378-4BD7-CA3C-B648-E3992995C56E}"/>
              </a:ext>
            </a:extLst>
          </p:cNvPr>
          <p:cNvPicPr>
            <a:picLocks noGrp="1" noChangeAspect="1"/>
          </p:cNvPicPr>
          <p:nvPr>
            <p:ph idx="1"/>
          </p:nvPr>
        </p:nvPicPr>
        <p:blipFill>
          <a:blip r:embed="rId2"/>
          <a:stretch>
            <a:fillRect/>
          </a:stretch>
        </p:blipFill>
        <p:spPr>
          <a:xfrm>
            <a:off x="4776808" y="194860"/>
            <a:ext cx="6984479" cy="5971730"/>
          </a:xfrm>
          <a:prstGeom prst="rect">
            <a:avLst/>
          </a:prstGeom>
        </p:spPr>
      </p:pic>
      <p:sp>
        <p:nvSpPr>
          <p:cNvPr id="5" name="Footer Placeholder 4">
            <a:extLst>
              <a:ext uri="{FF2B5EF4-FFF2-40B4-BE49-F238E27FC236}">
                <a16:creationId xmlns:a16="http://schemas.microsoft.com/office/drawing/2014/main" id="{2DD6C54F-6C9D-D99C-C1BD-3514DC430704}"/>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23" name="Straight Connector 22">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F3C0C"/>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F3C0C"/>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274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9A637B7-49E1-A078-4249-5823E7C016FC}"/>
              </a:ext>
            </a:extLst>
          </p:cNvPr>
          <p:cNvPicPr>
            <a:picLocks noGrp="1" noChangeAspect="1"/>
          </p:cNvPicPr>
          <p:nvPr>
            <p:ph idx="1"/>
          </p:nvPr>
        </p:nvPicPr>
        <p:blipFill>
          <a:blip r:embed="rId2"/>
          <a:stretch>
            <a:fillRect/>
          </a:stretch>
        </p:blipFill>
        <p:spPr>
          <a:xfrm>
            <a:off x="1371600" y="495300"/>
            <a:ext cx="7835900" cy="5537200"/>
          </a:xfrm>
        </p:spPr>
      </p:pic>
      <p:sp>
        <p:nvSpPr>
          <p:cNvPr id="4" name="Date Placeholder 3">
            <a:extLst>
              <a:ext uri="{FF2B5EF4-FFF2-40B4-BE49-F238E27FC236}">
                <a16:creationId xmlns:a16="http://schemas.microsoft.com/office/drawing/2014/main" id="{B73D445E-C047-7FB7-979B-B777CA361F20}"/>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F01516A2-B997-77EB-0076-1B9DC152DAC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5720E45D-5200-7468-FC03-EAE773389082}"/>
              </a:ext>
            </a:extLst>
          </p:cNvPr>
          <p:cNvSpPr>
            <a:spLocks noGrp="1"/>
          </p:cNvSpPr>
          <p:nvPr>
            <p:ph type="sldNum" sz="quarter" idx="12"/>
          </p:nvPr>
        </p:nvSpPr>
        <p:spPr/>
        <p:txBody>
          <a:bodyPr/>
          <a:lstStyle/>
          <a:p>
            <a:fld id="{7BE69E03-4804-4553-A1EC-F089884EF50F}" type="slidenum">
              <a:rPr lang="en-US" smtClean="0"/>
              <a:t>43</a:t>
            </a:fld>
            <a:endParaRPr lang="en-US"/>
          </a:p>
        </p:txBody>
      </p:sp>
    </p:spTree>
    <p:extLst>
      <p:ext uri="{BB962C8B-B14F-4D97-AF65-F5344CB8AC3E}">
        <p14:creationId xmlns:p14="http://schemas.microsoft.com/office/powerpoint/2010/main" val="31572931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Background Gray Rectangle">
            <a:extLst>
              <a:ext uri="{FF2B5EF4-FFF2-40B4-BE49-F238E27FC236}">
                <a16:creationId xmlns:a16="http://schemas.microsoft.com/office/drawing/2014/main" id="{DF77EA1D-CD58-47D1-895E-0E74AE5D1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30A2F27B-AF82-4F47-887C-2B4B9878E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3" name="Rectangle 22">
            <a:extLst>
              <a:ext uri="{FF2B5EF4-FFF2-40B4-BE49-F238E27FC236}">
                <a16:creationId xmlns:a16="http://schemas.microsoft.com/office/drawing/2014/main" id="{C73DAA41-976B-4A7A-91F5-FD48E4345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0FC170-E5BE-F129-75FD-7ED131167CFD}"/>
              </a:ext>
            </a:extLst>
          </p:cNvPr>
          <p:cNvSpPr>
            <a:spLocks noGrp="1"/>
          </p:cNvSpPr>
          <p:nvPr>
            <p:ph type="title"/>
          </p:nvPr>
        </p:nvSpPr>
        <p:spPr>
          <a:xfrm>
            <a:off x="760661" y="-738320"/>
            <a:ext cx="10070953" cy="2286068"/>
          </a:xfrm>
        </p:spPr>
        <p:txBody>
          <a:bodyPr anchor="b">
            <a:normAutofit/>
          </a:bodyPr>
          <a:lstStyle/>
          <a:p>
            <a:r>
              <a:rPr lang="en-US" sz="4800"/>
              <a:t>String Matching Time Complexity</a:t>
            </a:r>
          </a:p>
        </p:txBody>
      </p:sp>
      <p:sp>
        <p:nvSpPr>
          <p:cNvPr id="6" name="Slide Number Placeholder 5">
            <a:extLst>
              <a:ext uri="{FF2B5EF4-FFF2-40B4-BE49-F238E27FC236}">
                <a16:creationId xmlns:a16="http://schemas.microsoft.com/office/drawing/2014/main" id="{81BC82F4-0577-879A-6FD5-186F8872D044}"/>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44</a:t>
            </a:fld>
            <a:endParaRPr lang="en-US"/>
          </a:p>
        </p:txBody>
      </p:sp>
      <p:sp>
        <p:nvSpPr>
          <p:cNvPr id="3" name="Content Placeholder 2">
            <a:extLst>
              <a:ext uri="{FF2B5EF4-FFF2-40B4-BE49-F238E27FC236}">
                <a16:creationId xmlns:a16="http://schemas.microsoft.com/office/drawing/2014/main" id="{D0A6A700-236F-35AC-A8A4-CC08E3340AB1}"/>
              </a:ext>
            </a:extLst>
          </p:cNvPr>
          <p:cNvSpPr>
            <a:spLocks noGrp="1"/>
          </p:cNvSpPr>
          <p:nvPr>
            <p:ph idx="1"/>
          </p:nvPr>
        </p:nvSpPr>
        <p:spPr>
          <a:xfrm>
            <a:off x="1546107" y="1472446"/>
            <a:ext cx="9777881" cy="4344213"/>
          </a:xfrm>
        </p:spPr>
        <p:txBody>
          <a:bodyPr vert="horz" lIns="91440" tIns="45720" rIns="91440" bIns="45720" rtlCol="0" anchor="t">
            <a:noAutofit/>
          </a:bodyPr>
          <a:lstStyle/>
          <a:p>
            <a:pPr algn="just">
              <a:lnSpc>
                <a:spcPct val="90000"/>
              </a:lnSpc>
            </a:pPr>
            <a:r>
              <a:rPr lang="en-US" sz="1600" dirty="0">
                <a:solidFill>
                  <a:schemeClr val="tx1"/>
                </a:solidFill>
                <a:latin typeface="Times New Roman"/>
                <a:ea typeface="+mn-lt"/>
                <a:cs typeface="+mn-lt"/>
              </a:rPr>
              <a:t>In the worst case scenario, the algorithm may have to make all m comparisons before shifting the pattern.</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This worst case can happen for each of the </a:t>
            </a:r>
            <a:r>
              <a:rPr lang="en-US" sz="1600" b="1" dirty="0">
                <a:solidFill>
                  <a:schemeClr val="tx1"/>
                </a:solidFill>
                <a:highlight>
                  <a:srgbClr val="FFFF00"/>
                </a:highlight>
                <a:latin typeface="Times New Roman"/>
                <a:ea typeface="+mn-lt"/>
                <a:cs typeface="+mn-lt"/>
              </a:rPr>
              <a:t>n - m + 1 </a:t>
            </a:r>
            <a:r>
              <a:rPr lang="en-US" sz="1600" dirty="0">
                <a:solidFill>
                  <a:schemeClr val="tx1"/>
                </a:solidFill>
                <a:latin typeface="Times New Roman"/>
                <a:ea typeface="+mn-lt"/>
                <a:cs typeface="+mn-lt"/>
              </a:rPr>
              <a:t>tries, where n is the length of the text and m is the length of the pattern.</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So, in the worst case, the time complexity of the algorithm is </a:t>
            </a:r>
            <a:r>
              <a:rPr lang="en-US" sz="1600" b="1" dirty="0">
                <a:solidFill>
                  <a:schemeClr val="tx1"/>
                </a:solidFill>
                <a:highlight>
                  <a:srgbClr val="FFFF00"/>
                </a:highlight>
                <a:latin typeface="Times New Roman"/>
                <a:ea typeface="+mn-lt"/>
                <a:cs typeface="+mn-lt"/>
              </a:rPr>
              <a:t>O(n * m)</a:t>
            </a:r>
            <a:r>
              <a:rPr lang="en-US" sz="1600" dirty="0">
                <a:solidFill>
                  <a:schemeClr val="tx1"/>
                </a:solidFill>
                <a:latin typeface="Times New Roman"/>
                <a:ea typeface="+mn-lt"/>
                <a:cs typeface="+mn-lt"/>
              </a:rPr>
              <a:t>, which means it grows proportionally to the product of the lengths of the text and the pattern.</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However, for a typical word search in a natural language text, most shifts happen after very few comparisons.</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This means that in practice, the average-case efficiency of the algorithm is considerably better than the worst-case efficiency.</a:t>
            </a:r>
            <a:endParaRPr lang="en-US" sz="1600" dirty="0">
              <a:solidFill>
                <a:schemeClr val="tx1"/>
              </a:solidFill>
              <a:latin typeface="Times New Roman"/>
              <a:cs typeface="Times New Roman"/>
            </a:endParaRPr>
          </a:p>
          <a:p>
            <a:pPr algn="just">
              <a:lnSpc>
                <a:spcPct val="90000"/>
              </a:lnSpc>
            </a:pPr>
            <a:r>
              <a:rPr lang="en-US" sz="1600" dirty="0">
                <a:solidFill>
                  <a:schemeClr val="tx1"/>
                </a:solidFill>
                <a:latin typeface="Times New Roman"/>
                <a:ea typeface="+mn-lt"/>
                <a:cs typeface="+mn-lt"/>
              </a:rPr>
              <a:t>In fact, for searching in random texts, it has been shown that the average-case time complexity is linear, meaning it grows linearly with the sum of the lengths of the text and the pattern. So it is </a:t>
            </a:r>
            <a:r>
              <a:rPr lang="en-US" sz="1600" b="1" dirty="0">
                <a:solidFill>
                  <a:schemeClr val="tx1"/>
                </a:solidFill>
                <a:highlight>
                  <a:srgbClr val="FFFF00"/>
                </a:highlight>
                <a:latin typeface="Times New Roman"/>
                <a:ea typeface="+mn-lt"/>
                <a:cs typeface="+mn-lt"/>
              </a:rPr>
              <a:t>O(n + m).</a:t>
            </a:r>
            <a:endParaRPr lang="en-US" sz="1600" b="1">
              <a:solidFill>
                <a:schemeClr val="tx1"/>
              </a:solidFill>
              <a:highlight>
                <a:srgbClr val="FFFF00"/>
              </a:highlight>
              <a:latin typeface="Times New Roman"/>
              <a:cs typeface="Times New Roman"/>
            </a:endParaRPr>
          </a:p>
          <a:p>
            <a:pPr algn="just">
              <a:lnSpc>
                <a:spcPct val="90000"/>
              </a:lnSpc>
            </a:pPr>
            <a:r>
              <a:rPr lang="en-US" sz="1600" dirty="0">
                <a:solidFill>
                  <a:schemeClr val="tx1"/>
                </a:solidFill>
                <a:latin typeface="Times New Roman"/>
                <a:ea typeface="+mn-lt"/>
                <a:cs typeface="+mn-lt"/>
              </a:rPr>
              <a:t>This linear time complexity,</a:t>
            </a:r>
            <a:r>
              <a:rPr lang="en-US" sz="1600" b="1" dirty="0">
                <a:solidFill>
                  <a:schemeClr val="tx1"/>
                </a:solidFill>
                <a:latin typeface="Times New Roman"/>
                <a:ea typeface="+mn-lt"/>
                <a:cs typeface="+mn-lt"/>
              </a:rPr>
              <a:t> </a:t>
            </a:r>
            <a:r>
              <a:rPr lang="en-US" sz="1600" b="1" dirty="0">
                <a:solidFill>
                  <a:schemeClr val="tx1"/>
                </a:solidFill>
                <a:highlight>
                  <a:srgbClr val="FFFF00"/>
                </a:highlight>
                <a:latin typeface="Times New Roman"/>
                <a:ea typeface="+mn-lt"/>
                <a:cs typeface="+mn-lt"/>
              </a:rPr>
              <a:t>O(n + m)</a:t>
            </a:r>
            <a:r>
              <a:rPr lang="en-US" sz="1600" dirty="0">
                <a:solidFill>
                  <a:schemeClr val="tx1"/>
                </a:solidFill>
                <a:highlight>
                  <a:srgbClr val="FFFF00"/>
                </a:highlight>
                <a:latin typeface="Times New Roman"/>
                <a:ea typeface="+mn-lt"/>
                <a:cs typeface="+mn-lt"/>
              </a:rPr>
              <a:t>, </a:t>
            </a:r>
            <a:r>
              <a:rPr lang="en-US" sz="1600" dirty="0">
                <a:solidFill>
                  <a:schemeClr val="tx1"/>
                </a:solidFill>
                <a:latin typeface="Times New Roman"/>
                <a:ea typeface="+mn-lt"/>
                <a:cs typeface="+mn-lt"/>
              </a:rPr>
              <a:t>is much more efficient than the worst-case time complexity, </a:t>
            </a:r>
            <a:r>
              <a:rPr lang="en-US" sz="1600" b="1" dirty="0">
                <a:solidFill>
                  <a:schemeClr val="tx1"/>
                </a:solidFill>
                <a:highlight>
                  <a:srgbClr val="FFFF00"/>
                </a:highlight>
                <a:latin typeface="Times New Roman"/>
                <a:ea typeface="+mn-lt"/>
                <a:cs typeface="+mn-lt"/>
              </a:rPr>
              <a:t>O(n * m).</a:t>
            </a:r>
            <a:endParaRPr lang="en-US" sz="1600" b="1">
              <a:solidFill>
                <a:schemeClr val="tx1"/>
              </a:solidFill>
              <a:highlight>
                <a:srgbClr val="FFFF00"/>
              </a:highlight>
              <a:latin typeface="Times New Roman"/>
              <a:cs typeface="Times New Roman"/>
            </a:endParaRPr>
          </a:p>
          <a:p>
            <a:pPr algn="just">
              <a:lnSpc>
                <a:spcPct val="90000"/>
              </a:lnSpc>
            </a:pPr>
            <a:r>
              <a:rPr lang="en-US" sz="1600" dirty="0">
                <a:solidFill>
                  <a:schemeClr val="tx1"/>
                </a:solidFill>
                <a:latin typeface="Times New Roman"/>
                <a:ea typeface="+mn-lt"/>
                <a:cs typeface="+mn-lt"/>
              </a:rPr>
              <a:t>It's important to note that these time complexities are specific to the algorithm being used. Different string-matching algorithms may have different time complexities and performance characteristics.</a:t>
            </a:r>
            <a:endParaRPr lang="en-US" sz="1600" dirty="0">
              <a:solidFill>
                <a:schemeClr val="tx1"/>
              </a:solidFill>
              <a:latin typeface="Times New Roman"/>
              <a:cs typeface="Times New Roman"/>
            </a:endParaRPr>
          </a:p>
          <a:p>
            <a:pPr algn="just">
              <a:lnSpc>
                <a:spcPct val="90000"/>
              </a:lnSpc>
            </a:pPr>
            <a:endParaRPr lang="en-US" sz="1600" dirty="0">
              <a:solidFill>
                <a:schemeClr val="tx1"/>
              </a:solidFill>
              <a:latin typeface="Times New Roman"/>
              <a:cs typeface="Times New Roman"/>
            </a:endParaRPr>
          </a:p>
        </p:txBody>
      </p:sp>
      <p:sp>
        <p:nvSpPr>
          <p:cNvPr id="4" name="Date Placeholder 3">
            <a:extLst>
              <a:ext uri="{FF2B5EF4-FFF2-40B4-BE49-F238E27FC236}">
                <a16:creationId xmlns:a16="http://schemas.microsoft.com/office/drawing/2014/main" id="{8FEF2B22-53AE-A880-D021-91326BB34F85}"/>
              </a:ext>
            </a:extLst>
          </p:cNvPr>
          <p:cNvSpPr>
            <a:spLocks noGrp="1"/>
          </p:cNvSpPr>
          <p:nvPr>
            <p:ph type="dt" sz="half" idx="10"/>
          </p:nvPr>
        </p:nvSpPr>
        <p:spPr>
          <a:xfrm>
            <a:off x="422899" y="6217920"/>
            <a:ext cx="2743200" cy="640080"/>
          </a:xfrm>
        </p:spPr>
        <p:txBody>
          <a:bodyPr anchor="ctr">
            <a:normAutofit/>
          </a:bodyPr>
          <a:lstStyle/>
          <a:p>
            <a:pPr>
              <a:spcAft>
                <a:spcPts val="600"/>
              </a:spcAft>
            </a:pPr>
            <a:fld id="{348B37B0-A25E-47D5-9AFF-D41B60869719}" type="datetime2">
              <a:rPr lang="en-US" smtClean="0"/>
              <a:t>Wednesday, January 14, 2026</a:t>
            </a:fld>
            <a:endParaRPr lang="en-US"/>
          </a:p>
        </p:txBody>
      </p:sp>
      <p:sp>
        <p:nvSpPr>
          <p:cNvPr id="5" name="Footer Placeholder 4">
            <a:extLst>
              <a:ext uri="{FF2B5EF4-FFF2-40B4-BE49-F238E27FC236}">
                <a16:creationId xmlns:a16="http://schemas.microsoft.com/office/drawing/2014/main" id="{65C2A17D-9B17-41CC-AB45-933968EC1723}"/>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24" name="Straight Connector 23">
            <a:extLst>
              <a:ext uri="{FF2B5EF4-FFF2-40B4-BE49-F238E27FC236}">
                <a16:creationId xmlns:a16="http://schemas.microsoft.com/office/drawing/2014/main" id="{5E5F5C0F-87CD-40D8-AD4B-452395E32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4F40788-FC62-4F28-9E98-3973123174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361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5CD6C-91E2-ED18-4FB2-283D67BDC629}"/>
              </a:ext>
            </a:extLst>
          </p:cNvPr>
          <p:cNvSpPr>
            <a:spLocks noGrp="1"/>
          </p:cNvSpPr>
          <p:nvPr>
            <p:ph type="title"/>
          </p:nvPr>
        </p:nvSpPr>
        <p:spPr>
          <a:xfrm>
            <a:off x="422145" y="940910"/>
            <a:ext cx="4471588" cy="4976179"/>
          </a:xfrm>
        </p:spPr>
        <p:txBody>
          <a:bodyPr>
            <a:normAutofit/>
          </a:bodyPr>
          <a:lstStyle/>
          <a:p>
            <a:r>
              <a:rPr lang="en-US">
                <a:latin typeface="Times New Roman"/>
                <a:cs typeface="Times New Roman"/>
              </a:rPr>
              <a:t>Exhaustive search</a:t>
            </a:r>
            <a:endParaRPr lang="en-US" dirty="0"/>
          </a:p>
        </p:txBody>
      </p:sp>
      <p:sp>
        <p:nvSpPr>
          <p:cNvPr id="6" name="Slide Number Placeholder 5">
            <a:extLst>
              <a:ext uri="{FF2B5EF4-FFF2-40B4-BE49-F238E27FC236}">
                <a16:creationId xmlns:a16="http://schemas.microsoft.com/office/drawing/2014/main" id="{A3CA322C-7E14-4CCE-5A9A-D6407C41586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45</a:t>
            </a:fld>
            <a:endParaRPr lang="en-US"/>
          </a:p>
        </p:txBody>
      </p:sp>
      <p:sp>
        <p:nvSpPr>
          <p:cNvPr id="4" name="Date Placeholder 3">
            <a:extLst>
              <a:ext uri="{FF2B5EF4-FFF2-40B4-BE49-F238E27FC236}">
                <a16:creationId xmlns:a16="http://schemas.microsoft.com/office/drawing/2014/main" id="{90F2D01E-9CFC-1B86-F54B-8142CC448D47}"/>
              </a:ext>
            </a:extLst>
          </p:cNvPr>
          <p:cNvSpPr>
            <a:spLocks noGrp="1"/>
          </p:cNvSpPr>
          <p:nvPr>
            <p:ph type="dt" sz="half" idx="10"/>
          </p:nvPr>
        </p:nvSpPr>
        <p:spPr>
          <a:xfrm>
            <a:off x="422899" y="6217920"/>
            <a:ext cx="2743200" cy="640080"/>
          </a:xfrm>
        </p:spPr>
        <p:txBody>
          <a:bodyPr>
            <a:normAutofit/>
          </a:bodyPr>
          <a:lstStyle/>
          <a:p>
            <a:pPr>
              <a:spcAft>
                <a:spcPts val="600"/>
              </a:spcAft>
            </a:pPr>
            <a:fld id="{F7661064-562B-4F14-A659-F0122BA4F728}" type="datetime2">
              <a:rPr lang="en-US" smtClean="0"/>
              <a:t>Wednesday, January 14, 2026</a:t>
            </a:fld>
            <a:endParaRPr lang="en-US"/>
          </a:p>
        </p:txBody>
      </p:sp>
      <p:sp>
        <p:nvSpPr>
          <p:cNvPr id="5" name="Footer Placeholder 4">
            <a:extLst>
              <a:ext uri="{FF2B5EF4-FFF2-40B4-BE49-F238E27FC236}">
                <a16:creationId xmlns:a16="http://schemas.microsoft.com/office/drawing/2014/main" id="{2F311E92-9BB3-B0C3-3BA4-54091E410D81}"/>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A7F7B242-4C24-CFCA-DED9-8AE7E033AC0D}"/>
              </a:ext>
            </a:extLst>
          </p:cNvPr>
          <p:cNvGraphicFramePr>
            <a:graphicFrameLocks noGrp="1"/>
          </p:cNvGraphicFramePr>
          <p:nvPr>
            <p:ph idx="1"/>
            <p:extLst>
              <p:ext uri="{D42A27DB-BD31-4B8C-83A1-F6EECF244321}">
                <p14:modId xmlns:p14="http://schemas.microsoft.com/office/powerpoint/2010/main" val="1047441481"/>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6187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5CD6C-91E2-ED18-4FB2-283D67BDC629}"/>
              </a:ext>
            </a:extLst>
          </p:cNvPr>
          <p:cNvSpPr>
            <a:spLocks noGrp="1"/>
          </p:cNvSpPr>
          <p:nvPr>
            <p:ph type="title"/>
          </p:nvPr>
        </p:nvSpPr>
        <p:spPr>
          <a:xfrm>
            <a:off x="422145" y="940910"/>
            <a:ext cx="4471588" cy="4976179"/>
          </a:xfrm>
        </p:spPr>
        <p:txBody>
          <a:bodyPr>
            <a:normAutofit/>
          </a:bodyPr>
          <a:lstStyle/>
          <a:p>
            <a:r>
              <a:rPr lang="en-US">
                <a:latin typeface="Times New Roman"/>
                <a:cs typeface="Times New Roman"/>
              </a:rPr>
              <a:t>Exhaustive search</a:t>
            </a:r>
            <a:endParaRPr lang="en-US" dirty="0"/>
          </a:p>
        </p:txBody>
      </p:sp>
      <p:sp>
        <p:nvSpPr>
          <p:cNvPr id="6" name="Slide Number Placeholder 5">
            <a:extLst>
              <a:ext uri="{FF2B5EF4-FFF2-40B4-BE49-F238E27FC236}">
                <a16:creationId xmlns:a16="http://schemas.microsoft.com/office/drawing/2014/main" id="{A3CA322C-7E14-4CCE-5A9A-D6407C41586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46</a:t>
            </a:fld>
            <a:endParaRPr lang="en-US"/>
          </a:p>
        </p:txBody>
      </p:sp>
      <p:sp>
        <p:nvSpPr>
          <p:cNvPr id="4" name="Date Placeholder 3">
            <a:extLst>
              <a:ext uri="{FF2B5EF4-FFF2-40B4-BE49-F238E27FC236}">
                <a16:creationId xmlns:a16="http://schemas.microsoft.com/office/drawing/2014/main" id="{90F2D01E-9CFC-1B86-F54B-8142CC448D47}"/>
              </a:ext>
            </a:extLst>
          </p:cNvPr>
          <p:cNvSpPr>
            <a:spLocks noGrp="1"/>
          </p:cNvSpPr>
          <p:nvPr>
            <p:ph type="dt" sz="half" idx="10"/>
          </p:nvPr>
        </p:nvSpPr>
        <p:spPr>
          <a:xfrm>
            <a:off x="422899" y="6217920"/>
            <a:ext cx="2743200" cy="640080"/>
          </a:xfrm>
        </p:spPr>
        <p:txBody>
          <a:bodyPr>
            <a:normAutofit/>
          </a:bodyPr>
          <a:lstStyle/>
          <a:p>
            <a:pPr>
              <a:spcAft>
                <a:spcPts val="600"/>
              </a:spcAft>
            </a:pPr>
            <a:fld id="{F7661064-562B-4F14-A659-F0122BA4F728}" type="datetime2">
              <a:rPr lang="en-US" smtClean="0"/>
              <a:t>Wednesday, January 14, 2026</a:t>
            </a:fld>
            <a:endParaRPr lang="en-US"/>
          </a:p>
        </p:txBody>
      </p:sp>
      <p:sp>
        <p:nvSpPr>
          <p:cNvPr id="5" name="Footer Placeholder 4">
            <a:extLst>
              <a:ext uri="{FF2B5EF4-FFF2-40B4-BE49-F238E27FC236}">
                <a16:creationId xmlns:a16="http://schemas.microsoft.com/office/drawing/2014/main" id="{2F311E92-9BB3-B0C3-3BA4-54091E410D81}"/>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A7F7B242-4C24-CFCA-DED9-8AE7E033AC0D}"/>
              </a:ext>
            </a:extLst>
          </p:cNvPr>
          <p:cNvGraphicFramePr>
            <a:graphicFrameLocks noGrp="1"/>
          </p:cNvGraphicFramePr>
          <p:nvPr>
            <p:ph idx="1"/>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726781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5CD6C-91E2-ED18-4FB2-283D67BDC629}"/>
              </a:ext>
            </a:extLst>
          </p:cNvPr>
          <p:cNvSpPr>
            <a:spLocks noGrp="1"/>
          </p:cNvSpPr>
          <p:nvPr>
            <p:ph type="title"/>
          </p:nvPr>
        </p:nvSpPr>
        <p:spPr>
          <a:xfrm>
            <a:off x="422145" y="940910"/>
            <a:ext cx="4471588" cy="4976179"/>
          </a:xfrm>
        </p:spPr>
        <p:txBody>
          <a:bodyPr>
            <a:normAutofit/>
          </a:bodyPr>
          <a:lstStyle/>
          <a:p>
            <a:r>
              <a:rPr lang="en-US">
                <a:latin typeface="Times New Roman"/>
                <a:cs typeface="Times New Roman"/>
              </a:rPr>
              <a:t>Exhaustive search</a:t>
            </a:r>
            <a:endParaRPr lang="en-US" dirty="0"/>
          </a:p>
        </p:txBody>
      </p:sp>
      <p:sp>
        <p:nvSpPr>
          <p:cNvPr id="6" name="Slide Number Placeholder 5">
            <a:extLst>
              <a:ext uri="{FF2B5EF4-FFF2-40B4-BE49-F238E27FC236}">
                <a16:creationId xmlns:a16="http://schemas.microsoft.com/office/drawing/2014/main" id="{A3CA322C-7E14-4CCE-5A9A-D6407C41586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47</a:t>
            </a:fld>
            <a:endParaRPr lang="en-US"/>
          </a:p>
        </p:txBody>
      </p:sp>
      <p:sp>
        <p:nvSpPr>
          <p:cNvPr id="4" name="Date Placeholder 3">
            <a:extLst>
              <a:ext uri="{FF2B5EF4-FFF2-40B4-BE49-F238E27FC236}">
                <a16:creationId xmlns:a16="http://schemas.microsoft.com/office/drawing/2014/main" id="{90F2D01E-9CFC-1B86-F54B-8142CC448D47}"/>
              </a:ext>
            </a:extLst>
          </p:cNvPr>
          <p:cNvSpPr>
            <a:spLocks noGrp="1"/>
          </p:cNvSpPr>
          <p:nvPr>
            <p:ph type="dt" sz="half" idx="10"/>
          </p:nvPr>
        </p:nvSpPr>
        <p:spPr>
          <a:xfrm>
            <a:off x="422899" y="6217920"/>
            <a:ext cx="2743200" cy="640080"/>
          </a:xfrm>
        </p:spPr>
        <p:txBody>
          <a:bodyPr>
            <a:normAutofit/>
          </a:bodyPr>
          <a:lstStyle/>
          <a:p>
            <a:pPr>
              <a:spcAft>
                <a:spcPts val="600"/>
              </a:spcAft>
            </a:pPr>
            <a:fld id="{F7661064-562B-4F14-A659-F0122BA4F728}" type="datetime2">
              <a:rPr lang="en-US" smtClean="0"/>
              <a:t>Wednesday, January 14, 2026</a:t>
            </a:fld>
            <a:endParaRPr lang="en-US"/>
          </a:p>
        </p:txBody>
      </p:sp>
      <p:sp>
        <p:nvSpPr>
          <p:cNvPr id="5" name="Footer Placeholder 4">
            <a:extLst>
              <a:ext uri="{FF2B5EF4-FFF2-40B4-BE49-F238E27FC236}">
                <a16:creationId xmlns:a16="http://schemas.microsoft.com/office/drawing/2014/main" id="{2F311E92-9BB3-B0C3-3BA4-54091E410D81}"/>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8"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A7F7B242-4C24-CFCA-DED9-8AE7E033AC0D}"/>
              </a:ext>
            </a:extLst>
          </p:cNvPr>
          <p:cNvGraphicFramePr>
            <a:graphicFrameLocks noGrp="1"/>
          </p:cNvGraphicFramePr>
          <p:nvPr>
            <p:ph idx="1"/>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48285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6988AC">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3" name="Rectangle 32">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B618AF-59A3-F585-D164-7D324350E197}"/>
              </a:ext>
            </a:extLst>
          </p:cNvPr>
          <p:cNvSpPr>
            <a:spLocks noGrp="1"/>
          </p:cNvSpPr>
          <p:nvPr>
            <p:ph type="title"/>
          </p:nvPr>
        </p:nvSpPr>
        <p:spPr>
          <a:xfrm>
            <a:off x="5132026" y="540167"/>
            <a:ext cx="5828376" cy="2135867"/>
          </a:xfrm>
        </p:spPr>
        <p:txBody>
          <a:bodyPr anchor="b">
            <a:normAutofit/>
          </a:bodyPr>
          <a:lstStyle/>
          <a:p>
            <a:r>
              <a:rPr lang="en-US" sz="4800" dirty="0">
                <a:solidFill>
                  <a:schemeClr val="tx1"/>
                </a:solidFill>
              </a:rPr>
              <a:t>Traveling Salesman Problem (TSP)</a:t>
            </a:r>
          </a:p>
        </p:txBody>
      </p:sp>
      <p:sp>
        <p:nvSpPr>
          <p:cNvPr id="6" name="Slide Number Placeholder 5">
            <a:extLst>
              <a:ext uri="{FF2B5EF4-FFF2-40B4-BE49-F238E27FC236}">
                <a16:creationId xmlns:a16="http://schemas.microsoft.com/office/drawing/2014/main" id="{248281BE-5C78-852B-9CD5-A59E4C1AB639}"/>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48</a:t>
            </a:fld>
            <a:endParaRPr lang="en-US"/>
          </a:p>
        </p:txBody>
      </p:sp>
      <p:pic>
        <p:nvPicPr>
          <p:cNvPr id="8" name="Picture 7" descr="Women in matching clothes">
            <a:extLst>
              <a:ext uri="{FF2B5EF4-FFF2-40B4-BE49-F238E27FC236}">
                <a16:creationId xmlns:a16="http://schemas.microsoft.com/office/drawing/2014/main" id="{63E567B5-D2E6-E147-550B-437440378DB3}"/>
              </a:ext>
            </a:extLst>
          </p:cNvPr>
          <p:cNvPicPr>
            <a:picLocks noChangeAspect="1"/>
          </p:cNvPicPr>
          <p:nvPr/>
        </p:nvPicPr>
        <p:blipFill rotWithShape="1">
          <a:blip r:embed="rId2"/>
          <a:srcRect l="26709" r="20386" b="2"/>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71A3A2F1-F208-2F88-32AE-30A6D4B9B15E}"/>
              </a:ext>
            </a:extLst>
          </p:cNvPr>
          <p:cNvSpPr>
            <a:spLocks noGrp="1"/>
          </p:cNvSpPr>
          <p:nvPr>
            <p:ph idx="1"/>
          </p:nvPr>
        </p:nvSpPr>
        <p:spPr>
          <a:xfrm>
            <a:off x="5132026" y="2880452"/>
            <a:ext cx="5828376" cy="3095445"/>
          </a:xfrm>
        </p:spPr>
        <p:txBody>
          <a:bodyPr vert="horz" lIns="91440" tIns="45720" rIns="91440" bIns="45720" rtlCol="0" anchor="t">
            <a:normAutofit/>
          </a:bodyPr>
          <a:lstStyle/>
          <a:p>
            <a:pPr algn="just">
              <a:buFont typeface="Wingdings 2"/>
              <a:buChar char=""/>
            </a:pPr>
            <a:r>
              <a:rPr lang="en-US" sz="1800" dirty="0">
                <a:solidFill>
                  <a:schemeClr val="tx1"/>
                </a:solidFill>
                <a:latin typeface="Times New Roman"/>
                <a:ea typeface="+mn-lt"/>
                <a:cs typeface="+mn-lt"/>
              </a:rPr>
              <a:t>The TSP involves finding the shortest possible route that a salesman can take to visit a set of cities and return to the starting city, while visiting each city exactly once.</a:t>
            </a:r>
            <a:endParaRPr lang="en-US" sz="1800" dirty="0">
              <a:solidFill>
                <a:schemeClr val="tx1"/>
              </a:solidFill>
              <a:latin typeface="Times New Roman"/>
              <a:cs typeface="Times New Roman"/>
            </a:endParaRPr>
          </a:p>
          <a:p>
            <a:pPr algn="just">
              <a:buFont typeface="Wingdings 2"/>
              <a:buChar char=""/>
            </a:pPr>
            <a:r>
              <a:rPr lang="en-US" sz="1800" dirty="0">
                <a:solidFill>
                  <a:schemeClr val="tx1"/>
                </a:solidFill>
                <a:latin typeface="Times New Roman"/>
                <a:ea typeface="+mn-lt"/>
                <a:cs typeface="+mn-lt"/>
              </a:rPr>
              <a:t>The cities and their connections are represented as a weighted graph, where the weights along the edges represent the distances or costs between the cities. The goal is to find the route with the minimum total weight.</a:t>
            </a:r>
            <a:endParaRPr lang="en-US" sz="1800" dirty="0">
              <a:solidFill>
                <a:schemeClr val="tx1"/>
              </a:solidFill>
              <a:latin typeface="Times New Roman"/>
              <a:cs typeface="Times New Roman"/>
            </a:endParaRPr>
          </a:p>
          <a:p>
            <a:pPr marL="0" indent="0" algn="just">
              <a:buNone/>
            </a:pPr>
            <a:endParaRPr lang="en-US" sz="1800" dirty="0">
              <a:solidFill>
                <a:schemeClr val="tx1"/>
              </a:solidFill>
              <a:latin typeface="Times New Roman"/>
              <a:cs typeface="Times New Roman"/>
            </a:endParaRPr>
          </a:p>
        </p:txBody>
      </p:sp>
      <p:sp>
        <p:nvSpPr>
          <p:cNvPr id="4" name="Date Placeholder 3">
            <a:extLst>
              <a:ext uri="{FF2B5EF4-FFF2-40B4-BE49-F238E27FC236}">
                <a16:creationId xmlns:a16="http://schemas.microsoft.com/office/drawing/2014/main" id="{F646CDEE-D0C5-2E55-A23A-DEAD4918E4EC}"/>
              </a:ext>
            </a:extLst>
          </p:cNvPr>
          <p:cNvSpPr>
            <a:spLocks noGrp="1"/>
          </p:cNvSpPr>
          <p:nvPr>
            <p:ph type="dt" sz="half" idx="10"/>
          </p:nvPr>
        </p:nvSpPr>
        <p:spPr>
          <a:xfrm>
            <a:off x="422899" y="6217920"/>
            <a:ext cx="2743200" cy="640080"/>
          </a:xfrm>
        </p:spPr>
        <p:txBody>
          <a:bodyPr>
            <a:normAutofit/>
          </a:bodyPr>
          <a:lstStyle/>
          <a:p>
            <a:pPr>
              <a:spcAft>
                <a:spcPts val="600"/>
              </a:spcAft>
            </a:pPr>
            <a:fld id="{CA839FA2-805E-4E18-88E9-4D6274F17825}" type="datetime2">
              <a:rPr lang="en-US" smtClean="0"/>
              <a:t>Wednesday, January 14, 2026</a:t>
            </a:fld>
            <a:endParaRPr lang="en-US"/>
          </a:p>
        </p:txBody>
      </p:sp>
      <p:sp>
        <p:nvSpPr>
          <p:cNvPr id="5" name="Footer Placeholder 4">
            <a:extLst>
              <a:ext uri="{FF2B5EF4-FFF2-40B4-BE49-F238E27FC236}">
                <a16:creationId xmlns:a16="http://schemas.microsoft.com/office/drawing/2014/main" id="{A21FEF04-01E7-CE06-C41D-065A64A7B5A6}"/>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5" name="Straight Connector 34">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6988AC"/>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6988AC"/>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4775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Rectangle 17">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D77B41-81AE-DADA-1B9C-D35D7B6FBA09}"/>
              </a:ext>
            </a:extLst>
          </p:cNvPr>
          <p:cNvSpPr>
            <a:spLocks noGrp="1"/>
          </p:cNvSpPr>
          <p:nvPr>
            <p:ph type="title"/>
          </p:nvPr>
        </p:nvSpPr>
        <p:spPr>
          <a:xfrm>
            <a:off x="1653823" y="2603428"/>
            <a:ext cx="3079214" cy="1268360"/>
          </a:xfrm>
        </p:spPr>
        <p:txBody>
          <a:bodyPr anchor="b">
            <a:normAutofit fontScale="90000"/>
          </a:bodyPr>
          <a:lstStyle/>
          <a:p>
            <a:r>
              <a:rPr lang="en-US" sz="4800" dirty="0">
                <a:solidFill>
                  <a:schemeClr val="tx1"/>
                </a:solidFill>
              </a:rPr>
              <a:t>TSP PROBLEM</a:t>
            </a:r>
          </a:p>
        </p:txBody>
      </p:sp>
      <p:sp>
        <p:nvSpPr>
          <p:cNvPr id="6" name="Slide Number Placeholder 5">
            <a:extLst>
              <a:ext uri="{FF2B5EF4-FFF2-40B4-BE49-F238E27FC236}">
                <a16:creationId xmlns:a16="http://schemas.microsoft.com/office/drawing/2014/main" id="{EA542041-74D8-33F6-54B6-BA9028C4135B}"/>
              </a:ext>
            </a:extLst>
          </p:cNvPr>
          <p:cNvSpPr>
            <a:spLocks noGrp="1"/>
          </p:cNvSpPr>
          <p:nvPr>
            <p:ph type="sldNum" sz="quarter" idx="12"/>
          </p:nvPr>
        </p:nvSpPr>
        <p:spPr>
          <a:xfrm>
            <a:off x="11503152" y="-18288"/>
            <a:ext cx="685800" cy="685800"/>
          </a:xfrm>
        </p:spPr>
        <p:txBody>
          <a:bodyPr>
            <a:normAutofit/>
          </a:bodyPr>
          <a:lstStyle/>
          <a:p>
            <a:pPr>
              <a:spcAft>
                <a:spcPts val="600"/>
              </a:spcAft>
            </a:pPr>
            <a:fld id="{7BE69E03-4804-4553-A1EC-F089884EF50F}" type="slidenum">
              <a:rPr lang="en-US" smtClean="0"/>
              <a:pPr>
                <a:spcAft>
                  <a:spcPts val="600"/>
                </a:spcAft>
              </a:pPr>
              <a:t>49</a:t>
            </a:fld>
            <a:endParaRPr lang="en-US"/>
          </a:p>
        </p:txBody>
      </p:sp>
      <p:sp>
        <p:nvSpPr>
          <p:cNvPr id="4" name="Date Placeholder 3">
            <a:extLst>
              <a:ext uri="{FF2B5EF4-FFF2-40B4-BE49-F238E27FC236}">
                <a16:creationId xmlns:a16="http://schemas.microsoft.com/office/drawing/2014/main" id="{562126E9-4243-F6F4-95CD-16353ADD7ECB}"/>
              </a:ext>
            </a:extLst>
          </p:cNvPr>
          <p:cNvSpPr>
            <a:spLocks noGrp="1"/>
          </p:cNvSpPr>
          <p:nvPr>
            <p:ph type="dt" sz="half" idx="10"/>
          </p:nvPr>
        </p:nvSpPr>
        <p:spPr>
          <a:xfrm>
            <a:off x="422898" y="6217920"/>
            <a:ext cx="2743200" cy="640080"/>
          </a:xfrm>
        </p:spPr>
        <p:txBody>
          <a:bodyPr>
            <a:normAutofit/>
          </a:bodyPr>
          <a:lstStyle/>
          <a:p>
            <a:pPr>
              <a:spcAft>
                <a:spcPts val="600"/>
              </a:spcAft>
            </a:pPr>
            <a:fld id="{F628FEE8-A0C9-4CEE-AF1A-1F4483D0557B}" type="datetime2">
              <a:rPr lang="en-US" smtClean="0"/>
              <a:t>Wednesday, January 14, 2026</a:t>
            </a:fld>
            <a:endParaRPr lang="en-US"/>
          </a:p>
        </p:txBody>
      </p:sp>
      <p:sp>
        <p:nvSpPr>
          <p:cNvPr id="20" name="Rectangle 19">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 name="Content Placeholder 6" descr="A diagram of a network&#10;&#10;Description automatically generated">
            <a:extLst>
              <a:ext uri="{FF2B5EF4-FFF2-40B4-BE49-F238E27FC236}">
                <a16:creationId xmlns:a16="http://schemas.microsoft.com/office/drawing/2014/main" id="{0A09815F-A312-6955-9343-3C36F9B778F2}"/>
              </a:ext>
            </a:extLst>
          </p:cNvPr>
          <p:cNvPicPr>
            <a:picLocks noChangeAspect="1"/>
          </p:cNvPicPr>
          <p:nvPr/>
        </p:nvPicPr>
        <p:blipFill>
          <a:blip r:embed="rId3"/>
          <a:stretch>
            <a:fillRect/>
          </a:stretch>
        </p:blipFill>
        <p:spPr>
          <a:xfrm>
            <a:off x="5452785" y="710848"/>
            <a:ext cx="6044105" cy="5452031"/>
          </a:xfrm>
          <a:prstGeom prst="rect">
            <a:avLst/>
          </a:prstGeom>
        </p:spPr>
      </p:pic>
      <p:cxnSp>
        <p:nvCxnSpPr>
          <p:cNvPr id="22" name="Straight Connector 21">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589EDB"/>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589EDB"/>
            </a:solidFill>
            <a:prstDash val="dash"/>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AAE6A38F-71E3-40BA-8DBB-8293D935F3C3}"/>
              </a:ext>
            </a:extLst>
          </p:cNvPr>
          <p:cNvSpPr>
            <a:spLocks noGrp="1"/>
          </p:cNvSpPr>
          <p:nvPr>
            <p:ph type="ftr" sz="quarter" idx="11"/>
          </p:nvPr>
        </p:nvSpPr>
        <p:spPr/>
        <p:txBody>
          <a:bodyPr/>
          <a:lstStyle/>
          <a:p>
            <a:r>
              <a:rPr lang="en-US"/>
              <a:t>Department of ICT</a:t>
            </a:r>
            <a:endParaRPr lang="en-US" dirty="0"/>
          </a:p>
        </p:txBody>
      </p:sp>
    </p:spTree>
    <p:extLst>
      <p:ext uri="{BB962C8B-B14F-4D97-AF65-F5344CB8AC3E}">
        <p14:creationId xmlns:p14="http://schemas.microsoft.com/office/powerpoint/2010/main" val="1468241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Rectangle 17">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D77B41-81AE-DADA-1B9C-D35D7B6FBA09}"/>
              </a:ext>
            </a:extLst>
          </p:cNvPr>
          <p:cNvSpPr>
            <a:spLocks noGrp="1"/>
          </p:cNvSpPr>
          <p:nvPr>
            <p:ph type="title"/>
          </p:nvPr>
        </p:nvSpPr>
        <p:spPr>
          <a:xfrm>
            <a:off x="1653823" y="2603428"/>
            <a:ext cx="3079214" cy="1268360"/>
          </a:xfrm>
        </p:spPr>
        <p:txBody>
          <a:bodyPr anchor="b">
            <a:normAutofit fontScale="90000"/>
          </a:bodyPr>
          <a:lstStyle/>
          <a:p>
            <a:r>
              <a:rPr lang="en-US" sz="4800" dirty="0">
                <a:solidFill>
                  <a:schemeClr val="tx1"/>
                </a:solidFill>
              </a:rPr>
              <a:t>TSP PROBLEM</a:t>
            </a:r>
          </a:p>
        </p:txBody>
      </p:sp>
      <p:sp>
        <p:nvSpPr>
          <p:cNvPr id="6" name="Slide Number Placeholder 5">
            <a:extLst>
              <a:ext uri="{FF2B5EF4-FFF2-40B4-BE49-F238E27FC236}">
                <a16:creationId xmlns:a16="http://schemas.microsoft.com/office/drawing/2014/main" id="{EA542041-74D8-33F6-54B6-BA9028C4135B}"/>
              </a:ext>
            </a:extLst>
          </p:cNvPr>
          <p:cNvSpPr>
            <a:spLocks noGrp="1"/>
          </p:cNvSpPr>
          <p:nvPr>
            <p:ph type="sldNum" sz="quarter" idx="12"/>
          </p:nvPr>
        </p:nvSpPr>
        <p:spPr>
          <a:xfrm>
            <a:off x="11503152" y="-18288"/>
            <a:ext cx="685800" cy="685800"/>
          </a:xfrm>
        </p:spPr>
        <p:txBody>
          <a:bodyPr>
            <a:normAutofit/>
          </a:bodyPr>
          <a:lstStyle/>
          <a:p>
            <a:pPr>
              <a:spcAft>
                <a:spcPts val="600"/>
              </a:spcAft>
            </a:pPr>
            <a:fld id="{7BE69E03-4804-4553-A1EC-F089884EF50F}" type="slidenum">
              <a:rPr lang="en-US" smtClean="0"/>
              <a:pPr>
                <a:spcAft>
                  <a:spcPts val="600"/>
                </a:spcAft>
              </a:pPr>
              <a:t>50</a:t>
            </a:fld>
            <a:endParaRPr lang="en-US"/>
          </a:p>
        </p:txBody>
      </p:sp>
      <p:sp>
        <p:nvSpPr>
          <p:cNvPr id="4" name="Date Placeholder 3">
            <a:extLst>
              <a:ext uri="{FF2B5EF4-FFF2-40B4-BE49-F238E27FC236}">
                <a16:creationId xmlns:a16="http://schemas.microsoft.com/office/drawing/2014/main" id="{562126E9-4243-F6F4-95CD-16353ADD7ECB}"/>
              </a:ext>
            </a:extLst>
          </p:cNvPr>
          <p:cNvSpPr>
            <a:spLocks noGrp="1"/>
          </p:cNvSpPr>
          <p:nvPr>
            <p:ph type="dt" sz="half" idx="10"/>
          </p:nvPr>
        </p:nvSpPr>
        <p:spPr>
          <a:xfrm>
            <a:off x="422898" y="6217920"/>
            <a:ext cx="2743200" cy="640080"/>
          </a:xfrm>
        </p:spPr>
        <p:txBody>
          <a:bodyPr>
            <a:normAutofit/>
          </a:bodyPr>
          <a:lstStyle/>
          <a:p>
            <a:pPr>
              <a:spcAft>
                <a:spcPts val="600"/>
              </a:spcAft>
            </a:pPr>
            <a:fld id="{F628FEE8-A0C9-4CEE-AF1A-1F4483D0557B}" type="datetime2">
              <a:rPr lang="en-US" smtClean="0"/>
              <a:t>Wednesday, January 14, 2026</a:t>
            </a:fld>
            <a:endParaRPr lang="en-US"/>
          </a:p>
        </p:txBody>
      </p:sp>
      <p:sp>
        <p:nvSpPr>
          <p:cNvPr id="20" name="Rectangle 19">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 name="Content Placeholder 6" descr="A diagram of a network&#10;&#10;Description automatically generated">
            <a:extLst>
              <a:ext uri="{FF2B5EF4-FFF2-40B4-BE49-F238E27FC236}">
                <a16:creationId xmlns:a16="http://schemas.microsoft.com/office/drawing/2014/main" id="{0A09815F-A312-6955-9343-3C36F9B778F2}"/>
              </a:ext>
            </a:extLst>
          </p:cNvPr>
          <p:cNvPicPr>
            <a:picLocks noChangeAspect="1"/>
          </p:cNvPicPr>
          <p:nvPr/>
        </p:nvPicPr>
        <p:blipFill>
          <a:blip r:embed="rId3"/>
          <a:stretch>
            <a:fillRect/>
          </a:stretch>
        </p:blipFill>
        <p:spPr>
          <a:xfrm>
            <a:off x="5452785" y="710848"/>
            <a:ext cx="6044105" cy="5452031"/>
          </a:xfrm>
          <a:prstGeom prst="rect">
            <a:avLst/>
          </a:prstGeom>
        </p:spPr>
      </p:pic>
      <p:cxnSp>
        <p:nvCxnSpPr>
          <p:cNvPr id="22" name="Straight Connector 21">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589EDB"/>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589EDB"/>
            </a:solidFill>
            <a:prstDash val="dash"/>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AAE6A38F-71E3-40BA-8DBB-8293D935F3C3}"/>
              </a:ext>
            </a:extLst>
          </p:cNvPr>
          <p:cNvSpPr>
            <a:spLocks noGrp="1"/>
          </p:cNvSpPr>
          <p:nvPr>
            <p:ph type="ftr" sz="quarter" idx="11"/>
          </p:nvPr>
        </p:nvSpPr>
        <p:spPr/>
        <p:txBody>
          <a:bodyPr/>
          <a:lstStyle/>
          <a:p>
            <a:r>
              <a:rPr lang="en-US"/>
              <a:t>Department of ICT</a:t>
            </a:r>
            <a:endParaRPr lang="en-US" dirty="0"/>
          </a:p>
        </p:txBody>
      </p:sp>
    </p:spTree>
    <p:extLst>
      <p:ext uri="{BB962C8B-B14F-4D97-AF65-F5344CB8AC3E}">
        <p14:creationId xmlns:p14="http://schemas.microsoft.com/office/powerpoint/2010/main" val="34491224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41D78-7AF9-97B7-3D8C-1A5D01DCC352}"/>
              </a:ext>
            </a:extLst>
          </p:cNvPr>
          <p:cNvSpPr>
            <a:spLocks noGrp="1"/>
          </p:cNvSpPr>
          <p:nvPr>
            <p:ph type="title"/>
          </p:nvPr>
        </p:nvSpPr>
        <p:spPr>
          <a:xfrm>
            <a:off x="422401" y="603503"/>
            <a:ext cx="10851735" cy="1739267"/>
          </a:xfrm>
        </p:spPr>
        <p:txBody>
          <a:bodyPr anchor="t">
            <a:normAutofit/>
          </a:bodyPr>
          <a:lstStyle/>
          <a:p>
            <a:r>
              <a:rPr lang="en-US" dirty="0"/>
              <a:t>TSP - SOLUTION</a:t>
            </a:r>
          </a:p>
        </p:txBody>
      </p:sp>
      <p:sp>
        <p:nvSpPr>
          <p:cNvPr id="6" name="Slide Number Placeholder 5">
            <a:extLst>
              <a:ext uri="{FF2B5EF4-FFF2-40B4-BE49-F238E27FC236}">
                <a16:creationId xmlns:a16="http://schemas.microsoft.com/office/drawing/2014/main" id="{166DB3E9-6C3B-5CED-8F8C-441E5036B9D6}"/>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51</a:t>
            </a:fld>
            <a:endParaRPr lang="en-US"/>
          </a:p>
        </p:txBody>
      </p:sp>
      <p:sp>
        <p:nvSpPr>
          <p:cNvPr id="4" name="Date Placeholder 3">
            <a:extLst>
              <a:ext uri="{FF2B5EF4-FFF2-40B4-BE49-F238E27FC236}">
                <a16:creationId xmlns:a16="http://schemas.microsoft.com/office/drawing/2014/main" id="{694D252B-2EA9-F95B-9013-403B2F42D245}"/>
              </a:ext>
            </a:extLst>
          </p:cNvPr>
          <p:cNvSpPr>
            <a:spLocks noGrp="1"/>
          </p:cNvSpPr>
          <p:nvPr>
            <p:ph type="dt" sz="half" idx="10"/>
          </p:nvPr>
        </p:nvSpPr>
        <p:spPr>
          <a:xfrm>
            <a:off x="422899" y="6217920"/>
            <a:ext cx="2743200" cy="640080"/>
          </a:xfrm>
        </p:spPr>
        <p:txBody>
          <a:bodyPr>
            <a:normAutofit/>
          </a:bodyPr>
          <a:lstStyle/>
          <a:p>
            <a:pPr>
              <a:spcAft>
                <a:spcPts val="600"/>
              </a:spcAft>
            </a:pPr>
            <a:fld id="{95F3B5A5-4BA3-4188-B6B6-B340915C238C}" type="datetime2">
              <a:rPr lang="en-US" smtClean="0"/>
              <a:t>Wednesday, January 14, 2026</a:t>
            </a:fld>
            <a:endParaRPr lang="en-US"/>
          </a:p>
        </p:txBody>
      </p:sp>
      <p:sp>
        <p:nvSpPr>
          <p:cNvPr id="5" name="Footer Placeholder 4">
            <a:extLst>
              <a:ext uri="{FF2B5EF4-FFF2-40B4-BE49-F238E27FC236}">
                <a16:creationId xmlns:a16="http://schemas.microsoft.com/office/drawing/2014/main" id="{F05CA6DB-EF50-56BB-BED1-C268E7381AAC}"/>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9"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a:extLst>
              <a:ext uri="{FF2B5EF4-FFF2-40B4-BE49-F238E27FC236}">
                <a16:creationId xmlns:a16="http://schemas.microsoft.com/office/drawing/2014/main" id="{6A5ECD2E-DC2F-4182-1352-49586155ED6C}"/>
              </a:ext>
            </a:extLst>
          </p:cNvPr>
          <p:cNvGraphicFramePr>
            <a:graphicFrameLocks noGrp="1"/>
          </p:cNvGraphicFramePr>
          <p:nvPr>
            <p:ph idx="1"/>
            <p:extLst>
              <p:ext uri="{D42A27DB-BD31-4B8C-83A1-F6EECF244321}">
                <p14:modId xmlns:p14="http://schemas.microsoft.com/office/powerpoint/2010/main" val="562671557"/>
              </p:ext>
            </p:extLst>
          </p:nvPr>
        </p:nvGraphicFramePr>
        <p:xfrm>
          <a:off x="2064070" y="1378613"/>
          <a:ext cx="8320898" cy="3231235"/>
        </p:xfrm>
        <a:graphic>
          <a:graphicData uri="http://schemas.openxmlformats.org/drawingml/2006/table">
            <a:tbl>
              <a:tblPr firstRow="1" bandRow="1">
                <a:tableStyleId>{5C22544A-7EE6-4342-B048-85BDC9FD1C3A}</a:tableStyleId>
              </a:tblPr>
              <a:tblGrid>
                <a:gridCol w="2137720">
                  <a:extLst>
                    <a:ext uri="{9D8B030D-6E8A-4147-A177-3AD203B41FA5}">
                      <a16:colId xmlns:a16="http://schemas.microsoft.com/office/drawing/2014/main" val="3507266834"/>
                    </a:ext>
                  </a:extLst>
                </a:gridCol>
                <a:gridCol w="2724163">
                  <a:extLst>
                    <a:ext uri="{9D8B030D-6E8A-4147-A177-3AD203B41FA5}">
                      <a16:colId xmlns:a16="http://schemas.microsoft.com/office/drawing/2014/main" val="134498563"/>
                    </a:ext>
                  </a:extLst>
                </a:gridCol>
                <a:gridCol w="3459015">
                  <a:extLst>
                    <a:ext uri="{9D8B030D-6E8A-4147-A177-3AD203B41FA5}">
                      <a16:colId xmlns:a16="http://schemas.microsoft.com/office/drawing/2014/main" val="1755892893"/>
                    </a:ext>
                  </a:extLst>
                </a:gridCol>
              </a:tblGrid>
              <a:tr h="461605">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Tour</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Length</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Solution </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4023274084"/>
                  </a:ext>
                </a:extLst>
              </a:tr>
              <a:tr h="461605">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a:rPr>
                        <a:t>a-b-c-d-a</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2+8+1+7=18</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639019218"/>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a-b-d-c-a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2+3+1+5=11</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Optimal solution</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192386293"/>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a-c-b-d-a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5+8+3+7=23</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2879257624"/>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a-c-d-b-a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5+1+3+2=11</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Optimal solution</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3239689607"/>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a-d-b-c-a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7+3+8+5=23</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1519721809"/>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a-d-c-b-a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7+1+8+2=18</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endParaRPr lang="en-IN"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615482860"/>
                  </a:ext>
                </a:extLst>
              </a:tr>
            </a:tbl>
          </a:graphicData>
        </a:graphic>
      </p:graphicFrame>
    </p:spTree>
    <p:extLst>
      <p:ext uri="{BB962C8B-B14F-4D97-AF65-F5344CB8AC3E}">
        <p14:creationId xmlns:p14="http://schemas.microsoft.com/office/powerpoint/2010/main" val="39472750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41D78-7AF9-97B7-3D8C-1A5D01DCC352}"/>
              </a:ext>
            </a:extLst>
          </p:cNvPr>
          <p:cNvSpPr>
            <a:spLocks noGrp="1"/>
          </p:cNvSpPr>
          <p:nvPr>
            <p:ph type="title"/>
          </p:nvPr>
        </p:nvSpPr>
        <p:spPr>
          <a:xfrm>
            <a:off x="422401" y="603503"/>
            <a:ext cx="10851735" cy="1739267"/>
          </a:xfrm>
        </p:spPr>
        <p:txBody>
          <a:bodyPr anchor="t">
            <a:normAutofit/>
          </a:bodyPr>
          <a:lstStyle/>
          <a:p>
            <a:r>
              <a:rPr lang="en-US" dirty="0"/>
              <a:t>TSP - SOLUTION</a:t>
            </a:r>
          </a:p>
        </p:txBody>
      </p:sp>
      <p:sp>
        <p:nvSpPr>
          <p:cNvPr id="6" name="Slide Number Placeholder 5">
            <a:extLst>
              <a:ext uri="{FF2B5EF4-FFF2-40B4-BE49-F238E27FC236}">
                <a16:creationId xmlns:a16="http://schemas.microsoft.com/office/drawing/2014/main" id="{166DB3E9-6C3B-5CED-8F8C-441E5036B9D6}"/>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52</a:t>
            </a:fld>
            <a:endParaRPr lang="en-US"/>
          </a:p>
        </p:txBody>
      </p:sp>
      <p:sp>
        <p:nvSpPr>
          <p:cNvPr id="4" name="Date Placeholder 3">
            <a:extLst>
              <a:ext uri="{FF2B5EF4-FFF2-40B4-BE49-F238E27FC236}">
                <a16:creationId xmlns:a16="http://schemas.microsoft.com/office/drawing/2014/main" id="{694D252B-2EA9-F95B-9013-403B2F42D245}"/>
              </a:ext>
            </a:extLst>
          </p:cNvPr>
          <p:cNvSpPr>
            <a:spLocks noGrp="1"/>
          </p:cNvSpPr>
          <p:nvPr>
            <p:ph type="dt" sz="half" idx="10"/>
          </p:nvPr>
        </p:nvSpPr>
        <p:spPr>
          <a:xfrm>
            <a:off x="422899" y="6217920"/>
            <a:ext cx="2743200" cy="640080"/>
          </a:xfrm>
        </p:spPr>
        <p:txBody>
          <a:bodyPr>
            <a:normAutofit/>
          </a:bodyPr>
          <a:lstStyle/>
          <a:p>
            <a:pPr>
              <a:spcAft>
                <a:spcPts val="600"/>
              </a:spcAft>
            </a:pPr>
            <a:fld id="{95F3B5A5-4BA3-4188-B6B6-B340915C238C}" type="datetime2">
              <a:rPr lang="en-US" smtClean="0"/>
              <a:t>Wednesday, January 14, 2026</a:t>
            </a:fld>
            <a:endParaRPr lang="en-US"/>
          </a:p>
        </p:txBody>
      </p:sp>
      <p:sp>
        <p:nvSpPr>
          <p:cNvPr id="5" name="Footer Placeholder 4">
            <a:extLst>
              <a:ext uri="{FF2B5EF4-FFF2-40B4-BE49-F238E27FC236}">
                <a16:creationId xmlns:a16="http://schemas.microsoft.com/office/drawing/2014/main" id="{F05CA6DB-EF50-56BB-BED1-C268E7381AAC}"/>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Department of ICT</a:t>
            </a:r>
          </a:p>
        </p:txBody>
      </p:sp>
      <p:cxnSp>
        <p:nvCxnSpPr>
          <p:cNvPr id="19"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a:extLst>
              <a:ext uri="{FF2B5EF4-FFF2-40B4-BE49-F238E27FC236}">
                <a16:creationId xmlns:a16="http://schemas.microsoft.com/office/drawing/2014/main" id="{6A5ECD2E-DC2F-4182-1352-49586155ED6C}"/>
              </a:ext>
            </a:extLst>
          </p:cNvPr>
          <p:cNvGraphicFramePr>
            <a:graphicFrameLocks noGrp="1"/>
          </p:cNvGraphicFramePr>
          <p:nvPr>
            <p:ph idx="1"/>
          </p:nvPr>
        </p:nvGraphicFramePr>
        <p:xfrm>
          <a:off x="2064070" y="1378613"/>
          <a:ext cx="8320898" cy="3231235"/>
        </p:xfrm>
        <a:graphic>
          <a:graphicData uri="http://schemas.openxmlformats.org/drawingml/2006/table">
            <a:tbl>
              <a:tblPr firstRow="1" bandRow="1">
                <a:tableStyleId>{5C22544A-7EE6-4342-B048-85BDC9FD1C3A}</a:tableStyleId>
              </a:tblPr>
              <a:tblGrid>
                <a:gridCol w="2137720">
                  <a:extLst>
                    <a:ext uri="{9D8B030D-6E8A-4147-A177-3AD203B41FA5}">
                      <a16:colId xmlns:a16="http://schemas.microsoft.com/office/drawing/2014/main" val="3507266834"/>
                    </a:ext>
                  </a:extLst>
                </a:gridCol>
                <a:gridCol w="2724163">
                  <a:extLst>
                    <a:ext uri="{9D8B030D-6E8A-4147-A177-3AD203B41FA5}">
                      <a16:colId xmlns:a16="http://schemas.microsoft.com/office/drawing/2014/main" val="134498563"/>
                    </a:ext>
                  </a:extLst>
                </a:gridCol>
                <a:gridCol w="3459015">
                  <a:extLst>
                    <a:ext uri="{9D8B030D-6E8A-4147-A177-3AD203B41FA5}">
                      <a16:colId xmlns:a16="http://schemas.microsoft.com/office/drawing/2014/main" val="1755892893"/>
                    </a:ext>
                  </a:extLst>
                </a:gridCol>
              </a:tblGrid>
              <a:tr h="461605">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Tour</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Length</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marL="0" algn="l" rtl="0" eaLnBrk="1" fontAlgn="t" latinLnBrk="0" hangingPunct="1">
                        <a:spcBef>
                          <a:spcPts val="0"/>
                        </a:spcBef>
                        <a:spcAft>
                          <a:spcPts val="0"/>
                        </a:spcAft>
                      </a:pPr>
                      <a:r>
                        <a:rPr lang="en-US" sz="2100" b="1" i="0" u="none" strike="noStrike" kern="1200" dirty="0">
                          <a:solidFill>
                            <a:srgbClr val="FFFFFF"/>
                          </a:solidFill>
                          <a:effectLst/>
                          <a:latin typeface="Calibri"/>
                        </a:rPr>
                        <a:t>Solution </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4023274084"/>
                  </a:ext>
                </a:extLst>
              </a:tr>
              <a:tr h="461605">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a:rPr>
                        <a:t>a-b-c-d-a</a:t>
                      </a:r>
                      <a:endParaRPr lang="en-US" sz="2100" b="0" i="0" u="none" strike="noStrike" dirty="0">
                        <a:effectLst/>
                        <a:latin typeface="Calibri"/>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2+8+1+7=18</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639019218"/>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a-b-d-c-a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2+3+1+5=11</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Optimal solution</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192386293"/>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a-c-b-d-a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5+8+3+7=23</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2879257624"/>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a-c-d-b-a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5+1+3+2=11</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dirty="0">
                          <a:solidFill>
                            <a:srgbClr val="000000"/>
                          </a:solidFill>
                          <a:effectLst/>
                          <a:latin typeface="Calibri" panose="020F0502020204030204" pitchFamily="34" charset="0"/>
                        </a:rPr>
                        <a:t>Optimal solution</a:t>
                      </a:r>
                      <a:endParaRPr lang="en-US"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3239689607"/>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a-d-b-c-a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7+3+8+5=23</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algn="l" rtl="0" eaLnBrk="1" fontAlgn="t" latinLnBrk="0" hangingPunct="1">
                        <a:spcBef>
                          <a:spcPts val="0"/>
                        </a:spcBef>
                        <a:spcAft>
                          <a:spcPts val="0"/>
                        </a:spcAft>
                      </a:pPr>
                      <a:endParaRPr lang="en-IN"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1519721809"/>
                  </a:ext>
                </a:extLst>
              </a:tr>
              <a:tr h="461605">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a-d-c-b-a</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r>
                        <a:rPr lang="en-US" sz="2100" b="0" i="0" u="none" strike="noStrike" kern="1200">
                          <a:solidFill>
                            <a:srgbClr val="000000"/>
                          </a:solidFill>
                          <a:effectLst/>
                          <a:latin typeface="Calibri" panose="020F0502020204030204" pitchFamily="34" charset="0"/>
                        </a:rPr>
                        <a:t>7+1+8+2=18</a:t>
                      </a:r>
                      <a:endParaRPr lang="en-US" sz="2100" b="0" i="0" u="none" strike="noStrike">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algn="l" rtl="0" eaLnBrk="1" fontAlgn="t" latinLnBrk="0" hangingPunct="1">
                        <a:spcBef>
                          <a:spcPts val="0"/>
                        </a:spcBef>
                        <a:spcAft>
                          <a:spcPts val="0"/>
                        </a:spcAft>
                      </a:pPr>
                      <a:endParaRPr lang="en-IN" sz="2100" b="0" i="0" u="none" strike="noStrike" dirty="0">
                        <a:effectLst/>
                        <a:latin typeface="Arial" panose="020B0604020202020204" pitchFamily="34" charset="0"/>
                      </a:endParaRPr>
                    </a:p>
                  </a:txBody>
                  <a:tcPr marL="104910" marR="104910" marT="52455" marB="5245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615482860"/>
                  </a:ext>
                </a:extLst>
              </a:tr>
            </a:tbl>
          </a:graphicData>
        </a:graphic>
      </p:graphicFrame>
      <p:pic>
        <p:nvPicPr>
          <p:cNvPr id="9" name="Picture 8">
            <a:extLst>
              <a:ext uri="{FF2B5EF4-FFF2-40B4-BE49-F238E27FC236}">
                <a16:creationId xmlns:a16="http://schemas.microsoft.com/office/drawing/2014/main" id="{85C2B3F7-CA2A-ED63-1CBF-165CFE685C5E}"/>
              </a:ext>
            </a:extLst>
          </p:cNvPr>
          <p:cNvPicPr>
            <a:picLocks noChangeAspect="1"/>
          </p:cNvPicPr>
          <p:nvPr/>
        </p:nvPicPr>
        <p:blipFill>
          <a:blip r:embed="rId2"/>
          <a:stretch>
            <a:fillRect/>
          </a:stretch>
        </p:blipFill>
        <p:spPr>
          <a:xfrm>
            <a:off x="1932475" y="5188560"/>
            <a:ext cx="7248525" cy="771525"/>
          </a:xfrm>
          <a:prstGeom prst="rect">
            <a:avLst/>
          </a:prstGeom>
        </p:spPr>
      </p:pic>
    </p:spTree>
    <p:extLst>
      <p:ext uri="{BB962C8B-B14F-4D97-AF65-F5344CB8AC3E}">
        <p14:creationId xmlns:p14="http://schemas.microsoft.com/office/powerpoint/2010/main" val="30256042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 name="Rectangle 1053">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58" name="Rectangle 1057">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60" name="Rectangle 1059">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DA5834-5FCD-37E4-892C-EEE4925DD696}"/>
              </a:ext>
            </a:extLst>
          </p:cNvPr>
          <p:cNvSpPr>
            <a:spLocks noGrp="1"/>
          </p:cNvSpPr>
          <p:nvPr>
            <p:ph type="title"/>
          </p:nvPr>
        </p:nvSpPr>
        <p:spPr>
          <a:xfrm>
            <a:off x="422900" y="576263"/>
            <a:ext cx="3932532" cy="2967606"/>
          </a:xfrm>
        </p:spPr>
        <p:txBody>
          <a:bodyPr vert="horz" lIns="91440" tIns="45720" rIns="91440" bIns="45720" rtlCol="0" anchor="b">
            <a:normAutofit/>
          </a:bodyPr>
          <a:lstStyle/>
          <a:p>
            <a:r>
              <a:rPr lang="en-US" sz="4800"/>
              <a:t>Solve using TSP?</a:t>
            </a:r>
          </a:p>
        </p:txBody>
      </p:sp>
      <p:sp>
        <p:nvSpPr>
          <p:cNvPr id="6" name="Slide Number Placeholder 5">
            <a:extLst>
              <a:ext uri="{FF2B5EF4-FFF2-40B4-BE49-F238E27FC236}">
                <a16:creationId xmlns:a16="http://schemas.microsoft.com/office/drawing/2014/main" id="{311A0154-1A6F-6CAE-8CD5-844F57964DD4}"/>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defRPr/>
            </a:pPr>
            <a:fld id="{7BE69E03-4804-4553-A1EC-F089884EF50F}" type="slidenum">
              <a:rPr lang="en-US" sz="1200"/>
              <a:pPr>
                <a:spcAft>
                  <a:spcPts val="600"/>
                </a:spcAft>
                <a:defRPr/>
              </a:pPr>
              <a:t>53</a:t>
            </a:fld>
            <a:endParaRPr lang="en-US" sz="1200"/>
          </a:p>
        </p:txBody>
      </p:sp>
      <p:sp>
        <p:nvSpPr>
          <p:cNvPr id="4" name="Date Placeholder 3">
            <a:extLst>
              <a:ext uri="{FF2B5EF4-FFF2-40B4-BE49-F238E27FC236}">
                <a16:creationId xmlns:a16="http://schemas.microsoft.com/office/drawing/2014/main" id="{CAB0362C-3026-81EB-F67F-1499C7FD90A6}"/>
              </a:ext>
            </a:extLst>
          </p:cNvPr>
          <p:cNvSpPr>
            <a:spLocks noGrp="1"/>
          </p:cNvSpPr>
          <p:nvPr>
            <p:ph type="dt" sz="half" idx="10"/>
          </p:nvPr>
        </p:nvSpPr>
        <p:spPr>
          <a:xfrm>
            <a:off x="422899" y="6217920"/>
            <a:ext cx="2743200" cy="640080"/>
          </a:xfrm>
        </p:spPr>
        <p:txBody>
          <a:bodyPr vert="horz" lIns="91440" tIns="45720" rIns="91440" bIns="45720" rtlCol="0" anchor="ctr" anchorCtr="0">
            <a:normAutofit/>
          </a:bodyPr>
          <a:lstStyle/>
          <a:p>
            <a:pPr>
              <a:spcAft>
                <a:spcPts val="600"/>
              </a:spcAft>
              <a:defRPr/>
            </a:pPr>
            <a:fld id="{1A1383CB-15EA-4EE8-AA24-9B39618AB567}" type="datetime2">
              <a:rPr lang="en-US" sz="1200" smtClean="0"/>
              <a:pPr>
                <a:spcAft>
                  <a:spcPts val="600"/>
                </a:spcAft>
                <a:defRPr/>
              </a:pPr>
              <a:t>Wednesday, January 14, 2026</a:t>
            </a:fld>
            <a:endParaRPr lang="en-US" sz="1200"/>
          </a:p>
        </p:txBody>
      </p:sp>
      <p:sp>
        <p:nvSpPr>
          <p:cNvPr id="1062" name="Rectangle 1061">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1026" name="Picture 2" descr="graph_six_cities">
            <a:extLst>
              <a:ext uri="{FF2B5EF4-FFF2-40B4-BE49-F238E27FC236}">
                <a16:creationId xmlns:a16="http://schemas.microsoft.com/office/drawing/2014/main" id="{3938E17F-ADFA-5AA4-0014-D7B4C5821589}"/>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8177" r="7400" b="1"/>
          <a:stretch/>
        </p:blipFill>
        <p:spPr bwMode="auto">
          <a:xfrm>
            <a:off x="4027738" y="1677156"/>
            <a:ext cx="7470080" cy="4202943"/>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DF67BB1D-5B6B-55F5-3AFE-664F00A53BC7}"/>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defRPr/>
            </a:pPr>
            <a:r>
              <a:rPr lang="en-US" sz="1200" kern="1200">
                <a:solidFill>
                  <a:schemeClr val="tx2"/>
                </a:solidFill>
                <a:latin typeface="+mn-lt"/>
                <a:ea typeface="+mn-ea"/>
                <a:cs typeface="+mn-cs"/>
              </a:rPr>
              <a:t>Department of ICT</a:t>
            </a:r>
          </a:p>
        </p:txBody>
      </p:sp>
      <p:cxnSp>
        <p:nvCxnSpPr>
          <p:cNvPr id="1064" name="Straight Connector 1063">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066" name="Straight Connector 1065">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009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5393F-745B-4122-8DDB-2581EC59C74B}"/>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762A597F-584D-5CAA-A5AA-412CDECCABFB}"/>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7EBF19AE-0628-AD3D-7AE9-A667D706F5CC}"/>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A22889E4-7E80-1E16-A596-83C17C4C7363}"/>
              </a:ext>
            </a:extLst>
          </p:cNvPr>
          <p:cNvSpPr>
            <a:spLocks noGrp="1"/>
          </p:cNvSpPr>
          <p:nvPr>
            <p:ph type="sldNum" sz="quarter" idx="12"/>
          </p:nvPr>
        </p:nvSpPr>
        <p:spPr/>
        <p:txBody>
          <a:bodyPr/>
          <a:lstStyle/>
          <a:p>
            <a:fld id="{7BE69E03-4804-4553-A1EC-F089884EF50F}" type="slidenum">
              <a:rPr lang="en-US" smtClean="0"/>
              <a:t>54</a:t>
            </a:fld>
            <a:endParaRPr lang="en-US"/>
          </a:p>
        </p:txBody>
      </p:sp>
      <p:pic>
        <p:nvPicPr>
          <p:cNvPr id="2050" name="Picture 2" descr="graph f to a">
            <a:extLst>
              <a:ext uri="{FF2B5EF4-FFF2-40B4-BE49-F238E27FC236}">
                <a16:creationId xmlns:a16="http://schemas.microsoft.com/office/drawing/2014/main" id="{DD077BC4-7F00-A2FE-E348-A1A5D63563E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44738" y="2452687"/>
            <a:ext cx="6667500" cy="295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158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83" name="Rectangle 3082">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85" name="Rectangle 3084">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B319CF-FE16-6CD5-3EEE-99BA9D96239D}"/>
              </a:ext>
            </a:extLst>
          </p:cNvPr>
          <p:cNvSpPr>
            <a:spLocks noGrp="1"/>
          </p:cNvSpPr>
          <p:nvPr>
            <p:ph type="title"/>
          </p:nvPr>
        </p:nvSpPr>
        <p:spPr>
          <a:xfrm>
            <a:off x="422900" y="576263"/>
            <a:ext cx="3932532" cy="2967606"/>
          </a:xfrm>
        </p:spPr>
        <p:txBody>
          <a:bodyPr vert="horz" lIns="91440" tIns="45720" rIns="91440" bIns="45720" rtlCol="0" anchor="b">
            <a:normAutofit/>
          </a:bodyPr>
          <a:lstStyle/>
          <a:p>
            <a:r>
              <a:rPr lang="en-US" sz="4800"/>
              <a:t>SOLVE USING TSP?</a:t>
            </a:r>
          </a:p>
        </p:txBody>
      </p:sp>
      <p:sp>
        <p:nvSpPr>
          <p:cNvPr id="6" name="Slide Number Placeholder 5">
            <a:extLst>
              <a:ext uri="{FF2B5EF4-FFF2-40B4-BE49-F238E27FC236}">
                <a16:creationId xmlns:a16="http://schemas.microsoft.com/office/drawing/2014/main" id="{E43CE137-899A-0757-0C99-35CBD60F281B}"/>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55</a:t>
            </a:fld>
            <a:endParaRPr lang="en-US" sz="1200"/>
          </a:p>
        </p:txBody>
      </p:sp>
      <p:sp>
        <p:nvSpPr>
          <p:cNvPr id="4" name="Date Placeholder 3">
            <a:extLst>
              <a:ext uri="{FF2B5EF4-FFF2-40B4-BE49-F238E27FC236}">
                <a16:creationId xmlns:a16="http://schemas.microsoft.com/office/drawing/2014/main" id="{C999A986-DA9E-792D-C5AE-BC8A976BFDDA}"/>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1A1383CB-15EA-4EE8-AA24-9B39618AB567}" type="datetime2">
              <a:rPr lang="en-US" sz="1200" smtClean="0"/>
              <a:pPr>
                <a:spcAft>
                  <a:spcPts val="600"/>
                </a:spcAft>
              </a:pPr>
              <a:t>Wednesday, January 14, 2026</a:t>
            </a:fld>
            <a:endParaRPr lang="en-US" sz="1200"/>
          </a:p>
        </p:txBody>
      </p:sp>
      <p:sp>
        <p:nvSpPr>
          <p:cNvPr id="3087" name="Rectangle 3086">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3074" name="Picture 2" descr="TSP Input">
            <a:extLst>
              <a:ext uri="{FF2B5EF4-FFF2-40B4-BE49-F238E27FC236}">
                <a16:creationId xmlns:a16="http://schemas.microsoft.com/office/drawing/2014/main" id="{FD36682E-84C0-B2DC-2452-C767F0AC93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41340" y="698676"/>
            <a:ext cx="6219946" cy="5467913"/>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F499624A-F31D-F1D8-B9FC-C51250D169F0}"/>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3089" name="Straight Connector 3088">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66F2F8"/>
            </a:solidFill>
            <a:prstDash val="dash"/>
          </a:ln>
        </p:spPr>
        <p:style>
          <a:lnRef idx="1">
            <a:schemeClr val="accent1"/>
          </a:lnRef>
          <a:fillRef idx="0">
            <a:schemeClr val="accent1"/>
          </a:fillRef>
          <a:effectRef idx="0">
            <a:schemeClr val="accent1"/>
          </a:effectRef>
          <a:fontRef idx="minor">
            <a:schemeClr val="tx1"/>
          </a:fontRef>
        </p:style>
      </p:cxnSp>
      <p:cxnSp>
        <p:nvCxnSpPr>
          <p:cNvPr id="3091" name="Straight Connector 3090">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66F2F8"/>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55076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CE97-E2A7-76F1-4C89-C2DEBED1C881}"/>
              </a:ext>
            </a:extLst>
          </p:cNvPr>
          <p:cNvSpPr>
            <a:spLocks noGrp="1"/>
          </p:cNvSpPr>
          <p:nvPr>
            <p:ph type="title"/>
          </p:nvPr>
        </p:nvSpPr>
        <p:spPr/>
        <p:txBody>
          <a:bodyPr/>
          <a:lstStyle/>
          <a:p>
            <a:r>
              <a:rPr lang="en-US" dirty="0"/>
              <a:t>SOLUTION</a:t>
            </a:r>
            <a:endParaRPr lang="en-IN" dirty="0"/>
          </a:p>
        </p:txBody>
      </p:sp>
      <p:sp>
        <p:nvSpPr>
          <p:cNvPr id="4" name="Date Placeholder 3">
            <a:extLst>
              <a:ext uri="{FF2B5EF4-FFF2-40B4-BE49-F238E27FC236}">
                <a16:creationId xmlns:a16="http://schemas.microsoft.com/office/drawing/2014/main" id="{F981A411-D306-0C36-2CA5-22516E77CBDB}"/>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257D95AE-0EEC-B885-994D-9CD9BA52906E}"/>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40E84266-CB37-2D34-AA4B-359460792264}"/>
              </a:ext>
            </a:extLst>
          </p:cNvPr>
          <p:cNvSpPr>
            <a:spLocks noGrp="1"/>
          </p:cNvSpPr>
          <p:nvPr>
            <p:ph type="sldNum" sz="quarter" idx="12"/>
          </p:nvPr>
        </p:nvSpPr>
        <p:spPr/>
        <p:txBody>
          <a:bodyPr/>
          <a:lstStyle/>
          <a:p>
            <a:fld id="{7BE69E03-4804-4553-A1EC-F089884EF50F}" type="slidenum">
              <a:rPr lang="en-US" smtClean="0"/>
              <a:t>56</a:t>
            </a:fld>
            <a:endParaRPr lang="en-US"/>
          </a:p>
        </p:txBody>
      </p:sp>
      <p:pic>
        <p:nvPicPr>
          <p:cNvPr id="4098" name="Picture 2" descr="travelling salesman problem-ex-2">
            <a:extLst>
              <a:ext uri="{FF2B5EF4-FFF2-40B4-BE49-F238E27FC236}">
                <a16:creationId xmlns:a16="http://schemas.microsoft.com/office/drawing/2014/main" id="{ECB9BE4C-71E2-FDA8-9F02-1BF248F6177A}"/>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3714732" y="1825625"/>
            <a:ext cx="3927512" cy="420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04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EC3710-1B9D-7E48-6AAD-D8BB13D0E4BC}"/>
              </a:ext>
            </a:extLst>
          </p:cNvPr>
          <p:cNvSpPr>
            <a:spLocks noGrp="1"/>
          </p:cNvSpPr>
          <p:nvPr>
            <p:ph type="title"/>
          </p:nvPr>
        </p:nvSpPr>
        <p:spPr>
          <a:xfrm>
            <a:off x="1442594" y="1934561"/>
            <a:ext cx="3585816" cy="1253132"/>
          </a:xfrm>
        </p:spPr>
        <p:txBody>
          <a:bodyPr>
            <a:normAutofit fontScale="90000"/>
          </a:bodyPr>
          <a:lstStyle/>
          <a:p>
            <a:r>
              <a:rPr lang="en-US" sz="4800" dirty="0">
                <a:latin typeface="Times New Roman"/>
                <a:cs typeface="Times New Roman"/>
              </a:rPr>
              <a:t>KNAPSACK PROBLEM</a:t>
            </a:r>
            <a:endParaRPr lang="en-US" sz="4800" dirty="0"/>
          </a:p>
          <a:p>
            <a:endParaRPr lang="en-US" sz="4800" dirty="0"/>
          </a:p>
        </p:txBody>
      </p:sp>
      <p:sp>
        <p:nvSpPr>
          <p:cNvPr id="3" name="Content Placeholder 2">
            <a:extLst>
              <a:ext uri="{FF2B5EF4-FFF2-40B4-BE49-F238E27FC236}">
                <a16:creationId xmlns:a16="http://schemas.microsoft.com/office/drawing/2014/main" id="{1B4ACA87-1CBD-E99F-3B7D-14AD07928D40}"/>
              </a:ext>
            </a:extLst>
          </p:cNvPr>
          <p:cNvSpPr>
            <a:spLocks noGrp="1"/>
          </p:cNvSpPr>
          <p:nvPr>
            <p:ph idx="1"/>
          </p:nvPr>
        </p:nvSpPr>
        <p:spPr>
          <a:xfrm>
            <a:off x="5087816" y="914653"/>
            <a:ext cx="6348961" cy="5141093"/>
          </a:xfrm>
        </p:spPr>
        <p:txBody>
          <a:bodyPr vert="horz" lIns="91440" tIns="45720" rIns="91440" bIns="45720" rtlCol="0" anchor="ctr">
            <a:normAutofit/>
          </a:bodyPr>
          <a:lstStyle/>
          <a:p>
            <a:pPr algn="just"/>
            <a:r>
              <a:rPr lang="en-US" sz="1800" dirty="0">
                <a:solidFill>
                  <a:schemeClr val="tx1"/>
                </a:solidFill>
                <a:latin typeface="Times New Roman"/>
                <a:ea typeface="+mn-lt"/>
                <a:cs typeface="+mn-lt"/>
              </a:rPr>
              <a:t>The Knapsack Problem involves selecting a subset of items from a given set, where each item has a weight and a benefit value. The goal is to maximize the total benefit value of the selected items while ensuring that the total weight does not exceed the knapsack's maximum capacity.</a:t>
            </a:r>
            <a:endParaRPr lang="en-US" sz="1800" dirty="0">
              <a:solidFill>
                <a:schemeClr val="tx1"/>
              </a:solidFill>
              <a:latin typeface="Times New Roman"/>
              <a:cs typeface="Times New Roman"/>
            </a:endParaRPr>
          </a:p>
          <a:p>
            <a:pPr algn="just"/>
            <a:r>
              <a:rPr lang="en-US" sz="1800" dirty="0">
                <a:solidFill>
                  <a:schemeClr val="tx1"/>
                </a:solidFill>
                <a:latin typeface="Times New Roman"/>
                <a:ea typeface="+mn-lt"/>
                <a:cs typeface="+mn-lt"/>
              </a:rPr>
              <a:t>The problem can be formulated as an optimization problem, where the decision variables represent whether an item is included in the knapsack or not. Different algorithms, such as dynamic programming or greedy algorithms, can be used to solve the Knapsack Problem and find the optimal solution.</a:t>
            </a:r>
            <a:endParaRPr lang="en-US" sz="1800" dirty="0">
              <a:solidFill>
                <a:schemeClr val="tx1"/>
              </a:solidFill>
              <a:latin typeface="Times New Roman"/>
              <a:cs typeface="Times New Roman"/>
            </a:endParaRPr>
          </a:p>
          <a:p>
            <a:pPr algn="just"/>
            <a:endParaRPr lang="en-US" sz="1800" dirty="0">
              <a:solidFill>
                <a:schemeClr val="tx1"/>
              </a:solidFill>
              <a:latin typeface="Times New Roman"/>
              <a:cs typeface="Times New Roman"/>
            </a:endParaRPr>
          </a:p>
        </p:txBody>
      </p:sp>
      <p:sp>
        <p:nvSpPr>
          <p:cNvPr id="6" name="Slide Number Placeholder 5">
            <a:extLst>
              <a:ext uri="{FF2B5EF4-FFF2-40B4-BE49-F238E27FC236}">
                <a16:creationId xmlns:a16="http://schemas.microsoft.com/office/drawing/2014/main" id="{7B92B42D-4366-B81A-1345-9B42660B091F}"/>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57</a:t>
            </a:fld>
            <a:endParaRPr lang="en-US"/>
          </a:p>
        </p:txBody>
      </p:sp>
      <p:sp>
        <p:nvSpPr>
          <p:cNvPr id="4" name="Date Placeholder 3">
            <a:extLst>
              <a:ext uri="{FF2B5EF4-FFF2-40B4-BE49-F238E27FC236}">
                <a16:creationId xmlns:a16="http://schemas.microsoft.com/office/drawing/2014/main" id="{87D5040B-772F-232E-EA99-AA45F291A067}"/>
              </a:ext>
            </a:extLst>
          </p:cNvPr>
          <p:cNvSpPr>
            <a:spLocks noGrp="1"/>
          </p:cNvSpPr>
          <p:nvPr>
            <p:ph type="dt" sz="half" idx="10"/>
          </p:nvPr>
        </p:nvSpPr>
        <p:spPr>
          <a:xfrm>
            <a:off x="422899" y="6217920"/>
            <a:ext cx="2743200" cy="640080"/>
          </a:xfrm>
        </p:spPr>
        <p:txBody>
          <a:bodyPr anchor="ctr">
            <a:normAutofit/>
          </a:bodyPr>
          <a:lstStyle/>
          <a:p>
            <a:pPr>
              <a:spcAft>
                <a:spcPts val="600"/>
              </a:spcAft>
            </a:pPr>
            <a:fld id="{57B82617-1038-4F7D-B769-C3278D05E6A7}" type="datetime2">
              <a:rPr lang="en-US" smtClean="0"/>
              <a:t>Wednesday, January 14, 2026</a:t>
            </a:fld>
            <a:endParaRPr lang="en-US"/>
          </a:p>
        </p:txBody>
      </p:sp>
      <p:sp>
        <p:nvSpPr>
          <p:cNvPr id="5" name="Footer Placeholder 4">
            <a:extLst>
              <a:ext uri="{FF2B5EF4-FFF2-40B4-BE49-F238E27FC236}">
                <a16:creationId xmlns:a16="http://schemas.microsoft.com/office/drawing/2014/main" id="{9B5DFC64-B445-E982-00D7-F7B977D8384F}"/>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70327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CDF0-2145-515D-F2FB-C86CCFE785DB}"/>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B902373F-9FD1-07E5-B3A1-577E752E6C2A}"/>
              </a:ext>
            </a:extLst>
          </p:cNvPr>
          <p:cNvPicPr>
            <a:picLocks noGrp="1" noChangeAspect="1"/>
          </p:cNvPicPr>
          <p:nvPr>
            <p:ph idx="1"/>
          </p:nvPr>
        </p:nvPicPr>
        <p:blipFill>
          <a:blip r:embed="rId2"/>
          <a:stretch>
            <a:fillRect/>
          </a:stretch>
        </p:blipFill>
        <p:spPr>
          <a:xfrm>
            <a:off x="420624" y="382674"/>
            <a:ext cx="10186153" cy="6092652"/>
          </a:xfrm>
        </p:spPr>
      </p:pic>
      <p:sp>
        <p:nvSpPr>
          <p:cNvPr id="4" name="Date Placeholder 3">
            <a:extLst>
              <a:ext uri="{FF2B5EF4-FFF2-40B4-BE49-F238E27FC236}">
                <a16:creationId xmlns:a16="http://schemas.microsoft.com/office/drawing/2014/main" id="{20732BF5-561F-1610-11C6-60ABC6B784FD}"/>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31233173-55E3-E2D5-8DF6-643AE72F1AD0}"/>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389DD41A-597C-B12B-4AEF-FD45F06A3E28}"/>
              </a:ext>
            </a:extLst>
          </p:cNvPr>
          <p:cNvSpPr>
            <a:spLocks noGrp="1"/>
          </p:cNvSpPr>
          <p:nvPr>
            <p:ph type="sldNum" sz="quarter" idx="12"/>
          </p:nvPr>
        </p:nvSpPr>
        <p:spPr/>
        <p:txBody>
          <a:bodyPr/>
          <a:lstStyle/>
          <a:p>
            <a:fld id="{7BE69E03-4804-4553-A1EC-F089884EF50F}" type="slidenum">
              <a:rPr lang="en-US" smtClean="0"/>
              <a:t>58</a:t>
            </a:fld>
            <a:endParaRPr lang="en-US"/>
          </a:p>
        </p:txBody>
      </p:sp>
    </p:spTree>
    <p:extLst>
      <p:ext uri="{BB962C8B-B14F-4D97-AF65-F5344CB8AC3E}">
        <p14:creationId xmlns:p14="http://schemas.microsoft.com/office/powerpoint/2010/main" val="25960994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5CF8DB48-4F1C-0E42-D2F3-88022C62A2EF}"/>
              </a:ext>
            </a:extLst>
          </p:cNvPr>
          <p:cNvGraphicFramePr>
            <a:graphicFrameLocks noGrp="1"/>
          </p:cNvGraphicFramePr>
          <p:nvPr>
            <p:ph idx="1"/>
            <p:extLst>
              <p:ext uri="{D42A27DB-BD31-4B8C-83A1-F6EECF244321}">
                <p14:modId xmlns:p14="http://schemas.microsoft.com/office/powerpoint/2010/main" val="15019429"/>
              </p:ext>
            </p:extLst>
          </p:nvPr>
        </p:nvGraphicFramePr>
        <p:xfrm>
          <a:off x="130557" y="30911"/>
          <a:ext cx="10833099" cy="6507049"/>
        </p:xfrm>
        <a:graphic>
          <a:graphicData uri="http://schemas.openxmlformats.org/drawingml/2006/table">
            <a:tbl>
              <a:tblPr firstRow="1" bandRow="1">
                <a:tableStyleId>{5C22544A-7EE6-4342-B048-85BDC9FD1C3A}</a:tableStyleId>
              </a:tblPr>
              <a:tblGrid>
                <a:gridCol w="3611033">
                  <a:extLst>
                    <a:ext uri="{9D8B030D-6E8A-4147-A177-3AD203B41FA5}">
                      <a16:colId xmlns:a16="http://schemas.microsoft.com/office/drawing/2014/main" val="1197129825"/>
                    </a:ext>
                  </a:extLst>
                </a:gridCol>
                <a:gridCol w="3611033">
                  <a:extLst>
                    <a:ext uri="{9D8B030D-6E8A-4147-A177-3AD203B41FA5}">
                      <a16:colId xmlns:a16="http://schemas.microsoft.com/office/drawing/2014/main" val="2828492271"/>
                    </a:ext>
                  </a:extLst>
                </a:gridCol>
                <a:gridCol w="3611033">
                  <a:extLst>
                    <a:ext uri="{9D8B030D-6E8A-4147-A177-3AD203B41FA5}">
                      <a16:colId xmlns:a16="http://schemas.microsoft.com/office/drawing/2014/main" val="1154425480"/>
                    </a:ext>
                  </a:extLst>
                </a:gridCol>
              </a:tblGrid>
              <a:tr h="365207">
                <a:tc>
                  <a:txBody>
                    <a:bodyPr/>
                    <a:lstStyle/>
                    <a:p>
                      <a:r>
                        <a:rPr lang="en-US" dirty="0"/>
                        <a:t>Subset</a:t>
                      </a:r>
                      <a:endParaRPr lang="en-IN" dirty="0"/>
                    </a:p>
                  </a:txBody>
                  <a:tcPr/>
                </a:tc>
                <a:tc>
                  <a:txBody>
                    <a:bodyPr/>
                    <a:lstStyle/>
                    <a:p>
                      <a:r>
                        <a:rPr lang="en-US" dirty="0"/>
                        <a:t>Total weight</a:t>
                      </a:r>
                      <a:endParaRPr lang="en-IN" dirty="0"/>
                    </a:p>
                  </a:txBody>
                  <a:tcPr/>
                </a:tc>
                <a:tc>
                  <a:txBody>
                    <a:bodyPr/>
                    <a:lstStyle/>
                    <a:p>
                      <a:r>
                        <a:rPr lang="en-US" dirty="0"/>
                        <a:t>Total value</a:t>
                      </a:r>
                      <a:endParaRPr lang="en-IN" dirty="0"/>
                    </a:p>
                  </a:txBody>
                  <a:tcPr/>
                </a:tc>
                <a:extLst>
                  <a:ext uri="{0D108BD9-81ED-4DB2-BD59-A6C34878D82A}">
                    <a16:rowId xmlns:a16="http://schemas.microsoft.com/office/drawing/2014/main" val="526972372"/>
                  </a:ext>
                </a:extLst>
              </a:tr>
              <a:tr h="388344">
                <a:tc>
                  <a:txBody>
                    <a:bodyPr/>
                    <a:lstStyle/>
                    <a:p>
                      <a:r>
                        <a:rPr lang="el-GR" dirty="0"/>
                        <a:t>Φ</a:t>
                      </a:r>
                      <a:endParaRPr lang="en-IN" dirty="0"/>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783839650"/>
                  </a:ext>
                </a:extLst>
              </a:tr>
              <a:tr h="365207">
                <a:tc>
                  <a:txBody>
                    <a:bodyPr/>
                    <a:lstStyle/>
                    <a:p>
                      <a:r>
                        <a:rPr lang="en-IN" dirty="0"/>
                        <a:t>{1}</a:t>
                      </a:r>
                    </a:p>
                  </a:txBody>
                  <a:tcPr/>
                </a:tc>
                <a:tc>
                  <a:txBody>
                    <a:bodyPr/>
                    <a:lstStyle/>
                    <a:p>
                      <a:r>
                        <a:rPr lang="en-IN" dirty="0"/>
                        <a:t> 7</a:t>
                      </a:r>
                    </a:p>
                  </a:txBody>
                  <a:tcPr/>
                </a:tc>
                <a:tc>
                  <a:txBody>
                    <a:bodyPr/>
                    <a:lstStyle/>
                    <a:p>
                      <a:r>
                        <a:rPr lang="en-IN" dirty="0"/>
                        <a:t>$42</a:t>
                      </a:r>
                    </a:p>
                  </a:txBody>
                  <a:tcPr/>
                </a:tc>
                <a:extLst>
                  <a:ext uri="{0D108BD9-81ED-4DB2-BD59-A6C34878D82A}">
                    <a16:rowId xmlns:a16="http://schemas.microsoft.com/office/drawing/2014/main" val="4222693165"/>
                  </a:ext>
                </a:extLst>
              </a:tr>
              <a:tr h="365207">
                <a:tc>
                  <a:txBody>
                    <a:bodyPr/>
                    <a:lstStyle/>
                    <a:p>
                      <a:r>
                        <a:rPr lang="en-IN" dirty="0"/>
                        <a:t>{2}</a:t>
                      </a:r>
                    </a:p>
                  </a:txBody>
                  <a:tcPr/>
                </a:tc>
                <a:tc>
                  <a:txBody>
                    <a:bodyPr/>
                    <a:lstStyle/>
                    <a:p>
                      <a:r>
                        <a:rPr lang="en-IN" dirty="0"/>
                        <a:t>3</a:t>
                      </a:r>
                    </a:p>
                  </a:txBody>
                  <a:tcPr/>
                </a:tc>
                <a:tc>
                  <a:txBody>
                    <a:bodyPr/>
                    <a:lstStyle/>
                    <a:p>
                      <a:r>
                        <a:rPr lang="en-IN" dirty="0"/>
                        <a:t>$12 </a:t>
                      </a:r>
                    </a:p>
                  </a:txBody>
                  <a:tcPr/>
                </a:tc>
                <a:extLst>
                  <a:ext uri="{0D108BD9-81ED-4DB2-BD59-A6C34878D82A}">
                    <a16:rowId xmlns:a16="http://schemas.microsoft.com/office/drawing/2014/main" val="1201210294"/>
                  </a:ext>
                </a:extLst>
              </a:tr>
              <a:tr h="365207">
                <a:tc>
                  <a:txBody>
                    <a:bodyPr/>
                    <a:lstStyle/>
                    <a:p>
                      <a:r>
                        <a:rPr lang="en-IN" dirty="0"/>
                        <a:t>{3}</a:t>
                      </a:r>
                    </a:p>
                  </a:txBody>
                  <a:tcPr/>
                </a:tc>
                <a:tc>
                  <a:txBody>
                    <a:bodyPr/>
                    <a:lstStyle/>
                    <a:p>
                      <a:r>
                        <a:rPr lang="en-IN" dirty="0"/>
                        <a:t>4</a:t>
                      </a:r>
                    </a:p>
                  </a:txBody>
                  <a:tcPr/>
                </a:tc>
                <a:tc>
                  <a:txBody>
                    <a:bodyPr/>
                    <a:lstStyle/>
                    <a:p>
                      <a:r>
                        <a:rPr lang="en-IN" dirty="0"/>
                        <a:t>$40</a:t>
                      </a:r>
                    </a:p>
                  </a:txBody>
                  <a:tcPr/>
                </a:tc>
                <a:extLst>
                  <a:ext uri="{0D108BD9-81ED-4DB2-BD59-A6C34878D82A}">
                    <a16:rowId xmlns:a16="http://schemas.microsoft.com/office/drawing/2014/main" val="3253606023"/>
                  </a:ext>
                </a:extLst>
              </a:tr>
              <a:tr h="365207">
                <a:tc>
                  <a:txBody>
                    <a:bodyPr/>
                    <a:lstStyle/>
                    <a:p>
                      <a:r>
                        <a:rPr lang="en-IN" dirty="0"/>
                        <a:t>{4}</a:t>
                      </a:r>
                    </a:p>
                  </a:txBody>
                  <a:tcPr/>
                </a:tc>
                <a:tc>
                  <a:txBody>
                    <a:bodyPr/>
                    <a:lstStyle/>
                    <a:p>
                      <a:r>
                        <a:rPr lang="en-IN" dirty="0"/>
                        <a:t> 5</a:t>
                      </a:r>
                    </a:p>
                  </a:txBody>
                  <a:tcPr/>
                </a:tc>
                <a:tc>
                  <a:txBody>
                    <a:bodyPr/>
                    <a:lstStyle/>
                    <a:p>
                      <a:r>
                        <a:rPr lang="en-IN" dirty="0"/>
                        <a:t>$25</a:t>
                      </a:r>
                    </a:p>
                  </a:txBody>
                  <a:tcPr/>
                </a:tc>
                <a:extLst>
                  <a:ext uri="{0D108BD9-81ED-4DB2-BD59-A6C34878D82A}">
                    <a16:rowId xmlns:a16="http://schemas.microsoft.com/office/drawing/2014/main" val="737324437"/>
                  </a:ext>
                </a:extLst>
              </a:tr>
              <a:tr h="365207">
                <a:tc>
                  <a:txBody>
                    <a:bodyPr/>
                    <a:lstStyle/>
                    <a:p>
                      <a:r>
                        <a:rPr lang="en-IN" dirty="0"/>
                        <a:t>{1, 2}</a:t>
                      </a:r>
                    </a:p>
                  </a:txBody>
                  <a:tcPr/>
                </a:tc>
                <a:tc>
                  <a:txBody>
                    <a:bodyPr/>
                    <a:lstStyle/>
                    <a:p>
                      <a:r>
                        <a:rPr lang="en-IN" dirty="0"/>
                        <a:t>10</a:t>
                      </a:r>
                    </a:p>
                  </a:txBody>
                  <a:tcPr/>
                </a:tc>
                <a:tc>
                  <a:txBody>
                    <a:bodyPr/>
                    <a:lstStyle/>
                    <a:p>
                      <a:r>
                        <a:rPr lang="en-IN" dirty="0"/>
                        <a:t>$54</a:t>
                      </a:r>
                    </a:p>
                  </a:txBody>
                  <a:tcPr/>
                </a:tc>
                <a:extLst>
                  <a:ext uri="{0D108BD9-81ED-4DB2-BD59-A6C34878D82A}">
                    <a16:rowId xmlns:a16="http://schemas.microsoft.com/office/drawing/2014/main" val="2347817659"/>
                  </a:ext>
                </a:extLst>
              </a:tr>
              <a:tr h="365207">
                <a:tc>
                  <a:txBody>
                    <a:bodyPr/>
                    <a:lstStyle/>
                    <a:p>
                      <a:r>
                        <a:rPr lang="en-US" dirty="0"/>
                        <a:t>{1, 3}</a:t>
                      </a:r>
                      <a:endParaRPr lang="en-IN" dirty="0"/>
                    </a:p>
                  </a:txBody>
                  <a:tcPr/>
                </a:tc>
                <a:tc>
                  <a:txBody>
                    <a:bodyPr/>
                    <a:lstStyle/>
                    <a:p>
                      <a:r>
                        <a:rPr lang="en-US" dirty="0"/>
                        <a:t>11</a:t>
                      </a:r>
                      <a:endParaRPr lang="en-IN" dirty="0"/>
                    </a:p>
                  </a:txBody>
                  <a:tcPr/>
                </a:tc>
                <a:tc>
                  <a:txBody>
                    <a:bodyPr/>
                    <a:lstStyle/>
                    <a:p>
                      <a:r>
                        <a:rPr lang="en-US" dirty="0"/>
                        <a:t>not feasible </a:t>
                      </a:r>
                      <a:endParaRPr lang="en-IN" dirty="0"/>
                    </a:p>
                  </a:txBody>
                  <a:tcPr/>
                </a:tc>
                <a:extLst>
                  <a:ext uri="{0D108BD9-81ED-4DB2-BD59-A6C34878D82A}">
                    <a16:rowId xmlns:a16="http://schemas.microsoft.com/office/drawing/2014/main" val="571417072"/>
                  </a:ext>
                </a:extLst>
              </a:tr>
              <a:tr h="365207">
                <a:tc>
                  <a:txBody>
                    <a:bodyPr/>
                    <a:lstStyle/>
                    <a:p>
                      <a:r>
                        <a:rPr lang="en-US" dirty="0"/>
                        <a:t>{1, 4}</a:t>
                      </a:r>
                      <a:endParaRPr lang="en-IN" dirty="0"/>
                    </a:p>
                  </a:txBody>
                  <a:tcPr/>
                </a:tc>
                <a:tc>
                  <a:txBody>
                    <a:bodyPr/>
                    <a:lstStyle/>
                    <a:p>
                      <a:r>
                        <a:rPr lang="en-US" dirty="0"/>
                        <a:t>12</a:t>
                      </a:r>
                      <a:endParaRPr lang="en-IN" dirty="0"/>
                    </a:p>
                  </a:txBody>
                  <a:tcPr/>
                </a:tc>
                <a:tc>
                  <a:txBody>
                    <a:bodyPr/>
                    <a:lstStyle/>
                    <a:p>
                      <a:r>
                        <a:rPr lang="en-US" dirty="0"/>
                        <a:t>not feasible </a:t>
                      </a:r>
                      <a:endParaRPr lang="en-IN" dirty="0"/>
                    </a:p>
                  </a:txBody>
                  <a:tcPr/>
                </a:tc>
                <a:extLst>
                  <a:ext uri="{0D108BD9-81ED-4DB2-BD59-A6C34878D82A}">
                    <a16:rowId xmlns:a16="http://schemas.microsoft.com/office/drawing/2014/main" val="600346103"/>
                  </a:ext>
                </a:extLst>
              </a:tr>
              <a:tr h="365207">
                <a:tc>
                  <a:txBody>
                    <a:bodyPr/>
                    <a:lstStyle/>
                    <a:p>
                      <a:r>
                        <a:rPr lang="en-IN" dirty="0"/>
                        <a:t>{2, 3}</a:t>
                      </a:r>
                    </a:p>
                  </a:txBody>
                  <a:tcPr/>
                </a:tc>
                <a:tc>
                  <a:txBody>
                    <a:bodyPr/>
                    <a:lstStyle/>
                    <a:p>
                      <a:r>
                        <a:rPr lang="en-IN" dirty="0"/>
                        <a:t> 7</a:t>
                      </a:r>
                    </a:p>
                  </a:txBody>
                  <a:tcPr/>
                </a:tc>
                <a:tc>
                  <a:txBody>
                    <a:bodyPr/>
                    <a:lstStyle/>
                    <a:p>
                      <a:r>
                        <a:rPr lang="en-IN" dirty="0"/>
                        <a:t>$52</a:t>
                      </a:r>
                    </a:p>
                  </a:txBody>
                  <a:tcPr/>
                </a:tc>
                <a:extLst>
                  <a:ext uri="{0D108BD9-81ED-4DB2-BD59-A6C34878D82A}">
                    <a16:rowId xmlns:a16="http://schemas.microsoft.com/office/drawing/2014/main" val="1799259445"/>
                  </a:ext>
                </a:extLst>
              </a:tr>
              <a:tr h="367708">
                <a:tc>
                  <a:txBody>
                    <a:bodyPr/>
                    <a:lstStyle/>
                    <a:p>
                      <a:r>
                        <a:rPr lang="en-IN" dirty="0"/>
                        <a:t>{2, 4}</a:t>
                      </a:r>
                    </a:p>
                  </a:txBody>
                  <a:tcPr/>
                </a:tc>
                <a:tc>
                  <a:txBody>
                    <a:bodyPr/>
                    <a:lstStyle/>
                    <a:p>
                      <a:r>
                        <a:rPr lang="en-IN" dirty="0"/>
                        <a:t>8</a:t>
                      </a:r>
                    </a:p>
                  </a:txBody>
                  <a:tcPr/>
                </a:tc>
                <a:tc>
                  <a:txBody>
                    <a:bodyPr/>
                    <a:lstStyle/>
                    <a:p>
                      <a:r>
                        <a:rPr lang="en-IN" dirty="0"/>
                        <a:t>$37</a:t>
                      </a:r>
                    </a:p>
                  </a:txBody>
                  <a:tcPr/>
                </a:tc>
                <a:extLst>
                  <a:ext uri="{0D108BD9-81ED-4DB2-BD59-A6C34878D82A}">
                    <a16:rowId xmlns:a16="http://schemas.microsoft.com/office/drawing/2014/main" val="3566833641"/>
                  </a:ext>
                </a:extLst>
              </a:tr>
              <a:tr h="630357">
                <a:tc>
                  <a:txBody>
                    <a:bodyPr/>
                    <a:lstStyle/>
                    <a:p>
                      <a:r>
                        <a:rPr lang="en-IN" dirty="0"/>
                        <a:t>{3, 4}</a:t>
                      </a:r>
                    </a:p>
                  </a:txBody>
                  <a:tcPr/>
                </a:tc>
                <a:tc>
                  <a:txBody>
                    <a:bodyPr/>
                    <a:lstStyle/>
                    <a:p>
                      <a:r>
                        <a:rPr lang="en-IN" dirty="0"/>
                        <a:t>9</a:t>
                      </a:r>
                    </a:p>
                  </a:txBody>
                  <a:tcPr/>
                </a:tc>
                <a:tc>
                  <a:txBody>
                    <a:bodyPr/>
                    <a:lstStyle/>
                    <a:p>
                      <a:r>
                        <a:rPr lang="en-IN" dirty="0"/>
                        <a:t>$65 (Maximum-Optimum)</a:t>
                      </a:r>
                    </a:p>
                  </a:txBody>
                  <a:tcPr/>
                </a:tc>
                <a:extLst>
                  <a:ext uri="{0D108BD9-81ED-4DB2-BD59-A6C34878D82A}">
                    <a16:rowId xmlns:a16="http://schemas.microsoft.com/office/drawing/2014/main" val="1243175185"/>
                  </a:ext>
                </a:extLst>
              </a:tr>
              <a:tr h="365207">
                <a:tc>
                  <a:txBody>
                    <a:bodyPr/>
                    <a:lstStyle/>
                    <a:p>
                      <a:r>
                        <a:rPr lang="en-US" dirty="0"/>
                        <a:t>{1, 2, 3}</a:t>
                      </a:r>
                      <a:endParaRPr lang="en-IN" dirty="0"/>
                    </a:p>
                  </a:txBody>
                  <a:tcPr/>
                </a:tc>
                <a:tc>
                  <a:txBody>
                    <a:bodyPr/>
                    <a:lstStyle/>
                    <a:p>
                      <a:r>
                        <a:rPr lang="en-US" dirty="0"/>
                        <a:t>14</a:t>
                      </a:r>
                      <a:endParaRPr lang="en-IN" dirty="0"/>
                    </a:p>
                  </a:txBody>
                  <a:tcPr/>
                </a:tc>
                <a:tc>
                  <a:txBody>
                    <a:bodyPr/>
                    <a:lstStyle/>
                    <a:p>
                      <a:r>
                        <a:rPr lang="en-US" dirty="0"/>
                        <a:t>not feasible</a:t>
                      </a:r>
                      <a:endParaRPr lang="en-IN" dirty="0"/>
                    </a:p>
                  </a:txBody>
                  <a:tcPr/>
                </a:tc>
                <a:extLst>
                  <a:ext uri="{0D108BD9-81ED-4DB2-BD59-A6C34878D82A}">
                    <a16:rowId xmlns:a16="http://schemas.microsoft.com/office/drawing/2014/main" val="571606130"/>
                  </a:ext>
                </a:extLst>
              </a:tr>
              <a:tr h="365207">
                <a:tc>
                  <a:txBody>
                    <a:bodyPr/>
                    <a:lstStyle/>
                    <a:p>
                      <a:r>
                        <a:rPr lang="en-US" dirty="0"/>
                        <a:t>{1, 2, 4}</a:t>
                      </a:r>
                      <a:endParaRPr lang="en-IN" dirty="0"/>
                    </a:p>
                  </a:txBody>
                  <a:tcPr/>
                </a:tc>
                <a:tc>
                  <a:txBody>
                    <a:bodyPr/>
                    <a:lstStyle/>
                    <a:p>
                      <a:r>
                        <a:rPr lang="en-US" dirty="0"/>
                        <a:t>15 </a:t>
                      </a:r>
                      <a:endParaRPr lang="en-IN" dirty="0"/>
                    </a:p>
                  </a:txBody>
                  <a:tcPr/>
                </a:tc>
                <a:tc>
                  <a:txBody>
                    <a:bodyPr/>
                    <a:lstStyle/>
                    <a:p>
                      <a:r>
                        <a:rPr lang="en-US" dirty="0"/>
                        <a:t>not feasible</a:t>
                      </a:r>
                      <a:endParaRPr lang="en-IN" dirty="0"/>
                    </a:p>
                  </a:txBody>
                  <a:tcPr/>
                </a:tc>
                <a:extLst>
                  <a:ext uri="{0D108BD9-81ED-4DB2-BD59-A6C34878D82A}">
                    <a16:rowId xmlns:a16="http://schemas.microsoft.com/office/drawing/2014/main" val="598515490"/>
                  </a:ext>
                </a:extLst>
              </a:tr>
              <a:tr h="365207">
                <a:tc>
                  <a:txBody>
                    <a:bodyPr/>
                    <a:lstStyle/>
                    <a:p>
                      <a:r>
                        <a:rPr lang="en-US" dirty="0"/>
                        <a:t>{1, 3, 4}</a:t>
                      </a:r>
                      <a:endParaRPr lang="en-IN" dirty="0"/>
                    </a:p>
                  </a:txBody>
                  <a:tcPr/>
                </a:tc>
                <a:tc>
                  <a:txBody>
                    <a:bodyPr/>
                    <a:lstStyle/>
                    <a:p>
                      <a:r>
                        <a:rPr lang="en-IN" dirty="0"/>
                        <a:t>16</a:t>
                      </a:r>
                    </a:p>
                  </a:txBody>
                  <a:tcPr/>
                </a:tc>
                <a:tc>
                  <a:txBody>
                    <a:bodyPr/>
                    <a:lstStyle/>
                    <a:p>
                      <a:r>
                        <a:rPr lang="en-US" dirty="0"/>
                        <a:t>not feasible</a:t>
                      </a:r>
                      <a:endParaRPr lang="en-IN" dirty="0"/>
                    </a:p>
                  </a:txBody>
                  <a:tcPr/>
                </a:tc>
                <a:extLst>
                  <a:ext uri="{0D108BD9-81ED-4DB2-BD59-A6C34878D82A}">
                    <a16:rowId xmlns:a16="http://schemas.microsoft.com/office/drawing/2014/main" val="498171140"/>
                  </a:ext>
                </a:extLst>
              </a:tr>
              <a:tr h="365207">
                <a:tc>
                  <a:txBody>
                    <a:bodyPr/>
                    <a:lstStyle/>
                    <a:p>
                      <a:r>
                        <a:rPr lang="en-US" dirty="0"/>
                        <a:t>{ 2, 3, 4}</a:t>
                      </a:r>
                      <a:endParaRPr lang="en-IN" dirty="0"/>
                    </a:p>
                  </a:txBody>
                  <a:tcPr/>
                </a:tc>
                <a:tc>
                  <a:txBody>
                    <a:bodyPr/>
                    <a:lstStyle/>
                    <a:p>
                      <a:r>
                        <a:rPr lang="en-IN" dirty="0"/>
                        <a:t>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feasible</a:t>
                      </a:r>
                      <a:endParaRPr lang="en-IN" dirty="0"/>
                    </a:p>
                  </a:txBody>
                  <a:tcPr/>
                </a:tc>
                <a:extLst>
                  <a:ext uri="{0D108BD9-81ED-4DB2-BD59-A6C34878D82A}">
                    <a16:rowId xmlns:a16="http://schemas.microsoft.com/office/drawing/2014/main" val="990214028"/>
                  </a:ext>
                </a:extLst>
              </a:tr>
              <a:tr h="365207">
                <a:tc>
                  <a:txBody>
                    <a:bodyPr/>
                    <a:lstStyle/>
                    <a:p>
                      <a:r>
                        <a:rPr lang="en-US" dirty="0"/>
                        <a:t>{1, 2, 3, 4} </a:t>
                      </a:r>
                      <a:endParaRPr lang="en-IN" dirty="0"/>
                    </a:p>
                  </a:txBody>
                  <a:tcPr/>
                </a:tc>
                <a:tc>
                  <a:txBody>
                    <a:bodyPr/>
                    <a:lstStyle/>
                    <a:p>
                      <a:r>
                        <a:rPr lang="en-IN" dirty="0"/>
                        <a:t>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feasible</a:t>
                      </a:r>
                      <a:endParaRPr lang="en-IN" dirty="0"/>
                    </a:p>
                  </a:txBody>
                  <a:tcPr/>
                </a:tc>
                <a:extLst>
                  <a:ext uri="{0D108BD9-81ED-4DB2-BD59-A6C34878D82A}">
                    <a16:rowId xmlns:a16="http://schemas.microsoft.com/office/drawing/2014/main" val="3463977706"/>
                  </a:ext>
                </a:extLst>
              </a:tr>
            </a:tbl>
          </a:graphicData>
        </a:graphic>
      </p:graphicFrame>
      <p:sp>
        <p:nvSpPr>
          <p:cNvPr id="4" name="Date Placeholder 3">
            <a:extLst>
              <a:ext uri="{FF2B5EF4-FFF2-40B4-BE49-F238E27FC236}">
                <a16:creationId xmlns:a16="http://schemas.microsoft.com/office/drawing/2014/main" id="{0AD2136C-6622-E8F1-856F-648F4F89A74D}"/>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E9A08DC3-B008-65C6-06E8-808AE6F55B8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BB56D160-A3ED-9BFA-F548-95FCB746B875}"/>
              </a:ext>
            </a:extLst>
          </p:cNvPr>
          <p:cNvSpPr>
            <a:spLocks noGrp="1"/>
          </p:cNvSpPr>
          <p:nvPr>
            <p:ph type="sldNum" sz="quarter" idx="12"/>
          </p:nvPr>
        </p:nvSpPr>
        <p:spPr/>
        <p:txBody>
          <a:bodyPr/>
          <a:lstStyle/>
          <a:p>
            <a:fld id="{7BE69E03-4804-4553-A1EC-F089884EF50F}" type="slidenum">
              <a:rPr lang="en-US" smtClean="0"/>
              <a:t>59</a:t>
            </a:fld>
            <a:endParaRPr lang="en-US"/>
          </a:p>
        </p:txBody>
      </p:sp>
    </p:spTree>
    <p:extLst>
      <p:ext uri="{BB962C8B-B14F-4D97-AF65-F5344CB8AC3E}">
        <p14:creationId xmlns:p14="http://schemas.microsoft.com/office/powerpoint/2010/main" val="28846332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BADC2316-FA71-4441-8DB3-CBDFF5A2F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Rectangle 16">
            <a:extLst>
              <a:ext uri="{FF2B5EF4-FFF2-40B4-BE49-F238E27FC236}">
                <a16:creationId xmlns:a16="http://schemas.microsoft.com/office/drawing/2014/main" id="{F76F0355-CC47-41EE-BB96-C16F2B5AF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9" name="Rectangle 18">
            <a:extLst>
              <a:ext uri="{FF2B5EF4-FFF2-40B4-BE49-F238E27FC236}">
                <a16:creationId xmlns:a16="http://schemas.microsoft.com/office/drawing/2014/main" id="{72759A47-6B4E-4782-9AC5-439D7B31C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1FA6E7-8D05-71D3-8651-A1112904F236}"/>
              </a:ext>
            </a:extLst>
          </p:cNvPr>
          <p:cNvSpPr>
            <a:spLocks noGrp="1"/>
          </p:cNvSpPr>
          <p:nvPr>
            <p:ph type="title"/>
          </p:nvPr>
        </p:nvSpPr>
        <p:spPr>
          <a:xfrm>
            <a:off x="6370657" y="2768478"/>
            <a:ext cx="5171500" cy="2158714"/>
          </a:xfrm>
        </p:spPr>
        <p:txBody>
          <a:bodyPr vert="horz" lIns="91440" tIns="45720" rIns="91440" bIns="45720" rtlCol="0" anchor="b">
            <a:normAutofit/>
          </a:bodyPr>
          <a:lstStyle/>
          <a:p>
            <a:r>
              <a:rPr lang="en-US" sz="3700"/>
              <a:t>KNAPSACK PROBLEM</a:t>
            </a:r>
          </a:p>
          <a:p>
            <a:endParaRPr lang="en-US" sz="3700"/>
          </a:p>
          <a:p>
            <a:endParaRPr lang="en-US" sz="3700"/>
          </a:p>
        </p:txBody>
      </p:sp>
      <p:sp>
        <p:nvSpPr>
          <p:cNvPr id="6" name="Slide Number Placeholder 5">
            <a:extLst>
              <a:ext uri="{FF2B5EF4-FFF2-40B4-BE49-F238E27FC236}">
                <a16:creationId xmlns:a16="http://schemas.microsoft.com/office/drawing/2014/main" id="{7B67C201-0FB4-3041-5DA4-523DAA7EE19D}"/>
              </a:ext>
            </a:extLst>
          </p:cNvPr>
          <p:cNvSpPr>
            <a:spLocks noGrp="1"/>
          </p:cNvSpPr>
          <p:nvPr>
            <p:ph type="sldNum" sz="quarter" idx="12"/>
          </p:nvPr>
        </p:nvSpPr>
        <p:spPr>
          <a:xfrm>
            <a:off x="11504676" y="-1419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60</a:t>
            </a:fld>
            <a:endParaRPr lang="en-US" sz="1200"/>
          </a:p>
        </p:txBody>
      </p:sp>
      <p:sp>
        <p:nvSpPr>
          <p:cNvPr id="4" name="Date Placeholder 3">
            <a:extLst>
              <a:ext uri="{FF2B5EF4-FFF2-40B4-BE49-F238E27FC236}">
                <a16:creationId xmlns:a16="http://schemas.microsoft.com/office/drawing/2014/main" id="{784A66CF-1015-2780-C5B5-A7C3892047BF}"/>
              </a:ext>
            </a:extLst>
          </p:cNvPr>
          <p:cNvSpPr>
            <a:spLocks noGrp="1"/>
          </p:cNvSpPr>
          <p:nvPr>
            <p:ph type="dt" sz="half" idx="10"/>
          </p:nvPr>
        </p:nvSpPr>
        <p:spPr>
          <a:xfrm>
            <a:off x="422899" y="6217920"/>
            <a:ext cx="2743200" cy="640080"/>
          </a:xfrm>
        </p:spPr>
        <p:txBody>
          <a:bodyPr vert="horz" lIns="91440" tIns="45720" rIns="91440" bIns="45720" rtlCol="0" anchor="ctr" anchorCtr="0">
            <a:normAutofit/>
          </a:bodyPr>
          <a:lstStyle/>
          <a:p>
            <a:pPr>
              <a:spcAft>
                <a:spcPts val="600"/>
              </a:spcAft>
            </a:pPr>
            <a:fld id="{971C2EE5-8776-4A35-A3DB-0A2DA00A4F27}" type="datetime2">
              <a:rPr lang="en-US" sz="1200" smtClean="0"/>
              <a:t>Wednesday, January 14, 2026</a:t>
            </a:fld>
            <a:endParaRPr lang="en-US" sz="1200"/>
          </a:p>
        </p:txBody>
      </p:sp>
      <p:sp>
        <p:nvSpPr>
          <p:cNvPr id="5" name="Footer Placeholder 4">
            <a:extLst>
              <a:ext uri="{FF2B5EF4-FFF2-40B4-BE49-F238E27FC236}">
                <a16:creationId xmlns:a16="http://schemas.microsoft.com/office/drawing/2014/main" id="{035E320A-0C87-B8A4-45D9-3DF8F1CCCFCE}"/>
              </a:ext>
            </a:extLst>
          </p:cNvPr>
          <p:cNvSpPr>
            <a:spLocks noGrp="1"/>
          </p:cNvSpPr>
          <p:nvPr>
            <p:ph type="ftr" sz="quarter" idx="11"/>
          </p:nvPr>
        </p:nvSpPr>
        <p:spPr>
          <a:xfrm>
            <a:off x="3762376" y="6217920"/>
            <a:ext cx="7195367"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p>
        </p:txBody>
      </p:sp>
      <p:cxnSp>
        <p:nvCxnSpPr>
          <p:cNvPr id="21" name="Straight Connector 20">
            <a:extLst>
              <a:ext uri="{FF2B5EF4-FFF2-40B4-BE49-F238E27FC236}">
                <a16:creationId xmlns:a16="http://schemas.microsoft.com/office/drawing/2014/main" id="{411C2B77-5F63-4462-9860-A6F4D5EAC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38F11FD-73B0-48DF-9CC3-2A1537413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DF5C8A94-E698-4356-9F20-5773888F1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5" y="685800"/>
            <a:ext cx="687324" cy="5486400"/>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graphicFrame>
        <p:nvGraphicFramePr>
          <p:cNvPr id="8" name="Content Placeholder 7">
            <a:extLst>
              <a:ext uri="{FF2B5EF4-FFF2-40B4-BE49-F238E27FC236}">
                <a16:creationId xmlns:a16="http://schemas.microsoft.com/office/drawing/2014/main" id="{FBCA23CF-8FC0-C3A3-DF3F-D1A2669EC7DD}"/>
              </a:ext>
            </a:extLst>
          </p:cNvPr>
          <p:cNvGraphicFramePr>
            <a:graphicFrameLocks noGrp="1"/>
          </p:cNvGraphicFramePr>
          <p:nvPr>
            <p:ph idx="1"/>
            <p:extLst>
              <p:ext uri="{D42A27DB-BD31-4B8C-83A1-F6EECF244321}">
                <p14:modId xmlns:p14="http://schemas.microsoft.com/office/powerpoint/2010/main" val="3066105246"/>
              </p:ext>
            </p:extLst>
          </p:nvPr>
        </p:nvGraphicFramePr>
        <p:xfrm>
          <a:off x="1228112" y="619318"/>
          <a:ext cx="4759458" cy="3462320"/>
        </p:xfrm>
        <a:graphic>
          <a:graphicData uri="http://schemas.openxmlformats.org/drawingml/2006/table">
            <a:tbl>
              <a:tblPr firstRow="1" bandRow="1">
                <a:noFill/>
                <a:tableStyleId>{5C22544A-7EE6-4342-B048-85BDC9FD1C3A}</a:tableStyleId>
              </a:tblPr>
              <a:tblGrid>
                <a:gridCol w="1287523">
                  <a:extLst>
                    <a:ext uri="{9D8B030D-6E8A-4147-A177-3AD203B41FA5}">
                      <a16:colId xmlns:a16="http://schemas.microsoft.com/office/drawing/2014/main" val="3874817554"/>
                    </a:ext>
                  </a:extLst>
                </a:gridCol>
                <a:gridCol w="1893891">
                  <a:extLst>
                    <a:ext uri="{9D8B030D-6E8A-4147-A177-3AD203B41FA5}">
                      <a16:colId xmlns:a16="http://schemas.microsoft.com/office/drawing/2014/main" val="2573452887"/>
                    </a:ext>
                  </a:extLst>
                </a:gridCol>
                <a:gridCol w="1578044">
                  <a:extLst>
                    <a:ext uri="{9D8B030D-6E8A-4147-A177-3AD203B41FA5}">
                      <a16:colId xmlns:a16="http://schemas.microsoft.com/office/drawing/2014/main" val="1086075877"/>
                    </a:ext>
                  </a:extLst>
                </a:gridCol>
              </a:tblGrid>
              <a:tr h="692464">
                <a:tc>
                  <a:txBody>
                    <a:bodyPr/>
                    <a:lstStyle/>
                    <a:p>
                      <a:pPr marL="0" algn="l" rtl="0" eaLnBrk="1" latinLnBrk="0" hangingPunct="1">
                        <a:spcBef>
                          <a:spcPts val="0"/>
                        </a:spcBef>
                        <a:spcAft>
                          <a:spcPts val="0"/>
                        </a:spcAft>
                      </a:pPr>
                      <a:r>
                        <a:rPr lang="en-US" sz="2300" b="1" kern="1200" dirty="0">
                          <a:solidFill>
                            <a:schemeClr val="tx1">
                              <a:lumMod val="75000"/>
                              <a:lumOff val="25000"/>
                            </a:schemeClr>
                          </a:solidFill>
                          <a:effectLst/>
                          <a:latin typeface="Calibri"/>
                        </a:rPr>
                        <a:t>Item</a:t>
                      </a:r>
                      <a:r>
                        <a:rPr lang="en-US" sz="2300" b="1" kern="1200" baseline="0" dirty="0">
                          <a:solidFill>
                            <a:schemeClr val="tx1">
                              <a:lumMod val="75000"/>
                              <a:lumOff val="25000"/>
                            </a:schemeClr>
                          </a:solidFill>
                          <a:effectLst/>
                          <a:latin typeface="Calibri"/>
                        </a:rPr>
                        <a:t> </a:t>
                      </a:r>
                      <a:r>
                        <a:rPr lang="en-US" sz="2300" b="1" kern="1200" baseline="0" dirty="0" err="1">
                          <a:solidFill>
                            <a:schemeClr val="tx1">
                              <a:lumMod val="75000"/>
                              <a:lumOff val="25000"/>
                            </a:schemeClr>
                          </a:solidFill>
                          <a:effectLst/>
                          <a:latin typeface="Calibri"/>
                        </a:rPr>
                        <a:t>i</a:t>
                      </a:r>
                      <a:endParaRPr lang="en-US" sz="2300" b="1" dirty="0" err="1">
                        <a:solidFill>
                          <a:schemeClr val="tx1">
                            <a:lumMod val="75000"/>
                            <a:lumOff val="25000"/>
                          </a:schemeClr>
                        </a:solidFill>
                        <a:effectLst/>
                        <a:latin typeface="Calibri"/>
                      </a:endParaRPr>
                    </a:p>
                  </a:txBody>
                  <a:tcPr marL="282638" marR="0" marT="141319" marB="14131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b="1" kern="1200" dirty="0">
                          <a:solidFill>
                            <a:schemeClr val="tx1">
                              <a:lumMod val="75000"/>
                              <a:lumOff val="25000"/>
                            </a:schemeClr>
                          </a:solidFill>
                          <a:effectLst/>
                          <a:latin typeface="Calibri"/>
                        </a:rPr>
                        <a:t>Weight</a:t>
                      </a:r>
                      <a:r>
                        <a:rPr lang="en-US" sz="2300" b="1" kern="1200" baseline="0" dirty="0">
                          <a:solidFill>
                            <a:schemeClr val="tx1">
                              <a:lumMod val="75000"/>
                              <a:lumOff val="25000"/>
                            </a:schemeClr>
                          </a:solidFill>
                          <a:effectLst/>
                          <a:latin typeface="Calibri"/>
                        </a:rPr>
                        <a:t> </a:t>
                      </a:r>
                      <a:r>
                        <a:rPr lang="en-US" sz="2300" b="1" kern="1200" dirty="0">
                          <a:solidFill>
                            <a:schemeClr val="tx1">
                              <a:lumMod val="75000"/>
                              <a:lumOff val="25000"/>
                            </a:schemeClr>
                          </a:solidFill>
                          <a:effectLst/>
                          <a:latin typeface="Calibri"/>
                        </a:rPr>
                        <a:t>W</a:t>
                      </a:r>
                      <a:r>
                        <a:rPr lang="en-US" sz="2300" b="1" kern="1200" baseline="-25000" dirty="0">
                          <a:solidFill>
                            <a:schemeClr val="tx1">
                              <a:lumMod val="75000"/>
                              <a:lumOff val="25000"/>
                            </a:schemeClr>
                          </a:solidFill>
                          <a:effectLst/>
                          <a:latin typeface="Calibri"/>
                        </a:rPr>
                        <a:t>i</a:t>
                      </a:r>
                      <a:endParaRPr lang="en-US" sz="2300" b="1" dirty="0">
                        <a:solidFill>
                          <a:schemeClr val="tx1">
                            <a:lumMod val="75000"/>
                            <a:lumOff val="25000"/>
                          </a:schemeClr>
                        </a:solidFill>
                        <a:effectLst/>
                        <a:latin typeface="Calibri"/>
                      </a:endParaRPr>
                    </a:p>
                  </a:txBody>
                  <a:tcPr marL="282638" marR="0" marT="141319" marB="14131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b="1" kern="1200" dirty="0">
                          <a:solidFill>
                            <a:schemeClr val="tx1">
                              <a:lumMod val="75000"/>
                              <a:lumOff val="25000"/>
                            </a:schemeClr>
                          </a:solidFill>
                          <a:effectLst/>
                          <a:latin typeface="Calibri"/>
                        </a:rPr>
                        <a:t>Value V</a:t>
                      </a:r>
                      <a:r>
                        <a:rPr lang="en-US" sz="2300" b="1" kern="1200" baseline="-25000" dirty="0">
                          <a:solidFill>
                            <a:schemeClr val="tx1">
                              <a:lumMod val="75000"/>
                              <a:lumOff val="25000"/>
                            </a:schemeClr>
                          </a:solidFill>
                          <a:effectLst/>
                          <a:latin typeface="Calibri"/>
                        </a:rPr>
                        <a:t>i</a:t>
                      </a:r>
                      <a:endParaRPr lang="en-US" sz="2300" b="1" dirty="0">
                        <a:solidFill>
                          <a:schemeClr val="tx1">
                            <a:lumMod val="75000"/>
                            <a:lumOff val="25000"/>
                          </a:schemeClr>
                        </a:solidFill>
                        <a:effectLst/>
                        <a:latin typeface="Calibri"/>
                      </a:endParaRPr>
                    </a:p>
                  </a:txBody>
                  <a:tcPr marL="282638" marR="0" marT="141319" marB="141319"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862973680"/>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1</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2</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$1</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947514133"/>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2</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3</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$2</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589107334"/>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3</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4</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$8</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996043207"/>
                  </a:ext>
                </a:extLst>
              </a:tr>
              <a:tr h="692464">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4</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5</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marL="0" algn="l" rtl="0" eaLnBrk="1" latinLnBrk="0" hangingPunct="1">
                        <a:spcBef>
                          <a:spcPts val="0"/>
                        </a:spcBef>
                        <a:spcAft>
                          <a:spcPts val="0"/>
                        </a:spcAft>
                      </a:pPr>
                      <a:r>
                        <a:rPr lang="en-US" sz="2300" kern="1200" dirty="0">
                          <a:solidFill>
                            <a:schemeClr val="tx1">
                              <a:lumMod val="75000"/>
                              <a:lumOff val="25000"/>
                            </a:schemeClr>
                          </a:solidFill>
                          <a:effectLst/>
                          <a:latin typeface="Calibri"/>
                        </a:rPr>
                        <a:t>$6</a:t>
                      </a:r>
                      <a:endParaRPr lang="en-US" sz="2300" dirty="0">
                        <a:solidFill>
                          <a:schemeClr val="tx1">
                            <a:lumMod val="75000"/>
                            <a:lumOff val="25000"/>
                          </a:schemeClr>
                        </a:solidFill>
                        <a:effectLst/>
                        <a:latin typeface="Calibri"/>
                      </a:endParaRPr>
                    </a:p>
                  </a:txBody>
                  <a:tcPr marL="282638" marR="0" marT="141319" marB="141319"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4285057219"/>
                  </a:ext>
                </a:extLst>
              </a:tr>
            </a:tbl>
          </a:graphicData>
        </a:graphic>
      </p:graphicFrame>
      <p:pic>
        <p:nvPicPr>
          <p:cNvPr id="9" name="Picture 8">
            <a:extLst>
              <a:ext uri="{FF2B5EF4-FFF2-40B4-BE49-F238E27FC236}">
                <a16:creationId xmlns:a16="http://schemas.microsoft.com/office/drawing/2014/main" id="{035FBDB2-516F-B9F6-1137-F421C2E7143B}"/>
              </a:ext>
            </a:extLst>
          </p:cNvPr>
          <p:cNvPicPr>
            <a:picLocks noChangeAspect="1"/>
          </p:cNvPicPr>
          <p:nvPr/>
        </p:nvPicPr>
        <p:blipFill>
          <a:blip r:embed="rId2"/>
          <a:stretch>
            <a:fillRect/>
          </a:stretch>
        </p:blipFill>
        <p:spPr>
          <a:xfrm>
            <a:off x="1233488" y="5336198"/>
            <a:ext cx="10029825" cy="781050"/>
          </a:xfrm>
          <a:prstGeom prst="rect">
            <a:avLst/>
          </a:prstGeom>
        </p:spPr>
      </p:pic>
    </p:spTree>
    <p:extLst>
      <p:ext uri="{BB962C8B-B14F-4D97-AF65-F5344CB8AC3E}">
        <p14:creationId xmlns:p14="http://schemas.microsoft.com/office/powerpoint/2010/main" val="3702079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C769AB-DD7B-C4D7-00AC-86CB5265931B}"/>
              </a:ext>
            </a:extLst>
          </p:cNvPr>
          <p:cNvSpPr>
            <a:spLocks noGrp="1"/>
          </p:cNvSpPr>
          <p:nvPr>
            <p:ph type="title"/>
          </p:nvPr>
        </p:nvSpPr>
        <p:spPr>
          <a:xfrm>
            <a:off x="422145" y="940911"/>
            <a:ext cx="2438042" cy="4088290"/>
          </a:xfrm>
        </p:spPr>
        <p:txBody>
          <a:bodyPr vert="horz" lIns="91440" tIns="45720" rIns="91440" bIns="45720" rtlCol="0">
            <a:normAutofit/>
          </a:bodyPr>
          <a:lstStyle/>
          <a:p>
            <a:r>
              <a:rPr lang="en-US" dirty="0"/>
              <a:t>KNAPSACK SOLUTION</a:t>
            </a:r>
          </a:p>
        </p:txBody>
      </p:sp>
      <p:sp>
        <p:nvSpPr>
          <p:cNvPr id="6" name="Slide Number Placeholder 5">
            <a:extLst>
              <a:ext uri="{FF2B5EF4-FFF2-40B4-BE49-F238E27FC236}">
                <a16:creationId xmlns:a16="http://schemas.microsoft.com/office/drawing/2014/main" id="{F9B07271-A68D-0EBF-0ADF-C0E1019B85D3}"/>
              </a:ext>
            </a:extLst>
          </p:cNvPr>
          <p:cNvSpPr>
            <a:spLocks noGrp="1"/>
          </p:cNvSpPr>
          <p:nvPr>
            <p:ph type="sldNum" sz="quarter" idx="12"/>
          </p:nvPr>
        </p:nvSpPr>
        <p:spPr>
          <a:xfrm>
            <a:off x="11504676" y="-14198"/>
            <a:ext cx="685800" cy="685800"/>
          </a:xfrm>
        </p:spPr>
        <p:txBody>
          <a:bodyPr vert="horz" lIns="91440" tIns="45720" rIns="91440" bIns="45720" rtlCol="0">
            <a:normAutofit/>
          </a:bodyPr>
          <a:lstStyle/>
          <a:p>
            <a:pPr>
              <a:spcAft>
                <a:spcPts val="600"/>
              </a:spcAft>
            </a:pPr>
            <a:fld id="{7BE69E03-4804-4553-A1EC-F089884EF50F}" type="slidenum">
              <a:rPr lang="en-US" smtClean="0"/>
              <a:pPr>
                <a:spcAft>
                  <a:spcPts val="600"/>
                </a:spcAft>
              </a:pPr>
              <a:t>61</a:t>
            </a:fld>
            <a:endParaRPr lang="en-US"/>
          </a:p>
        </p:txBody>
      </p:sp>
      <p:sp>
        <p:nvSpPr>
          <p:cNvPr id="4" name="Date Placeholder 3">
            <a:extLst>
              <a:ext uri="{FF2B5EF4-FFF2-40B4-BE49-F238E27FC236}">
                <a16:creationId xmlns:a16="http://schemas.microsoft.com/office/drawing/2014/main" id="{4CF94790-248E-4F4D-DC10-99D289454564}"/>
              </a:ext>
            </a:extLst>
          </p:cNvPr>
          <p:cNvSpPr>
            <a:spLocks noGrp="1"/>
          </p:cNvSpPr>
          <p:nvPr>
            <p:ph type="dt" sz="half" idx="10"/>
          </p:nvPr>
        </p:nvSpPr>
        <p:spPr>
          <a:xfrm>
            <a:off x="422899" y="6217920"/>
            <a:ext cx="2743200" cy="640080"/>
          </a:xfrm>
        </p:spPr>
        <p:txBody>
          <a:bodyPr vert="horz" lIns="91440" tIns="45720" rIns="91440" bIns="45720" rtlCol="0" anchorCtr="0">
            <a:normAutofit/>
          </a:bodyPr>
          <a:lstStyle/>
          <a:p>
            <a:pPr>
              <a:spcAft>
                <a:spcPts val="600"/>
              </a:spcAft>
            </a:pPr>
            <a:fld id="{14C6826E-5ABB-42C1-8919-04BDCC934AD6}" type="datetime2">
              <a:rPr lang="en-US" smtClean="0"/>
              <a:t>Wednesday, January 14, 2026</a:t>
            </a:fld>
            <a:endParaRPr lang="en-US"/>
          </a:p>
        </p:txBody>
      </p:sp>
      <p:sp>
        <p:nvSpPr>
          <p:cNvPr id="5" name="Footer Placeholder 4">
            <a:extLst>
              <a:ext uri="{FF2B5EF4-FFF2-40B4-BE49-F238E27FC236}">
                <a16:creationId xmlns:a16="http://schemas.microsoft.com/office/drawing/2014/main" id="{477D2BF4-F641-96D3-C548-B5AC78807387}"/>
              </a:ext>
            </a:extLst>
          </p:cNvPr>
          <p:cNvSpPr>
            <a:spLocks noGrp="1"/>
          </p:cNvSpPr>
          <p:nvPr>
            <p:ph type="ftr" sz="quarter" idx="11"/>
          </p:nvPr>
        </p:nvSpPr>
        <p:spPr>
          <a:xfrm>
            <a:off x="6842943" y="6217920"/>
            <a:ext cx="4114800" cy="640080"/>
          </a:xfrm>
        </p:spPr>
        <p:txBody>
          <a:bodyPr vert="horz" lIns="91440" tIns="45720" rIns="91440" bIns="45720" rtlCol="0" anchorCtr="0">
            <a:normAutofit/>
          </a:bodyPr>
          <a:lstStyle/>
          <a:p>
            <a:pPr>
              <a:spcAft>
                <a:spcPts val="600"/>
              </a:spcAft>
            </a:pPr>
            <a:r>
              <a:rPr lang="en-US" kern="1200">
                <a:latin typeface="+mn-lt"/>
                <a:ea typeface="+mn-ea"/>
                <a:cs typeface="+mn-cs"/>
              </a:rPr>
              <a:t>Department of ICT</a:t>
            </a:r>
          </a:p>
        </p:txBody>
      </p:sp>
      <p:cxnSp>
        <p:nvCxnSpPr>
          <p:cNvPr id="36"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8"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a:extLst>
              <a:ext uri="{FF2B5EF4-FFF2-40B4-BE49-F238E27FC236}">
                <a16:creationId xmlns:a16="http://schemas.microsoft.com/office/drawing/2014/main" id="{D588C175-31B7-F865-5925-FE3CDE2D23C0}"/>
              </a:ext>
            </a:extLst>
          </p:cNvPr>
          <p:cNvGraphicFramePr>
            <a:graphicFrameLocks noGrp="1"/>
          </p:cNvGraphicFramePr>
          <p:nvPr>
            <p:ph idx="1"/>
            <p:extLst>
              <p:ext uri="{D42A27DB-BD31-4B8C-83A1-F6EECF244321}">
                <p14:modId xmlns:p14="http://schemas.microsoft.com/office/powerpoint/2010/main" val="108760035"/>
              </p:ext>
            </p:extLst>
          </p:nvPr>
        </p:nvGraphicFramePr>
        <p:xfrm>
          <a:off x="3556002" y="381007"/>
          <a:ext cx="6735062" cy="5814054"/>
        </p:xfrm>
        <a:graphic>
          <a:graphicData uri="http://schemas.openxmlformats.org/drawingml/2006/table">
            <a:tbl>
              <a:tblPr firstRow="1" bandRow="1">
                <a:solidFill>
                  <a:srgbClr val="F7F7F7"/>
                </a:solidFill>
                <a:tableStyleId>{5C22544A-7EE6-4342-B048-85BDC9FD1C3A}</a:tableStyleId>
              </a:tblPr>
              <a:tblGrid>
                <a:gridCol w="1771887">
                  <a:extLst>
                    <a:ext uri="{9D8B030D-6E8A-4147-A177-3AD203B41FA5}">
                      <a16:colId xmlns:a16="http://schemas.microsoft.com/office/drawing/2014/main" val="959748669"/>
                    </a:ext>
                  </a:extLst>
                </a:gridCol>
                <a:gridCol w="2442435">
                  <a:extLst>
                    <a:ext uri="{9D8B030D-6E8A-4147-A177-3AD203B41FA5}">
                      <a16:colId xmlns:a16="http://schemas.microsoft.com/office/drawing/2014/main" val="2841078473"/>
                    </a:ext>
                  </a:extLst>
                </a:gridCol>
                <a:gridCol w="2520740">
                  <a:extLst>
                    <a:ext uri="{9D8B030D-6E8A-4147-A177-3AD203B41FA5}">
                      <a16:colId xmlns:a16="http://schemas.microsoft.com/office/drawing/2014/main" val="3895104383"/>
                    </a:ext>
                  </a:extLst>
                </a:gridCol>
              </a:tblGrid>
              <a:tr h="839126">
                <a:tc>
                  <a:txBody>
                    <a:bodyPr/>
                    <a:lstStyle/>
                    <a:p>
                      <a:pPr lvl="0" algn="l">
                        <a:lnSpc>
                          <a:spcPct val="100000"/>
                        </a:lnSpc>
                        <a:spcBef>
                          <a:spcPts val="0"/>
                        </a:spcBef>
                        <a:spcAft>
                          <a:spcPts val="0"/>
                        </a:spcAft>
                        <a:buNone/>
                      </a:pPr>
                      <a:r>
                        <a:rPr lang="en-US" sz="2200" b="1" i="0" u="none" strike="noStrike" kern="1200" cap="all" spc="60" noProof="0" dirty="0">
                          <a:solidFill>
                            <a:schemeClr val="tx1">
                              <a:lumMod val="75000"/>
                              <a:lumOff val="25000"/>
                            </a:schemeClr>
                          </a:solidFill>
                          <a:effectLst/>
                          <a:latin typeface="Calibri"/>
                        </a:rPr>
                        <a:t>Item </a:t>
                      </a:r>
                      <a:r>
                        <a:rPr lang="en-US" sz="2200" b="1" i="0" u="none" strike="noStrike" kern="1200" cap="all" spc="60" noProof="0" dirty="0" err="1">
                          <a:solidFill>
                            <a:schemeClr val="tx1">
                              <a:lumMod val="75000"/>
                              <a:lumOff val="25000"/>
                            </a:schemeClr>
                          </a:solidFill>
                          <a:effectLst/>
                          <a:latin typeface="Calibri"/>
                        </a:rPr>
                        <a:t>i</a:t>
                      </a:r>
                      <a:endParaRPr lang="en-US" sz="2200" b="1" i="0" u="none" strike="noStrike" kern="1200" cap="all" spc="60" noProof="0" dirty="0">
                        <a:solidFill>
                          <a:schemeClr val="tx1">
                            <a:lumMod val="75000"/>
                            <a:lumOff val="25000"/>
                          </a:schemeClr>
                        </a:solidFill>
                        <a:effectLst/>
                        <a:latin typeface="Calibri"/>
                      </a:endParaRPr>
                    </a:p>
                    <a:p>
                      <a:pPr marL="0" lvl="0" algn="l">
                        <a:spcBef>
                          <a:spcPts val="0"/>
                        </a:spcBef>
                        <a:spcAft>
                          <a:spcPts val="0"/>
                        </a:spcAft>
                        <a:buNone/>
                      </a:pPr>
                      <a:endParaRPr lang="en-US" sz="1100" b="1" kern="1200" cap="all" spc="60" dirty="0">
                        <a:solidFill>
                          <a:schemeClr val="tx1"/>
                        </a:solidFill>
                        <a:effectLst/>
                        <a:latin typeface="Calibri"/>
                      </a:endParaRPr>
                    </a:p>
                  </a:txBody>
                  <a:tcPr marL="125347" marR="125347" marT="125347" marB="125347" anchor="ctr">
                    <a:lnL w="12700" cmpd="sng">
                      <a:noFill/>
                    </a:lnL>
                    <a:lnR w="12700" cmpd="sng">
                      <a:noFill/>
                    </a:lnR>
                    <a:lnT w="12700" cmpd="sng">
                      <a:noFill/>
                    </a:lnT>
                    <a:lnB w="38100" cmpd="sng">
                      <a:noFill/>
                    </a:lnB>
                    <a:noFill/>
                  </a:tcPr>
                </a:tc>
                <a:tc>
                  <a:txBody>
                    <a:bodyPr/>
                    <a:lstStyle/>
                    <a:p>
                      <a:pPr lvl="0" algn="l">
                        <a:lnSpc>
                          <a:spcPct val="100000"/>
                        </a:lnSpc>
                        <a:spcBef>
                          <a:spcPts val="0"/>
                        </a:spcBef>
                        <a:spcAft>
                          <a:spcPts val="0"/>
                        </a:spcAft>
                        <a:buNone/>
                      </a:pPr>
                      <a:r>
                        <a:rPr lang="en-US" sz="2200" b="1" i="0" u="none" strike="noStrike" kern="1200" cap="all" spc="60" noProof="0">
                          <a:solidFill>
                            <a:schemeClr val="tx1">
                              <a:lumMod val="75000"/>
                              <a:lumOff val="25000"/>
                            </a:schemeClr>
                          </a:solidFill>
                          <a:effectLst/>
                          <a:latin typeface="Calibri"/>
                        </a:rPr>
                        <a:t>Weight W</a:t>
                      </a:r>
                      <a:r>
                        <a:rPr lang="en-US" sz="1400" b="1" i="0" u="none" strike="noStrike" kern="1200" cap="all" spc="60" baseline="-25000" noProof="0">
                          <a:solidFill>
                            <a:schemeClr val="tx1">
                              <a:lumMod val="75000"/>
                              <a:lumOff val="25000"/>
                            </a:schemeClr>
                          </a:solidFill>
                          <a:effectLst/>
                          <a:latin typeface="Calibri"/>
                        </a:rPr>
                        <a:t>i</a:t>
                      </a:r>
                      <a:endParaRPr lang="en-US" sz="1400" b="1" i="0" u="none" strike="noStrike" kern="1200" cap="all" spc="60" noProof="0">
                        <a:solidFill>
                          <a:srgbClr val="404040"/>
                        </a:solidFill>
                        <a:effectLst/>
                        <a:latin typeface="Calibri"/>
                      </a:endParaRPr>
                    </a:p>
                    <a:p>
                      <a:pPr marL="0" lvl="0" algn="l">
                        <a:spcBef>
                          <a:spcPts val="0"/>
                        </a:spcBef>
                        <a:spcAft>
                          <a:spcPts val="0"/>
                        </a:spcAft>
                        <a:buNone/>
                      </a:pPr>
                      <a:endParaRPr lang="en-US" sz="1100" b="1" kern="1200" cap="all" spc="60">
                        <a:solidFill>
                          <a:schemeClr val="tx1"/>
                        </a:solidFill>
                        <a:effectLst/>
                        <a:latin typeface="Calibri"/>
                      </a:endParaRPr>
                    </a:p>
                  </a:txBody>
                  <a:tcPr marL="125347" marR="125347" marT="125347" marB="125347" anchor="ctr">
                    <a:lnL w="12700" cmpd="sng">
                      <a:noFill/>
                    </a:lnL>
                    <a:lnR w="12700" cmpd="sng">
                      <a:noFill/>
                    </a:lnR>
                    <a:lnT w="12700" cmpd="sng">
                      <a:noFill/>
                    </a:lnT>
                    <a:lnB w="38100" cmpd="sng">
                      <a:noFill/>
                    </a:lnB>
                    <a:noFill/>
                  </a:tcPr>
                </a:tc>
                <a:tc>
                  <a:txBody>
                    <a:bodyPr/>
                    <a:lstStyle/>
                    <a:p>
                      <a:pPr marL="0" lvl="0" algn="l">
                        <a:spcBef>
                          <a:spcPts val="0"/>
                        </a:spcBef>
                        <a:spcAft>
                          <a:spcPts val="0"/>
                        </a:spcAft>
                        <a:buNone/>
                      </a:pPr>
                      <a:r>
                        <a:rPr lang="en-US" sz="2300" b="1" i="0" u="none" strike="noStrike" kern="1200" cap="all" spc="60" noProof="0" dirty="0">
                          <a:solidFill>
                            <a:schemeClr val="tx1">
                              <a:lumMod val="75000"/>
                              <a:lumOff val="25000"/>
                            </a:schemeClr>
                          </a:solidFill>
                          <a:effectLst/>
                          <a:latin typeface="Calibri"/>
                        </a:rPr>
                        <a:t>Value V</a:t>
                      </a:r>
                      <a:r>
                        <a:rPr lang="en-US" sz="1500" b="1" i="0" u="none" strike="noStrike" kern="1200" cap="all" spc="60" baseline="-25000" noProof="0" dirty="0">
                          <a:solidFill>
                            <a:schemeClr val="tx1">
                              <a:lumMod val="75000"/>
                              <a:lumOff val="25000"/>
                            </a:schemeClr>
                          </a:solidFill>
                          <a:effectLst/>
                          <a:latin typeface="Calibri"/>
                        </a:rPr>
                        <a:t>i</a:t>
                      </a:r>
                      <a:endParaRPr lang="en-US" sz="1500" dirty="0"/>
                    </a:p>
                  </a:txBody>
                  <a:tcPr marL="125347" marR="125347" marT="125347" marB="125347" anchor="ctr">
                    <a:lnL w="12700" cmpd="sng">
                      <a:noFill/>
                    </a:lnL>
                    <a:lnR w="12700" cmpd="sng">
                      <a:noFill/>
                    </a:lnR>
                    <a:lnT w="12700" cmpd="sng">
                      <a:noFill/>
                    </a:lnT>
                    <a:lnB w="38100" cmpd="sng">
                      <a:noFill/>
                    </a:lnB>
                    <a:noFill/>
                  </a:tcPr>
                </a:tc>
                <a:extLst>
                  <a:ext uri="{0D108BD9-81ED-4DB2-BD59-A6C34878D82A}">
                    <a16:rowId xmlns:a16="http://schemas.microsoft.com/office/drawing/2014/main" val="3225503919"/>
                  </a:ext>
                </a:extLst>
              </a:tr>
              <a:tr h="355352">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a:t>
                      </a:r>
                      <a:r>
                        <a:rPr lang="en-US" sz="1400" kern="1200" cap="none" spc="0" baseline="0">
                          <a:solidFill>
                            <a:schemeClr val="tx1"/>
                          </a:solidFill>
                          <a:effectLst/>
                          <a:latin typeface="Calibri"/>
                        </a:rPr>
                        <a:t> 1</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a:t>
                      </a:r>
                      <a:r>
                        <a:rPr lang="en-US" sz="1400" kern="1200" cap="none" spc="0" err="1">
                          <a:solidFill>
                            <a:schemeClr val="tx1"/>
                          </a:solidFill>
                          <a:effectLst/>
                          <a:latin typeface="Calibri"/>
                        </a:rPr>
                        <a:t>w</a:t>
                      </a:r>
                      <a:r>
                        <a:rPr lang="en-US" sz="1400" kern="1200" cap="none" spc="0" baseline="-25000" err="1">
                          <a:solidFill>
                            <a:schemeClr val="tx1"/>
                          </a:solidFill>
                          <a:effectLst/>
                          <a:latin typeface="Calibri"/>
                        </a:rPr>
                        <a:t>i</a:t>
                      </a:r>
                      <a:r>
                        <a:rPr lang="en-US" sz="1400" kern="1200" cap="none" spc="0" baseline="0">
                          <a:solidFill>
                            <a:schemeClr val="tx1"/>
                          </a:solidFill>
                          <a:effectLst/>
                          <a:latin typeface="Calibri"/>
                        </a:rPr>
                        <a:t>=2</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∑V</a:t>
                      </a:r>
                      <a:r>
                        <a:rPr lang="en-US" sz="1400" kern="1200" cap="none" spc="0" baseline="-25000">
                          <a:solidFill>
                            <a:schemeClr val="tx1"/>
                          </a:solidFill>
                          <a:effectLst/>
                          <a:latin typeface="Calibri"/>
                        </a:rPr>
                        <a:t>i</a:t>
                      </a:r>
                      <a:r>
                        <a:rPr lang="en-US" sz="1400" kern="1200" cap="none" spc="0" baseline="0">
                          <a:solidFill>
                            <a:schemeClr val="tx1"/>
                          </a:solidFill>
                          <a:effectLst/>
                          <a:latin typeface="Calibri"/>
                        </a:rPr>
                        <a:t>=$1</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4035573123"/>
                  </a:ext>
                </a:extLst>
              </a:tr>
              <a:tr h="355352">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 2</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a:solidFill>
                            <a:schemeClr val="tx1"/>
                          </a:solidFill>
                          <a:effectLst/>
                          <a:latin typeface="Calibri"/>
                        </a:rPr>
                        <a:t>∑</a:t>
                      </a:r>
                      <a:r>
                        <a:rPr lang="en-US" sz="1400" kern="1200" cap="none" spc="0" err="1">
                          <a:solidFill>
                            <a:schemeClr val="tx1"/>
                          </a:solidFill>
                          <a:effectLst/>
                          <a:latin typeface="Calibri"/>
                        </a:rPr>
                        <a:t>w</a:t>
                      </a:r>
                      <a:r>
                        <a:rPr lang="en-US" sz="1400" kern="1200" cap="none" spc="0" baseline="-25000" err="1">
                          <a:solidFill>
                            <a:schemeClr val="tx1"/>
                          </a:solidFill>
                          <a:effectLst/>
                          <a:latin typeface="Calibri"/>
                        </a:rPr>
                        <a:t>i</a:t>
                      </a:r>
                      <a:r>
                        <a:rPr lang="en-US" sz="1400" kern="1200" cap="none" spc="0" baseline="0">
                          <a:solidFill>
                            <a:schemeClr val="tx1"/>
                          </a:solidFill>
                          <a:effectLst/>
                          <a:latin typeface="Calibri"/>
                        </a:rPr>
                        <a:t>=3</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a:solidFill>
                            <a:schemeClr val="tx1"/>
                          </a:solidFill>
                          <a:effectLst/>
                          <a:latin typeface="Calibri"/>
                        </a:rPr>
                        <a:t>∑V</a:t>
                      </a:r>
                      <a:r>
                        <a:rPr lang="en-US" sz="1400" kern="1200" cap="none" spc="0" baseline="-25000">
                          <a:solidFill>
                            <a:schemeClr val="tx1"/>
                          </a:solidFill>
                          <a:effectLst/>
                          <a:latin typeface="Calibri"/>
                        </a:rPr>
                        <a:t>i</a:t>
                      </a:r>
                      <a:r>
                        <a:rPr lang="en-US" sz="1400" kern="1200" cap="none" spc="0" baseline="0">
                          <a:solidFill>
                            <a:schemeClr val="tx1"/>
                          </a:solidFill>
                          <a:effectLst/>
                          <a:latin typeface="Calibri"/>
                        </a:rPr>
                        <a:t>=$2</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809107573"/>
                  </a:ext>
                </a:extLst>
              </a:tr>
              <a:tr h="355352">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 3</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=$8</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587100008"/>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=5</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=$6</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619859376"/>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1,2</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=2+3=5</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3621785"/>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=2+4=6</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=1+8=$9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268098721"/>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=2+5=7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=1+6=$7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449194248"/>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2,3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=3+4=7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=2+8=$10</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281273623"/>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2,4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=3+5=8</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=2+6=$8</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594247616"/>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3,4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=4+5=9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=8+6=$14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900311666"/>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1,2,3</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=2+3+4=9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=1+2+8=$11</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039492849"/>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1,2,4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=2+3+5=10</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=1+2+6=$9</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168715320"/>
                  </a:ext>
                </a:extLst>
              </a:tr>
              <a:tr h="355352">
                <a:tc>
                  <a:txBody>
                    <a:bodyPr/>
                    <a:lstStyle/>
                    <a:p>
                      <a:pPr marL="0" algn="l" rtl="0" eaLnBrk="1" latinLnBrk="0" hangingPunct="1">
                        <a:spcBef>
                          <a:spcPts val="0"/>
                        </a:spcBef>
                        <a:spcAft>
                          <a:spcPts val="0"/>
                        </a:spcAft>
                      </a:pPr>
                      <a:r>
                        <a:rPr lang="en-US" sz="1400" kern="1200" cap="none" spc="0" dirty="0">
                          <a:solidFill>
                            <a:schemeClr val="tx1"/>
                          </a:solidFill>
                          <a:effectLst/>
                          <a:latin typeface="Calibri"/>
                        </a:rPr>
                        <a:t>Item 2,3,4</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a:t>
                      </a:r>
                      <a:r>
                        <a:rPr lang="en-US" sz="1400" kern="1200" cap="none" spc="0" dirty="0" err="1">
                          <a:solidFill>
                            <a:schemeClr val="tx1"/>
                          </a:solidFill>
                          <a:effectLst/>
                          <a:latin typeface="Calibri"/>
                        </a:rPr>
                        <a:t>w</a:t>
                      </a:r>
                      <a:r>
                        <a:rPr lang="en-US" sz="1400" kern="1200" cap="none" spc="0" baseline="-25000" dirty="0" err="1">
                          <a:solidFill>
                            <a:schemeClr val="tx1"/>
                          </a:solidFill>
                          <a:effectLst/>
                          <a:latin typeface="Calibri"/>
                        </a:rPr>
                        <a:t>i</a:t>
                      </a:r>
                      <a:r>
                        <a:rPr lang="en-US" sz="1400" kern="1200" cap="none" spc="0" baseline="0" dirty="0">
                          <a:solidFill>
                            <a:schemeClr val="tx1"/>
                          </a:solidFill>
                          <a:effectLst/>
                          <a:latin typeface="Calibri"/>
                        </a:rPr>
                        <a:t>=3+4+5=12</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=2+8+6=$16</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835396007"/>
                  </a:ext>
                </a:extLst>
              </a:tr>
              <a:tr h="355352">
                <a:tc>
                  <a:txBody>
                    <a:bodyPr/>
                    <a:lstStyle/>
                    <a:p>
                      <a:pPr marL="0" algn="l" rtl="0" eaLnBrk="1" latinLnBrk="0" hangingPunct="1">
                        <a:spcBef>
                          <a:spcPts val="0"/>
                        </a:spcBef>
                        <a:spcAft>
                          <a:spcPts val="0"/>
                        </a:spcAft>
                      </a:pPr>
                      <a:r>
                        <a:rPr lang="en-US" sz="1400" kern="1200" cap="none" spc="0">
                          <a:solidFill>
                            <a:schemeClr val="tx1"/>
                          </a:solidFill>
                          <a:effectLst/>
                          <a:latin typeface="Calibri"/>
                        </a:rPr>
                        <a:t>Item 1,2,3,4</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a:solidFill>
                            <a:schemeClr val="tx1"/>
                          </a:solidFill>
                          <a:effectLst/>
                          <a:latin typeface="Calibri"/>
                        </a:rPr>
                        <a:t>∑</a:t>
                      </a:r>
                      <a:r>
                        <a:rPr lang="en-US" sz="1400" kern="1200" cap="none" spc="0" err="1">
                          <a:solidFill>
                            <a:schemeClr val="tx1"/>
                          </a:solidFill>
                          <a:effectLst/>
                          <a:latin typeface="Calibri"/>
                        </a:rPr>
                        <a:t>w</a:t>
                      </a:r>
                      <a:r>
                        <a:rPr lang="en-US" sz="1400" kern="1200" cap="none" spc="0" baseline="-25000" err="1">
                          <a:solidFill>
                            <a:schemeClr val="tx1"/>
                          </a:solidFill>
                          <a:effectLst/>
                          <a:latin typeface="Calibri"/>
                        </a:rPr>
                        <a:t>i</a:t>
                      </a:r>
                      <a:r>
                        <a:rPr lang="en-US" sz="1400" kern="1200" cap="none" spc="0" baseline="0">
                          <a:solidFill>
                            <a:schemeClr val="tx1"/>
                          </a:solidFill>
                          <a:effectLst/>
                          <a:latin typeface="Calibri"/>
                        </a:rPr>
                        <a:t>=2+3+4+5=14</a:t>
                      </a:r>
                      <a:endParaRPr lang="en-US" sz="1400" cap="none" spc="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indent="0" algn="l" rtl="0" eaLnBrk="1" fontAlgn="auto" latinLnBrk="0" hangingPunct="1">
                        <a:spcBef>
                          <a:spcPts val="0"/>
                        </a:spcBef>
                        <a:spcAft>
                          <a:spcPts val="0"/>
                        </a:spcAft>
                      </a:pPr>
                      <a:r>
                        <a:rPr lang="en-US" sz="1400" kern="1200" cap="none" spc="0" dirty="0">
                          <a:solidFill>
                            <a:schemeClr val="tx1"/>
                          </a:solidFill>
                          <a:effectLst/>
                          <a:latin typeface="Calibri"/>
                        </a:rPr>
                        <a:t>∑V</a:t>
                      </a:r>
                      <a:r>
                        <a:rPr lang="en-US" sz="1400" kern="1200" cap="none" spc="0" baseline="-25000" dirty="0">
                          <a:solidFill>
                            <a:schemeClr val="tx1"/>
                          </a:solidFill>
                          <a:effectLst/>
                          <a:latin typeface="Calibri"/>
                        </a:rPr>
                        <a:t>i</a:t>
                      </a:r>
                      <a:r>
                        <a:rPr lang="en-US" sz="1400" kern="1200" cap="none" spc="0" baseline="0" dirty="0">
                          <a:solidFill>
                            <a:schemeClr val="tx1"/>
                          </a:solidFill>
                          <a:effectLst/>
                          <a:latin typeface="Calibri"/>
                        </a:rPr>
                        <a:t>=1+2+8+6=$17</a:t>
                      </a:r>
                      <a:endParaRPr lang="en-US" sz="1400" cap="none" spc="0" dirty="0">
                        <a:solidFill>
                          <a:schemeClr val="tx1"/>
                        </a:solidFill>
                        <a:effectLst/>
                        <a:latin typeface="Calibri"/>
                      </a:endParaRPr>
                    </a:p>
                  </a:txBody>
                  <a:tcPr marL="0" marR="0" marT="0" marB="83564"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248638465"/>
                  </a:ext>
                </a:extLst>
              </a:tr>
            </a:tbl>
          </a:graphicData>
        </a:graphic>
      </p:graphicFrame>
      <p:pic>
        <p:nvPicPr>
          <p:cNvPr id="9" name="Picture 8">
            <a:extLst>
              <a:ext uri="{FF2B5EF4-FFF2-40B4-BE49-F238E27FC236}">
                <a16:creationId xmlns:a16="http://schemas.microsoft.com/office/drawing/2014/main" id="{308C28DA-505E-16A0-9744-3E5BC38A9C4A}"/>
              </a:ext>
            </a:extLst>
          </p:cNvPr>
          <p:cNvPicPr>
            <a:picLocks noChangeAspect="1"/>
          </p:cNvPicPr>
          <p:nvPr/>
        </p:nvPicPr>
        <p:blipFill>
          <a:blip r:embed="rId3"/>
          <a:stretch>
            <a:fillRect/>
          </a:stretch>
        </p:blipFill>
        <p:spPr>
          <a:xfrm>
            <a:off x="10321070" y="4590661"/>
            <a:ext cx="1472670" cy="1807340"/>
          </a:xfrm>
          <a:prstGeom prst="rect">
            <a:avLst/>
          </a:prstGeom>
        </p:spPr>
      </p:pic>
      <p:pic>
        <p:nvPicPr>
          <p:cNvPr id="10" name="Picture 9">
            <a:extLst>
              <a:ext uri="{FF2B5EF4-FFF2-40B4-BE49-F238E27FC236}">
                <a16:creationId xmlns:a16="http://schemas.microsoft.com/office/drawing/2014/main" id="{6CE95AC9-82CB-59C5-1C23-516328798EDF}"/>
              </a:ext>
            </a:extLst>
          </p:cNvPr>
          <p:cNvPicPr>
            <a:picLocks noChangeAspect="1"/>
          </p:cNvPicPr>
          <p:nvPr/>
        </p:nvPicPr>
        <p:blipFill>
          <a:blip r:embed="rId4"/>
          <a:stretch>
            <a:fillRect/>
          </a:stretch>
        </p:blipFill>
        <p:spPr>
          <a:xfrm>
            <a:off x="10321070" y="3840406"/>
            <a:ext cx="1121107" cy="290256"/>
          </a:xfrm>
          <a:prstGeom prst="rect">
            <a:avLst/>
          </a:prstGeom>
        </p:spPr>
      </p:pic>
    </p:spTree>
    <p:extLst>
      <p:ext uri="{BB962C8B-B14F-4D97-AF65-F5344CB8AC3E}">
        <p14:creationId xmlns:p14="http://schemas.microsoft.com/office/powerpoint/2010/main" val="5006474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70847-F98C-B0AF-2293-7676CA6E6F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4A0C37-460F-C940-237A-4803C4A9784B}"/>
              </a:ext>
            </a:extLst>
          </p:cNvPr>
          <p:cNvSpPr>
            <a:spLocks noGrp="1"/>
          </p:cNvSpPr>
          <p:nvPr>
            <p:ph idx="1"/>
          </p:nvPr>
        </p:nvSpPr>
        <p:spPr/>
        <p:txBody>
          <a:bodyPr>
            <a:normAutofit/>
          </a:bodyPr>
          <a:lstStyle/>
          <a:p>
            <a:r>
              <a:rPr lang="en-US" dirty="0"/>
              <a:t>The number of subsets of an n-element set is  2^n.</a:t>
            </a:r>
          </a:p>
          <a:p>
            <a:r>
              <a:rPr lang="en-US" dirty="0"/>
              <a:t>This is because, for each element in the set, you have two choices: include it in a subset or exclude it. Therefore, the total number of possible subsets is 2^n.</a:t>
            </a:r>
          </a:p>
          <a:p>
            <a:endParaRPr lang="en-US" dirty="0"/>
          </a:p>
        </p:txBody>
      </p:sp>
      <p:sp>
        <p:nvSpPr>
          <p:cNvPr id="4" name="Date Placeholder 3">
            <a:extLst>
              <a:ext uri="{FF2B5EF4-FFF2-40B4-BE49-F238E27FC236}">
                <a16:creationId xmlns:a16="http://schemas.microsoft.com/office/drawing/2014/main" id="{3D3A7A30-19CB-FF0E-0C69-E9B27F8B290E}"/>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0389D68D-E3B4-3232-26C6-46601DB57CD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A979CEC8-6E9A-44BB-6E85-EC7828753020}"/>
              </a:ext>
            </a:extLst>
          </p:cNvPr>
          <p:cNvSpPr>
            <a:spLocks noGrp="1"/>
          </p:cNvSpPr>
          <p:nvPr>
            <p:ph type="sldNum" sz="quarter" idx="12"/>
          </p:nvPr>
        </p:nvSpPr>
        <p:spPr/>
        <p:txBody>
          <a:bodyPr/>
          <a:lstStyle/>
          <a:p>
            <a:fld id="{7BE69E03-4804-4553-A1EC-F089884EF50F}" type="slidenum">
              <a:rPr lang="en-US" smtClean="0"/>
              <a:t>62</a:t>
            </a:fld>
            <a:endParaRPr lang="en-US"/>
          </a:p>
        </p:txBody>
      </p:sp>
    </p:spTree>
    <p:extLst>
      <p:ext uri="{BB962C8B-B14F-4D97-AF65-F5344CB8AC3E}">
        <p14:creationId xmlns:p14="http://schemas.microsoft.com/office/powerpoint/2010/main" val="6614032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70847-F98C-B0AF-2293-7676CA6E6F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4A0C37-460F-C940-237A-4803C4A9784B}"/>
              </a:ext>
            </a:extLst>
          </p:cNvPr>
          <p:cNvSpPr>
            <a:spLocks noGrp="1"/>
          </p:cNvSpPr>
          <p:nvPr>
            <p:ph idx="1"/>
          </p:nvPr>
        </p:nvSpPr>
        <p:spPr/>
        <p:txBody>
          <a:bodyPr>
            <a:normAutofit/>
          </a:bodyPr>
          <a:lstStyle/>
          <a:p>
            <a:r>
              <a:rPr lang="en-US" dirty="0"/>
              <a:t>The number of subsets of an n-element set is  2^n.</a:t>
            </a:r>
          </a:p>
          <a:p>
            <a:r>
              <a:rPr lang="en-US" dirty="0"/>
              <a:t>This is because, for each element in the set, you have two choices: include it in a subset or exclude it. Therefore, the total number of possible subsets is 2^n.</a:t>
            </a:r>
          </a:p>
          <a:p>
            <a:endParaRPr lang="en-US" dirty="0"/>
          </a:p>
        </p:txBody>
      </p:sp>
      <p:sp>
        <p:nvSpPr>
          <p:cNvPr id="4" name="Date Placeholder 3">
            <a:extLst>
              <a:ext uri="{FF2B5EF4-FFF2-40B4-BE49-F238E27FC236}">
                <a16:creationId xmlns:a16="http://schemas.microsoft.com/office/drawing/2014/main" id="{3D3A7A30-19CB-FF0E-0C69-E9B27F8B290E}"/>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0389D68D-E3B4-3232-26C6-46601DB57CD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A979CEC8-6E9A-44BB-6E85-EC7828753020}"/>
              </a:ext>
            </a:extLst>
          </p:cNvPr>
          <p:cNvSpPr>
            <a:spLocks noGrp="1"/>
          </p:cNvSpPr>
          <p:nvPr>
            <p:ph type="sldNum" sz="quarter" idx="12"/>
          </p:nvPr>
        </p:nvSpPr>
        <p:spPr/>
        <p:txBody>
          <a:bodyPr/>
          <a:lstStyle/>
          <a:p>
            <a:fld id="{7BE69E03-4804-4553-A1EC-F089884EF50F}" type="slidenum">
              <a:rPr lang="en-US" smtClean="0"/>
              <a:t>63</a:t>
            </a:fld>
            <a:endParaRPr lang="en-US"/>
          </a:p>
        </p:txBody>
      </p:sp>
    </p:spTree>
    <p:extLst>
      <p:ext uri="{BB962C8B-B14F-4D97-AF65-F5344CB8AC3E}">
        <p14:creationId xmlns:p14="http://schemas.microsoft.com/office/powerpoint/2010/main" val="8219973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70847-F98C-B0AF-2293-7676CA6E6F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4A0C37-460F-C940-237A-4803C4A9784B}"/>
              </a:ext>
            </a:extLst>
          </p:cNvPr>
          <p:cNvSpPr>
            <a:spLocks noGrp="1"/>
          </p:cNvSpPr>
          <p:nvPr>
            <p:ph idx="1"/>
          </p:nvPr>
        </p:nvSpPr>
        <p:spPr/>
        <p:txBody>
          <a:bodyPr>
            <a:normAutofit/>
          </a:bodyPr>
          <a:lstStyle/>
          <a:p>
            <a:r>
              <a:rPr lang="en-US" dirty="0"/>
              <a:t>The number of subsets of an n-element set is  2^n.</a:t>
            </a:r>
          </a:p>
          <a:p>
            <a:r>
              <a:rPr lang="en-US" dirty="0"/>
              <a:t>This is because, for each element in the set, you have two choices: include it in a subset or exclude it. Therefore, the total number of possible subsets is 2^n.</a:t>
            </a:r>
          </a:p>
          <a:p>
            <a:endParaRPr lang="en-US" dirty="0"/>
          </a:p>
        </p:txBody>
      </p:sp>
      <p:sp>
        <p:nvSpPr>
          <p:cNvPr id="4" name="Date Placeholder 3">
            <a:extLst>
              <a:ext uri="{FF2B5EF4-FFF2-40B4-BE49-F238E27FC236}">
                <a16:creationId xmlns:a16="http://schemas.microsoft.com/office/drawing/2014/main" id="{3D3A7A30-19CB-FF0E-0C69-E9B27F8B290E}"/>
              </a:ext>
            </a:extLst>
          </p:cNvPr>
          <p:cNvSpPr>
            <a:spLocks noGrp="1"/>
          </p:cNvSpPr>
          <p:nvPr>
            <p:ph type="dt" sz="half" idx="10"/>
          </p:nvPr>
        </p:nvSpPr>
        <p:spPr/>
        <p:txBody>
          <a:bodyPr/>
          <a:lstStyle/>
          <a:p>
            <a:fld id="{1A1383CB-15EA-4EE8-AA24-9B39618AB56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0389D68D-E3B4-3232-26C6-46601DB57CD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A979CEC8-6E9A-44BB-6E85-EC7828753020}"/>
              </a:ext>
            </a:extLst>
          </p:cNvPr>
          <p:cNvSpPr>
            <a:spLocks noGrp="1"/>
          </p:cNvSpPr>
          <p:nvPr>
            <p:ph type="sldNum" sz="quarter" idx="12"/>
          </p:nvPr>
        </p:nvSpPr>
        <p:spPr/>
        <p:txBody>
          <a:bodyPr/>
          <a:lstStyle/>
          <a:p>
            <a:fld id="{7BE69E03-4804-4553-A1EC-F089884EF50F}" type="slidenum">
              <a:rPr lang="en-US" smtClean="0"/>
              <a:t>64</a:t>
            </a:fld>
            <a:endParaRPr lang="en-US"/>
          </a:p>
        </p:txBody>
      </p:sp>
    </p:spTree>
    <p:extLst>
      <p:ext uri="{BB962C8B-B14F-4D97-AF65-F5344CB8AC3E}">
        <p14:creationId xmlns:p14="http://schemas.microsoft.com/office/powerpoint/2010/main" val="21890081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F2B723">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33" name="Rectangle 32">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FAAB8F-43F0-74A1-1BFD-E887D9D0E93B}"/>
              </a:ext>
            </a:extLst>
          </p:cNvPr>
          <p:cNvSpPr>
            <a:spLocks noGrp="1"/>
          </p:cNvSpPr>
          <p:nvPr>
            <p:ph type="title"/>
          </p:nvPr>
        </p:nvSpPr>
        <p:spPr>
          <a:xfrm>
            <a:off x="5132026" y="540167"/>
            <a:ext cx="5828376" cy="2135867"/>
          </a:xfrm>
        </p:spPr>
        <p:txBody>
          <a:bodyPr anchor="b">
            <a:normAutofit/>
          </a:bodyPr>
          <a:lstStyle/>
          <a:p>
            <a:r>
              <a:rPr lang="en-US" sz="4800" dirty="0">
                <a:solidFill>
                  <a:schemeClr val="tx1"/>
                </a:solidFill>
                <a:ea typeface="+mj-lt"/>
                <a:cs typeface="+mj-lt"/>
              </a:rPr>
              <a:t>Assignment Problem</a:t>
            </a:r>
            <a:endParaRPr lang="en-US" sz="4800" dirty="0">
              <a:solidFill>
                <a:schemeClr val="tx1"/>
              </a:solidFill>
            </a:endParaRPr>
          </a:p>
        </p:txBody>
      </p:sp>
      <p:sp>
        <p:nvSpPr>
          <p:cNvPr id="6" name="Slide Number Placeholder 5">
            <a:extLst>
              <a:ext uri="{FF2B5EF4-FFF2-40B4-BE49-F238E27FC236}">
                <a16:creationId xmlns:a16="http://schemas.microsoft.com/office/drawing/2014/main" id="{F11D7CD1-F082-4213-DE21-9856893F4AE5}"/>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65</a:t>
            </a:fld>
            <a:endParaRPr lang="en-US"/>
          </a:p>
        </p:txBody>
      </p:sp>
      <p:pic>
        <p:nvPicPr>
          <p:cNvPr id="8" name="Picture 7" descr="Exclamation mark on a yellow background">
            <a:extLst>
              <a:ext uri="{FF2B5EF4-FFF2-40B4-BE49-F238E27FC236}">
                <a16:creationId xmlns:a16="http://schemas.microsoft.com/office/drawing/2014/main" id="{3A82BAB5-DA67-A8FA-0305-AE5A4327E91B}"/>
              </a:ext>
            </a:extLst>
          </p:cNvPr>
          <p:cNvPicPr>
            <a:picLocks noChangeAspect="1"/>
          </p:cNvPicPr>
          <p:nvPr/>
        </p:nvPicPr>
        <p:blipFill rotWithShape="1">
          <a:blip r:embed="rId3"/>
          <a:srcRect l="28601" r="15708"/>
          <a:stretch/>
        </p:blipFill>
        <p:spPr>
          <a:xfrm>
            <a:off x="413003" y="685800"/>
            <a:ext cx="4073933" cy="5486400"/>
          </a:xfrm>
          <a:prstGeom prst="rect">
            <a:avLst/>
          </a:prstGeom>
        </p:spPr>
      </p:pic>
      <p:sp>
        <p:nvSpPr>
          <p:cNvPr id="3" name="Content Placeholder 2">
            <a:extLst>
              <a:ext uri="{FF2B5EF4-FFF2-40B4-BE49-F238E27FC236}">
                <a16:creationId xmlns:a16="http://schemas.microsoft.com/office/drawing/2014/main" id="{9E947A98-2113-14C9-2437-B18A8AABC5AE}"/>
              </a:ext>
            </a:extLst>
          </p:cNvPr>
          <p:cNvSpPr>
            <a:spLocks noGrp="1"/>
          </p:cNvSpPr>
          <p:nvPr>
            <p:ph idx="1"/>
          </p:nvPr>
        </p:nvSpPr>
        <p:spPr>
          <a:xfrm>
            <a:off x="5132026" y="2880452"/>
            <a:ext cx="5828376" cy="3095445"/>
          </a:xfrm>
        </p:spPr>
        <p:txBody>
          <a:bodyPr vert="horz" lIns="91440" tIns="45720" rIns="91440" bIns="45720" rtlCol="0" anchor="t">
            <a:normAutofit/>
          </a:bodyPr>
          <a:lstStyle/>
          <a:p>
            <a:pPr algn="just"/>
            <a:r>
              <a:rPr lang="en-US" sz="1800" dirty="0">
                <a:solidFill>
                  <a:schemeClr val="tx1"/>
                </a:solidFill>
                <a:latin typeface="Times New Roman"/>
                <a:ea typeface="+mn-lt"/>
                <a:cs typeface="+mn-lt"/>
              </a:rPr>
              <a:t>The Assignment Problem involves assigning n people to n jobs, with the goal of minimizing the total cost associated with the assignments. Each person can be assigned to only one job, and each job can be assigned to only one person.</a:t>
            </a:r>
            <a:endParaRPr lang="en-US" sz="1800" dirty="0">
              <a:solidFill>
                <a:schemeClr val="tx1"/>
              </a:solidFill>
              <a:latin typeface="Times New Roman"/>
              <a:cs typeface="Times New Roman"/>
            </a:endParaRPr>
          </a:p>
          <a:p>
            <a:pPr algn="just"/>
            <a:r>
              <a:rPr lang="en-US" sz="1800" dirty="0">
                <a:solidFill>
                  <a:schemeClr val="tx1"/>
                </a:solidFill>
                <a:latin typeface="Times New Roman"/>
                <a:ea typeface="+mn-lt"/>
                <a:cs typeface="+mn-lt"/>
              </a:rPr>
              <a:t>The cost of assigning a particular person to a particular job is represented by the cost matrix C[</a:t>
            </a:r>
            <a:r>
              <a:rPr lang="en-US" sz="1800" err="1">
                <a:solidFill>
                  <a:schemeClr val="tx1"/>
                </a:solidFill>
                <a:latin typeface="Times New Roman"/>
                <a:ea typeface="+mn-lt"/>
                <a:cs typeface="+mn-lt"/>
              </a:rPr>
              <a:t>i</a:t>
            </a:r>
            <a:r>
              <a:rPr lang="en-US" sz="1800" dirty="0">
                <a:solidFill>
                  <a:schemeClr val="tx1"/>
                </a:solidFill>
                <a:latin typeface="Times New Roman"/>
                <a:ea typeface="+mn-lt"/>
                <a:cs typeface="+mn-lt"/>
              </a:rPr>
              <a:t>, j]. The objective is to find the assignment that results in the minimum total cost across all assignments.</a:t>
            </a:r>
          </a:p>
          <a:p>
            <a:pPr algn="just"/>
            <a:endParaRPr lang="en-US" sz="1800" dirty="0">
              <a:solidFill>
                <a:schemeClr val="tx1"/>
              </a:solidFill>
              <a:latin typeface="Times New Roman"/>
              <a:cs typeface="Times New Roman"/>
            </a:endParaRPr>
          </a:p>
        </p:txBody>
      </p:sp>
      <p:sp>
        <p:nvSpPr>
          <p:cNvPr id="4" name="Date Placeholder 3">
            <a:extLst>
              <a:ext uri="{FF2B5EF4-FFF2-40B4-BE49-F238E27FC236}">
                <a16:creationId xmlns:a16="http://schemas.microsoft.com/office/drawing/2014/main" id="{87B9A623-DCBB-F865-7973-3707F6E0B356}"/>
              </a:ext>
            </a:extLst>
          </p:cNvPr>
          <p:cNvSpPr>
            <a:spLocks noGrp="1"/>
          </p:cNvSpPr>
          <p:nvPr>
            <p:ph type="dt" sz="half" idx="10"/>
          </p:nvPr>
        </p:nvSpPr>
        <p:spPr>
          <a:xfrm>
            <a:off x="422899" y="6217920"/>
            <a:ext cx="2743200" cy="640080"/>
          </a:xfrm>
        </p:spPr>
        <p:txBody>
          <a:bodyPr>
            <a:normAutofit/>
          </a:bodyPr>
          <a:lstStyle/>
          <a:p>
            <a:pPr>
              <a:spcAft>
                <a:spcPts val="600"/>
              </a:spcAft>
            </a:pPr>
            <a:fld id="{8000AE99-B811-4E05-B6D6-B4F885B687E5}" type="datetime2">
              <a:rPr lang="en-US" smtClean="0"/>
              <a:t>Wednesday, January 14, 2026</a:t>
            </a:fld>
            <a:endParaRPr lang="en-US"/>
          </a:p>
        </p:txBody>
      </p:sp>
      <p:sp>
        <p:nvSpPr>
          <p:cNvPr id="5" name="Footer Placeholder 4">
            <a:extLst>
              <a:ext uri="{FF2B5EF4-FFF2-40B4-BE49-F238E27FC236}">
                <a16:creationId xmlns:a16="http://schemas.microsoft.com/office/drawing/2014/main" id="{A8CA0891-3B11-9257-9D23-5EA99F9D2076}"/>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35" name="Straight Connector 34">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2B723"/>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2B72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3389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D493A8E8-88A3-4C21-8DD5-382FD2407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3" name="Rectangle 1032">
            <a:extLst>
              <a:ext uri="{FF2B5EF4-FFF2-40B4-BE49-F238E27FC236}">
                <a16:creationId xmlns:a16="http://schemas.microsoft.com/office/drawing/2014/main" id="{74369055-AD2B-4E6F-8B6F-FD8A6CA370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5" name="Rectangle 1034">
            <a:extLst>
              <a:ext uri="{FF2B5EF4-FFF2-40B4-BE49-F238E27FC236}">
                <a16:creationId xmlns:a16="http://schemas.microsoft.com/office/drawing/2014/main" id="{99B60357-232D-4489-8786-BF4E4F74B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572690"/>
            <a:ext cx="471566" cy="3599021"/>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1037" name="Rectangle 1036">
            <a:extLst>
              <a:ext uri="{FF2B5EF4-FFF2-40B4-BE49-F238E27FC236}">
                <a16:creationId xmlns:a16="http://schemas.microsoft.com/office/drawing/2014/main" id="{C6BC4F02-1D09-4B7C-BF2A-18C1A2A70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BEE8612-DCD7-ADBC-4B44-7D30B426E000}"/>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66</a:t>
            </a:fld>
            <a:endParaRPr lang="en-US"/>
          </a:p>
        </p:txBody>
      </p:sp>
      <p:pic>
        <p:nvPicPr>
          <p:cNvPr id="1026" name="Picture 2">
            <a:extLst>
              <a:ext uri="{FF2B5EF4-FFF2-40B4-BE49-F238E27FC236}">
                <a16:creationId xmlns:a16="http://schemas.microsoft.com/office/drawing/2014/main" id="{5158BF4A-840E-30D2-C314-9039E97E58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43" r="-1" b="-1"/>
          <a:stretch/>
        </p:blipFill>
        <p:spPr bwMode="auto">
          <a:xfrm>
            <a:off x="133535" y="576045"/>
            <a:ext cx="11752905" cy="50119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8A93E8F9-C60C-54D4-91AD-28CB64B919F4}"/>
              </a:ext>
            </a:extLst>
          </p:cNvPr>
          <p:cNvSpPr>
            <a:spLocks noGrp="1"/>
          </p:cNvSpPr>
          <p:nvPr>
            <p:ph type="dt" sz="half" idx="10"/>
          </p:nvPr>
        </p:nvSpPr>
        <p:spPr>
          <a:xfrm>
            <a:off x="422899" y="6217920"/>
            <a:ext cx="2743200" cy="640080"/>
          </a:xfrm>
        </p:spPr>
        <p:txBody>
          <a:bodyPr>
            <a:normAutofit/>
          </a:bodyPr>
          <a:lstStyle/>
          <a:p>
            <a:pPr>
              <a:spcAft>
                <a:spcPts val="600"/>
              </a:spcAft>
            </a:pPr>
            <a:fld id="{1A1383CB-15EA-4EE8-AA24-9B39618AB567}" type="datetime2">
              <a:rPr lang="en-US" smtClean="0"/>
              <a:pPr>
                <a:spcAft>
                  <a:spcPts val="600"/>
                </a:spcAft>
              </a:pPr>
              <a:t>Wednesday, January 14, 2026</a:t>
            </a:fld>
            <a:endParaRPr lang="en-US"/>
          </a:p>
        </p:txBody>
      </p:sp>
      <p:sp>
        <p:nvSpPr>
          <p:cNvPr id="5" name="Footer Placeholder 4">
            <a:extLst>
              <a:ext uri="{FF2B5EF4-FFF2-40B4-BE49-F238E27FC236}">
                <a16:creationId xmlns:a16="http://schemas.microsoft.com/office/drawing/2014/main" id="{6819D2DE-527E-C3C8-2649-288927A5B101}"/>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Department of ICT</a:t>
            </a:r>
          </a:p>
        </p:txBody>
      </p:sp>
      <p:cxnSp>
        <p:nvCxnSpPr>
          <p:cNvPr id="1039" name="Straight Connector 1038">
            <a:extLst>
              <a:ext uri="{FF2B5EF4-FFF2-40B4-BE49-F238E27FC236}">
                <a16:creationId xmlns:a16="http://schemas.microsoft.com/office/drawing/2014/main" id="{675AD8F0-E74F-4E7D-ADD3-E7F806CAF8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FF803BC2-F676-49D8-AA7E-58C8975771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16371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8" name="Rectangle 27">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Rectangle 36">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E1542A-51E5-41DD-E0E2-03297FD999B8}"/>
              </a:ext>
            </a:extLst>
          </p:cNvPr>
          <p:cNvSpPr>
            <a:spLocks noGrp="1"/>
          </p:cNvSpPr>
          <p:nvPr>
            <p:ph type="title"/>
          </p:nvPr>
        </p:nvSpPr>
        <p:spPr>
          <a:xfrm>
            <a:off x="821484" y="2018201"/>
            <a:ext cx="3709794" cy="2639360"/>
          </a:xfrm>
        </p:spPr>
        <p:txBody>
          <a:bodyPr vert="horz" lIns="91440" tIns="45720" rIns="91440" bIns="45720" rtlCol="0" anchor="b">
            <a:normAutofit/>
          </a:bodyPr>
          <a:lstStyle/>
          <a:p>
            <a:r>
              <a:rPr lang="en-US" sz="4800"/>
              <a:t>Assignment Problem</a:t>
            </a:r>
          </a:p>
          <a:p>
            <a:endParaRPr lang="en-US" sz="4800"/>
          </a:p>
        </p:txBody>
      </p:sp>
      <p:sp>
        <p:nvSpPr>
          <p:cNvPr id="6" name="Slide Number Placeholder 5">
            <a:extLst>
              <a:ext uri="{FF2B5EF4-FFF2-40B4-BE49-F238E27FC236}">
                <a16:creationId xmlns:a16="http://schemas.microsoft.com/office/drawing/2014/main" id="{1741A5BC-E8B8-9674-AC9C-8454B9B28F26}"/>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67</a:t>
            </a:fld>
            <a:endParaRPr lang="en-US" sz="1200"/>
          </a:p>
        </p:txBody>
      </p:sp>
      <p:sp>
        <p:nvSpPr>
          <p:cNvPr id="4" name="Date Placeholder 3">
            <a:extLst>
              <a:ext uri="{FF2B5EF4-FFF2-40B4-BE49-F238E27FC236}">
                <a16:creationId xmlns:a16="http://schemas.microsoft.com/office/drawing/2014/main" id="{B87F9037-7F6B-88E3-04EF-E6FF147FDBEA}"/>
              </a:ext>
            </a:extLst>
          </p:cNvPr>
          <p:cNvSpPr>
            <a:spLocks noGrp="1"/>
          </p:cNvSpPr>
          <p:nvPr>
            <p:ph type="dt" sz="half" idx="10"/>
          </p:nvPr>
        </p:nvSpPr>
        <p:spPr>
          <a:xfrm>
            <a:off x="422898" y="6217920"/>
            <a:ext cx="2743200" cy="640080"/>
          </a:xfrm>
        </p:spPr>
        <p:txBody>
          <a:bodyPr vert="horz" lIns="91440" tIns="45720" rIns="91440" bIns="45720" rtlCol="0" anchor="ctr" anchorCtr="0">
            <a:normAutofit/>
          </a:bodyPr>
          <a:lstStyle/>
          <a:p>
            <a:pPr>
              <a:spcAft>
                <a:spcPts val="600"/>
              </a:spcAft>
            </a:pPr>
            <a:fld id="{5FBD427A-7A9C-40F9-869B-AF47F262D7A1}" type="datetime2">
              <a:rPr lang="en-US" sz="1200" smtClean="0"/>
              <a:t>Wednesday, January 14, 2026</a:t>
            </a:fld>
            <a:endParaRPr lang="en-US" sz="1200"/>
          </a:p>
        </p:txBody>
      </p:sp>
      <p:sp>
        <p:nvSpPr>
          <p:cNvPr id="38" name="Rectangle 37">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5" name="Footer Placeholder 4">
            <a:extLst>
              <a:ext uri="{FF2B5EF4-FFF2-40B4-BE49-F238E27FC236}">
                <a16:creationId xmlns:a16="http://schemas.microsoft.com/office/drawing/2014/main" id="{5B034A05-0285-9ECE-9A0E-5C1790F924C4}"/>
              </a:ext>
            </a:extLst>
          </p:cNvPr>
          <p:cNvSpPr>
            <a:spLocks noGrp="1"/>
          </p:cNvSpPr>
          <p:nvPr>
            <p:ph type="ftr" sz="quarter" idx="11"/>
          </p:nvPr>
        </p:nvSpPr>
        <p:spPr>
          <a:xfrm>
            <a:off x="3767328" y="6217920"/>
            <a:ext cx="7196328" cy="640080"/>
          </a:xfrm>
        </p:spPr>
        <p:txBody>
          <a:bodyPr vert="horz" lIns="91440" tIns="45720" rIns="91440" bIns="45720" rtlCol="0" anchor="ctr" anchorCtr="0">
            <a:normAutofit/>
          </a:bodyPr>
          <a:lstStyle/>
          <a:p>
            <a:pPr>
              <a:spcAft>
                <a:spcPts val="600"/>
              </a:spcAft>
            </a:pPr>
            <a:r>
              <a:rPr lang="en-US" sz="1200" kern="1200">
                <a:solidFill>
                  <a:schemeClr val="tx2"/>
                </a:solidFill>
                <a:latin typeface="+mn-lt"/>
                <a:ea typeface="+mn-ea"/>
                <a:cs typeface="+mn-cs"/>
              </a:rPr>
              <a:t>Department of ICT</a:t>
            </a:r>
            <a:endParaRPr lang="en-US" sz="1200" kern="1200" dirty="0">
              <a:solidFill>
                <a:schemeClr val="tx2"/>
              </a:solidFill>
              <a:latin typeface="+mn-lt"/>
              <a:ea typeface="+mn-ea"/>
              <a:cs typeface="+mn-cs"/>
            </a:endParaRPr>
          </a:p>
        </p:txBody>
      </p:sp>
      <p:cxnSp>
        <p:nvCxnSpPr>
          <p:cNvPr id="39" name="Straight Connector 38">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0" name="Content Placeholder 9">
            <a:extLst>
              <a:ext uri="{FF2B5EF4-FFF2-40B4-BE49-F238E27FC236}">
                <a16:creationId xmlns:a16="http://schemas.microsoft.com/office/drawing/2014/main" id="{64CCBF59-0022-50D9-DF76-3F325985CEFC}"/>
              </a:ext>
            </a:extLst>
          </p:cNvPr>
          <p:cNvGraphicFramePr>
            <a:graphicFrameLocks noGrp="1"/>
          </p:cNvGraphicFramePr>
          <p:nvPr>
            <p:ph idx="1"/>
            <p:extLst>
              <p:ext uri="{D42A27DB-BD31-4B8C-83A1-F6EECF244321}">
                <p14:modId xmlns:p14="http://schemas.microsoft.com/office/powerpoint/2010/main" val="326673998"/>
              </p:ext>
            </p:extLst>
          </p:nvPr>
        </p:nvGraphicFramePr>
        <p:xfrm>
          <a:off x="4642338" y="621322"/>
          <a:ext cx="6671581" cy="4732793"/>
        </p:xfrm>
        <a:graphic>
          <a:graphicData uri="http://schemas.openxmlformats.org/drawingml/2006/table">
            <a:tbl>
              <a:tblPr firstRow="1" bandRow="1">
                <a:noFill/>
                <a:tableStyleId>{5C22544A-7EE6-4342-B048-85BDC9FD1C3A}</a:tableStyleId>
              </a:tblPr>
              <a:tblGrid>
                <a:gridCol w="1535737">
                  <a:extLst>
                    <a:ext uri="{9D8B030D-6E8A-4147-A177-3AD203B41FA5}">
                      <a16:colId xmlns:a16="http://schemas.microsoft.com/office/drawing/2014/main" val="2626200746"/>
                    </a:ext>
                  </a:extLst>
                </a:gridCol>
                <a:gridCol w="1349098">
                  <a:extLst>
                    <a:ext uri="{9D8B030D-6E8A-4147-A177-3AD203B41FA5}">
                      <a16:colId xmlns:a16="http://schemas.microsoft.com/office/drawing/2014/main" val="3664851547"/>
                    </a:ext>
                  </a:extLst>
                </a:gridCol>
                <a:gridCol w="1218824">
                  <a:extLst>
                    <a:ext uri="{9D8B030D-6E8A-4147-A177-3AD203B41FA5}">
                      <a16:colId xmlns:a16="http://schemas.microsoft.com/office/drawing/2014/main" val="3767358755"/>
                    </a:ext>
                  </a:extLst>
                </a:gridCol>
                <a:gridCol w="1349098">
                  <a:extLst>
                    <a:ext uri="{9D8B030D-6E8A-4147-A177-3AD203B41FA5}">
                      <a16:colId xmlns:a16="http://schemas.microsoft.com/office/drawing/2014/main" val="135566777"/>
                    </a:ext>
                  </a:extLst>
                </a:gridCol>
                <a:gridCol w="1218824">
                  <a:extLst>
                    <a:ext uri="{9D8B030D-6E8A-4147-A177-3AD203B41FA5}">
                      <a16:colId xmlns:a16="http://schemas.microsoft.com/office/drawing/2014/main" val="376610685"/>
                    </a:ext>
                  </a:extLst>
                </a:gridCol>
              </a:tblGrid>
              <a:tr h="1033045">
                <a:tc>
                  <a:txBody>
                    <a:bodyPr/>
                    <a:lstStyle/>
                    <a:p>
                      <a:pPr marL="0" algn="l" rtl="0" eaLnBrk="1" latinLnBrk="0" hangingPunct="1">
                        <a:spcBef>
                          <a:spcPts val="0"/>
                        </a:spcBef>
                        <a:spcAft>
                          <a:spcPts val="0"/>
                        </a:spcAft>
                      </a:pPr>
                      <a:endParaRPr lang="en-IN" sz="3500" b="1" cap="none" spc="0">
                        <a:solidFill>
                          <a:schemeClr val="tx1"/>
                        </a:solidFill>
                        <a:effectLst/>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 1</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job2</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 3</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tc>
                  <a:txBody>
                    <a:bodyPr/>
                    <a:lstStyle/>
                    <a:p>
                      <a:pPr marL="0" algn="l" rtl="0" eaLnBrk="1" latinLnBrk="0" hangingPunct="1">
                        <a:spcBef>
                          <a:spcPts val="0"/>
                        </a:spcBef>
                        <a:spcAft>
                          <a:spcPts val="0"/>
                        </a:spcAft>
                      </a:pPr>
                      <a:r>
                        <a:rPr lang="en-US" sz="3500" b="1" kern="1200" cap="none" spc="0" dirty="0">
                          <a:solidFill>
                            <a:schemeClr val="tx1"/>
                          </a:solidFill>
                          <a:effectLst/>
                          <a:latin typeface="Calibri"/>
                        </a:rPr>
                        <a:t>job4</a:t>
                      </a:r>
                      <a:endParaRPr lang="en-US" sz="3500" b="1" cap="none" spc="0" dirty="0">
                        <a:solidFill>
                          <a:schemeClr val="tx1"/>
                        </a:solidFill>
                        <a:effectLst/>
                        <a:latin typeface="Calibri"/>
                      </a:endParaRPr>
                    </a:p>
                  </a:txBody>
                  <a:tcPr marL="140354" marR="0" marT="40101" marB="300758"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638568862"/>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1</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10</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3</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8</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9</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2008651766"/>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2</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7</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5</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4</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8</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307717243"/>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3</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6</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9</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2</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9</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2459994171"/>
                  </a:ext>
                </a:extLst>
              </a:tr>
              <a:tr h="924937">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Person 4</a:t>
                      </a:r>
                      <a:endParaRPr lang="en-US" sz="2600" cap="none" spc="0" dirty="0">
                        <a:solidFill>
                          <a:schemeClr val="tx1"/>
                        </a:solidFill>
                        <a:effectLst/>
                        <a:latin typeface="Calibri"/>
                      </a:endParaRPr>
                    </a:p>
                  </a:txBody>
                  <a:tcPr marL="140354" marR="0" marT="40101" marB="300758"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8</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7</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10</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marL="0" algn="l" rtl="0" eaLnBrk="1" latinLnBrk="0" hangingPunct="1">
                        <a:spcBef>
                          <a:spcPts val="0"/>
                        </a:spcBef>
                        <a:spcAft>
                          <a:spcPts val="0"/>
                        </a:spcAft>
                      </a:pPr>
                      <a:r>
                        <a:rPr lang="en-US" sz="2600" kern="1200" cap="none" spc="0" dirty="0">
                          <a:solidFill>
                            <a:schemeClr val="tx1"/>
                          </a:solidFill>
                          <a:effectLst/>
                          <a:latin typeface="Calibri"/>
                        </a:rPr>
                        <a:t>5</a:t>
                      </a:r>
                      <a:endParaRPr lang="en-US" sz="2600" cap="none" spc="0" dirty="0">
                        <a:solidFill>
                          <a:schemeClr val="tx1"/>
                        </a:solidFill>
                        <a:effectLst/>
                        <a:latin typeface="Calibri"/>
                      </a:endParaRPr>
                    </a:p>
                  </a:txBody>
                  <a:tcPr marL="140354" marR="0" marT="40101" marB="30075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76564965"/>
                  </a:ext>
                </a:extLst>
              </a:tr>
            </a:tbl>
          </a:graphicData>
        </a:graphic>
      </p:graphicFrame>
    </p:spTree>
    <p:extLst>
      <p:ext uri="{BB962C8B-B14F-4D97-AF65-F5344CB8AC3E}">
        <p14:creationId xmlns:p14="http://schemas.microsoft.com/office/powerpoint/2010/main" val="16522781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9EE76-2176-D20F-EA38-B3A271FB1CD6}"/>
              </a:ext>
            </a:extLst>
          </p:cNvPr>
          <p:cNvSpPr>
            <a:spLocks noGrp="1"/>
          </p:cNvSpPr>
          <p:nvPr>
            <p:ph type="title"/>
          </p:nvPr>
        </p:nvSpPr>
        <p:spPr/>
        <p:txBody>
          <a:bodyPr/>
          <a:lstStyle/>
          <a:p>
            <a:r>
              <a:rPr lang="en-US" sz="4800" dirty="0">
                <a:ea typeface="+mj-lt"/>
                <a:cs typeface="+mj-lt"/>
              </a:rPr>
              <a:t>Assignment Problem- Solution</a:t>
            </a:r>
            <a:endParaRPr lang="en-US" dirty="0"/>
          </a:p>
        </p:txBody>
      </p:sp>
      <p:pic>
        <p:nvPicPr>
          <p:cNvPr id="7" name="Content Placeholder 6">
            <a:extLst>
              <a:ext uri="{FF2B5EF4-FFF2-40B4-BE49-F238E27FC236}">
                <a16:creationId xmlns:a16="http://schemas.microsoft.com/office/drawing/2014/main" id="{E40E51AB-6448-AE58-2324-35DF8F0B49A8}"/>
              </a:ext>
            </a:extLst>
          </p:cNvPr>
          <p:cNvPicPr>
            <a:picLocks noGrp="1" noChangeAspect="1"/>
          </p:cNvPicPr>
          <p:nvPr>
            <p:ph idx="1"/>
          </p:nvPr>
        </p:nvPicPr>
        <p:blipFill>
          <a:blip r:embed="rId2"/>
          <a:stretch>
            <a:fillRect/>
          </a:stretch>
        </p:blipFill>
        <p:spPr>
          <a:xfrm>
            <a:off x="1557763" y="1762093"/>
            <a:ext cx="9941170" cy="3829355"/>
          </a:xfrm>
        </p:spPr>
      </p:pic>
      <p:sp>
        <p:nvSpPr>
          <p:cNvPr id="4" name="Date Placeholder 3">
            <a:extLst>
              <a:ext uri="{FF2B5EF4-FFF2-40B4-BE49-F238E27FC236}">
                <a16:creationId xmlns:a16="http://schemas.microsoft.com/office/drawing/2014/main" id="{CBDAE83F-A101-7570-7B3B-AF14B047D279}"/>
              </a:ext>
            </a:extLst>
          </p:cNvPr>
          <p:cNvSpPr>
            <a:spLocks noGrp="1"/>
          </p:cNvSpPr>
          <p:nvPr>
            <p:ph type="dt" sz="half" idx="10"/>
          </p:nvPr>
        </p:nvSpPr>
        <p:spPr/>
        <p:txBody>
          <a:bodyPr/>
          <a:lstStyle/>
          <a:p>
            <a:fld id="{C4217653-6CED-4FAA-A3EE-5F8F23697181}"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DA6BAE34-B319-766F-804B-A0C99563F5C1}"/>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DA7D112A-BB33-6F69-34E2-213681B5B76E}"/>
              </a:ext>
            </a:extLst>
          </p:cNvPr>
          <p:cNvSpPr>
            <a:spLocks noGrp="1"/>
          </p:cNvSpPr>
          <p:nvPr>
            <p:ph type="sldNum" sz="quarter" idx="12"/>
          </p:nvPr>
        </p:nvSpPr>
        <p:spPr/>
        <p:txBody>
          <a:bodyPr/>
          <a:lstStyle/>
          <a:p>
            <a:fld id="{7BE69E03-4804-4553-A1EC-F089884EF50F}" type="slidenum">
              <a:rPr lang="en-US" smtClean="0"/>
              <a:t>68</a:t>
            </a:fld>
            <a:endParaRPr lang="en-US"/>
          </a:p>
        </p:txBody>
      </p:sp>
    </p:spTree>
    <p:extLst>
      <p:ext uri="{BB962C8B-B14F-4D97-AF65-F5344CB8AC3E}">
        <p14:creationId xmlns:p14="http://schemas.microsoft.com/office/powerpoint/2010/main" val="42102262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ED62-BC20-1844-81D1-E32780484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98CB3-7E45-29EF-3767-5108F0BBF16F}"/>
              </a:ext>
            </a:extLst>
          </p:cNvPr>
          <p:cNvSpPr>
            <a:spLocks noGrp="1"/>
          </p:cNvSpPr>
          <p:nvPr>
            <p:ph type="title"/>
          </p:nvPr>
        </p:nvSpPr>
        <p:spPr/>
        <p:txBody>
          <a:bodyPr/>
          <a:lstStyle/>
          <a:p>
            <a:r>
              <a:rPr lang="en-US" sz="4800" dirty="0">
                <a:ea typeface="+mj-lt"/>
                <a:cs typeface="+mj-lt"/>
              </a:rPr>
              <a:t>Assignment Problem- Solution</a:t>
            </a:r>
            <a:endParaRPr lang="en-US" dirty="0"/>
          </a:p>
        </p:txBody>
      </p:sp>
      <p:sp>
        <p:nvSpPr>
          <p:cNvPr id="4" name="Date Placeholder 3">
            <a:extLst>
              <a:ext uri="{FF2B5EF4-FFF2-40B4-BE49-F238E27FC236}">
                <a16:creationId xmlns:a16="http://schemas.microsoft.com/office/drawing/2014/main" id="{A38F16C9-AB12-D9FD-AFB3-1FE58A1E303B}"/>
              </a:ext>
            </a:extLst>
          </p:cNvPr>
          <p:cNvSpPr>
            <a:spLocks noGrp="1"/>
          </p:cNvSpPr>
          <p:nvPr>
            <p:ph type="dt" sz="half" idx="10"/>
          </p:nvPr>
        </p:nvSpPr>
        <p:spPr/>
        <p:txBody>
          <a:bodyPr/>
          <a:lstStyle/>
          <a:p>
            <a:fld id="{9C023F89-223F-42A8-9A57-F7329AFBE7F9}"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E5E5F49E-B5A6-CD48-BCF3-638F8A337943}"/>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989070C5-FD78-551A-ACF5-422DDF724B71}"/>
              </a:ext>
            </a:extLst>
          </p:cNvPr>
          <p:cNvSpPr>
            <a:spLocks noGrp="1"/>
          </p:cNvSpPr>
          <p:nvPr>
            <p:ph type="sldNum" sz="quarter" idx="12"/>
          </p:nvPr>
        </p:nvSpPr>
        <p:spPr/>
        <p:txBody>
          <a:bodyPr/>
          <a:lstStyle/>
          <a:p>
            <a:fld id="{7BE69E03-4804-4553-A1EC-F089884EF50F}" type="slidenum">
              <a:rPr lang="en-US" smtClean="0"/>
              <a:t>69</a:t>
            </a:fld>
            <a:endParaRPr lang="en-US"/>
          </a:p>
        </p:txBody>
      </p:sp>
      <p:pic>
        <p:nvPicPr>
          <p:cNvPr id="9" name="Content Placeholder 8">
            <a:extLst>
              <a:ext uri="{FF2B5EF4-FFF2-40B4-BE49-F238E27FC236}">
                <a16:creationId xmlns:a16="http://schemas.microsoft.com/office/drawing/2014/main" id="{702D4184-2504-2C76-20EC-C2034477495E}"/>
              </a:ext>
            </a:extLst>
          </p:cNvPr>
          <p:cNvPicPr>
            <a:picLocks noGrp="1" noChangeAspect="1"/>
          </p:cNvPicPr>
          <p:nvPr>
            <p:ph idx="1"/>
          </p:nvPr>
        </p:nvPicPr>
        <p:blipFill>
          <a:blip r:embed="rId2"/>
          <a:stretch>
            <a:fillRect/>
          </a:stretch>
        </p:blipFill>
        <p:spPr>
          <a:xfrm>
            <a:off x="1908251" y="1813901"/>
            <a:ext cx="9685668" cy="3925030"/>
          </a:xfrm>
        </p:spPr>
      </p:pic>
    </p:spTree>
    <p:extLst>
      <p:ext uri="{BB962C8B-B14F-4D97-AF65-F5344CB8AC3E}">
        <p14:creationId xmlns:p14="http://schemas.microsoft.com/office/powerpoint/2010/main" val="22763326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A1D4-439D-F5FC-B439-02DC4024D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772F4-5B1B-1574-8A7B-6A17C8E91A0B}"/>
              </a:ext>
            </a:extLst>
          </p:cNvPr>
          <p:cNvSpPr>
            <a:spLocks noGrp="1"/>
          </p:cNvSpPr>
          <p:nvPr>
            <p:ph type="title"/>
          </p:nvPr>
        </p:nvSpPr>
        <p:spPr/>
        <p:txBody>
          <a:bodyPr/>
          <a:lstStyle/>
          <a:p>
            <a:r>
              <a:rPr lang="en-US" sz="4800" dirty="0">
                <a:ea typeface="+mj-lt"/>
                <a:cs typeface="+mj-lt"/>
              </a:rPr>
              <a:t>Assignment Problem- Solution</a:t>
            </a:r>
            <a:endParaRPr lang="en-US" dirty="0"/>
          </a:p>
        </p:txBody>
      </p:sp>
      <p:sp>
        <p:nvSpPr>
          <p:cNvPr id="4" name="Date Placeholder 3">
            <a:extLst>
              <a:ext uri="{FF2B5EF4-FFF2-40B4-BE49-F238E27FC236}">
                <a16:creationId xmlns:a16="http://schemas.microsoft.com/office/drawing/2014/main" id="{D8490998-026E-ECC7-EA2F-1FE2B34958AE}"/>
              </a:ext>
            </a:extLst>
          </p:cNvPr>
          <p:cNvSpPr>
            <a:spLocks noGrp="1"/>
          </p:cNvSpPr>
          <p:nvPr>
            <p:ph type="dt" sz="half" idx="10"/>
          </p:nvPr>
        </p:nvSpPr>
        <p:spPr/>
        <p:txBody>
          <a:bodyPr/>
          <a:lstStyle/>
          <a:p>
            <a:fld id="{2E556997-DC1E-456F-AB87-EB77479F19E7}"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77CFD162-AC42-5238-1D23-538B9D5F4E5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884743C0-0969-30D4-A7F2-CCDBAB1AD8BE}"/>
              </a:ext>
            </a:extLst>
          </p:cNvPr>
          <p:cNvSpPr>
            <a:spLocks noGrp="1"/>
          </p:cNvSpPr>
          <p:nvPr>
            <p:ph type="sldNum" sz="quarter" idx="12"/>
          </p:nvPr>
        </p:nvSpPr>
        <p:spPr/>
        <p:txBody>
          <a:bodyPr/>
          <a:lstStyle/>
          <a:p>
            <a:fld id="{7BE69E03-4804-4553-A1EC-F089884EF50F}" type="slidenum">
              <a:rPr lang="en-US" smtClean="0"/>
              <a:t>70</a:t>
            </a:fld>
            <a:endParaRPr lang="en-US"/>
          </a:p>
        </p:txBody>
      </p:sp>
      <p:pic>
        <p:nvPicPr>
          <p:cNvPr id="8" name="Content Placeholder 7">
            <a:extLst>
              <a:ext uri="{FF2B5EF4-FFF2-40B4-BE49-F238E27FC236}">
                <a16:creationId xmlns:a16="http://schemas.microsoft.com/office/drawing/2014/main" id="{3C57A5F8-A611-82F5-3E47-12A549758121}"/>
              </a:ext>
            </a:extLst>
          </p:cNvPr>
          <p:cNvPicPr>
            <a:picLocks noGrp="1" noChangeAspect="1"/>
          </p:cNvPicPr>
          <p:nvPr>
            <p:ph idx="1"/>
          </p:nvPr>
        </p:nvPicPr>
        <p:blipFill>
          <a:blip r:embed="rId2"/>
          <a:stretch>
            <a:fillRect/>
          </a:stretch>
        </p:blipFill>
        <p:spPr>
          <a:xfrm>
            <a:off x="2237701" y="1933359"/>
            <a:ext cx="9730154" cy="3779899"/>
          </a:xfrm>
        </p:spPr>
      </p:pic>
    </p:spTree>
    <p:extLst>
      <p:ext uri="{BB962C8B-B14F-4D97-AF65-F5344CB8AC3E}">
        <p14:creationId xmlns:p14="http://schemas.microsoft.com/office/powerpoint/2010/main" val="34482768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FD84B-4A91-4580-279B-7BB0B58DE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9EF66-BAB1-6DA1-B710-6604C434BC76}"/>
              </a:ext>
            </a:extLst>
          </p:cNvPr>
          <p:cNvSpPr>
            <a:spLocks noGrp="1"/>
          </p:cNvSpPr>
          <p:nvPr>
            <p:ph type="title"/>
          </p:nvPr>
        </p:nvSpPr>
        <p:spPr/>
        <p:txBody>
          <a:bodyPr/>
          <a:lstStyle/>
          <a:p>
            <a:r>
              <a:rPr lang="en-US" sz="4800" dirty="0">
                <a:ea typeface="+mj-lt"/>
                <a:cs typeface="+mj-lt"/>
              </a:rPr>
              <a:t>Assignment Problem- Solution</a:t>
            </a:r>
            <a:endParaRPr lang="en-US" dirty="0"/>
          </a:p>
        </p:txBody>
      </p:sp>
      <p:sp>
        <p:nvSpPr>
          <p:cNvPr id="4" name="Date Placeholder 3">
            <a:extLst>
              <a:ext uri="{FF2B5EF4-FFF2-40B4-BE49-F238E27FC236}">
                <a16:creationId xmlns:a16="http://schemas.microsoft.com/office/drawing/2014/main" id="{28169825-152E-F08F-43D1-7B7A86E94A8E}"/>
              </a:ext>
            </a:extLst>
          </p:cNvPr>
          <p:cNvSpPr>
            <a:spLocks noGrp="1"/>
          </p:cNvSpPr>
          <p:nvPr>
            <p:ph type="dt" sz="half" idx="10"/>
          </p:nvPr>
        </p:nvSpPr>
        <p:spPr/>
        <p:txBody>
          <a:bodyPr/>
          <a:lstStyle/>
          <a:p>
            <a:fld id="{06AC777B-084F-4B23-BCE0-B3271A9EB772}"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12F8D02A-9852-F9A2-05A4-5694F8C234A6}"/>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7F966BA8-D04F-E0D0-BECD-6B0B88DF7E9C}"/>
              </a:ext>
            </a:extLst>
          </p:cNvPr>
          <p:cNvSpPr>
            <a:spLocks noGrp="1"/>
          </p:cNvSpPr>
          <p:nvPr>
            <p:ph type="sldNum" sz="quarter" idx="12"/>
          </p:nvPr>
        </p:nvSpPr>
        <p:spPr/>
        <p:txBody>
          <a:bodyPr/>
          <a:lstStyle/>
          <a:p>
            <a:fld id="{7BE69E03-4804-4553-A1EC-F089884EF50F}" type="slidenum">
              <a:rPr lang="en-US" smtClean="0"/>
              <a:t>71</a:t>
            </a:fld>
            <a:endParaRPr lang="en-US"/>
          </a:p>
        </p:txBody>
      </p:sp>
      <p:pic>
        <p:nvPicPr>
          <p:cNvPr id="9" name="Content Placeholder 8">
            <a:extLst>
              <a:ext uri="{FF2B5EF4-FFF2-40B4-BE49-F238E27FC236}">
                <a16:creationId xmlns:a16="http://schemas.microsoft.com/office/drawing/2014/main" id="{C563F2F8-933F-8765-35B0-423643E49463}"/>
              </a:ext>
            </a:extLst>
          </p:cNvPr>
          <p:cNvPicPr>
            <a:picLocks noGrp="1" noChangeAspect="1"/>
          </p:cNvPicPr>
          <p:nvPr>
            <p:ph idx="1"/>
          </p:nvPr>
        </p:nvPicPr>
        <p:blipFill>
          <a:blip r:embed="rId3"/>
          <a:stretch>
            <a:fillRect/>
          </a:stretch>
        </p:blipFill>
        <p:spPr>
          <a:xfrm>
            <a:off x="1783858" y="1778733"/>
            <a:ext cx="9383470" cy="4206383"/>
          </a:xfrm>
        </p:spPr>
      </p:pic>
    </p:spTree>
    <p:extLst>
      <p:ext uri="{BB962C8B-B14F-4D97-AF65-F5344CB8AC3E}">
        <p14:creationId xmlns:p14="http://schemas.microsoft.com/office/powerpoint/2010/main" val="30269428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57DE92-FEE8-22FC-6C2C-B8E802BE1DD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075128-327D-D3C7-632D-95A5BB25AC49}"/>
              </a:ext>
            </a:extLst>
          </p:cNvPr>
          <p:cNvSpPr>
            <a:spLocks noGrp="1"/>
          </p:cNvSpPr>
          <p:nvPr>
            <p:ph type="title"/>
          </p:nvPr>
        </p:nvSpPr>
        <p:spPr>
          <a:xfrm>
            <a:off x="715221" y="1210540"/>
            <a:ext cx="4178512" cy="4706549"/>
          </a:xfrm>
        </p:spPr>
        <p:txBody>
          <a:bodyPr vert="horz" lIns="91440" tIns="45720" rIns="91440" bIns="45720" rtlCol="0" anchor="ctr">
            <a:normAutofit/>
          </a:bodyPr>
          <a:lstStyle/>
          <a:p>
            <a:r>
              <a:rPr lang="en-US" sz="3300" dirty="0"/>
              <a:t>Assignment Problem-Analysis</a:t>
            </a:r>
          </a:p>
        </p:txBody>
      </p:sp>
      <p:sp>
        <p:nvSpPr>
          <p:cNvPr id="6" name="Slide Number Placeholder 5">
            <a:extLst>
              <a:ext uri="{FF2B5EF4-FFF2-40B4-BE49-F238E27FC236}">
                <a16:creationId xmlns:a16="http://schemas.microsoft.com/office/drawing/2014/main" id="{3C81B63C-3D1F-AE87-FA64-2C820FC8C674}"/>
              </a:ext>
            </a:extLst>
          </p:cNvPr>
          <p:cNvSpPr>
            <a:spLocks noGrp="1"/>
          </p:cNvSpPr>
          <p:nvPr>
            <p:ph type="sldNum" sz="quarter" idx="12"/>
          </p:nvPr>
        </p:nvSpPr>
        <p:spPr>
          <a:xfrm>
            <a:off x="11504676" y="-14198"/>
            <a:ext cx="685800" cy="685800"/>
          </a:xfrm>
        </p:spPr>
        <p:txBody>
          <a:bodyPr vert="horz" lIns="91440" tIns="45720" rIns="91440" bIns="45720" rtlCol="0" anchor="ctr">
            <a:normAutofit/>
          </a:bodyPr>
          <a:lstStyle/>
          <a:p>
            <a:pPr>
              <a:spcAft>
                <a:spcPts val="600"/>
              </a:spcAft>
            </a:pPr>
            <a:fld id="{7BE69E03-4804-4553-A1EC-F089884EF50F}" type="slidenum">
              <a:rPr lang="en-US" sz="1200" smtClean="0"/>
              <a:pPr>
                <a:spcAft>
                  <a:spcPts val="600"/>
                </a:spcAft>
              </a:pPr>
              <a:t>72</a:t>
            </a:fld>
            <a:endParaRPr lang="en-US" sz="1200"/>
          </a:p>
        </p:txBody>
      </p:sp>
      <p:sp>
        <p:nvSpPr>
          <p:cNvPr id="4" name="Date Placeholder 3">
            <a:extLst>
              <a:ext uri="{FF2B5EF4-FFF2-40B4-BE49-F238E27FC236}">
                <a16:creationId xmlns:a16="http://schemas.microsoft.com/office/drawing/2014/main" id="{3A4F616B-BDAD-CB4F-7040-58842D55251F}"/>
              </a:ext>
            </a:extLst>
          </p:cNvPr>
          <p:cNvSpPr>
            <a:spLocks noGrp="1"/>
          </p:cNvSpPr>
          <p:nvPr>
            <p:ph type="dt" sz="half" idx="10"/>
          </p:nvPr>
        </p:nvSpPr>
        <p:spPr>
          <a:xfrm>
            <a:off x="422899" y="6217920"/>
            <a:ext cx="2743200" cy="640080"/>
          </a:xfrm>
        </p:spPr>
        <p:txBody>
          <a:bodyPr vert="horz" lIns="91440" tIns="45720" rIns="91440" bIns="45720" rtlCol="0" anchor="ctr">
            <a:normAutofit/>
          </a:bodyPr>
          <a:lstStyle/>
          <a:p>
            <a:pPr>
              <a:spcAft>
                <a:spcPts val="600"/>
              </a:spcAft>
            </a:pPr>
            <a:fld id="{44F032BD-4D1C-4EA1-910E-5E0A1561FC79}" type="datetime2">
              <a:rPr lang="en-US" sz="1200" smtClean="0"/>
              <a:t>Wednesday, January 14, 2026</a:t>
            </a:fld>
            <a:endParaRPr lang="en-US" sz="1200"/>
          </a:p>
        </p:txBody>
      </p:sp>
      <p:sp>
        <p:nvSpPr>
          <p:cNvPr id="5" name="Footer Placeholder 4">
            <a:extLst>
              <a:ext uri="{FF2B5EF4-FFF2-40B4-BE49-F238E27FC236}">
                <a16:creationId xmlns:a16="http://schemas.microsoft.com/office/drawing/2014/main" id="{23F21BD5-09EE-94B1-59DF-6D00A7B137D8}"/>
              </a:ext>
            </a:extLst>
          </p:cNvPr>
          <p:cNvSpPr>
            <a:spLocks noGrp="1"/>
          </p:cNvSpPr>
          <p:nvPr>
            <p:ph type="ftr" sz="quarter" idx="11"/>
          </p:nvPr>
        </p:nvSpPr>
        <p:spPr>
          <a:xfrm>
            <a:off x="6842943" y="6217920"/>
            <a:ext cx="4114800" cy="640080"/>
          </a:xfrm>
        </p:spPr>
        <p:txBody>
          <a:bodyPr vert="horz" lIns="91440" tIns="45720" rIns="91440" bIns="45720" rtlCol="0" anchor="ctr">
            <a:normAutofit/>
          </a:bodyPr>
          <a:lstStyle/>
          <a:p>
            <a:pPr>
              <a:spcAft>
                <a:spcPts val="600"/>
              </a:spcAft>
            </a:pPr>
            <a:r>
              <a:rPr lang="en-US" sz="1200" kern="1200">
                <a:solidFill>
                  <a:schemeClr val="tx2"/>
                </a:solidFill>
                <a:latin typeface="+mn-lt"/>
                <a:ea typeface="+mn-ea"/>
                <a:cs typeface="+mn-cs"/>
              </a:rPr>
              <a:t>Department of ICT</a:t>
            </a:r>
          </a:p>
        </p:txBody>
      </p:sp>
      <p:cxnSp>
        <p:nvCxnSpPr>
          <p:cNvPr id="20"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2"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0" name="TextBox 7">
            <a:extLst>
              <a:ext uri="{FF2B5EF4-FFF2-40B4-BE49-F238E27FC236}">
                <a16:creationId xmlns:a16="http://schemas.microsoft.com/office/drawing/2014/main" id="{6315D7C2-505A-23D9-83F8-43788EEBD253}"/>
              </a:ext>
            </a:extLst>
          </p:cNvPr>
          <p:cNvGraphicFramePr/>
          <p:nvPr>
            <p:extLst>
              <p:ext uri="{D42A27DB-BD31-4B8C-83A1-F6EECF244321}">
                <p14:modId xmlns:p14="http://schemas.microsoft.com/office/powerpoint/2010/main" val="3538648902"/>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6468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8DA5-5307-2A84-DE1E-1AC608B946AC}"/>
              </a:ext>
            </a:extLst>
          </p:cNvPr>
          <p:cNvSpPr>
            <a:spLocks noGrp="1"/>
          </p:cNvSpPr>
          <p:nvPr>
            <p:ph type="title"/>
          </p:nvPr>
        </p:nvSpPr>
        <p:spPr>
          <a:xfrm>
            <a:off x="6412091" y="501651"/>
            <a:ext cx="4395340" cy="1716255"/>
          </a:xfrm>
        </p:spPr>
        <p:txBody>
          <a:bodyPr anchor="b">
            <a:normAutofit/>
          </a:bodyPr>
          <a:lstStyle/>
          <a:p>
            <a:r>
              <a:rPr lang="en-US" sz="5400"/>
              <a:t>Breadth First Search (BFS)</a:t>
            </a:r>
          </a:p>
        </p:txBody>
      </p:sp>
      <p:pic>
        <p:nvPicPr>
          <p:cNvPr id="7" name="Graphic 6" descr="Circles with Lines">
            <a:extLst>
              <a:ext uri="{FF2B5EF4-FFF2-40B4-BE49-F238E27FC236}">
                <a16:creationId xmlns:a16="http://schemas.microsoft.com/office/drawing/2014/main" id="{7C4412D9-988C-E768-9696-2938DDA22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143" y="818188"/>
            <a:ext cx="5221625" cy="5221625"/>
          </a:xfrm>
          <a:prstGeom prst="rect">
            <a:avLst/>
          </a:prstGeom>
        </p:spPr>
      </p:pic>
      <p:sp>
        <p:nvSpPr>
          <p:cNvPr id="3" name="Content Placeholder 2">
            <a:extLst>
              <a:ext uri="{FF2B5EF4-FFF2-40B4-BE49-F238E27FC236}">
                <a16:creationId xmlns:a16="http://schemas.microsoft.com/office/drawing/2014/main" id="{1628B14E-0B59-46EC-7289-021C3A66F625}"/>
              </a:ext>
            </a:extLst>
          </p:cNvPr>
          <p:cNvSpPr>
            <a:spLocks noGrp="1"/>
          </p:cNvSpPr>
          <p:nvPr>
            <p:ph idx="1"/>
          </p:nvPr>
        </p:nvSpPr>
        <p:spPr>
          <a:xfrm>
            <a:off x="5317256" y="2347516"/>
            <a:ext cx="6056768" cy="3581474"/>
          </a:xfrm>
        </p:spPr>
        <p:txBody>
          <a:bodyPr vert="horz" lIns="91440" tIns="45720" rIns="91440" bIns="45720" rtlCol="0" anchor="t">
            <a:normAutofit/>
          </a:bodyPr>
          <a:lstStyle/>
          <a:p>
            <a:pPr marL="0" indent="0" algn="just">
              <a:buNone/>
            </a:pPr>
            <a:endParaRPr lang="en-US" sz="1600" dirty="0">
              <a:latin typeface="Times New Roman"/>
              <a:ea typeface="+mn-lt"/>
              <a:cs typeface="+mn-lt"/>
            </a:endParaRPr>
          </a:p>
          <a:p>
            <a:pPr algn="just">
              <a:buNone/>
            </a:pPr>
            <a:r>
              <a:rPr lang="en-US" sz="1600" dirty="0">
                <a:latin typeface="Times New Roman"/>
                <a:ea typeface="+mn-lt"/>
                <a:cs typeface="Arial"/>
              </a:rPr>
              <a:t>• BFS</a:t>
            </a:r>
            <a:r>
              <a:rPr lang="en-US" sz="1600" dirty="0">
                <a:latin typeface="Times New Roman"/>
                <a:ea typeface="+mn-lt"/>
                <a:cs typeface="Times New Roman"/>
              </a:rPr>
              <a:t> is a graph traversal/search algorithm that begins at the root node and explores all the neighboring nodes. </a:t>
            </a:r>
            <a:endParaRPr lang="en-US" sz="1600" dirty="0">
              <a:latin typeface="Times New Roman"/>
              <a:cs typeface="Times New Roman"/>
            </a:endParaRPr>
          </a:p>
          <a:p>
            <a:pPr algn="just">
              <a:buNone/>
            </a:pPr>
            <a:r>
              <a:rPr lang="en-US" sz="1600" dirty="0">
                <a:latin typeface="Times New Roman"/>
                <a:ea typeface="+mn-lt"/>
                <a:cs typeface="Arial"/>
              </a:rPr>
              <a:t>•</a:t>
            </a:r>
            <a:r>
              <a:rPr lang="en-US" sz="1600" dirty="0">
                <a:latin typeface="Times New Roman"/>
                <a:ea typeface="+mn-lt"/>
                <a:cs typeface="Times New Roman"/>
              </a:rPr>
              <a:t>Then for each of those nearest nodes, the algorithm explores their unexplored neighbor nodes, and so on, until it finds the goal.</a:t>
            </a:r>
            <a:endParaRPr lang="en-US" sz="1600" dirty="0">
              <a:latin typeface="Times New Roman"/>
              <a:cs typeface="Times New Roman"/>
            </a:endParaRPr>
          </a:p>
          <a:p>
            <a:pPr algn="just">
              <a:buNone/>
            </a:pPr>
            <a:r>
              <a:rPr lang="en-US" sz="1600" dirty="0">
                <a:latin typeface="Times New Roman"/>
                <a:ea typeface="+mn-lt"/>
                <a:cs typeface="Arial"/>
              </a:rPr>
              <a:t>•</a:t>
            </a:r>
            <a:r>
              <a:rPr lang="en-US" sz="1600" dirty="0">
                <a:latin typeface="Times New Roman"/>
                <a:ea typeface="+mn-lt"/>
                <a:cs typeface="Times New Roman"/>
              </a:rPr>
              <a:t>This technique is used for searching a vertex in a graph.</a:t>
            </a:r>
            <a:endParaRPr lang="en-US" sz="1600" dirty="0">
              <a:latin typeface="Times New Roman"/>
              <a:cs typeface="Times New Roman"/>
            </a:endParaRPr>
          </a:p>
          <a:p>
            <a:pPr algn="just">
              <a:buNone/>
            </a:pPr>
            <a:r>
              <a:rPr lang="en-US" sz="1600" dirty="0">
                <a:latin typeface="Times New Roman"/>
                <a:ea typeface="+mn-lt"/>
                <a:cs typeface="Arial"/>
              </a:rPr>
              <a:t>•</a:t>
            </a:r>
            <a:r>
              <a:rPr lang="en-US" sz="1600" dirty="0">
                <a:latin typeface="Times New Roman"/>
                <a:ea typeface="+mn-lt"/>
                <a:cs typeface="Times New Roman"/>
              </a:rPr>
              <a:t>It produces a spanning tree as a final result if graph is connected.</a:t>
            </a:r>
            <a:endParaRPr lang="en-US" sz="1600" dirty="0">
              <a:latin typeface="Times New Roman"/>
              <a:cs typeface="Times New Roman"/>
            </a:endParaRPr>
          </a:p>
          <a:p>
            <a:pPr algn="just">
              <a:buNone/>
            </a:pPr>
            <a:r>
              <a:rPr lang="en-US" sz="1600" dirty="0">
                <a:latin typeface="Times New Roman"/>
                <a:ea typeface="+mn-lt"/>
                <a:cs typeface="Arial"/>
              </a:rPr>
              <a:t>••</a:t>
            </a:r>
            <a:r>
              <a:rPr lang="en-US" sz="1600" dirty="0">
                <a:latin typeface="Times New Roman"/>
                <a:ea typeface="+mn-lt"/>
                <a:cs typeface="Times New Roman"/>
              </a:rPr>
              <a:t>Here we use Queue data structure with maximum size of total number of vertices in the graph. </a:t>
            </a:r>
            <a:endParaRPr lang="en-US" sz="1600" dirty="0">
              <a:latin typeface="Times New Roman"/>
              <a:cs typeface="Times New Roman"/>
            </a:endParaRPr>
          </a:p>
          <a:p>
            <a:pPr marL="0" indent="0" algn="just">
              <a:buNone/>
            </a:pPr>
            <a:endParaRPr lang="en-US" sz="1600" dirty="0">
              <a:latin typeface="Times New Roman"/>
              <a:ea typeface="+mn-lt"/>
              <a:cs typeface="+mn-lt"/>
            </a:endParaRPr>
          </a:p>
        </p:txBody>
      </p:sp>
      <p:sp>
        <p:nvSpPr>
          <p:cNvPr id="4" name="Date Placeholder 3">
            <a:extLst>
              <a:ext uri="{FF2B5EF4-FFF2-40B4-BE49-F238E27FC236}">
                <a16:creationId xmlns:a16="http://schemas.microsoft.com/office/drawing/2014/main" id="{3F1CEE49-CFEE-4A95-B91E-2A909365FCE2}"/>
              </a:ext>
            </a:extLst>
          </p:cNvPr>
          <p:cNvSpPr>
            <a:spLocks noGrp="1"/>
          </p:cNvSpPr>
          <p:nvPr>
            <p:ph type="dt" sz="half" idx="10"/>
          </p:nvPr>
        </p:nvSpPr>
        <p:spPr/>
        <p:txBody>
          <a:bodyPr/>
          <a:lstStyle/>
          <a:p>
            <a:fld id="{EFD1FD6A-6327-4528-AE6D-FB1B6770185E}"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91A35C8E-F2C2-4DDE-94B1-CB2AAF5BD7B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283C75F8-57C9-4862-8824-033A498CF502}"/>
              </a:ext>
            </a:extLst>
          </p:cNvPr>
          <p:cNvSpPr>
            <a:spLocks noGrp="1"/>
          </p:cNvSpPr>
          <p:nvPr>
            <p:ph type="sldNum" sz="quarter" idx="12"/>
          </p:nvPr>
        </p:nvSpPr>
        <p:spPr/>
        <p:txBody>
          <a:bodyPr/>
          <a:lstStyle/>
          <a:p>
            <a:fld id="{7BE69E03-4804-4553-A1EC-F089884EF50F}" type="slidenum">
              <a:rPr lang="en-US" smtClean="0"/>
              <a:t>73</a:t>
            </a:fld>
            <a:endParaRPr lang="en-US"/>
          </a:p>
        </p:txBody>
      </p:sp>
    </p:spTree>
    <p:extLst>
      <p:ext uri="{BB962C8B-B14F-4D97-AF65-F5344CB8AC3E}">
        <p14:creationId xmlns:p14="http://schemas.microsoft.com/office/powerpoint/2010/main" val="42062081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455C-1E3A-DCE1-11E5-E503B8952E31}"/>
              </a:ext>
            </a:extLst>
          </p:cNvPr>
          <p:cNvSpPr>
            <a:spLocks noGrp="1"/>
          </p:cNvSpPr>
          <p:nvPr>
            <p:ph type="title"/>
          </p:nvPr>
        </p:nvSpPr>
        <p:spPr>
          <a:xfrm>
            <a:off x="1293577" y="-40096"/>
            <a:ext cx="5403629" cy="874876"/>
          </a:xfrm>
        </p:spPr>
        <p:txBody>
          <a:bodyPr anchor="ctr">
            <a:normAutofit/>
          </a:bodyPr>
          <a:lstStyle/>
          <a:p>
            <a:r>
              <a:rPr lang="en-US" sz="4500" dirty="0">
                <a:solidFill>
                  <a:schemeClr val="tx1"/>
                </a:solidFill>
              </a:rPr>
              <a:t>Algorithm BFS</a:t>
            </a:r>
            <a:endParaRPr lang="en-US" dirty="0">
              <a:solidFill>
                <a:schemeClr val="tx1"/>
              </a:solidFill>
            </a:endParaRPr>
          </a:p>
        </p:txBody>
      </p:sp>
      <p:pic>
        <p:nvPicPr>
          <p:cNvPr id="6" name="Content Placeholder 5" descr="A white text with black text&#10;&#10;Description automatically generated">
            <a:extLst>
              <a:ext uri="{FF2B5EF4-FFF2-40B4-BE49-F238E27FC236}">
                <a16:creationId xmlns:a16="http://schemas.microsoft.com/office/drawing/2014/main" id="{B12E8E77-547F-8263-EFDD-1E3AF9AFB67A}"/>
              </a:ext>
            </a:extLst>
          </p:cNvPr>
          <p:cNvPicPr>
            <a:picLocks noGrp="1" noChangeAspect="1"/>
          </p:cNvPicPr>
          <p:nvPr>
            <p:ph idx="1"/>
          </p:nvPr>
        </p:nvPicPr>
        <p:blipFill>
          <a:blip r:embed="rId2"/>
          <a:stretch>
            <a:fillRect/>
          </a:stretch>
        </p:blipFill>
        <p:spPr>
          <a:xfrm>
            <a:off x="1515267" y="2094399"/>
            <a:ext cx="6380284" cy="4526573"/>
          </a:xfrm>
        </p:spPr>
      </p:pic>
      <p:sp>
        <p:nvSpPr>
          <p:cNvPr id="7" name="TextBox 6">
            <a:extLst>
              <a:ext uri="{FF2B5EF4-FFF2-40B4-BE49-F238E27FC236}">
                <a16:creationId xmlns:a16="http://schemas.microsoft.com/office/drawing/2014/main" id="{463400EA-E392-9C56-5B70-B9E2F2826BD7}"/>
              </a:ext>
            </a:extLst>
          </p:cNvPr>
          <p:cNvSpPr txBox="1"/>
          <p:nvPr/>
        </p:nvSpPr>
        <p:spPr>
          <a:xfrm>
            <a:off x="1465385" y="890954"/>
            <a:ext cx="988255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ALGORITHM BFS(G) //Implements a breadth-first search traversal of a given graph </a:t>
            </a:r>
          </a:p>
          <a:p>
            <a:r>
              <a:rPr lang="en-US" dirty="0">
                <a:latin typeface="Times New Roman"/>
                <a:cs typeface="Times New Roman"/>
              </a:rPr>
              <a:t>//Input: Graph G = (V, E) </a:t>
            </a:r>
          </a:p>
          <a:p>
            <a:r>
              <a:rPr lang="en-US" dirty="0">
                <a:latin typeface="Times New Roman"/>
                <a:cs typeface="Times New Roman"/>
              </a:rPr>
              <a:t>//Output: Graph G with its vertices marked with consecutive integers</a:t>
            </a:r>
            <a:endParaRPr lang="en-US" dirty="0">
              <a:latin typeface="Georgia Pro"/>
              <a:cs typeface="Times New Roman"/>
            </a:endParaRPr>
          </a:p>
          <a:p>
            <a:r>
              <a:rPr lang="en-US" dirty="0">
                <a:latin typeface="Times New Roman"/>
                <a:cs typeface="Times New Roman"/>
              </a:rPr>
              <a:t> //in the order they have been visited by the BFS traversal</a:t>
            </a:r>
          </a:p>
        </p:txBody>
      </p:sp>
      <p:sp>
        <p:nvSpPr>
          <p:cNvPr id="3" name="Date Placeholder 2">
            <a:extLst>
              <a:ext uri="{FF2B5EF4-FFF2-40B4-BE49-F238E27FC236}">
                <a16:creationId xmlns:a16="http://schemas.microsoft.com/office/drawing/2014/main" id="{ABDCB2E6-5492-4AB6-8616-09F4F7ADF9E3}"/>
              </a:ext>
            </a:extLst>
          </p:cNvPr>
          <p:cNvSpPr>
            <a:spLocks noGrp="1"/>
          </p:cNvSpPr>
          <p:nvPr>
            <p:ph type="dt" sz="half" idx="10"/>
          </p:nvPr>
        </p:nvSpPr>
        <p:spPr/>
        <p:txBody>
          <a:bodyPr/>
          <a:lstStyle/>
          <a:p>
            <a:fld id="{D7841748-4A9A-4DBC-8D38-9B420A36B1D5}"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21F67373-28BB-4BD6-B71B-68DB30EECAC9}"/>
              </a:ext>
            </a:extLst>
          </p:cNvPr>
          <p:cNvSpPr>
            <a:spLocks noGrp="1"/>
          </p:cNvSpPr>
          <p:nvPr>
            <p:ph type="ftr" sz="quarter" idx="11"/>
          </p:nvPr>
        </p:nvSpPr>
        <p:spPr/>
        <p:txBody>
          <a:bodyPr/>
          <a:lstStyle/>
          <a:p>
            <a:r>
              <a:rPr lang="en-US"/>
              <a:t>Department of ICT</a:t>
            </a:r>
            <a:endParaRPr lang="en-US" dirty="0"/>
          </a:p>
        </p:txBody>
      </p:sp>
      <p:sp>
        <p:nvSpPr>
          <p:cNvPr id="5" name="Slide Number Placeholder 4">
            <a:extLst>
              <a:ext uri="{FF2B5EF4-FFF2-40B4-BE49-F238E27FC236}">
                <a16:creationId xmlns:a16="http://schemas.microsoft.com/office/drawing/2014/main" id="{7B4B8435-1449-4FF4-A619-811BB7E779D9}"/>
              </a:ext>
            </a:extLst>
          </p:cNvPr>
          <p:cNvSpPr>
            <a:spLocks noGrp="1"/>
          </p:cNvSpPr>
          <p:nvPr>
            <p:ph type="sldNum" sz="quarter" idx="12"/>
          </p:nvPr>
        </p:nvSpPr>
        <p:spPr/>
        <p:txBody>
          <a:bodyPr/>
          <a:lstStyle/>
          <a:p>
            <a:fld id="{7BE69E03-4804-4553-A1EC-F089884EF50F}" type="slidenum">
              <a:rPr lang="en-US" smtClean="0"/>
              <a:t>74</a:t>
            </a:fld>
            <a:endParaRPr lang="en-US"/>
          </a:p>
        </p:txBody>
      </p:sp>
    </p:spTree>
    <p:extLst>
      <p:ext uri="{BB962C8B-B14F-4D97-AF65-F5344CB8AC3E}">
        <p14:creationId xmlns:p14="http://schemas.microsoft.com/office/powerpoint/2010/main" val="39133787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FB59-3D5F-B3E7-62A6-3696358AE234}"/>
              </a:ext>
            </a:extLst>
          </p:cNvPr>
          <p:cNvSpPr>
            <a:spLocks noGrp="1"/>
          </p:cNvSpPr>
          <p:nvPr>
            <p:ph type="title"/>
          </p:nvPr>
        </p:nvSpPr>
        <p:spPr>
          <a:xfrm>
            <a:off x="220905" y="0"/>
            <a:ext cx="3310128" cy="1830754"/>
          </a:xfrm>
        </p:spPr>
        <p:txBody>
          <a:bodyPr vert="horz" lIns="91440" tIns="45720" rIns="91440" bIns="45720" rtlCol="0" anchor="t">
            <a:normAutofit/>
          </a:bodyPr>
          <a:lstStyle/>
          <a:p>
            <a:pPr algn="r"/>
            <a:r>
              <a:rPr lang="en-US" sz="8000" b="1" i="0" kern="1200" cap="all" baseline="0" dirty="0">
                <a:solidFill>
                  <a:schemeClr val="tx1"/>
                </a:solidFill>
                <a:latin typeface="+mj-lt"/>
                <a:ea typeface="+mj-ea"/>
                <a:cs typeface="+mj-cs"/>
              </a:rPr>
              <a:t>BFS </a:t>
            </a:r>
            <a:endParaRPr lang="en-US" sz="8000" b="1" i="0" kern="1200" cap="all" baseline="0" dirty="0">
              <a:solidFill>
                <a:schemeClr val="tx1"/>
              </a:solidFill>
              <a:latin typeface="+mj-lt"/>
            </a:endParaRPr>
          </a:p>
        </p:txBody>
      </p:sp>
      <p:pic>
        <p:nvPicPr>
          <p:cNvPr id="4" name="Content Placeholder 3" descr="A diagram of a graph&#10;&#10;Description automatically generated">
            <a:extLst>
              <a:ext uri="{FF2B5EF4-FFF2-40B4-BE49-F238E27FC236}">
                <a16:creationId xmlns:a16="http://schemas.microsoft.com/office/drawing/2014/main" id="{0DBDE08D-30A2-F794-A03B-E4A98CB065E0}"/>
              </a:ext>
            </a:extLst>
          </p:cNvPr>
          <p:cNvPicPr>
            <a:picLocks noGrp="1" noChangeAspect="1"/>
          </p:cNvPicPr>
          <p:nvPr>
            <p:ph idx="1"/>
          </p:nvPr>
        </p:nvPicPr>
        <p:blipFill>
          <a:blip r:embed="rId2"/>
          <a:stretch>
            <a:fillRect/>
          </a:stretch>
        </p:blipFill>
        <p:spPr>
          <a:xfrm>
            <a:off x="2094436" y="1418081"/>
            <a:ext cx="9623745" cy="4799839"/>
          </a:xfrm>
          <a:prstGeom prst="rect">
            <a:avLst/>
          </a:prstGeom>
        </p:spPr>
      </p:pic>
      <p:sp>
        <p:nvSpPr>
          <p:cNvPr id="3" name="Date Placeholder 2">
            <a:extLst>
              <a:ext uri="{FF2B5EF4-FFF2-40B4-BE49-F238E27FC236}">
                <a16:creationId xmlns:a16="http://schemas.microsoft.com/office/drawing/2014/main" id="{BEDA819F-1700-4726-A5E7-0F4159667BAE}"/>
              </a:ext>
            </a:extLst>
          </p:cNvPr>
          <p:cNvSpPr>
            <a:spLocks noGrp="1"/>
          </p:cNvSpPr>
          <p:nvPr>
            <p:ph type="dt" sz="half" idx="10"/>
          </p:nvPr>
        </p:nvSpPr>
        <p:spPr/>
        <p:txBody>
          <a:bodyPr/>
          <a:lstStyle/>
          <a:p>
            <a:fld id="{253E7742-CD80-48F6-A47A-22F30FF2C584}"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22A533E0-488F-475E-A9AA-359B9FF91473}"/>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90B56347-2A9D-45B7-94FF-3756B45E9780}"/>
              </a:ext>
            </a:extLst>
          </p:cNvPr>
          <p:cNvSpPr>
            <a:spLocks noGrp="1"/>
          </p:cNvSpPr>
          <p:nvPr>
            <p:ph type="sldNum" sz="quarter" idx="12"/>
          </p:nvPr>
        </p:nvSpPr>
        <p:spPr/>
        <p:txBody>
          <a:bodyPr/>
          <a:lstStyle/>
          <a:p>
            <a:fld id="{7BE69E03-4804-4553-A1EC-F089884EF50F}" type="slidenum">
              <a:rPr lang="en-US" smtClean="0"/>
              <a:t>75</a:t>
            </a:fld>
            <a:endParaRPr lang="en-US"/>
          </a:p>
        </p:txBody>
      </p:sp>
    </p:spTree>
    <p:extLst>
      <p:ext uri="{BB962C8B-B14F-4D97-AF65-F5344CB8AC3E}">
        <p14:creationId xmlns:p14="http://schemas.microsoft.com/office/powerpoint/2010/main" val="14163676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FB59-3D5F-B3E7-62A6-3696358AE234}"/>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r"/>
            <a:r>
              <a:rPr lang="en-US" sz="8000" b="1" i="0" kern="1200" cap="all" baseline="0" dirty="0">
                <a:solidFill>
                  <a:schemeClr val="tx1"/>
                </a:solidFill>
                <a:latin typeface="+mj-lt"/>
                <a:ea typeface="+mj-ea"/>
                <a:cs typeface="+mj-cs"/>
              </a:rPr>
              <a:t>BFS </a:t>
            </a:r>
            <a:endParaRPr lang="en-US" sz="8000" b="1" i="0" kern="1200" cap="all" baseline="0" dirty="0">
              <a:solidFill>
                <a:schemeClr val="tx1"/>
              </a:solidFill>
              <a:latin typeface="+mj-lt"/>
            </a:endParaRPr>
          </a:p>
        </p:txBody>
      </p:sp>
      <p:pic>
        <p:nvPicPr>
          <p:cNvPr id="6" name="Content Placeholder 5" descr="A screenshot of a test&#10;&#10;Description automatically generated">
            <a:extLst>
              <a:ext uri="{FF2B5EF4-FFF2-40B4-BE49-F238E27FC236}">
                <a16:creationId xmlns:a16="http://schemas.microsoft.com/office/drawing/2014/main" id="{366253A7-83DB-F62F-7752-CDDE8768E5D5}"/>
              </a:ext>
            </a:extLst>
          </p:cNvPr>
          <p:cNvPicPr>
            <a:picLocks noGrp="1" noChangeAspect="1"/>
          </p:cNvPicPr>
          <p:nvPr>
            <p:ph idx="1"/>
          </p:nvPr>
        </p:nvPicPr>
        <p:blipFill>
          <a:blip r:embed="rId2"/>
          <a:stretch>
            <a:fillRect/>
          </a:stretch>
        </p:blipFill>
        <p:spPr>
          <a:xfrm>
            <a:off x="4767726" y="1397375"/>
            <a:ext cx="7035248" cy="3614353"/>
          </a:xfrm>
          <a:prstGeom prst="rect">
            <a:avLst/>
          </a:prstGeom>
        </p:spPr>
      </p:pic>
      <p:sp>
        <p:nvSpPr>
          <p:cNvPr id="3" name="Date Placeholder 2">
            <a:extLst>
              <a:ext uri="{FF2B5EF4-FFF2-40B4-BE49-F238E27FC236}">
                <a16:creationId xmlns:a16="http://schemas.microsoft.com/office/drawing/2014/main" id="{DEA75872-49C9-44C4-AB8B-BA25CB6858A8}"/>
              </a:ext>
            </a:extLst>
          </p:cNvPr>
          <p:cNvSpPr>
            <a:spLocks noGrp="1"/>
          </p:cNvSpPr>
          <p:nvPr>
            <p:ph type="dt" sz="half" idx="10"/>
          </p:nvPr>
        </p:nvSpPr>
        <p:spPr/>
        <p:txBody>
          <a:bodyPr/>
          <a:lstStyle/>
          <a:p>
            <a:fld id="{611682C1-2B76-47FA-8F83-E7D2396C8C5B}"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E25E88DE-CB77-46F7-8FF3-516709DBEF84}"/>
              </a:ext>
            </a:extLst>
          </p:cNvPr>
          <p:cNvSpPr>
            <a:spLocks noGrp="1"/>
          </p:cNvSpPr>
          <p:nvPr>
            <p:ph type="ftr" sz="quarter" idx="11"/>
          </p:nvPr>
        </p:nvSpPr>
        <p:spPr/>
        <p:txBody>
          <a:bodyPr/>
          <a:lstStyle/>
          <a:p>
            <a:r>
              <a:rPr lang="en-US"/>
              <a:t>Department of ICT</a:t>
            </a:r>
            <a:endParaRPr lang="en-US" dirty="0"/>
          </a:p>
        </p:txBody>
      </p:sp>
      <p:sp>
        <p:nvSpPr>
          <p:cNvPr id="5" name="Slide Number Placeholder 4">
            <a:extLst>
              <a:ext uri="{FF2B5EF4-FFF2-40B4-BE49-F238E27FC236}">
                <a16:creationId xmlns:a16="http://schemas.microsoft.com/office/drawing/2014/main" id="{9DC767BC-47D3-4233-BC31-EAEA53AE8EC8}"/>
              </a:ext>
            </a:extLst>
          </p:cNvPr>
          <p:cNvSpPr>
            <a:spLocks noGrp="1"/>
          </p:cNvSpPr>
          <p:nvPr>
            <p:ph type="sldNum" sz="quarter" idx="12"/>
          </p:nvPr>
        </p:nvSpPr>
        <p:spPr/>
        <p:txBody>
          <a:bodyPr/>
          <a:lstStyle/>
          <a:p>
            <a:fld id="{7BE69E03-4804-4553-A1EC-F089884EF50F}" type="slidenum">
              <a:rPr lang="en-US" smtClean="0"/>
              <a:t>76</a:t>
            </a:fld>
            <a:endParaRPr lang="en-US"/>
          </a:p>
        </p:txBody>
      </p:sp>
    </p:spTree>
    <p:extLst>
      <p:ext uri="{BB962C8B-B14F-4D97-AF65-F5344CB8AC3E}">
        <p14:creationId xmlns:p14="http://schemas.microsoft.com/office/powerpoint/2010/main" val="33508152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FB59-3D5F-B3E7-62A6-3696358AE234}"/>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r"/>
            <a:r>
              <a:rPr lang="en-US" sz="8000" b="1" i="0" kern="1200" cap="all" baseline="0" dirty="0">
                <a:solidFill>
                  <a:schemeClr val="tx1"/>
                </a:solidFill>
                <a:latin typeface="+mj-lt"/>
                <a:ea typeface="+mj-ea"/>
                <a:cs typeface="+mj-cs"/>
              </a:rPr>
              <a:t>BFS </a:t>
            </a:r>
            <a:endParaRPr lang="en-US" sz="8000" b="1" i="0" kern="1200" cap="all" baseline="0" dirty="0">
              <a:solidFill>
                <a:schemeClr val="tx1"/>
              </a:solidFill>
              <a:latin typeface="+mj-lt"/>
            </a:endParaRPr>
          </a:p>
        </p:txBody>
      </p:sp>
      <p:pic>
        <p:nvPicPr>
          <p:cNvPr id="5" name="Content Placeholder 4" descr="A screenshot of a test&#10;&#10;Description automatically generated">
            <a:extLst>
              <a:ext uri="{FF2B5EF4-FFF2-40B4-BE49-F238E27FC236}">
                <a16:creationId xmlns:a16="http://schemas.microsoft.com/office/drawing/2014/main" id="{585D458C-EC3A-0574-6DD8-F1A7295CCBA9}"/>
              </a:ext>
            </a:extLst>
          </p:cNvPr>
          <p:cNvPicPr>
            <a:picLocks noGrp="1" noChangeAspect="1"/>
          </p:cNvPicPr>
          <p:nvPr>
            <p:ph idx="1"/>
          </p:nvPr>
        </p:nvPicPr>
        <p:blipFill>
          <a:blip r:embed="rId2"/>
          <a:stretch>
            <a:fillRect/>
          </a:stretch>
        </p:blipFill>
        <p:spPr>
          <a:xfrm>
            <a:off x="4615326" y="1236169"/>
            <a:ext cx="6918017" cy="3643688"/>
          </a:xfrm>
          <a:prstGeom prst="rect">
            <a:avLst/>
          </a:prstGeom>
        </p:spPr>
      </p:pic>
      <p:sp>
        <p:nvSpPr>
          <p:cNvPr id="3" name="Date Placeholder 2">
            <a:extLst>
              <a:ext uri="{FF2B5EF4-FFF2-40B4-BE49-F238E27FC236}">
                <a16:creationId xmlns:a16="http://schemas.microsoft.com/office/drawing/2014/main" id="{27E09FA4-E924-4487-9F41-BB188130E3FF}"/>
              </a:ext>
            </a:extLst>
          </p:cNvPr>
          <p:cNvSpPr>
            <a:spLocks noGrp="1"/>
          </p:cNvSpPr>
          <p:nvPr>
            <p:ph type="dt" sz="half" idx="10"/>
          </p:nvPr>
        </p:nvSpPr>
        <p:spPr/>
        <p:txBody>
          <a:bodyPr/>
          <a:lstStyle/>
          <a:p>
            <a:fld id="{B4E560DA-F75D-4569-9A0B-50A9D13E9FD2}"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1E804EA8-FF41-417F-B33A-7BD571E11ED5}"/>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F2D336F4-49B6-4A2F-B00C-0F4E84269CFD}"/>
              </a:ext>
            </a:extLst>
          </p:cNvPr>
          <p:cNvSpPr>
            <a:spLocks noGrp="1"/>
          </p:cNvSpPr>
          <p:nvPr>
            <p:ph type="sldNum" sz="quarter" idx="12"/>
          </p:nvPr>
        </p:nvSpPr>
        <p:spPr/>
        <p:txBody>
          <a:bodyPr/>
          <a:lstStyle/>
          <a:p>
            <a:fld id="{7BE69E03-4804-4553-A1EC-F089884EF50F}" type="slidenum">
              <a:rPr lang="en-US" smtClean="0"/>
              <a:t>77</a:t>
            </a:fld>
            <a:endParaRPr lang="en-US"/>
          </a:p>
        </p:txBody>
      </p:sp>
    </p:spTree>
    <p:extLst>
      <p:ext uri="{BB962C8B-B14F-4D97-AF65-F5344CB8AC3E}">
        <p14:creationId xmlns:p14="http://schemas.microsoft.com/office/powerpoint/2010/main" val="23543176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FB59-3D5F-B3E7-62A6-3696358AE234}"/>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r"/>
            <a:r>
              <a:rPr lang="en-US" sz="8000" b="1" i="0" kern="1200" cap="all" baseline="0" dirty="0">
                <a:solidFill>
                  <a:schemeClr val="tx1"/>
                </a:solidFill>
                <a:latin typeface="+mj-lt"/>
                <a:ea typeface="+mj-ea"/>
                <a:cs typeface="+mj-cs"/>
              </a:rPr>
              <a:t>BFS </a:t>
            </a:r>
            <a:endParaRPr lang="en-US" sz="8000" b="1" i="0" kern="1200" cap="all" baseline="0" dirty="0">
              <a:solidFill>
                <a:schemeClr val="tx1"/>
              </a:solidFill>
              <a:latin typeface="+mj-lt"/>
            </a:endParaRPr>
          </a:p>
        </p:txBody>
      </p:sp>
      <p:pic>
        <p:nvPicPr>
          <p:cNvPr id="6" name="Content Placeholder 5" descr="A diagram of a triangle with green and blue lines and dots&#10;&#10;Description automatically generated">
            <a:extLst>
              <a:ext uri="{FF2B5EF4-FFF2-40B4-BE49-F238E27FC236}">
                <a16:creationId xmlns:a16="http://schemas.microsoft.com/office/drawing/2014/main" id="{3AD6F29F-7A94-7C20-4CA4-2F8F42B1635C}"/>
              </a:ext>
            </a:extLst>
          </p:cNvPr>
          <p:cNvPicPr>
            <a:picLocks noGrp="1" noChangeAspect="1"/>
          </p:cNvPicPr>
          <p:nvPr>
            <p:ph idx="1"/>
          </p:nvPr>
        </p:nvPicPr>
        <p:blipFill>
          <a:blip r:embed="rId2"/>
          <a:stretch>
            <a:fillRect/>
          </a:stretch>
        </p:blipFill>
        <p:spPr>
          <a:xfrm>
            <a:off x="4556711" y="1242416"/>
            <a:ext cx="6906294" cy="3478794"/>
          </a:xfrm>
          <a:prstGeom prst="rect">
            <a:avLst/>
          </a:prstGeom>
        </p:spPr>
      </p:pic>
      <p:sp>
        <p:nvSpPr>
          <p:cNvPr id="3" name="Date Placeholder 2">
            <a:extLst>
              <a:ext uri="{FF2B5EF4-FFF2-40B4-BE49-F238E27FC236}">
                <a16:creationId xmlns:a16="http://schemas.microsoft.com/office/drawing/2014/main" id="{47712CF9-BD58-4A9F-86DB-76EC6EF8EF92}"/>
              </a:ext>
            </a:extLst>
          </p:cNvPr>
          <p:cNvSpPr>
            <a:spLocks noGrp="1"/>
          </p:cNvSpPr>
          <p:nvPr>
            <p:ph type="dt" sz="half" idx="10"/>
          </p:nvPr>
        </p:nvSpPr>
        <p:spPr/>
        <p:txBody>
          <a:bodyPr/>
          <a:lstStyle/>
          <a:p>
            <a:fld id="{412570C8-7348-4919-B17B-E7929C4BA5BF}"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80064D89-4EDB-4CAB-A14B-E03CE4C9B04F}"/>
              </a:ext>
            </a:extLst>
          </p:cNvPr>
          <p:cNvSpPr>
            <a:spLocks noGrp="1"/>
          </p:cNvSpPr>
          <p:nvPr>
            <p:ph type="ftr" sz="quarter" idx="11"/>
          </p:nvPr>
        </p:nvSpPr>
        <p:spPr/>
        <p:txBody>
          <a:bodyPr/>
          <a:lstStyle/>
          <a:p>
            <a:r>
              <a:rPr lang="en-US"/>
              <a:t>Department of ICT</a:t>
            </a:r>
            <a:endParaRPr lang="en-US" dirty="0"/>
          </a:p>
        </p:txBody>
      </p:sp>
      <p:sp>
        <p:nvSpPr>
          <p:cNvPr id="5" name="Slide Number Placeholder 4">
            <a:extLst>
              <a:ext uri="{FF2B5EF4-FFF2-40B4-BE49-F238E27FC236}">
                <a16:creationId xmlns:a16="http://schemas.microsoft.com/office/drawing/2014/main" id="{FA86BB40-D999-432A-BC4E-A2EDEC700E71}"/>
              </a:ext>
            </a:extLst>
          </p:cNvPr>
          <p:cNvSpPr>
            <a:spLocks noGrp="1"/>
          </p:cNvSpPr>
          <p:nvPr>
            <p:ph type="sldNum" sz="quarter" idx="12"/>
          </p:nvPr>
        </p:nvSpPr>
        <p:spPr/>
        <p:txBody>
          <a:bodyPr/>
          <a:lstStyle/>
          <a:p>
            <a:fld id="{7BE69E03-4804-4553-A1EC-F089884EF50F}" type="slidenum">
              <a:rPr lang="en-US" smtClean="0"/>
              <a:t>78</a:t>
            </a:fld>
            <a:endParaRPr lang="en-US"/>
          </a:p>
        </p:txBody>
      </p:sp>
    </p:spTree>
    <p:extLst>
      <p:ext uri="{BB962C8B-B14F-4D97-AF65-F5344CB8AC3E}">
        <p14:creationId xmlns:p14="http://schemas.microsoft.com/office/powerpoint/2010/main" val="31716497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FB59-3D5F-B3E7-62A6-3696358AE234}"/>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r"/>
            <a:r>
              <a:rPr lang="en-US" sz="8000" b="1" i="0" kern="1200" cap="all" baseline="0" dirty="0">
                <a:solidFill>
                  <a:schemeClr val="tx1"/>
                </a:solidFill>
                <a:latin typeface="+mj-lt"/>
                <a:ea typeface="+mj-ea"/>
                <a:cs typeface="+mj-cs"/>
              </a:rPr>
              <a:t>BFS </a:t>
            </a:r>
            <a:endParaRPr lang="en-US" sz="8000" b="1" i="0" kern="1200" cap="all" baseline="0" dirty="0">
              <a:solidFill>
                <a:schemeClr val="tx1"/>
              </a:solidFill>
              <a:latin typeface="+mj-lt"/>
            </a:endParaRPr>
          </a:p>
        </p:txBody>
      </p:sp>
      <p:pic>
        <p:nvPicPr>
          <p:cNvPr id="5" name="Content Placeholder 4" descr="A screenshot of a test&#10;&#10;Description automatically generated">
            <a:extLst>
              <a:ext uri="{FF2B5EF4-FFF2-40B4-BE49-F238E27FC236}">
                <a16:creationId xmlns:a16="http://schemas.microsoft.com/office/drawing/2014/main" id="{AC1BE4F7-0DB4-FA68-8466-E458D1866BC6}"/>
              </a:ext>
            </a:extLst>
          </p:cNvPr>
          <p:cNvPicPr>
            <a:picLocks noGrp="1" noChangeAspect="1"/>
          </p:cNvPicPr>
          <p:nvPr>
            <p:ph idx="1"/>
          </p:nvPr>
        </p:nvPicPr>
        <p:blipFill>
          <a:blip r:embed="rId2"/>
          <a:stretch>
            <a:fillRect/>
          </a:stretch>
        </p:blipFill>
        <p:spPr>
          <a:xfrm>
            <a:off x="5154588" y="1713183"/>
            <a:ext cx="6144294" cy="2982737"/>
          </a:xfrm>
          <a:prstGeom prst="rect">
            <a:avLst/>
          </a:prstGeom>
        </p:spPr>
      </p:pic>
      <p:sp>
        <p:nvSpPr>
          <p:cNvPr id="3" name="Date Placeholder 2">
            <a:extLst>
              <a:ext uri="{FF2B5EF4-FFF2-40B4-BE49-F238E27FC236}">
                <a16:creationId xmlns:a16="http://schemas.microsoft.com/office/drawing/2014/main" id="{348ECB1A-D457-4D2A-A513-ED4CCA4E5AB7}"/>
              </a:ext>
            </a:extLst>
          </p:cNvPr>
          <p:cNvSpPr>
            <a:spLocks noGrp="1"/>
          </p:cNvSpPr>
          <p:nvPr>
            <p:ph type="dt" sz="half" idx="10"/>
          </p:nvPr>
        </p:nvSpPr>
        <p:spPr/>
        <p:txBody>
          <a:bodyPr/>
          <a:lstStyle/>
          <a:p>
            <a:fld id="{9CA75C54-5524-44A8-8AAF-2FDDF96D6287}"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D19DBE7B-6107-40B3-B62A-A45FAA39D844}"/>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6D002E44-D8CD-498B-B1BB-BF5E314D3276}"/>
              </a:ext>
            </a:extLst>
          </p:cNvPr>
          <p:cNvSpPr>
            <a:spLocks noGrp="1"/>
          </p:cNvSpPr>
          <p:nvPr>
            <p:ph type="sldNum" sz="quarter" idx="12"/>
          </p:nvPr>
        </p:nvSpPr>
        <p:spPr/>
        <p:txBody>
          <a:bodyPr/>
          <a:lstStyle/>
          <a:p>
            <a:fld id="{7BE69E03-4804-4553-A1EC-F089884EF50F}" type="slidenum">
              <a:rPr lang="en-US" smtClean="0"/>
              <a:t>79</a:t>
            </a:fld>
            <a:endParaRPr lang="en-US"/>
          </a:p>
        </p:txBody>
      </p:sp>
    </p:spTree>
    <p:extLst>
      <p:ext uri="{BB962C8B-B14F-4D97-AF65-F5344CB8AC3E}">
        <p14:creationId xmlns:p14="http://schemas.microsoft.com/office/powerpoint/2010/main" val="31154296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69651-5CC1-6303-C7F7-70964A10346B}"/>
              </a:ext>
            </a:extLst>
          </p:cNvPr>
          <p:cNvSpPr>
            <a:spLocks noGrp="1"/>
          </p:cNvSpPr>
          <p:nvPr>
            <p:ph type="title"/>
          </p:nvPr>
        </p:nvSpPr>
        <p:spPr>
          <a:xfrm>
            <a:off x="838200" y="365125"/>
            <a:ext cx="9842237" cy="1325563"/>
          </a:xfrm>
        </p:spPr>
        <p:txBody>
          <a:bodyPr>
            <a:normAutofit/>
          </a:bodyPr>
          <a:lstStyle/>
          <a:p>
            <a:r>
              <a:rPr lang="en-US" dirty="0"/>
              <a:t>Time and Space for BFS</a:t>
            </a:r>
          </a:p>
        </p:txBody>
      </p:sp>
      <p:graphicFrame>
        <p:nvGraphicFramePr>
          <p:cNvPr id="5" name="Content Placeholder 2">
            <a:extLst>
              <a:ext uri="{FF2B5EF4-FFF2-40B4-BE49-F238E27FC236}">
                <a16:creationId xmlns:a16="http://schemas.microsoft.com/office/drawing/2014/main" id="{1C55DF8F-C70D-F3DE-F9D0-A8255E75E02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AE7310E6-AA55-4FB6-A1C4-306DF476BD6F}"/>
              </a:ext>
            </a:extLst>
          </p:cNvPr>
          <p:cNvSpPr>
            <a:spLocks noGrp="1"/>
          </p:cNvSpPr>
          <p:nvPr>
            <p:ph type="dt" sz="half" idx="10"/>
          </p:nvPr>
        </p:nvSpPr>
        <p:spPr/>
        <p:txBody>
          <a:bodyPr/>
          <a:lstStyle/>
          <a:p>
            <a:fld id="{FAD52782-A09F-4D5C-B682-6E6839C8E4B6}"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736D01D4-1F8C-4455-B8F2-976E792733F9}"/>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362695DC-35AE-4B16-A13C-3BE6714A56DC}"/>
              </a:ext>
            </a:extLst>
          </p:cNvPr>
          <p:cNvSpPr>
            <a:spLocks noGrp="1"/>
          </p:cNvSpPr>
          <p:nvPr>
            <p:ph type="sldNum" sz="quarter" idx="12"/>
          </p:nvPr>
        </p:nvSpPr>
        <p:spPr/>
        <p:txBody>
          <a:bodyPr/>
          <a:lstStyle/>
          <a:p>
            <a:fld id="{7BE69E03-4804-4553-A1EC-F089884EF50F}" type="slidenum">
              <a:rPr lang="en-US" smtClean="0"/>
              <a:t>80</a:t>
            </a:fld>
            <a:endParaRPr lang="en-US"/>
          </a:p>
        </p:txBody>
      </p:sp>
    </p:spTree>
    <p:extLst>
      <p:ext uri="{BB962C8B-B14F-4D97-AF65-F5344CB8AC3E}">
        <p14:creationId xmlns:p14="http://schemas.microsoft.com/office/powerpoint/2010/main" val="36516920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 name="Rectangle 11">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E8397A-C791-6A70-233E-C04AAAE0278D}"/>
              </a:ext>
            </a:extLst>
          </p:cNvPr>
          <p:cNvSpPr>
            <a:spLocks noGrp="1"/>
          </p:cNvSpPr>
          <p:nvPr>
            <p:ph type="title"/>
          </p:nvPr>
        </p:nvSpPr>
        <p:spPr>
          <a:xfrm>
            <a:off x="1333501" y="889000"/>
            <a:ext cx="2908300" cy="4990895"/>
          </a:xfrm>
        </p:spPr>
        <p:txBody>
          <a:bodyPr>
            <a:normAutofit/>
          </a:bodyPr>
          <a:lstStyle/>
          <a:p>
            <a:r>
              <a:rPr lang="en-US" sz="4800" dirty="0">
                <a:latin typeface="Times New Roman"/>
                <a:cs typeface="Times New Roman"/>
              </a:rPr>
              <a:t>How efficient is Breadth-first search?</a:t>
            </a:r>
            <a:endParaRPr lang="en-US" sz="4800" dirty="0">
              <a:solidFill>
                <a:schemeClr val="tx1"/>
              </a:solidFill>
            </a:endParaRPr>
          </a:p>
        </p:txBody>
      </p:sp>
      <p:sp>
        <p:nvSpPr>
          <p:cNvPr id="3" name="Content Placeholder 2">
            <a:extLst>
              <a:ext uri="{FF2B5EF4-FFF2-40B4-BE49-F238E27FC236}">
                <a16:creationId xmlns:a16="http://schemas.microsoft.com/office/drawing/2014/main" id="{306FEE55-A8A7-DC86-33A6-762D5C5C8AE1}"/>
              </a:ext>
            </a:extLst>
          </p:cNvPr>
          <p:cNvSpPr>
            <a:spLocks noGrp="1"/>
          </p:cNvSpPr>
          <p:nvPr>
            <p:ph idx="1"/>
          </p:nvPr>
        </p:nvSpPr>
        <p:spPr>
          <a:xfrm>
            <a:off x="4127501" y="691914"/>
            <a:ext cx="6887246" cy="5187985"/>
          </a:xfrm>
        </p:spPr>
        <p:txBody>
          <a:bodyPr vert="horz" lIns="91440" tIns="45720" rIns="91440" bIns="45720" rtlCol="0" anchor="ctr">
            <a:normAutofit/>
          </a:bodyPr>
          <a:lstStyle/>
          <a:p>
            <a:pPr marL="457200" indent="-457200" algn="just">
              <a:lnSpc>
                <a:spcPct val="90000"/>
              </a:lnSpc>
              <a:buAutoNum type="arabicPeriod"/>
            </a:pPr>
            <a:r>
              <a:rPr lang="en-US" dirty="0"/>
              <a:t>Thus, for the adjacency matrix representation, the traversal's time is in </a:t>
            </a:r>
          </a:p>
          <a:p>
            <a:pPr marL="457200" indent="-457200" algn="just">
              <a:lnSpc>
                <a:spcPct val="90000"/>
              </a:lnSpc>
              <a:buAutoNum type="arabicPeriod"/>
            </a:pPr>
            <a:endParaRPr lang="en-US" dirty="0">
              <a:solidFill>
                <a:schemeClr val="tx1"/>
              </a:solidFill>
              <a:latin typeface="Times New Roman"/>
              <a:cs typeface="Times New Roman"/>
            </a:endParaRPr>
          </a:p>
          <a:p>
            <a:pPr marL="457200" indent="-457200" algn="just">
              <a:lnSpc>
                <a:spcPct val="90000"/>
              </a:lnSpc>
              <a:buAutoNum type="arabicPeriod"/>
            </a:pPr>
            <a:r>
              <a:rPr lang="en-US" dirty="0"/>
              <a:t>for the adjacency list representation, it is in</a:t>
            </a:r>
          </a:p>
          <a:p>
            <a:pPr marL="457200" indent="-457200" algn="just">
              <a:lnSpc>
                <a:spcPct val="90000"/>
              </a:lnSpc>
              <a:buAutoNum type="arabicPeriod"/>
            </a:pPr>
            <a:endParaRPr lang="en-US" dirty="0"/>
          </a:p>
          <a:p>
            <a:pPr marL="0" indent="0" algn="just">
              <a:lnSpc>
                <a:spcPct val="90000"/>
              </a:lnSpc>
              <a:buNone/>
            </a:pPr>
            <a:r>
              <a:rPr lang="en-US" dirty="0"/>
              <a:t> where </a:t>
            </a:r>
            <a:r>
              <a:rPr lang="en-US" dirty="0" err="1"/>
              <a:t>lVI</a:t>
            </a:r>
            <a:r>
              <a:rPr lang="en-US" dirty="0"/>
              <a:t> and </a:t>
            </a:r>
            <a:r>
              <a:rPr lang="en-US" dirty="0" err="1"/>
              <a:t>lEI</a:t>
            </a:r>
            <a:r>
              <a:rPr lang="en-US" dirty="0"/>
              <a:t> are the number of the graph's vertices and edges, respectively. </a:t>
            </a:r>
            <a:endParaRPr lang="en-US" dirty="0">
              <a:solidFill>
                <a:schemeClr val="tx1"/>
              </a:solidFill>
              <a:latin typeface="Times New Roman"/>
              <a:cs typeface="Times New Roman"/>
            </a:endParaRPr>
          </a:p>
          <a:p>
            <a:pPr marL="457200" indent="-457200" algn="just">
              <a:lnSpc>
                <a:spcPct val="90000"/>
              </a:lnSpc>
              <a:buAutoNum type="arabicPeriod"/>
            </a:pPr>
            <a:endParaRPr lang="en-US" dirty="0">
              <a:solidFill>
                <a:schemeClr val="tx1"/>
              </a:solidFill>
              <a:latin typeface="Times New Roman"/>
              <a:cs typeface="Times New Roman"/>
            </a:endParaRPr>
          </a:p>
          <a:p>
            <a:pPr marL="457200" indent="-457200" algn="just">
              <a:lnSpc>
                <a:spcPct val="90000"/>
              </a:lnSpc>
              <a:buAutoNum type="arabicPeriod"/>
            </a:pPr>
            <a:endParaRPr lang="en-US" dirty="0">
              <a:solidFill>
                <a:schemeClr val="tx1"/>
              </a:solidFill>
              <a:latin typeface="Times New Roman"/>
              <a:cs typeface="Times New Roman"/>
            </a:endParaRPr>
          </a:p>
        </p:txBody>
      </p:sp>
      <p:cxnSp>
        <p:nvCxnSpPr>
          <p:cNvPr id="14" name="Straight Connector 13">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80D555A-46EE-4927-BB37-3BC66E8DF60F}"/>
              </a:ext>
            </a:extLst>
          </p:cNvPr>
          <p:cNvSpPr>
            <a:spLocks noGrp="1"/>
          </p:cNvSpPr>
          <p:nvPr>
            <p:ph type="dt" sz="half" idx="10"/>
          </p:nvPr>
        </p:nvSpPr>
        <p:spPr/>
        <p:txBody>
          <a:bodyPr/>
          <a:lstStyle/>
          <a:p>
            <a:fld id="{7178A84B-5375-406E-B871-E140EF6DFE34}"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313F6EE2-A902-4BB2-95B4-525E8D26832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6E347BE3-B48D-4607-B865-DA51EE20F385}"/>
              </a:ext>
            </a:extLst>
          </p:cNvPr>
          <p:cNvSpPr>
            <a:spLocks noGrp="1"/>
          </p:cNvSpPr>
          <p:nvPr>
            <p:ph type="sldNum" sz="quarter" idx="12"/>
          </p:nvPr>
        </p:nvSpPr>
        <p:spPr/>
        <p:txBody>
          <a:bodyPr/>
          <a:lstStyle/>
          <a:p>
            <a:fld id="{7BE69E03-4804-4553-A1EC-F089884EF50F}" type="slidenum">
              <a:rPr lang="en-US" smtClean="0"/>
              <a:t>81</a:t>
            </a:fld>
            <a:endParaRPr lang="en-US"/>
          </a:p>
        </p:txBody>
      </p:sp>
      <p:pic>
        <p:nvPicPr>
          <p:cNvPr id="9" name="Picture 8">
            <a:extLst>
              <a:ext uri="{FF2B5EF4-FFF2-40B4-BE49-F238E27FC236}">
                <a16:creationId xmlns:a16="http://schemas.microsoft.com/office/drawing/2014/main" id="{E1F79D48-834B-F5E3-461F-0D07A761F2D7}"/>
              </a:ext>
            </a:extLst>
          </p:cNvPr>
          <p:cNvPicPr>
            <a:picLocks noChangeAspect="1"/>
          </p:cNvPicPr>
          <p:nvPr/>
        </p:nvPicPr>
        <p:blipFill>
          <a:blip r:embed="rId3"/>
          <a:stretch>
            <a:fillRect/>
          </a:stretch>
        </p:blipFill>
        <p:spPr>
          <a:xfrm>
            <a:off x="8085138" y="1733447"/>
            <a:ext cx="1184906" cy="438253"/>
          </a:xfrm>
          <a:prstGeom prst="rect">
            <a:avLst/>
          </a:prstGeom>
        </p:spPr>
      </p:pic>
      <p:pic>
        <p:nvPicPr>
          <p:cNvPr id="13" name="Picture 12">
            <a:extLst>
              <a:ext uri="{FF2B5EF4-FFF2-40B4-BE49-F238E27FC236}">
                <a16:creationId xmlns:a16="http://schemas.microsoft.com/office/drawing/2014/main" id="{F293E325-15D7-BAEF-208A-ED8B51A0A033}"/>
              </a:ext>
            </a:extLst>
          </p:cNvPr>
          <p:cNvPicPr>
            <a:picLocks noChangeAspect="1"/>
          </p:cNvPicPr>
          <p:nvPr/>
        </p:nvPicPr>
        <p:blipFill>
          <a:blip r:embed="rId4"/>
          <a:stretch>
            <a:fillRect/>
          </a:stretch>
        </p:blipFill>
        <p:spPr>
          <a:xfrm>
            <a:off x="6380101" y="2962276"/>
            <a:ext cx="1751052" cy="568324"/>
          </a:xfrm>
          <a:prstGeom prst="rect">
            <a:avLst/>
          </a:prstGeom>
        </p:spPr>
      </p:pic>
    </p:spTree>
    <p:extLst>
      <p:ext uri="{BB962C8B-B14F-4D97-AF65-F5344CB8AC3E}">
        <p14:creationId xmlns:p14="http://schemas.microsoft.com/office/powerpoint/2010/main" val="7352689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448AA-8C54-74B0-FBA8-F426F269E4CE}"/>
              </a:ext>
            </a:extLst>
          </p:cNvPr>
          <p:cNvSpPr>
            <a:spLocks noGrp="1"/>
          </p:cNvSpPr>
          <p:nvPr>
            <p:ph type="title"/>
          </p:nvPr>
        </p:nvSpPr>
        <p:spPr>
          <a:xfrm>
            <a:off x="561455" y="754277"/>
            <a:ext cx="3857627" cy="5899649"/>
          </a:xfrm>
        </p:spPr>
        <p:txBody>
          <a:bodyPr>
            <a:normAutofit/>
          </a:bodyPr>
          <a:lstStyle/>
          <a:p>
            <a:pPr algn="r"/>
            <a:r>
              <a:rPr lang="en-US" sz="4800" dirty="0">
                <a:latin typeface="Times New Roman"/>
                <a:cs typeface="Times New Roman"/>
              </a:rPr>
              <a:t>Applications of BFS</a:t>
            </a:r>
          </a:p>
        </p:txBody>
      </p:sp>
      <p:graphicFrame>
        <p:nvGraphicFramePr>
          <p:cNvPr id="5" name="Content Placeholder 2">
            <a:extLst>
              <a:ext uri="{FF2B5EF4-FFF2-40B4-BE49-F238E27FC236}">
                <a16:creationId xmlns:a16="http://schemas.microsoft.com/office/drawing/2014/main" id="{201A7E60-7347-8925-9E84-D86C6B6DE2C7}"/>
              </a:ext>
            </a:extLst>
          </p:cNvPr>
          <p:cNvGraphicFramePr>
            <a:graphicFrameLocks noGrp="1"/>
          </p:cNvGraphicFramePr>
          <p:nvPr>
            <p:ph idx="1"/>
          </p:nvPr>
        </p:nvGraphicFramePr>
        <p:xfrm>
          <a:off x="4891539" y="754277"/>
          <a:ext cx="6526618" cy="52024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65CAE106-7D29-4571-8D02-C9118F5976A8}"/>
              </a:ext>
            </a:extLst>
          </p:cNvPr>
          <p:cNvSpPr>
            <a:spLocks noGrp="1"/>
          </p:cNvSpPr>
          <p:nvPr>
            <p:ph type="dt" sz="half" idx="10"/>
          </p:nvPr>
        </p:nvSpPr>
        <p:spPr/>
        <p:txBody>
          <a:bodyPr/>
          <a:lstStyle/>
          <a:p>
            <a:fld id="{9D2E3D44-BC35-4920-9E75-21E3DE7C7E06}"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5C7406E3-33DB-44C1-8538-458B8C0B98E0}"/>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F26E842B-1DBF-41F3-A125-F5F46D9481DC}"/>
              </a:ext>
            </a:extLst>
          </p:cNvPr>
          <p:cNvSpPr>
            <a:spLocks noGrp="1"/>
          </p:cNvSpPr>
          <p:nvPr>
            <p:ph type="sldNum" sz="quarter" idx="12"/>
          </p:nvPr>
        </p:nvSpPr>
        <p:spPr/>
        <p:txBody>
          <a:bodyPr/>
          <a:lstStyle/>
          <a:p>
            <a:fld id="{7BE69E03-4804-4553-A1EC-F089884EF50F}" type="slidenum">
              <a:rPr lang="en-US" smtClean="0"/>
              <a:t>82</a:t>
            </a:fld>
            <a:endParaRPr lang="en-US"/>
          </a:p>
        </p:txBody>
      </p:sp>
    </p:spTree>
    <p:extLst>
      <p:ext uri="{BB962C8B-B14F-4D97-AF65-F5344CB8AC3E}">
        <p14:creationId xmlns:p14="http://schemas.microsoft.com/office/powerpoint/2010/main" val="27611454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 name="Rectangle 11">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E8397A-C791-6A70-233E-C04AAAE0278D}"/>
              </a:ext>
            </a:extLst>
          </p:cNvPr>
          <p:cNvSpPr>
            <a:spLocks noGrp="1"/>
          </p:cNvSpPr>
          <p:nvPr>
            <p:ph type="title"/>
          </p:nvPr>
        </p:nvSpPr>
        <p:spPr>
          <a:xfrm>
            <a:off x="1536377" y="2309699"/>
            <a:ext cx="4450648" cy="1530387"/>
          </a:xfrm>
        </p:spPr>
        <p:txBody>
          <a:bodyPr>
            <a:normAutofit/>
          </a:bodyPr>
          <a:lstStyle/>
          <a:p>
            <a:r>
              <a:rPr lang="en-US" sz="4800" dirty="0">
                <a:solidFill>
                  <a:schemeClr val="tx1"/>
                </a:solidFill>
              </a:rPr>
              <a:t>Depth First Search</a:t>
            </a:r>
          </a:p>
        </p:txBody>
      </p:sp>
      <p:sp>
        <p:nvSpPr>
          <p:cNvPr id="3" name="Content Placeholder 2">
            <a:extLst>
              <a:ext uri="{FF2B5EF4-FFF2-40B4-BE49-F238E27FC236}">
                <a16:creationId xmlns:a16="http://schemas.microsoft.com/office/drawing/2014/main" id="{306FEE55-A8A7-DC86-33A6-762D5C5C8AE1}"/>
              </a:ext>
            </a:extLst>
          </p:cNvPr>
          <p:cNvSpPr>
            <a:spLocks noGrp="1"/>
          </p:cNvSpPr>
          <p:nvPr>
            <p:ph idx="1"/>
          </p:nvPr>
        </p:nvSpPr>
        <p:spPr>
          <a:xfrm>
            <a:off x="5591908" y="691914"/>
            <a:ext cx="5422838" cy="5187985"/>
          </a:xfrm>
        </p:spPr>
        <p:txBody>
          <a:bodyPr vert="horz" lIns="91440" tIns="45720" rIns="91440" bIns="45720" rtlCol="0" anchor="ctr">
            <a:normAutofit/>
          </a:bodyPr>
          <a:lstStyle/>
          <a:p>
            <a:pPr algn="just">
              <a:lnSpc>
                <a:spcPct val="90000"/>
              </a:lnSpc>
            </a:pPr>
            <a:r>
              <a:rPr lang="en-US" sz="1500" dirty="0">
                <a:solidFill>
                  <a:schemeClr val="tx1"/>
                </a:solidFill>
                <a:latin typeface="Times New Roman"/>
                <a:ea typeface="+mn-lt"/>
                <a:cs typeface="+mn-lt"/>
              </a:rPr>
              <a:t>Depth-First Search (DFS) starts at an arbitrary vertex and marks it as visited.</a:t>
            </a:r>
            <a:endParaRPr lang="en-US">
              <a:solidFill>
                <a:schemeClr val="tx1"/>
              </a:solidFill>
              <a:latin typeface="Times New Roman"/>
              <a:cs typeface="Times New Roman"/>
            </a:endParaRPr>
          </a:p>
          <a:p>
            <a:pPr algn="just">
              <a:lnSpc>
                <a:spcPct val="90000"/>
              </a:lnSpc>
            </a:pPr>
            <a:r>
              <a:rPr lang="en-US" sz="1500" dirty="0">
                <a:solidFill>
                  <a:schemeClr val="tx1"/>
                </a:solidFill>
                <a:latin typeface="Times New Roman"/>
                <a:ea typeface="+mn-lt"/>
                <a:cs typeface="+mn-lt"/>
              </a:rPr>
              <a:t>On each iteration, DFS proceeds to an unvisited vertex that is adjacent to the current vertex.</a:t>
            </a:r>
            <a:endParaRPr lang="en-US" sz="1500">
              <a:solidFill>
                <a:schemeClr val="tx1"/>
              </a:solidFill>
              <a:latin typeface="Times New Roman"/>
              <a:cs typeface="Times New Roman"/>
            </a:endParaRPr>
          </a:p>
          <a:p>
            <a:pPr algn="just">
              <a:lnSpc>
                <a:spcPct val="90000"/>
              </a:lnSpc>
            </a:pPr>
            <a:r>
              <a:rPr lang="en-US" sz="1500" dirty="0">
                <a:solidFill>
                  <a:schemeClr val="tx1"/>
                </a:solidFill>
                <a:latin typeface="Times New Roman"/>
                <a:ea typeface="+mn-lt"/>
                <a:cs typeface="+mn-lt"/>
              </a:rPr>
              <a:t>If there are multiple unvisited adjacent vertices, a tie can be resolved arbitrarily (such as alphabetical order in our examples).</a:t>
            </a:r>
            <a:endParaRPr lang="en-US" sz="1500">
              <a:solidFill>
                <a:schemeClr val="tx1"/>
              </a:solidFill>
              <a:latin typeface="Times New Roman"/>
              <a:cs typeface="Times New Roman"/>
            </a:endParaRPr>
          </a:p>
          <a:p>
            <a:pPr algn="just">
              <a:lnSpc>
                <a:spcPct val="90000"/>
              </a:lnSpc>
            </a:pPr>
            <a:r>
              <a:rPr lang="en-US" sz="1500" dirty="0">
                <a:solidFill>
                  <a:schemeClr val="tx1"/>
                </a:solidFill>
                <a:latin typeface="Times New Roman"/>
                <a:ea typeface="+mn-lt"/>
                <a:cs typeface="+mn-lt"/>
              </a:rPr>
              <a:t>The process continues until a dead end is encountered, which is a vertex with no adjacent unvisited vertices.</a:t>
            </a:r>
            <a:endParaRPr lang="en-US" sz="1500">
              <a:solidFill>
                <a:schemeClr val="tx1"/>
              </a:solidFill>
              <a:latin typeface="Times New Roman"/>
              <a:cs typeface="Times New Roman"/>
            </a:endParaRPr>
          </a:p>
          <a:p>
            <a:pPr algn="just">
              <a:lnSpc>
                <a:spcPct val="90000"/>
              </a:lnSpc>
            </a:pPr>
            <a:r>
              <a:rPr lang="en-US" sz="1500" dirty="0">
                <a:solidFill>
                  <a:schemeClr val="tx1"/>
                </a:solidFill>
                <a:latin typeface="Times New Roman"/>
                <a:ea typeface="+mn-lt"/>
                <a:cs typeface="+mn-lt"/>
              </a:rPr>
              <a:t>At a dead end, the algorithm backtracks by one edge to the vertex it came from and tries to continue visiting unvisited vertices from there.</a:t>
            </a:r>
          </a:p>
          <a:p>
            <a:pPr algn="just">
              <a:lnSpc>
                <a:spcPct val="90000"/>
              </a:lnSpc>
            </a:pPr>
            <a:r>
              <a:rPr lang="en-US" sz="1500" dirty="0">
                <a:solidFill>
                  <a:schemeClr val="tx1"/>
                </a:solidFill>
                <a:latin typeface="Times New Roman"/>
                <a:ea typeface="+mn-lt"/>
                <a:cs typeface="+mn-lt"/>
              </a:rPr>
              <a:t>The algorithm eventually halts after backing up to the starting vertex, with all vertices in the same connected component as the starting vertex being visited. If unvisited vertices remain, the DFS can be restarted at any one of them.</a:t>
            </a:r>
          </a:p>
          <a:p>
            <a:pPr algn="just">
              <a:lnSpc>
                <a:spcPct val="90000"/>
              </a:lnSpc>
            </a:pPr>
            <a:endParaRPr lang="en-US" sz="1500" dirty="0">
              <a:solidFill>
                <a:schemeClr val="tx1"/>
              </a:solidFill>
              <a:latin typeface="Times New Roman"/>
              <a:cs typeface="Times New Roman"/>
            </a:endParaRPr>
          </a:p>
        </p:txBody>
      </p:sp>
      <p:cxnSp>
        <p:nvCxnSpPr>
          <p:cNvPr id="14" name="Straight Connector 13">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80D555A-46EE-4927-BB37-3BC66E8DF60F}"/>
              </a:ext>
            </a:extLst>
          </p:cNvPr>
          <p:cNvSpPr>
            <a:spLocks noGrp="1"/>
          </p:cNvSpPr>
          <p:nvPr>
            <p:ph type="dt" sz="half" idx="10"/>
          </p:nvPr>
        </p:nvSpPr>
        <p:spPr/>
        <p:txBody>
          <a:bodyPr/>
          <a:lstStyle/>
          <a:p>
            <a:fld id="{7178A84B-5375-406E-B871-E140EF6DFE34}"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313F6EE2-A902-4BB2-95B4-525E8D268322}"/>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6E347BE3-B48D-4607-B865-DA51EE20F385}"/>
              </a:ext>
            </a:extLst>
          </p:cNvPr>
          <p:cNvSpPr>
            <a:spLocks noGrp="1"/>
          </p:cNvSpPr>
          <p:nvPr>
            <p:ph type="sldNum" sz="quarter" idx="12"/>
          </p:nvPr>
        </p:nvSpPr>
        <p:spPr/>
        <p:txBody>
          <a:bodyPr/>
          <a:lstStyle/>
          <a:p>
            <a:fld id="{7BE69E03-4804-4553-A1EC-F089884EF50F}" type="slidenum">
              <a:rPr lang="en-US" smtClean="0"/>
              <a:t>83</a:t>
            </a:fld>
            <a:endParaRPr lang="en-US"/>
          </a:p>
        </p:txBody>
      </p:sp>
    </p:spTree>
    <p:extLst>
      <p:ext uri="{BB962C8B-B14F-4D97-AF65-F5344CB8AC3E}">
        <p14:creationId xmlns:p14="http://schemas.microsoft.com/office/powerpoint/2010/main" val="2124354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Rectangle 14">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D1455C-1E3A-DCE1-11E5-E503B8952E31}"/>
              </a:ext>
            </a:extLst>
          </p:cNvPr>
          <p:cNvSpPr>
            <a:spLocks noGrp="1"/>
          </p:cNvSpPr>
          <p:nvPr>
            <p:ph type="title"/>
          </p:nvPr>
        </p:nvSpPr>
        <p:spPr>
          <a:xfrm>
            <a:off x="1712438" y="-361584"/>
            <a:ext cx="6875025" cy="1853914"/>
          </a:xfrm>
        </p:spPr>
        <p:txBody>
          <a:bodyPr vert="horz" lIns="91440" tIns="45720" rIns="91440" bIns="45720" rtlCol="0" anchor="b">
            <a:normAutofit/>
          </a:bodyPr>
          <a:lstStyle/>
          <a:p>
            <a:r>
              <a:rPr lang="en-US" sz="4800"/>
              <a:t>Algorithm of DFS</a:t>
            </a:r>
          </a:p>
        </p:txBody>
      </p:sp>
      <p:sp>
        <p:nvSpPr>
          <p:cNvPr id="17" name="Rectangle 16">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4" name="Content Placeholder 3" descr="A white paper with black text&#10;&#10;Description automatically generated">
            <a:extLst>
              <a:ext uri="{FF2B5EF4-FFF2-40B4-BE49-F238E27FC236}">
                <a16:creationId xmlns:a16="http://schemas.microsoft.com/office/drawing/2014/main" id="{028E275F-BB24-EBD6-EFF3-BC22DBAF5E74}"/>
              </a:ext>
            </a:extLst>
          </p:cNvPr>
          <p:cNvPicPr>
            <a:picLocks noGrp="1" noChangeAspect="1"/>
          </p:cNvPicPr>
          <p:nvPr>
            <p:ph idx="1"/>
          </p:nvPr>
        </p:nvPicPr>
        <p:blipFill>
          <a:blip r:embed="rId2"/>
          <a:stretch>
            <a:fillRect/>
          </a:stretch>
        </p:blipFill>
        <p:spPr>
          <a:xfrm>
            <a:off x="1798455" y="2489351"/>
            <a:ext cx="7559601" cy="4125667"/>
          </a:xfrm>
          <a:prstGeom prst="rect">
            <a:avLst/>
          </a:prstGeom>
        </p:spPr>
      </p:pic>
      <p:cxnSp>
        <p:nvCxnSpPr>
          <p:cNvPr id="19" name="Straight Connector 18">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64C85C0-31EE-6065-9A52-667247D77D3A}"/>
              </a:ext>
            </a:extLst>
          </p:cNvPr>
          <p:cNvSpPr txBox="1"/>
          <p:nvPr/>
        </p:nvSpPr>
        <p:spPr>
          <a:xfrm>
            <a:off x="2121877" y="1535723"/>
            <a:ext cx="975359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ALGORITHM DFS(G) //Implements a depth-first search traversal of a given graph </a:t>
            </a:r>
          </a:p>
          <a:p>
            <a:r>
              <a:rPr lang="en-US" sz="1600" dirty="0">
                <a:latin typeface="Times New Roman"/>
                <a:cs typeface="Times New Roman"/>
              </a:rPr>
              <a:t>//Input: Graph G = (V, E) </a:t>
            </a:r>
          </a:p>
          <a:p>
            <a:r>
              <a:rPr lang="en-US" sz="1600" dirty="0">
                <a:latin typeface="Times New Roman"/>
                <a:cs typeface="Times New Roman"/>
              </a:rPr>
              <a:t>//Output: Graph G with its vertices marked with consecutive integers </a:t>
            </a:r>
          </a:p>
          <a:p>
            <a:r>
              <a:rPr lang="en-US" sz="1600" dirty="0">
                <a:latin typeface="Times New Roman"/>
                <a:cs typeface="Times New Roman"/>
              </a:rPr>
              <a:t>//in the order they've been first encountered by the DFS traversal</a:t>
            </a:r>
          </a:p>
        </p:txBody>
      </p:sp>
      <p:sp>
        <p:nvSpPr>
          <p:cNvPr id="3" name="Date Placeholder 2">
            <a:extLst>
              <a:ext uri="{FF2B5EF4-FFF2-40B4-BE49-F238E27FC236}">
                <a16:creationId xmlns:a16="http://schemas.microsoft.com/office/drawing/2014/main" id="{CC0E4381-862A-4D67-A84A-8C05639C699E}"/>
              </a:ext>
            </a:extLst>
          </p:cNvPr>
          <p:cNvSpPr>
            <a:spLocks noGrp="1"/>
          </p:cNvSpPr>
          <p:nvPr>
            <p:ph type="dt" sz="half" idx="10"/>
          </p:nvPr>
        </p:nvSpPr>
        <p:spPr/>
        <p:txBody>
          <a:bodyPr/>
          <a:lstStyle/>
          <a:p>
            <a:fld id="{BFC22003-2099-45E8-BE99-F7FAD66964D1}" type="datetime2">
              <a:rPr lang="en-US" smtClean="0"/>
              <a:t>Wednesday, January 14, 2026</a:t>
            </a:fld>
            <a:endParaRPr lang="en-US" dirty="0"/>
          </a:p>
        </p:txBody>
      </p:sp>
      <p:sp>
        <p:nvSpPr>
          <p:cNvPr id="6" name="Footer Placeholder 5">
            <a:extLst>
              <a:ext uri="{FF2B5EF4-FFF2-40B4-BE49-F238E27FC236}">
                <a16:creationId xmlns:a16="http://schemas.microsoft.com/office/drawing/2014/main" id="{7FA18499-EE2F-48F7-995D-B665B610451C}"/>
              </a:ext>
            </a:extLst>
          </p:cNvPr>
          <p:cNvSpPr>
            <a:spLocks noGrp="1"/>
          </p:cNvSpPr>
          <p:nvPr>
            <p:ph type="ftr" sz="quarter" idx="11"/>
          </p:nvPr>
        </p:nvSpPr>
        <p:spPr/>
        <p:txBody>
          <a:bodyPr/>
          <a:lstStyle/>
          <a:p>
            <a:r>
              <a:rPr lang="en-US"/>
              <a:t>Department of ICT</a:t>
            </a:r>
            <a:endParaRPr lang="en-US" dirty="0"/>
          </a:p>
        </p:txBody>
      </p:sp>
      <p:sp>
        <p:nvSpPr>
          <p:cNvPr id="7" name="Slide Number Placeholder 6">
            <a:extLst>
              <a:ext uri="{FF2B5EF4-FFF2-40B4-BE49-F238E27FC236}">
                <a16:creationId xmlns:a16="http://schemas.microsoft.com/office/drawing/2014/main" id="{CA8CE95D-777B-4F26-B635-D4F8B9C0016E}"/>
              </a:ext>
            </a:extLst>
          </p:cNvPr>
          <p:cNvSpPr>
            <a:spLocks noGrp="1"/>
          </p:cNvSpPr>
          <p:nvPr>
            <p:ph type="sldNum" sz="quarter" idx="12"/>
          </p:nvPr>
        </p:nvSpPr>
        <p:spPr/>
        <p:txBody>
          <a:bodyPr/>
          <a:lstStyle/>
          <a:p>
            <a:fld id="{7BE69E03-4804-4553-A1EC-F089884EF50F}" type="slidenum">
              <a:rPr lang="en-US" smtClean="0"/>
              <a:t>84</a:t>
            </a:fld>
            <a:endParaRPr lang="en-US"/>
          </a:p>
        </p:txBody>
      </p:sp>
    </p:spTree>
    <p:extLst>
      <p:ext uri="{BB962C8B-B14F-4D97-AF65-F5344CB8AC3E}">
        <p14:creationId xmlns:p14="http://schemas.microsoft.com/office/powerpoint/2010/main" val="16717678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FB59-3D5F-B3E7-62A6-3696358AE234}"/>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r"/>
            <a:r>
              <a:rPr lang="en-US" sz="8000" b="1" cap="all" dirty="0">
                <a:solidFill>
                  <a:schemeClr val="tx1"/>
                </a:solidFill>
              </a:rPr>
              <a:t>DFS</a:t>
            </a:r>
            <a:r>
              <a:rPr lang="en-US" sz="8000" b="1" i="0" kern="1200" cap="all" baseline="0" dirty="0">
                <a:solidFill>
                  <a:schemeClr val="tx1"/>
                </a:solidFill>
                <a:latin typeface="+mj-lt"/>
                <a:ea typeface="+mj-ea"/>
                <a:cs typeface="+mj-cs"/>
              </a:rPr>
              <a:t> </a:t>
            </a:r>
            <a:endParaRPr lang="en-US" sz="8000" b="1" i="0" kern="1200" cap="all" baseline="0" dirty="0">
              <a:solidFill>
                <a:schemeClr val="tx1"/>
              </a:solidFill>
              <a:latin typeface="+mj-lt"/>
            </a:endParaRPr>
          </a:p>
        </p:txBody>
      </p:sp>
      <p:pic>
        <p:nvPicPr>
          <p:cNvPr id="3" name="Content Placeholder 2" descr="A screenshot of a computer&#10;&#10;Description automatically generated">
            <a:extLst>
              <a:ext uri="{FF2B5EF4-FFF2-40B4-BE49-F238E27FC236}">
                <a16:creationId xmlns:a16="http://schemas.microsoft.com/office/drawing/2014/main" id="{6FE40DA5-42C6-ABE2-8C48-170AD51E3CE1}"/>
              </a:ext>
            </a:extLst>
          </p:cNvPr>
          <p:cNvPicPr>
            <a:picLocks noGrp="1" noChangeAspect="1"/>
          </p:cNvPicPr>
          <p:nvPr>
            <p:ph idx="1"/>
          </p:nvPr>
        </p:nvPicPr>
        <p:blipFill>
          <a:blip r:embed="rId2"/>
          <a:stretch>
            <a:fillRect/>
          </a:stretch>
        </p:blipFill>
        <p:spPr>
          <a:xfrm>
            <a:off x="5799346" y="753800"/>
            <a:ext cx="4990683" cy="1484728"/>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FC29B94F-A54D-0366-9C24-F1C28DEBB65C}"/>
              </a:ext>
            </a:extLst>
          </p:cNvPr>
          <p:cNvPicPr>
            <a:picLocks noChangeAspect="1"/>
          </p:cNvPicPr>
          <p:nvPr/>
        </p:nvPicPr>
        <p:blipFill>
          <a:blip r:embed="rId3"/>
          <a:stretch>
            <a:fillRect/>
          </a:stretch>
        </p:blipFill>
        <p:spPr>
          <a:xfrm>
            <a:off x="5846249" y="4163972"/>
            <a:ext cx="4986138" cy="1484728"/>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21F14AD5-E2F1-9F9D-4856-DF925EA9A741}"/>
              </a:ext>
            </a:extLst>
          </p:cNvPr>
          <p:cNvPicPr>
            <a:picLocks noChangeAspect="1"/>
          </p:cNvPicPr>
          <p:nvPr/>
        </p:nvPicPr>
        <p:blipFill>
          <a:blip r:embed="rId4"/>
          <a:stretch>
            <a:fillRect/>
          </a:stretch>
        </p:blipFill>
        <p:spPr>
          <a:xfrm>
            <a:off x="5799357" y="2429848"/>
            <a:ext cx="4990683" cy="1484728"/>
          </a:xfrm>
          <a:prstGeom prst="rect">
            <a:avLst/>
          </a:prstGeom>
        </p:spPr>
      </p:pic>
      <p:sp>
        <p:nvSpPr>
          <p:cNvPr id="4" name="Date Placeholder 3">
            <a:extLst>
              <a:ext uri="{FF2B5EF4-FFF2-40B4-BE49-F238E27FC236}">
                <a16:creationId xmlns:a16="http://schemas.microsoft.com/office/drawing/2014/main" id="{B54A859F-0183-4BE0-AD01-C2080705E6FA}"/>
              </a:ext>
            </a:extLst>
          </p:cNvPr>
          <p:cNvSpPr>
            <a:spLocks noGrp="1"/>
          </p:cNvSpPr>
          <p:nvPr>
            <p:ph type="dt" sz="half" idx="10"/>
          </p:nvPr>
        </p:nvSpPr>
        <p:spPr/>
        <p:txBody>
          <a:bodyPr/>
          <a:lstStyle/>
          <a:p>
            <a:fld id="{1B47AA31-F6C4-425A-A604-B385D36DE9C9}" type="datetime2">
              <a:rPr lang="en-US" smtClean="0"/>
              <a:t>Wednesday, January 14, 2026</a:t>
            </a:fld>
            <a:endParaRPr lang="en-US" dirty="0"/>
          </a:p>
        </p:txBody>
      </p:sp>
      <p:sp>
        <p:nvSpPr>
          <p:cNvPr id="5" name="Footer Placeholder 4">
            <a:extLst>
              <a:ext uri="{FF2B5EF4-FFF2-40B4-BE49-F238E27FC236}">
                <a16:creationId xmlns:a16="http://schemas.microsoft.com/office/drawing/2014/main" id="{4D6C378A-AA7D-4063-B734-2FEBA756D8C6}"/>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823F10E8-A39D-4F01-BFD1-82CE09E868E5}"/>
              </a:ext>
            </a:extLst>
          </p:cNvPr>
          <p:cNvSpPr>
            <a:spLocks noGrp="1"/>
          </p:cNvSpPr>
          <p:nvPr>
            <p:ph type="sldNum" sz="quarter" idx="12"/>
          </p:nvPr>
        </p:nvSpPr>
        <p:spPr/>
        <p:txBody>
          <a:bodyPr/>
          <a:lstStyle/>
          <a:p>
            <a:fld id="{7BE69E03-4804-4553-A1EC-F089884EF50F}" type="slidenum">
              <a:rPr lang="en-US" smtClean="0"/>
              <a:t>85</a:t>
            </a:fld>
            <a:endParaRPr lang="en-US"/>
          </a:p>
        </p:txBody>
      </p:sp>
    </p:spTree>
    <p:extLst>
      <p:ext uri="{BB962C8B-B14F-4D97-AF65-F5344CB8AC3E}">
        <p14:creationId xmlns:p14="http://schemas.microsoft.com/office/powerpoint/2010/main" val="20301054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FB59-3D5F-B3E7-62A6-3696358AE234}"/>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r"/>
            <a:r>
              <a:rPr lang="en-US" sz="8000" b="1" i="0" kern="1200" cap="all" baseline="0" dirty="0">
                <a:solidFill>
                  <a:schemeClr val="tx1"/>
                </a:solidFill>
                <a:latin typeface="+mj-lt"/>
                <a:ea typeface="+mj-ea"/>
                <a:cs typeface="+mj-cs"/>
              </a:rPr>
              <a:t>DFS </a:t>
            </a:r>
            <a:endParaRPr lang="en-US" sz="8000" b="1" i="0" kern="1200" cap="all" baseline="0" dirty="0">
              <a:solidFill>
                <a:schemeClr val="tx1"/>
              </a:solidFill>
              <a:latin typeface="+mj-lt"/>
            </a:endParaRPr>
          </a:p>
        </p:txBody>
      </p:sp>
      <p:pic>
        <p:nvPicPr>
          <p:cNvPr id="6" name="Picture 5" descr="A screenshot of a computer&#10;&#10;Description automatically generated">
            <a:extLst>
              <a:ext uri="{FF2B5EF4-FFF2-40B4-BE49-F238E27FC236}">
                <a16:creationId xmlns:a16="http://schemas.microsoft.com/office/drawing/2014/main" id="{453C451F-4145-72BB-A748-49E4F607C91A}"/>
              </a:ext>
            </a:extLst>
          </p:cNvPr>
          <p:cNvPicPr>
            <a:picLocks noChangeAspect="1"/>
          </p:cNvPicPr>
          <p:nvPr/>
        </p:nvPicPr>
        <p:blipFill>
          <a:blip r:embed="rId2"/>
          <a:stretch>
            <a:fillRect/>
          </a:stretch>
        </p:blipFill>
        <p:spPr>
          <a:xfrm>
            <a:off x="5529726" y="997423"/>
            <a:ext cx="5569860" cy="1573485"/>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FF875920-DE82-6712-DB1D-54FA64655A89}"/>
              </a:ext>
            </a:extLst>
          </p:cNvPr>
          <p:cNvPicPr>
            <a:picLocks noChangeAspect="1"/>
          </p:cNvPicPr>
          <p:nvPr/>
        </p:nvPicPr>
        <p:blipFill>
          <a:blip r:embed="rId3"/>
          <a:stretch>
            <a:fillRect/>
          </a:stretch>
        </p:blipFill>
        <p:spPr>
          <a:xfrm>
            <a:off x="5529726" y="3172915"/>
            <a:ext cx="5569864" cy="1559561"/>
          </a:xfrm>
          <a:prstGeom prst="rect">
            <a:avLst/>
          </a:prstGeom>
        </p:spPr>
      </p:pic>
      <p:sp>
        <p:nvSpPr>
          <p:cNvPr id="3" name="Date Placeholder 2">
            <a:extLst>
              <a:ext uri="{FF2B5EF4-FFF2-40B4-BE49-F238E27FC236}">
                <a16:creationId xmlns:a16="http://schemas.microsoft.com/office/drawing/2014/main" id="{BF2C8110-94E3-40DC-A0F3-9C3940BDB440}"/>
              </a:ext>
            </a:extLst>
          </p:cNvPr>
          <p:cNvSpPr>
            <a:spLocks noGrp="1"/>
          </p:cNvSpPr>
          <p:nvPr>
            <p:ph type="dt" sz="half" idx="10"/>
          </p:nvPr>
        </p:nvSpPr>
        <p:spPr/>
        <p:txBody>
          <a:bodyPr/>
          <a:lstStyle/>
          <a:p>
            <a:fld id="{5E1AA60F-15C1-4E9E-B5A1-35B9C75322F6}"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9C23DDAE-6915-4BE0-905E-0F0E65218841}"/>
              </a:ext>
            </a:extLst>
          </p:cNvPr>
          <p:cNvSpPr>
            <a:spLocks noGrp="1"/>
          </p:cNvSpPr>
          <p:nvPr>
            <p:ph type="ftr" sz="quarter" idx="11"/>
          </p:nvPr>
        </p:nvSpPr>
        <p:spPr/>
        <p:txBody>
          <a:bodyPr/>
          <a:lstStyle/>
          <a:p>
            <a:r>
              <a:rPr lang="en-US"/>
              <a:t>Department of ICT</a:t>
            </a:r>
            <a:endParaRPr lang="en-US" dirty="0"/>
          </a:p>
        </p:txBody>
      </p:sp>
      <p:sp>
        <p:nvSpPr>
          <p:cNvPr id="5" name="Slide Number Placeholder 4">
            <a:extLst>
              <a:ext uri="{FF2B5EF4-FFF2-40B4-BE49-F238E27FC236}">
                <a16:creationId xmlns:a16="http://schemas.microsoft.com/office/drawing/2014/main" id="{DBAE6B1E-7A02-4071-B74E-1B6043E510BA}"/>
              </a:ext>
            </a:extLst>
          </p:cNvPr>
          <p:cNvSpPr>
            <a:spLocks noGrp="1"/>
          </p:cNvSpPr>
          <p:nvPr>
            <p:ph type="sldNum" sz="quarter" idx="12"/>
          </p:nvPr>
        </p:nvSpPr>
        <p:spPr/>
        <p:txBody>
          <a:bodyPr/>
          <a:lstStyle/>
          <a:p>
            <a:fld id="{7BE69E03-4804-4553-A1EC-F089884EF50F}" type="slidenum">
              <a:rPr lang="en-US" smtClean="0"/>
              <a:t>86</a:t>
            </a:fld>
            <a:endParaRPr lang="en-US"/>
          </a:p>
        </p:txBody>
      </p:sp>
    </p:spTree>
    <p:extLst>
      <p:ext uri="{BB962C8B-B14F-4D97-AF65-F5344CB8AC3E}">
        <p14:creationId xmlns:p14="http://schemas.microsoft.com/office/powerpoint/2010/main" val="9566381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Background Gray Rectangle">
            <a:extLst>
              <a:ext uri="{FF2B5EF4-FFF2-40B4-BE49-F238E27FC236}">
                <a16:creationId xmlns:a16="http://schemas.microsoft.com/office/drawing/2014/main" id="{B103F26A-B02C-4135-96B0-37912A33C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823A3A0-1AEE-4C9F-9577-A624AA5BD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14">
            <a:extLst>
              <a:ext uri="{FF2B5EF4-FFF2-40B4-BE49-F238E27FC236}">
                <a16:creationId xmlns:a16="http://schemas.microsoft.com/office/drawing/2014/main" id="{73E0691A-3834-41DB-B58A-F0D41ACA4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E4E316-7DDC-1E06-A291-CCA961C5158F}"/>
              </a:ext>
            </a:extLst>
          </p:cNvPr>
          <p:cNvSpPr>
            <a:spLocks noGrp="1"/>
          </p:cNvSpPr>
          <p:nvPr>
            <p:ph type="title"/>
          </p:nvPr>
        </p:nvSpPr>
        <p:spPr>
          <a:xfrm>
            <a:off x="434408" y="680192"/>
            <a:ext cx="4978186" cy="5199708"/>
          </a:xfrm>
        </p:spPr>
        <p:txBody>
          <a:bodyPr>
            <a:normAutofit/>
          </a:bodyPr>
          <a:lstStyle/>
          <a:p>
            <a:r>
              <a:rPr lang="en-US" sz="4800"/>
              <a:t>Time and Space Complexity</a:t>
            </a:r>
          </a:p>
        </p:txBody>
      </p:sp>
      <p:sp>
        <p:nvSpPr>
          <p:cNvPr id="22" name="Content Placeholder 2">
            <a:extLst>
              <a:ext uri="{FF2B5EF4-FFF2-40B4-BE49-F238E27FC236}">
                <a16:creationId xmlns:a16="http://schemas.microsoft.com/office/drawing/2014/main" id="{8FCB4869-1342-DC6E-8781-23819C8A7540}"/>
              </a:ext>
            </a:extLst>
          </p:cNvPr>
          <p:cNvSpPr>
            <a:spLocks noGrp="1"/>
          </p:cNvSpPr>
          <p:nvPr>
            <p:ph idx="1"/>
          </p:nvPr>
        </p:nvSpPr>
        <p:spPr>
          <a:xfrm>
            <a:off x="5334000" y="668468"/>
            <a:ext cx="4918746" cy="5199708"/>
          </a:xfrm>
        </p:spPr>
        <p:txBody>
          <a:bodyPr vert="horz" lIns="91440" tIns="45720" rIns="91440" bIns="45720" rtlCol="0" anchor="ctr">
            <a:normAutofit/>
          </a:bodyPr>
          <a:lstStyle/>
          <a:p>
            <a:pPr algn="just">
              <a:lnSpc>
                <a:spcPct val="90000"/>
              </a:lnSpc>
            </a:pPr>
            <a:r>
              <a:rPr lang="en-US" sz="1600" b="1" dirty="0">
                <a:solidFill>
                  <a:schemeClr val="tx1"/>
                </a:solidFill>
                <a:highlight>
                  <a:srgbClr val="00FF00"/>
                </a:highlight>
                <a:latin typeface="Times New Roman"/>
                <a:ea typeface="+mn-lt"/>
                <a:cs typeface="+mn-lt"/>
              </a:rPr>
              <a:t>Time Complexity:</a:t>
            </a:r>
            <a:r>
              <a:rPr lang="en-US" sz="1600" dirty="0">
                <a:solidFill>
                  <a:schemeClr val="tx1"/>
                </a:solidFill>
                <a:latin typeface="Times New Roman"/>
                <a:ea typeface="+mn-lt"/>
                <a:cs typeface="+mn-lt"/>
              </a:rPr>
              <a:t> The time complexity of DFS is proportional to the size of the data structure used to represent the graph. In the case of an adjacency matrix representation, the time complexity is </a:t>
            </a:r>
            <a:r>
              <a:rPr lang="en-US" sz="1600" b="1" dirty="0">
                <a:solidFill>
                  <a:schemeClr val="tx1"/>
                </a:solidFill>
                <a:highlight>
                  <a:srgbClr val="FFFF00"/>
                </a:highlight>
                <a:latin typeface="Times New Roman"/>
                <a:ea typeface="+mn-lt"/>
                <a:cs typeface="+mn-lt"/>
              </a:rPr>
              <a:t>O(V^2)</a:t>
            </a:r>
            <a:r>
              <a:rPr lang="en-US" sz="1600" dirty="0">
                <a:solidFill>
                  <a:schemeClr val="tx1"/>
                </a:solidFill>
                <a:latin typeface="Times New Roman"/>
                <a:ea typeface="+mn-lt"/>
                <a:cs typeface="+mn-lt"/>
              </a:rPr>
              <a:t>, where V is the number of vertices. This is because for each vertex, we need to examine all possible edges. In the case of an adjacency list representation, the time complexity is </a:t>
            </a:r>
            <a:r>
              <a:rPr lang="en-US" sz="1600" b="1" dirty="0">
                <a:solidFill>
                  <a:schemeClr val="tx1"/>
                </a:solidFill>
                <a:highlight>
                  <a:srgbClr val="FFFF00"/>
                </a:highlight>
                <a:latin typeface="Times New Roman"/>
                <a:ea typeface="+mn-lt"/>
                <a:cs typeface="+mn-lt"/>
              </a:rPr>
              <a:t>O(V + E)</a:t>
            </a:r>
            <a:r>
              <a:rPr lang="en-US" sz="1600" b="1" dirty="0">
                <a:solidFill>
                  <a:schemeClr val="tx1"/>
                </a:solidFill>
                <a:latin typeface="Times New Roman"/>
                <a:ea typeface="+mn-lt"/>
                <a:cs typeface="+mn-lt"/>
              </a:rPr>
              <a:t>,</a:t>
            </a:r>
            <a:r>
              <a:rPr lang="en-US" sz="1600" dirty="0">
                <a:solidFill>
                  <a:schemeClr val="tx1"/>
                </a:solidFill>
                <a:latin typeface="Times New Roman"/>
                <a:ea typeface="+mn-lt"/>
                <a:cs typeface="+mn-lt"/>
              </a:rPr>
              <a:t> where V is the number of vertices and E is the number of edges. This is because we only need to consider the vertices and edges that are actually present in the graph.</a:t>
            </a:r>
            <a:endParaRPr lang="en-US" sz="1600">
              <a:solidFill>
                <a:schemeClr val="tx1"/>
              </a:solidFill>
              <a:latin typeface="Times New Roman"/>
              <a:cs typeface="Times New Roman"/>
            </a:endParaRPr>
          </a:p>
          <a:p>
            <a:pPr algn="just">
              <a:lnSpc>
                <a:spcPct val="90000"/>
              </a:lnSpc>
            </a:pPr>
            <a:r>
              <a:rPr lang="en-US" sz="1600" b="1" dirty="0">
                <a:solidFill>
                  <a:schemeClr val="tx1"/>
                </a:solidFill>
                <a:highlight>
                  <a:srgbClr val="00FF00"/>
                </a:highlight>
                <a:latin typeface="Times New Roman"/>
                <a:ea typeface="+mn-lt"/>
                <a:cs typeface="+mn-lt"/>
              </a:rPr>
              <a:t>Space Complexity:</a:t>
            </a:r>
            <a:r>
              <a:rPr lang="en-US" sz="1600" dirty="0">
                <a:solidFill>
                  <a:schemeClr val="tx1"/>
                </a:solidFill>
                <a:latin typeface="Times New Roman"/>
                <a:ea typeface="+mn-lt"/>
                <a:cs typeface="+mn-lt"/>
              </a:rPr>
              <a:t> The space complexity of DFS depends on the maximum depth of the recursion stack, which is determined by the structure of the graph. In the worst case scenario, where the graph is a linear chain, the space complexity is </a:t>
            </a:r>
            <a:r>
              <a:rPr lang="en-US" sz="1600" b="1" dirty="0">
                <a:solidFill>
                  <a:schemeClr val="tx1"/>
                </a:solidFill>
                <a:highlight>
                  <a:srgbClr val="FFFF00"/>
                </a:highlight>
                <a:latin typeface="Times New Roman"/>
                <a:ea typeface="+mn-lt"/>
                <a:cs typeface="+mn-lt"/>
              </a:rPr>
              <a:t>O(V),</a:t>
            </a:r>
            <a:r>
              <a:rPr lang="en-US" sz="1600" dirty="0">
                <a:solidFill>
                  <a:schemeClr val="tx1"/>
                </a:solidFill>
                <a:latin typeface="Times New Roman"/>
                <a:ea typeface="+mn-lt"/>
                <a:cs typeface="+mn-lt"/>
              </a:rPr>
              <a:t> where V is the number of vertices. This is because each recursive call adds a new frame to the stack. However, in general, the space complexity of DFS is considered to be </a:t>
            </a:r>
            <a:r>
              <a:rPr lang="en-US" sz="1600" b="1" dirty="0">
                <a:solidFill>
                  <a:schemeClr val="tx1"/>
                </a:solidFill>
                <a:highlight>
                  <a:srgbClr val="FFFF00"/>
                </a:highlight>
                <a:latin typeface="Times New Roman"/>
                <a:ea typeface="+mn-lt"/>
                <a:cs typeface="+mn-lt"/>
              </a:rPr>
              <a:t>O(V),</a:t>
            </a:r>
            <a:r>
              <a:rPr lang="en-US" sz="1600" dirty="0">
                <a:solidFill>
                  <a:schemeClr val="tx1"/>
                </a:solidFill>
                <a:latin typeface="Times New Roman"/>
                <a:ea typeface="+mn-lt"/>
                <a:cs typeface="+mn-lt"/>
              </a:rPr>
              <a:t> where V is the number of vertices.</a:t>
            </a:r>
            <a:endParaRPr lang="en-US" sz="1600" dirty="0">
              <a:solidFill>
                <a:schemeClr val="tx1"/>
              </a:solidFill>
              <a:latin typeface="Times New Roman"/>
              <a:cs typeface="Times New Roman"/>
            </a:endParaRPr>
          </a:p>
          <a:p>
            <a:pPr algn="just">
              <a:lnSpc>
                <a:spcPct val="90000"/>
              </a:lnSpc>
            </a:pPr>
            <a:endParaRPr lang="en-US" sz="1600" dirty="0">
              <a:solidFill>
                <a:schemeClr val="tx1"/>
              </a:solidFill>
              <a:latin typeface="Times New Roman"/>
              <a:cs typeface="Times New Roman"/>
            </a:endParaRPr>
          </a:p>
        </p:txBody>
      </p:sp>
      <p:sp>
        <p:nvSpPr>
          <p:cNvPr id="6" name="Slide Number Placeholder 5">
            <a:extLst>
              <a:ext uri="{FF2B5EF4-FFF2-40B4-BE49-F238E27FC236}">
                <a16:creationId xmlns:a16="http://schemas.microsoft.com/office/drawing/2014/main" id="{DD754450-407A-F69C-55D6-9BAFD6E64B4D}"/>
              </a:ext>
            </a:extLst>
          </p:cNvPr>
          <p:cNvSpPr>
            <a:spLocks noGrp="1"/>
          </p:cNvSpPr>
          <p:nvPr>
            <p:ph type="sldNum" sz="quarter" idx="12"/>
          </p:nvPr>
        </p:nvSpPr>
        <p:spPr>
          <a:xfrm>
            <a:off x="11504676" y="-14198"/>
            <a:ext cx="685800" cy="685800"/>
          </a:xfrm>
        </p:spPr>
        <p:txBody>
          <a:bodyPr anchor="ctr">
            <a:normAutofit/>
          </a:bodyPr>
          <a:lstStyle/>
          <a:p>
            <a:pPr>
              <a:spcAft>
                <a:spcPts val="600"/>
              </a:spcAft>
            </a:pPr>
            <a:fld id="{7BE69E03-4804-4553-A1EC-F089884EF50F}" type="slidenum">
              <a:rPr lang="en-US" smtClean="0"/>
              <a:pPr>
                <a:spcAft>
                  <a:spcPts val="600"/>
                </a:spcAft>
              </a:pPr>
              <a:t>87</a:t>
            </a:fld>
            <a:endParaRPr lang="en-US"/>
          </a:p>
        </p:txBody>
      </p:sp>
      <p:sp>
        <p:nvSpPr>
          <p:cNvPr id="4" name="Date Placeholder 3">
            <a:extLst>
              <a:ext uri="{FF2B5EF4-FFF2-40B4-BE49-F238E27FC236}">
                <a16:creationId xmlns:a16="http://schemas.microsoft.com/office/drawing/2014/main" id="{3CE666B6-5189-8AB5-1AF5-BB9E77BA9937}"/>
              </a:ext>
            </a:extLst>
          </p:cNvPr>
          <p:cNvSpPr>
            <a:spLocks noGrp="1"/>
          </p:cNvSpPr>
          <p:nvPr>
            <p:ph type="dt" sz="half" idx="10"/>
          </p:nvPr>
        </p:nvSpPr>
        <p:spPr>
          <a:xfrm>
            <a:off x="422899" y="6217920"/>
            <a:ext cx="2743200" cy="640080"/>
          </a:xfrm>
        </p:spPr>
        <p:txBody>
          <a:bodyPr anchor="ctr">
            <a:normAutofit/>
          </a:bodyPr>
          <a:lstStyle/>
          <a:p>
            <a:pPr>
              <a:spcAft>
                <a:spcPts val="600"/>
              </a:spcAft>
            </a:pPr>
            <a:fld id="{330834E0-E700-4296-8228-0CF76E51D4FC}" type="datetime2">
              <a:rPr lang="en-US" smtClean="0"/>
              <a:t>Wednesday, January 14, 2026</a:t>
            </a:fld>
            <a:endParaRPr lang="en-US"/>
          </a:p>
        </p:txBody>
      </p:sp>
      <p:sp>
        <p:nvSpPr>
          <p:cNvPr id="5" name="Footer Placeholder 4">
            <a:extLst>
              <a:ext uri="{FF2B5EF4-FFF2-40B4-BE49-F238E27FC236}">
                <a16:creationId xmlns:a16="http://schemas.microsoft.com/office/drawing/2014/main" id="{9A4E1E70-8BB4-A666-3CAB-A924A523B1FF}"/>
              </a:ext>
            </a:extLst>
          </p:cNvPr>
          <p:cNvSpPr>
            <a:spLocks noGrp="1"/>
          </p:cNvSpPr>
          <p:nvPr>
            <p:ph type="ftr" sz="quarter" idx="11"/>
          </p:nvPr>
        </p:nvSpPr>
        <p:spPr>
          <a:xfrm>
            <a:off x="3762376" y="6217920"/>
            <a:ext cx="7195367" cy="640080"/>
          </a:xfrm>
        </p:spPr>
        <p:txBody>
          <a:bodyPr anchor="ctr">
            <a:normAutofit/>
          </a:bodyPr>
          <a:lstStyle/>
          <a:p>
            <a:pPr>
              <a:spcAft>
                <a:spcPts val="600"/>
              </a:spcAft>
            </a:pPr>
            <a:r>
              <a:rPr lang="en-US"/>
              <a:t>Department of ICT</a:t>
            </a:r>
          </a:p>
        </p:txBody>
      </p:sp>
      <p:cxnSp>
        <p:nvCxnSpPr>
          <p:cNvPr id="17" name="Straight Connector 16">
            <a:extLst>
              <a:ext uri="{FF2B5EF4-FFF2-40B4-BE49-F238E27FC236}">
                <a16:creationId xmlns:a16="http://schemas.microsoft.com/office/drawing/2014/main" id="{329BD279-68D6-4374-A25D-0443582490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223393-D916-47A5-833D-85E9ECDA8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60132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57EA0-7AFA-2018-6075-8895B302E3C7}"/>
              </a:ext>
            </a:extLst>
          </p:cNvPr>
          <p:cNvSpPr>
            <a:spLocks noGrp="1"/>
          </p:cNvSpPr>
          <p:nvPr>
            <p:ph type="title"/>
          </p:nvPr>
        </p:nvSpPr>
        <p:spPr>
          <a:xfrm>
            <a:off x="-59867" y="1070800"/>
            <a:ext cx="4478949" cy="5583126"/>
          </a:xfrm>
        </p:spPr>
        <p:txBody>
          <a:bodyPr>
            <a:normAutofit/>
          </a:bodyPr>
          <a:lstStyle/>
          <a:p>
            <a:pPr algn="r"/>
            <a:r>
              <a:rPr lang="en-US" sz="5600"/>
              <a:t>Applications of DFS</a:t>
            </a:r>
          </a:p>
        </p:txBody>
      </p:sp>
      <p:graphicFrame>
        <p:nvGraphicFramePr>
          <p:cNvPr id="5" name="Content Placeholder 2">
            <a:extLst>
              <a:ext uri="{FF2B5EF4-FFF2-40B4-BE49-F238E27FC236}">
                <a16:creationId xmlns:a16="http://schemas.microsoft.com/office/drawing/2014/main" id="{2662C157-951D-9840-A09F-63E2F1C5341A}"/>
              </a:ext>
            </a:extLst>
          </p:cNvPr>
          <p:cNvGraphicFramePr>
            <a:graphicFrameLocks noGrp="1"/>
          </p:cNvGraphicFramePr>
          <p:nvPr>
            <p:ph idx="1"/>
            <p:extLst>
              <p:ext uri="{D42A27DB-BD31-4B8C-83A1-F6EECF244321}">
                <p14:modId xmlns:p14="http://schemas.microsoft.com/office/powerpoint/2010/main" val="945344867"/>
              </p:ext>
            </p:extLst>
          </p:nvPr>
        </p:nvGraphicFramePr>
        <p:xfrm>
          <a:off x="5022586" y="849687"/>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Date Placeholder 2">
            <a:extLst>
              <a:ext uri="{FF2B5EF4-FFF2-40B4-BE49-F238E27FC236}">
                <a16:creationId xmlns:a16="http://schemas.microsoft.com/office/drawing/2014/main" id="{C70E5A49-FE40-481C-AAC4-3A2EED4FB5F6}"/>
              </a:ext>
            </a:extLst>
          </p:cNvPr>
          <p:cNvSpPr>
            <a:spLocks noGrp="1"/>
          </p:cNvSpPr>
          <p:nvPr>
            <p:ph type="dt" sz="half" idx="10"/>
          </p:nvPr>
        </p:nvSpPr>
        <p:spPr/>
        <p:txBody>
          <a:bodyPr/>
          <a:lstStyle/>
          <a:p>
            <a:fld id="{489B3034-6E82-4F59-B180-477F65C067E8}" type="datetime2">
              <a:rPr lang="en-US" smtClean="0"/>
              <a:t>Wednesday, January 14, 2026</a:t>
            </a:fld>
            <a:endParaRPr lang="en-US" dirty="0"/>
          </a:p>
        </p:txBody>
      </p:sp>
      <p:sp>
        <p:nvSpPr>
          <p:cNvPr id="4" name="Footer Placeholder 3">
            <a:extLst>
              <a:ext uri="{FF2B5EF4-FFF2-40B4-BE49-F238E27FC236}">
                <a16:creationId xmlns:a16="http://schemas.microsoft.com/office/drawing/2014/main" id="{F2C775A4-44FA-456B-A61E-3C08DC0537EF}"/>
              </a:ext>
            </a:extLst>
          </p:cNvPr>
          <p:cNvSpPr>
            <a:spLocks noGrp="1"/>
          </p:cNvSpPr>
          <p:nvPr>
            <p:ph type="ftr" sz="quarter" idx="11"/>
          </p:nvPr>
        </p:nvSpPr>
        <p:spPr/>
        <p:txBody>
          <a:bodyPr/>
          <a:lstStyle/>
          <a:p>
            <a:r>
              <a:rPr lang="en-US"/>
              <a:t>Department of ICT</a:t>
            </a:r>
            <a:endParaRPr lang="en-US" dirty="0"/>
          </a:p>
        </p:txBody>
      </p:sp>
      <p:sp>
        <p:nvSpPr>
          <p:cNvPr id="6" name="Slide Number Placeholder 5">
            <a:extLst>
              <a:ext uri="{FF2B5EF4-FFF2-40B4-BE49-F238E27FC236}">
                <a16:creationId xmlns:a16="http://schemas.microsoft.com/office/drawing/2014/main" id="{8CA0A8AF-76CB-4850-B771-DA086A4591DA}"/>
              </a:ext>
            </a:extLst>
          </p:cNvPr>
          <p:cNvSpPr>
            <a:spLocks noGrp="1"/>
          </p:cNvSpPr>
          <p:nvPr>
            <p:ph type="sldNum" sz="quarter" idx="12"/>
          </p:nvPr>
        </p:nvSpPr>
        <p:spPr/>
        <p:txBody>
          <a:bodyPr/>
          <a:lstStyle/>
          <a:p>
            <a:fld id="{7BE69E03-4804-4553-A1EC-F089884EF50F}" type="slidenum">
              <a:rPr lang="en-US" smtClean="0"/>
              <a:t>88</a:t>
            </a:fld>
            <a:endParaRPr lang="en-US"/>
          </a:p>
        </p:txBody>
      </p:sp>
    </p:spTree>
    <p:extLst>
      <p:ext uri="{BB962C8B-B14F-4D97-AF65-F5344CB8AC3E}">
        <p14:creationId xmlns:p14="http://schemas.microsoft.com/office/powerpoint/2010/main" val="2799422677"/>
      </p:ext>
    </p:extLst>
  </p:cSld>
  <p:clrMapOvr>
    <a:masterClrMapping/>
  </p:clrMapOvr>
</p:sld>
</file>

<file path=ppt/theme/theme1.xml><?xml version="1.0" encoding="utf-8"?>
<a:theme xmlns:a="http://schemas.openxmlformats.org/drawingml/2006/main" name="OffsetVTI">
  <a:themeElements>
    <a:clrScheme name="Office Theme">
      <a:dk1>
        <a:srgbClr val="000000"/>
      </a:dk1>
      <a:lt1>
        <a:srgbClr val="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Dante">
      <a:majorFont>
        <a:latin typeface="Georgia Pro"/>
        <a:ea typeface=""/>
        <a:cs typeface=""/>
      </a:majorFont>
      <a:minorFont>
        <a:latin typeface="Georgia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485</TotalTime>
  <Words>6962</Words>
  <Application>Microsoft Office PowerPoint</Application>
  <PresentationFormat>Widescreen</PresentationFormat>
  <Paragraphs>890</Paragraphs>
  <Slides>88</Slides>
  <Notes>39</Notes>
  <HiddenSlides>4</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88</vt:i4>
      </vt:variant>
    </vt:vector>
  </HeadingPairs>
  <TitlesOfParts>
    <vt:vector size="108" baseType="lpstr">
      <vt:lpstr>Arial</vt:lpstr>
      <vt:lpstr>Calibri</vt:lpstr>
      <vt:lpstr>Calibri Light</vt:lpstr>
      <vt:lpstr>Dante (Headings)2</vt:lpstr>
      <vt:lpstr>erdana</vt:lpstr>
      <vt:lpstr>Georgia Pro</vt:lpstr>
      <vt:lpstr>Google Sans</vt:lpstr>
      <vt:lpstr>Helvetica Neue Medium</vt:lpstr>
      <vt:lpstr>Inter</vt:lpstr>
      <vt:lpstr>inter-bold</vt:lpstr>
      <vt:lpstr>inter-regular</vt:lpstr>
      <vt:lpstr>KaTeX_Main</vt:lpstr>
      <vt:lpstr>KaTeX_Math</vt:lpstr>
      <vt:lpstr>Söhne</vt:lpstr>
      <vt:lpstr>Söhne Mono</vt:lpstr>
      <vt:lpstr>Symbol</vt:lpstr>
      <vt:lpstr>Times New Roman</vt:lpstr>
      <vt:lpstr>Verdana</vt:lpstr>
      <vt:lpstr>Wingdings 2</vt:lpstr>
      <vt:lpstr>OffsetVTI</vt:lpstr>
      <vt:lpstr>BRUTE FORCE</vt:lpstr>
      <vt:lpstr>Brute Force</vt:lpstr>
      <vt:lpstr>Selection Sort and  Bubble Sort </vt:lpstr>
      <vt:lpstr>Selection Sort</vt:lpstr>
      <vt:lpstr>Selection Sort</vt:lpstr>
      <vt:lpstr>Selection Sort Algorithm</vt:lpstr>
      <vt:lpstr>Selection Sort Algorithm</vt:lpstr>
      <vt:lpstr>Selection Sort Algorithm</vt:lpstr>
      <vt:lpstr>Selection Sort Algorithm</vt:lpstr>
      <vt:lpstr>Selection Sort Algorithm</vt:lpstr>
      <vt:lpstr>Selection Sort Algorithm</vt:lpstr>
      <vt:lpstr>Selection Sort Algorithm</vt:lpstr>
      <vt:lpstr>Example:{3,1,2}…Ist iteration</vt:lpstr>
      <vt:lpstr>IInd iteration</vt:lpstr>
      <vt:lpstr>Selection Sort Analysis with example</vt:lpstr>
      <vt:lpstr>Time and Space Complexity</vt:lpstr>
      <vt:lpstr>Bubble Sort</vt:lpstr>
      <vt:lpstr>Bubble Sort Algorithm</vt:lpstr>
      <vt:lpstr>Bubble Sort Algorithm</vt:lpstr>
      <vt:lpstr>Working of Bubble sort Algorithm </vt:lpstr>
      <vt:lpstr>First pass</vt:lpstr>
      <vt:lpstr>Second pass</vt:lpstr>
      <vt:lpstr>Third pass</vt:lpstr>
      <vt:lpstr>Fourth pass</vt:lpstr>
      <vt:lpstr>Bubble Sort Example</vt:lpstr>
      <vt:lpstr>Bubble Sort Analysis</vt:lpstr>
      <vt:lpstr>Sequential or Linear Search</vt:lpstr>
      <vt:lpstr>Sequential or Linear Search</vt:lpstr>
      <vt:lpstr>Sequential or Linear Search</vt:lpstr>
      <vt:lpstr>Sequential or Linear Search</vt:lpstr>
      <vt:lpstr>Sequential or Linear Search</vt:lpstr>
      <vt:lpstr>Sequential Search</vt:lpstr>
      <vt:lpstr>String Matching</vt:lpstr>
      <vt:lpstr>String Matching</vt:lpstr>
      <vt:lpstr>String Matching</vt:lpstr>
      <vt:lpstr>String Matching</vt:lpstr>
      <vt:lpstr>String Matching Algo</vt:lpstr>
      <vt:lpstr>PowerPoint Presentation</vt:lpstr>
      <vt:lpstr>PowerPoint Presentation</vt:lpstr>
      <vt:lpstr>PowerPoint Presentation</vt:lpstr>
      <vt:lpstr>PowerPoint Presentation</vt:lpstr>
      <vt:lpstr>PowerPoint Presentation</vt:lpstr>
      <vt:lpstr>PowerPoint Presentation</vt:lpstr>
      <vt:lpstr>String Matching Time Complexity</vt:lpstr>
      <vt:lpstr>Exhaustive search</vt:lpstr>
      <vt:lpstr>Exhaustive search</vt:lpstr>
      <vt:lpstr>Exhaustive search</vt:lpstr>
      <vt:lpstr>Traveling Salesman Problem (TSP)</vt:lpstr>
      <vt:lpstr>TSP PROBLEM</vt:lpstr>
      <vt:lpstr>TSP PROBLEM</vt:lpstr>
      <vt:lpstr>TSP - SOLUTION</vt:lpstr>
      <vt:lpstr>TSP - SOLUTION</vt:lpstr>
      <vt:lpstr>Solve using TSP?</vt:lpstr>
      <vt:lpstr>PowerPoint Presentation</vt:lpstr>
      <vt:lpstr>SOLVE USING TSP?</vt:lpstr>
      <vt:lpstr>SOLUTION</vt:lpstr>
      <vt:lpstr>KNAPSACK PROBLEM </vt:lpstr>
      <vt:lpstr>PowerPoint Presentation</vt:lpstr>
      <vt:lpstr>PowerPoint Presentation</vt:lpstr>
      <vt:lpstr>KNAPSACK PROBLEM  </vt:lpstr>
      <vt:lpstr>KNAPSACK SOLUTION</vt:lpstr>
      <vt:lpstr>PowerPoint Presentation</vt:lpstr>
      <vt:lpstr>PowerPoint Presentation</vt:lpstr>
      <vt:lpstr>PowerPoint Presentation</vt:lpstr>
      <vt:lpstr>Assignment Problem</vt:lpstr>
      <vt:lpstr>PowerPoint Presentation</vt:lpstr>
      <vt:lpstr>Assignment Problem </vt:lpstr>
      <vt:lpstr>Assignment Problem- Solution</vt:lpstr>
      <vt:lpstr>Assignment Problem- Solution</vt:lpstr>
      <vt:lpstr>Assignment Problem- Solution</vt:lpstr>
      <vt:lpstr>Assignment Problem- Solution</vt:lpstr>
      <vt:lpstr>Assignment Problem-Analysis</vt:lpstr>
      <vt:lpstr>Breadth First Search (BFS)</vt:lpstr>
      <vt:lpstr>Algorithm BFS</vt:lpstr>
      <vt:lpstr>BFS </vt:lpstr>
      <vt:lpstr>BFS </vt:lpstr>
      <vt:lpstr>BFS </vt:lpstr>
      <vt:lpstr>BFS </vt:lpstr>
      <vt:lpstr>BFS </vt:lpstr>
      <vt:lpstr>Time and Space for BFS</vt:lpstr>
      <vt:lpstr>How efficient is Breadth-first search?</vt:lpstr>
      <vt:lpstr>Applications of BFS</vt:lpstr>
      <vt:lpstr>Depth First Search</vt:lpstr>
      <vt:lpstr>Algorithm of DFS</vt:lpstr>
      <vt:lpstr>DFS </vt:lpstr>
      <vt:lpstr>DFS </vt:lpstr>
      <vt:lpstr>Time and Space Complexity</vt:lpstr>
      <vt:lpstr>Applications of DFS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Ramyashree [MAHE-MIT]</cp:lastModifiedBy>
  <cp:revision>457</cp:revision>
  <dcterms:created xsi:type="dcterms:W3CDTF">2024-01-08T09:03:54Z</dcterms:created>
  <dcterms:modified xsi:type="dcterms:W3CDTF">2026-01-14T04:20:22Z</dcterms:modified>
</cp:coreProperties>
</file>