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41"/>
  </p:notesMasterIdLst>
  <p:sldIdLst>
    <p:sldId id="256" r:id="rId5"/>
    <p:sldId id="257" r:id="rId6"/>
    <p:sldId id="258" r:id="rId7"/>
    <p:sldId id="296" r:id="rId8"/>
    <p:sldId id="261" r:id="rId9"/>
    <p:sldId id="259" r:id="rId10"/>
    <p:sldId id="297" r:id="rId11"/>
    <p:sldId id="265" r:id="rId12"/>
    <p:sldId id="264" r:id="rId13"/>
    <p:sldId id="263" r:id="rId14"/>
    <p:sldId id="298" r:id="rId15"/>
    <p:sldId id="262" r:id="rId16"/>
    <p:sldId id="274" r:id="rId17"/>
    <p:sldId id="270" r:id="rId18"/>
    <p:sldId id="269" r:id="rId19"/>
    <p:sldId id="268" r:id="rId20"/>
    <p:sldId id="267" r:id="rId21"/>
    <p:sldId id="275" r:id="rId22"/>
    <p:sldId id="276" r:id="rId23"/>
    <p:sldId id="278" r:id="rId24"/>
    <p:sldId id="283" r:id="rId25"/>
    <p:sldId id="281" r:id="rId26"/>
    <p:sldId id="284" r:id="rId27"/>
    <p:sldId id="285" r:id="rId28"/>
    <p:sldId id="299" r:id="rId29"/>
    <p:sldId id="282" r:id="rId30"/>
    <p:sldId id="287" r:id="rId31"/>
    <p:sldId id="288" r:id="rId32"/>
    <p:sldId id="289" r:id="rId33"/>
    <p:sldId id="290" r:id="rId34"/>
    <p:sldId id="291" r:id="rId35"/>
    <p:sldId id="292" r:id="rId36"/>
    <p:sldId id="293" r:id="rId37"/>
    <p:sldId id="294" r:id="rId38"/>
    <p:sldId id="280" r:id="rId39"/>
    <p:sldId id="29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34"/>
    <p:restoredTop sz="90150" autoAdjust="0"/>
  </p:normalViewPr>
  <p:slideViewPr>
    <p:cSldViewPr snapToGrid="0">
      <p:cViewPr varScale="1">
        <p:scale>
          <a:sx n="58" d="100"/>
          <a:sy n="58" d="100"/>
        </p:scale>
        <p:origin x="96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080D58-E4F7-4FC3-B219-1D20EE7F0FFC}" type="datetimeFigureOut">
              <a:rPr lang="en-IN" smtClean="0"/>
              <a:t>03-01-2024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10463E-A946-4DB7-84F1-2B38F7DE12A7}" type="slidenum">
              <a:rPr lang="en-IN" smtClean="0"/>
              <a:t>‹#›</a:t>
            </a:fld>
            <a:endParaRPr lang="en-IN"/>
          </a:p>
        </p:txBody>
      </p:sp>
    </p:spTree>
    <p:extLst>
      <p:ext uri="{BB962C8B-B14F-4D97-AF65-F5344CB8AC3E}">
        <p14:creationId xmlns:p14="http://schemas.microsoft.com/office/powerpoint/2010/main" val="2853131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F4745-080E-4B88-8B8B-2992D21A25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0E94FCC-663F-4763-BD22-ED6902EECA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BA37EB-2F3B-4811-9996-207993AAD2DE}"/>
              </a:ext>
            </a:extLst>
          </p:cNvPr>
          <p:cNvSpPr>
            <a:spLocks noGrp="1"/>
          </p:cNvSpPr>
          <p:nvPr>
            <p:ph type="dt" sz="half" idx="10"/>
          </p:nvPr>
        </p:nvSpPr>
        <p:spPr/>
        <p:txBody>
          <a:bodyPr/>
          <a:lstStyle/>
          <a:p>
            <a:fld id="{1EC53E73-0125-4530-BB96-64DBAFB98FEA}" type="datetime1">
              <a:rPr lang="en-IN" smtClean="0"/>
              <a:t>03-01-2024</a:t>
            </a:fld>
            <a:endParaRPr lang="en-IN"/>
          </a:p>
        </p:txBody>
      </p:sp>
      <p:sp>
        <p:nvSpPr>
          <p:cNvPr id="5" name="Footer Placeholder 4">
            <a:extLst>
              <a:ext uri="{FF2B5EF4-FFF2-40B4-BE49-F238E27FC236}">
                <a16:creationId xmlns:a16="http://schemas.microsoft.com/office/drawing/2014/main" id="{36A36A9E-BCDE-41C3-9CC5-60E542941285}"/>
              </a:ext>
            </a:extLst>
          </p:cNvPr>
          <p:cNvSpPr>
            <a:spLocks noGrp="1"/>
          </p:cNvSpPr>
          <p:nvPr>
            <p:ph type="ftr" sz="quarter" idx="11"/>
          </p:nvPr>
        </p:nvSpPr>
        <p:spPr/>
        <p:txBody>
          <a:bodyPr/>
          <a:lstStyle/>
          <a:p>
            <a:r>
              <a:rPr lang="en-US"/>
              <a:t>CSE 1071 Problem Solving using Computers (PSUC) - 2022</a:t>
            </a:r>
            <a:endParaRPr lang="en-IN"/>
          </a:p>
        </p:txBody>
      </p:sp>
      <p:sp>
        <p:nvSpPr>
          <p:cNvPr id="6" name="Slide Number Placeholder 5">
            <a:extLst>
              <a:ext uri="{FF2B5EF4-FFF2-40B4-BE49-F238E27FC236}">
                <a16:creationId xmlns:a16="http://schemas.microsoft.com/office/drawing/2014/main" id="{AEC7BD90-BB00-4963-8C24-3F10ACCD66D5}"/>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3338476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C5458-8B79-452D-921E-0ECB61C2AA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733611-6A6B-4C43-BC3F-2D55523D3D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1D29E3-AC0D-450F-9A49-5C61C4E3A32A}"/>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5" name="Footer Placeholder 4">
            <a:extLst>
              <a:ext uri="{FF2B5EF4-FFF2-40B4-BE49-F238E27FC236}">
                <a16:creationId xmlns:a16="http://schemas.microsoft.com/office/drawing/2014/main" id="{705D0025-6DC4-4532-92BB-0035F529DDB9}"/>
              </a:ext>
            </a:extLst>
          </p:cNvPr>
          <p:cNvSpPr>
            <a:spLocks noGrp="1"/>
          </p:cNvSpPr>
          <p:nvPr>
            <p:ph type="ftr" sz="quarter" idx="11"/>
          </p:nvPr>
        </p:nvSpPr>
        <p:spPr/>
        <p:txBody>
          <a:bodyPr/>
          <a:lstStyle/>
          <a:p>
            <a:r>
              <a:rPr lang="en-US"/>
              <a:t>CSE 1071 Problem Solving using Computers (PSUC) - 2022</a:t>
            </a:r>
            <a:endParaRPr lang="en-IN"/>
          </a:p>
        </p:txBody>
      </p:sp>
      <p:sp>
        <p:nvSpPr>
          <p:cNvPr id="6" name="Slide Number Placeholder 5">
            <a:extLst>
              <a:ext uri="{FF2B5EF4-FFF2-40B4-BE49-F238E27FC236}">
                <a16:creationId xmlns:a16="http://schemas.microsoft.com/office/drawing/2014/main" id="{262B8A83-CA99-4D72-B625-29725E2665B4}"/>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212870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BA839-A5B7-418C-BCAD-FF5ECF04DA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62CF598-AD66-4E78-BD33-F2CAFCE8F1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81A7E6-34A8-42D9-8468-C791AC861770}"/>
              </a:ext>
            </a:extLst>
          </p:cNvPr>
          <p:cNvSpPr>
            <a:spLocks noGrp="1"/>
          </p:cNvSpPr>
          <p:nvPr>
            <p:ph type="dt" sz="half" idx="10"/>
          </p:nvPr>
        </p:nvSpPr>
        <p:spPr/>
        <p:txBody>
          <a:bodyPr/>
          <a:lstStyle/>
          <a:p>
            <a:fld id="{2757D6DC-9E13-4FEB-AFFF-066285A83886}" type="datetime1">
              <a:rPr lang="en-IN" smtClean="0"/>
              <a:t>03-01-2024</a:t>
            </a:fld>
            <a:endParaRPr lang="en-IN"/>
          </a:p>
        </p:txBody>
      </p:sp>
      <p:sp>
        <p:nvSpPr>
          <p:cNvPr id="5" name="Footer Placeholder 4">
            <a:extLst>
              <a:ext uri="{FF2B5EF4-FFF2-40B4-BE49-F238E27FC236}">
                <a16:creationId xmlns:a16="http://schemas.microsoft.com/office/drawing/2014/main" id="{4305F426-0C69-4147-90A0-49BD07184112}"/>
              </a:ext>
            </a:extLst>
          </p:cNvPr>
          <p:cNvSpPr>
            <a:spLocks noGrp="1"/>
          </p:cNvSpPr>
          <p:nvPr>
            <p:ph type="ftr" sz="quarter" idx="11"/>
          </p:nvPr>
        </p:nvSpPr>
        <p:spPr/>
        <p:txBody>
          <a:bodyPr/>
          <a:lstStyle/>
          <a:p>
            <a:r>
              <a:rPr lang="en-US"/>
              <a:t>CSE 1071 Problem Solving using Computers (PSUC) - 2022</a:t>
            </a:r>
            <a:endParaRPr lang="en-IN"/>
          </a:p>
        </p:txBody>
      </p:sp>
      <p:sp>
        <p:nvSpPr>
          <p:cNvPr id="6" name="Slide Number Placeholder 5">
            <a:extLst>
              <a:ext uri="{FF2B5EF4-FFF2-40B4-BE49-F238E27FC236}">
                <a16:creationId xmlns:a16="http://schemas.microsoft.com/office/drawing/2014/main" id="{70126A7B-B42C-4261-9E1C-BAE9C1802C08}"/>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4157533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C4AE-95E6-4734-B0CA-6B3F1786F4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2F3265-9837-449F-B9B5-10EF38B971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8C79CB-7734-4551-8220-E3D4D91374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58A4707-78EE-4BB5-92F6-BB536223EF48}"/>
              </a:ext>
            </a:extLst>
          </p:cNvPr>
          <p:cNvSpPr>
            <a:spLocks noGrp="1"/>
          </p:cNvSpPr>
          <p:nvPr>
            <p:ph type="dt" sz="half" idx="10"/>
          </p:nvPr>
        </p:nvSpPr>
        <p:spPr/>
        <p:txBody>
          <a:bodyPr/>
          <a:lstStyle/>
          <a:p>
            <a:fld id="{64E72F1C-FDC0-4E67-847D-9F42173461F4}" type="datetime1">
              <a:rPr lang="en-IN" smtClean="0"/>
              <a:t>03-01-2024</a:t>
            </a:fld>
            <a:endParaRPr lang="en-IN"/>
          </a:p>
        </p:txBody>
      </p:sp>
      <p:sp>
        <p:nvSpPr>
          <p:cNvPr id="6" name="Footer Placeholder 5">
            <a:extLst>
              <a:ext uri="{FF2B5EF4-FFF2-40B4-BE49-F238E27FC236}">
                <a16:creationId xmlns:a16="http://schemas.microsoft.com/office/drawing/2014/main" id="{21288337-0745-4DB8-BCBB-B2C3787A7C0A}"/>
              </a:ext>
            </a:extLst>
          </p:cNvPr>
          <p:cNvSpPr>
            <a:spLocks noGrp="1"/>
          </p:cNvSpPr>
          <p:nvPr>
            <p:ph type="ftr" sz="quarter" idx="11"/>
          </p:nvPr>
        </p:nvSpPr>
        <p:spPr/>
        <p:txBody>
          <a:bodyPr/>
          <a:lstStyle/>
          <a:p>
            <a:r>
              <a:rPr lang="en-US"/>
              <a:t>CSE 1071 Problem Solving using Computers (PSUC) - 2022</a:t>
            </a:r>
            <a:endParaRPr lang="en-IN"/>
          </a:p>
        </p:txBody>
      </p:sp>
      <p:sp>
        <p:nvSpPr>
          <p:cNvPr id="7" name="Slide Number Placeholder 6">
            <a:extLst>
              <a:ext uri="{FF2B5EF4-FFF2-40B4-BE49-F238E27FC236}">
                <a16:creationId xmlns:a16="http://schemas.microsoft.com/office/drawing/2014/main" id="{73C57A4B-F2B7-413C-B502-1F67C91059BC}"/>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3622739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25BA4-0615-4F7C-873A-1CE0AB72021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E65B24-BF8C-46F6-860A-5854376578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755C70-C911-4814-925A-E28281B680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B632A8-B556-4ADA-B8D9-24C84CAD7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E47CDF-2C21-477A-9E4F-D478C9090B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E70FE3E-BEF0-4D27-86EA-E7C127572570}"/>
              </a:ext>
            </a:extLst>
          </p:cNvPr>
          <p:cNvSpPr>
            <a:spLocks noGrp="1"/>
          </p:cNvSpPr>
          <p:nvPr>
            <p:ph type="dt" sz="half" idx="10"/>
          </p:nvPr>
        </p:nvSpPr>
        <p:spPr/>
        <p:txBody>
          <a:bodyPr/>
          <a:lstStyle/>
          <a:p>
            <a:fld id="{10E4DDEF-DB38-4EB1-BF89-1F24B2FA0763}" type="datetime1">
              <a:rPr lang="en-IN" smtClean="0"/>
              <a:t>03-01-2024</a:t>
            </a:fld>
            <a:endParaRPr lang="en-IN"/>
          </a:p>
        </p:txBody>
      </p:sp>
      <p:sp>
        <p:nvSpPr>
          <p:cNvPr id="8" name="Footer Placeholder 7">
            <a:extLst>
              <a:ext uri="{FF2B5EF4-FFF2-40B4-BE49-F238E27FC236}">
                <a16:creationId xmlns:a16="http://schemas.microsoft.com/office/drawing/2014/main" id="{238335C4-93B3-4934-8FAB-308E4C473A30}"/>
              </a:ext>
            </a:extLst>
          </p:cNvPr>
          <p:cNvSpPr>
            <a:spLocks noGrp="1"/>
          </p:cNvSpPr>
          <p:nvPr>
            <p:ph type="ftr" sz="quarter" idx="11"/>
          </p:nvPr>
        </p:nvSpPr>
        <p:spPr/>
        <p:txBody>
          <a:bodyPr/>
          <a:lstStyle/>
          <a:p>
            <a:r>
              <a:rPr lang="en-US"/>
              <a:t>CSE 1071 Problem Solving using Computers (PSUC) - 2022</a:t>
            </a:r>
            <a:endParaRPr lang="en-IN"/>
          </a:p>
        </p:txBody>
      </p:sp>
      <p:sp>
        <p:nvSpPr>
          <p:cNvPr id="9" name="Slide Number Placeholder 8">
            <a:extLst>
              <a:ext uri="{FF2B5EF4-FFF2-40B4-BE49-F238E27FC236}">
                <a16:creationId xmlns:a16="http://schemas.microsoft.com/office/drawing/2014/main" id="{6CA261A2-2E89-45BF-9912-25CADFD24661}"/>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3095447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0D8C8-DCFC-42DE-B589-797097CE73F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8FAD1B-25A8-401B-A470-BB8F690D2F79}"/>
              </a:ext>
            </a:extLst>
          </p:cNvPr>
          <p:cNvSpPr>
            <a:spLocks noGrp="1"/>
          </p:cNvSpPr>
          <p:nvPr>
            <p:ph type="dt" sz="half" idx="10"/>
          </p:nvPr>
        </p:nvSpPr>
        <p:spPr/>
        <p:txBody>
          <a:bodyPr/>
          <a:lstStyle/>
          <a:p>
            <a:fld id="{B0A31D8B-6C7B-4A48-9423-03E4AA71C76D}" type="datetime1">
              <a:rPr lang="en-IN" smtClean="0"/>
              <a:t>03-01-2024</a:t>
            </a:fld>
            <a:endParaRPr lang="en-IN"/>
          </a:p>
        </p:txBody>
      </p:sp>
      <p:sp>
        <p:nvSpPr>
          <p:cNvPr id="4" name="Footer Placeholder 3">
            <a:extLst>
              <a:ext uri="{FF2B5EF4-FFF2-40B4-BE49-F238E27FC236}">
                <a16:creationId xmlns:a16="http://schemas.microsoft.com/office/drawing/2014/main" id="{B308D88C-4868-4C00-B069-222F73C23D52}"/>
              </a:ext>
            </a:extLst>
          </p:cNvPr>
          <p:cNvSpPr>
            <a:spLocks noGrp="1"/>
          </p:cNvSpPr>
          <p:nvPr>
            <p:ph type="ftr" sz="quarter" idx="11"/>
          </p:nvPr>
        </p:nvSpPr>
        <p:spPr/>
        <p:txBody>
          <a:bodyPr/>
          <a:lstStyle/>
          <a:p>
            <a:r>
              <a:rPr lang="en-US"/>
              <a:t>CSE 1071 Problem Solving using Computers (PSUC) - 2022</a:t>
            </a:r>
            <a:endParaRPr lang="en-IN"/>
          </a:p>
        </p:txBody>
      </p:sp>
      <p:sp>
        <p:nvSpPr>
          <p:cNvPr id="5" name="Slide Number Placeholder 4">
            <a:extLst>
              <a:ext uri="{FF2B5EF4-FFF2-40B4-BE49-F238E27FC236}">
                <a16:creationId xmlns:a16="http://schemas.microsoft.com/office/drawing/2014/main" id="{3EEB5A61-237C-4FD4-82DC-2C14D4AF239C}"/>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207777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B215D0-8CE4-4634-A3FA-8B102DFCB01C}"/>
              </a:ext>
            </a:extLst>
          </p:cNvPr>
          <p:cNvSpPr>
            <a:spLocks noGrp="1"/>
          </p:cNvSpPr>
          <p:nvPr>
            <p:ph type="dt" sz="half" idx="10"/>
          </p:nvPr>
        </p:nvSpPr>
        <p:spPr/>
        <p:txBody>
          <a:bodyPr/>
          <a:lstStyle/>
          <a:p>
            <a:fld id="{F5DB4A5E-6AB6-496C-85F0-1D5A71CBA3E6}" type="datetime1">
              <a:rPr lang="en-IN" smtClean="0"/>
              <a:t>03-01-2024</a:t>
            </a:fld>
            <a:endParaRPr lang="en-IN"/>
          </a:p>
        </p:txBody>
      </p:sp>
      <p:sp>
        <p:nvSpPr>
          <p:cNvPr id="3" name="Footer Placeholder 2">
            <a:extLst>
              <a:ext uri="{FF2B5EF4-FFF2-40B4-BE49-F238E27FC236}">
                <a16:creationId xmlns:a16="http://schemas.microsoft.com/office/drawing/2014/main" id="{9ECC80B2-EC71-4848-8516-94910D35E309}"/>
              </a:ext>
            </a:extLst>
          </p:cNvPr>
          <p:cNvSpPr>
            <a:spLocks noGrp="1"/>
          </p:cNvSpPr>
          <p:nvPr>
            <p:ph type="ftr" sz="quarter" idx="11"/>
          </p:nvPr>
        </p:nvSpPr>
        <p:spPr/>
        <p:txBody>
          <a:bodyPr/>
          <a:lstStyle/>
          <a:p>
            <a:r>
              <a:rPr lang="en-US"/>
              <a:t>CSE 1071 Problem Solving using Computers (PSUC) - 2022</a:t>
            </a:r>
            <a:endParaRPr lang="en-IN"/>
          </a:p>
        </p:txBody>
      </p:sp>
      <p:sp>
        <p:nvSpPr>
          <p:cNvPr id="4" name="Slide Number Placeholder 3">
            <a:extLst>
              <a:ext uri="{FF2B5EF4-FFF2-40B4-BE49-F238E27FC236}">
                <a16:creationId xmlns:a16="http://schemas.microsoft.com/office/drawing/2014/main" id="{0194BB75-7581-4616-954C-12FD6B12F3B0}"/>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1314445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6ADD6-0EDC-410D-B6A9-C0379C90A7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7699FBF-7F3F-496B-8533-E5759A0FFD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7CF0088-0DCF-454C-BCA0-E08A6B5CE6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1AFB6B-25DA-4495-8891-E5462B4A1E16}"/>
              </a:ext>
            </a:extLst>
          </p:cNvPr>
          <p:cNvSpPr>
            <a:spLocks noGrp="1"/>
          </p:cNvSpPr>
          <p:nvPr>
            <p:ph type="dt" sz="half" idx="10"/>
          </p:nvPr>
        </p:nvSpPr>
        <p:spPr/>
        <p:txBody>
          <a:bodyPr/>
          <a:lstStyle/>
          <a:p>
            <a:fld id="{B64BB209-522B-490B-B10E-94AAF42A0AE4}" type="datetime1">
              <a:rPr lang="en-IN" smtClean="0"/>
              <a:t>03-01-2024</a:t>
            </a:fld>
            <a:endParaRPr lang="en-IN"/>
          </a:p>
        </p:txBody>
      </p:sp>
      <p:sp>
        <p:nvSpPr>
          <p:cNvPr id="6" name="Footer Placeholder 5">
            <a:extLst>
              <a:ext uri="{FF2B5EF4-FFF2-40B4-BE49-F238E27FC236}">
                <a16:creationId xmlns:a16="http://schemas.microsoft.com/office/drawing/2014/main" id="{0FB4F900-E8EB-4577-9FD7-128CBF6F5941}"/>
              </a:ext>
            </a:extLst>
          </p:cNvPr>
          <p:cNvSpPr>
            <a:spLocks noGrp="1"/>
          </p:cNvSpPr>
          <p:nvPr>
            <p:ph type="ftr" sz="quarter" idx="11"/>
          </p:nvPr>
        </p:nvSpPr>
        <p:spPr/>
        <p:txBody>
          <a:bodyPr/>
          <a:lstStyle/>
          <a:p>
            <a:r>
              <a:rPr lang="en-US"/>
              <a:t>CSE 1071 Problem Solving using Computers (PSUC) - 2022</a:t>
            </a:r>
            <a:endParaRPr lang="en-IN"/>
          </a:p>
        </p:txBody>
      </p:sp>
      <p:sp>
        <p:nvSpPr>
          <p:cNvPr id="7" name="Slide Number Placeholder 6">
            <a:extLst>
              <a:ext uri="{FF2B5EF4-FFF2-40B4-BE49-F238E27FC236}">
                <a16:creationId xmlns:a16="http://schemas.microsoft.com/office/drawing/2014/main" id="{C17CEBB4-9CD1-4A50-A6DB-D2C7080B3057}"/>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2141337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F0DBF-BFAB-445E-ACC4-A51766A082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E32BF54-ABF7-4365-A8C2-EEA4EEFAD6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6E26C747-C8FB-4EF1-8EDF-C5EE17A2F1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A1E11C-023F-4B6F-B57A-7042D7302F28}"/>
              </a:ext>
            </a:extLst>
          </p:cNvPr>
          <p:cNvSpPr>
            <a:spLocks noGrp="1"/>
          </p:cNvSpPr>
          <p:nvPr>
            <p:ph type="dt" sz="half" idx="10"/>
          </p:nvPr>
        </p:nvSpPr>
        <p:spPr/>
        <p:txBody>
          <a:bodyPr/>
          <a:lstStyle/>
          <a:p>
            <a:fld id="{173969A5-C4A4-4010-A671-DCC1AE13F804}" type="datetime1">
              <a:rPr lang="en-IN" smtClean="0"/>
              <a:t>03-01-2024</a:t>
            </a:fld>
            <a:endParaRPr lang="en-IN"/>
          </a:p>
        </p:txBody>
      </p:sp>
      <p:sp>
        <p:nvSpPr>
          <p:cNvPr id="6" name="Footer Placeholder 5">
            <a:extLst>
              <a:ext uri="{FF2B5EF4-FFF2-40B4-BE49-F238E27FC236}">
                <a16:creationId xmlns:a16="http://schemas.microsoft.com/office/drawing/2014/main" id="{EE397CEB-9DD0-4B74-BE5C-FB70FBC2DBD6}"/>
              </a:ext>
            </a:extLst>
          </p:cNvPr>
          <p:cNvSpPr>
            <a:spLocks noGrp="1"/>
          </p:cNvSpPr>
          <p:nvPr>
            <p:ph type="ftr" sz="quarter" idx="11"/>
          </p:nvPr>
        </p:nvSpPr>
        <p:spPr/>
        <p:txBody>
          <a:bodyPr/>
          <a:lstStyle/>
          <a:p>
            <a:r>
              <a:rPr lang="en-US"/>
              <a:t>CSE 1071 Problem Solving using Computers (PSUC) - 2022</a:t>
            </a:r>
            <a:endParaRPr lang="en-IN"/>
          </a:p>
        </p:txBody>
      </p:sp>
      <p:sp>
        <p:nvSpPr>
          <p:cNvPr id="7" name="Slide Number Placeholder 6">
            <a:extLst>
              <a:ext uri="{FF2B5EF4-FFF2-40B4-BE49-F238E27FC236}">
                <a16:creationId xmlns:a16="http://schemas.microsoft.com/office/drawing/2014/main" id="{8B47B171-7A1B-4CAC-8C40-29BB69356AEF}"/>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2540925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24F1F-5027-4E1F-89BF-075A57C93B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8E24CC-301E-4D8A-BFC7-3ED1E685B2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969E63-03AB-4658-B659-F96379FA458F}"/>
              </a:ext>
            </a:extLst>
          </p:cNvPr>
          <p:cNvSpPr>
            <a:spLocks noGrp="1"/>
          </p:cNvSpPr>
          <p:nvPr>
            <p:ph type="dt" sz="half" idx="10"/>
          </p:nvPr>
        </p:nvSpPr>
        <p:spPr/>
        <p:txBody>
          <a:bodyPr/>
          <a:lstStyle/>
          <a:p>
            <a:fld id="{27EA9490-AED4-4E2D-B7CB-4C3EFA66AF18}" type="datetime1">
              <a:rPr lang="en-IN" smtClean="0"/>
              <a:t>03-01-2024</a:t>
            </a:fld>
            <a:endParaRPr lang="en-IN"/>
          </a:p>
        </p:txBody>
      </p:sp>
      <p:sp>
        <p:nvSpPr>
          <p:cNvPr id="5" name="Footer Placeholder 4">
            <a:extLst>
              <a:ext uri="{FF2B5EF4-FFF2-40B4-BE49-F238E27FC236}">
                <a16:creationId xmlns:a16="http://schemas.microsoft.com/office/drawing/2014/main" id="{97427C7C-EA7C-43D7-9C98-4953DDD98630}"/>
              </a:ext>
            </a:extLst>
          </p:cNvPr>
          <p:cNvSpPr>
            <a:spLocks noGrp="1"/>
          </p:cNvSpPr>
          <p:nvPr>
            <p:ph type="ftr" sz="quarter" idx="11"/>
          </p:nvPr>
        </p:nvSpPr>
        <p:spPr/>
        <p:txBody>
          <a:bodyPr/>
          <a:lstStyle/>
          <a:p>
            <a:r>
              <a:rPr lang="en-US"/>
              <a:t>CSE 1071 Problem Solving using Computers (PSUC) - 2022</a:t>
            </a:r>
            <a:endParaRPr lang="en-IN"/>
          </a:p>
        </p:txBody>
      </p:sp>
      <p:sp>
        <p:nvSpPr>
          <p:cNvPr id="6" name="Slide Number Placeholder 5">
            <a:extLst>
              <a:ext uri="{FF2B5EF4-FFF2-40B4-BE49-F238E27FC236}">
                <a16:creationId xmlns:a16="http://schemas.microsoft.com/office/drawing/2014/main" id="{1C2FE119-F33A-43B2-ACCD-2210AE6CAA3B}"/>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390201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BDDC8D-D96B-4CF8-B742-313A77CEEA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82A008-CAC5-4BD4-B085-79537F13EA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EAE035-5983-430E-9A6F-966CA34E86D8}"/>
              </a:ext>
            </a:extLst>
          </p:cNvPr>
          <p:cNvSpPr>
            <a:spLocks noGrp="1"/>
          </p:cNvSpPr>
          <p:nvPr>
            <p:ph type="dt" sz="half" idx="10"/>
          </p:nvPr>
        </p:nvSpPr>
        <p:spPr/>
        <p:txBody>
          <a:bodyPr/>
          <a:lstStyle/>
          <a:p>
            <a:fld id="{DC056EF0-D36F-4308-98D7-88A19A62B56B}" type="datetime1">
              <a:rPr lang="en-IN" smtClean="0"/>
              <a:t>03-01-2024</a:t>
            </a:fld>
            <a:endParaRPr lang="en-IN"/>
          </a:p>
        </p:txBody>
      </p:sp>
      <p:sp>
        <p:nvSpPr>
          <p:cNvPr id="5" name="Footer Placeholder 4">
            <a:extLst>
              <a:ext uri="{FF2B5EF4-FFF2-40B4-BE49-F238E27FC236}">
                <a16:creationId xmlns:a16="http://schemas.microsoft.com/office/drawing/2014/main" id="{EA0E1584-0A77-4AB0-ABA1-EF7A9661F127}"/>
              </a:ext>
            </a:extLst>
          </p:cNvPr>
          <p:cNvSpPr>
            <a:spLocks noGrp="1"/>
          </p:cNvSpPr>
          <p:nvPr>
            <p:ph type="ftr" sz="quarter" idx="11"/>
          </p:nvPr>
        </p:nvSpPr>
        <p:spPr/>
        <p:txBody>
          <a:bodyPr/>
          <a:lstStyle/>
          <a:p>
            <a:r>
              <a:rPr lang="en-US"/>
              <a:t>CSE 1071 Problem Solving using Computers (PSUC) - 2022</a:t>
            </a:r>
            <a:endParaRPr lang="en-IN"/>
          </a:p>
        </p:txBody>
      </p:sp>
      <p:sp>
        <p:nvSpPr>
          <p:cNvPr id="6" name="Slide Number Placeholder 5">
            <a:extLst>
              <a:ext uri="{FF2B5EF4-FFF2-40B4-BE49-F238E27FC236}">
                <a16:creationId xmlns:a16="http://schemas.microsoft.com/office/drawing/2014/main" id="{D0883395-9EB0-45A5-9312-7EF200F5F2AA}"/>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893628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FE960E-A823-46A1-B92C-C835BEC3D453}"/>
              </a:ext>
            </a:extLst>
          </p:cNvPr>
          <p:cNvSpPr>
            <a:spLocks noGrp="1"/>
          </p:cNvSpPr>
          <p:nvPr>
            <p:ph type="title"/>
          </p:nvPr>
        </p:nvSpPr>
        <p:spPr>
          <a:xfrm>
            <a:off x="838199" y="515254"/>
            <a:ext cx="10994409" cy="628310"/>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65BB4212-C96E-427C-881B-D2A4076563BE}"/>
              </a:ext>
            </a:extLst>
          </p:cNvPr>
          <p:cNvSpPr>
            <a:spLocks noGrp="1"/>
          </p:cNvSpPr>
          <p:nvPr>
            <p:ph type="body" idx="1"/>
          </p:nvPr>
        </p:nvSpPr>
        <p:spPr>
          <a:xfrm>
            <a:off x="838200" y="1269242"/>
            <a:ext cx="10994408" cy="490772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0070C667-5E2D-43CB-81C1-2C89384C16E8}"/>
              </a:ext>
            </a:extLst>
          </p:cNvPr>
          <p:cNvSpPr>
            <a:spLocks noGrp="1"/>
          </p:cNvSpPr>
          <p:nvPr>
            <p:ph type="dt" sz="half" idx="2"/>
          </p:nvPr>
        </p:nvSpPr>
        <p:spPr>
          <a:xfrm>
            <a:off x="838200" y="6356350"/>
            <a:ext cx="1154373" cy="365125"/>
          </a:xfrm>
          <a:prstGeom prst="rect">
            <a:avLst/>
          </a:prstGeom>
        </p:spPr>
        <p:txBody>
          <a:bodyPr vert="horz" lIns="91440" tIns="45720" rIns="91440" bIns="45720" rtlCol="0" anchor="ctr"/>
          <a:lstStyle>
            <a:lvl1pPr algn="l">
              <a:defRPr sz="1200" b="1">
                <a:solidFill>
                  <a:schemeClr val="tx1">
                    <a:tint val="75000"/>
                  </a:schemeClr>
                </a:solidFill>
              </a:defRPr>
            </a:lvl1pPr>
          </a:lstStyle>
          <a:p>
            <a:fld id="{F0660F99-FD19-4254-93A5-0D2ED18F2E12}" type="datetime1">
              <a:rPr lang="en-IN" smtClean="0"/>
              <a:t>03-01-2024</a:t>
            </a:fld>
            <a:endParaRPr lang="en-IN"/>
          </a:p>
        </p:txBody>
      </p:sp>
      <p:sp>
        <p:nvSpPr>
          <p:cNvPr id="5" name="Footer Placeholder 4">
            <a:extLst>
              <a:ext uri="{FF2B5EF4-FFF2-40B4-BE49-F238E27FC236}">
                <a16:creationId xmlns:a16="http://schemas.microsoft.com/office/drawing/2014/main" id="{8430E833-EA5E-4A50-A759-535E45CBDD5B}"/>
              </a:ext>
            </a:extLst>
          </p:cNvPr>
          <p:cNvSpPr>
            <a:spLocks noGrp="1"/>
          </p:cNvSpPr>
          <p:nvPr>
            <p:ph type="ftr" sz="quarter" idx="3"/>
          </p:nvPr>
        </p:nvSpPr>
        <p:spPr>
          <a:xfrm>
            <a:off x="2210937" y="6356350"/>
            <a:ext cx="8775511" cy="365125"/>
          </a:xfrm>
          <a:prstGeom prst="rect">
            <a:avLst/>
          </a:prstGeom>
        </p:spPr>
        <p:txBody>
          <a:bodyPr vert="horz" lIns="91440" tIns="45720" rIns="91440" bIns="45720" rtlCol="0" anchor="ctr"/>
          <a:lstStyle>
            <a:lvl1pPr algn="ctr">
              <a:defRPr sz="1200" b="1">
                <a:solidFill>
                  <a:schemeClr val="tx1">
                    <a:tint val="75000"/>
                  </a:schemeClr>
                </a:solidFill>
              </a:defRPr>
            </a:lvl1pPr>
          </a:lstStyle>
          <a:p>
            <a:r>
              <a:rPr lang="en-US"/>
              <a:t>CSE 1071 Problem Solving using Computers (PSUC) - 2022</a:t>
            </a:r>
            <a:endParaRPr lang="en-IN" dirty="0"/>
          </a:p>
        </p:txBody>
      </p:sp>
      <p:sp>
        <p:nvSpPr>
          <p:cNvPr id="6" name="Slide Number Placeholder 5">
            <a:extLst>
              <a:ext uri="{FF2B5EF4-FFF2-40B4-BE49-F238E27FC236}">
                <a16:creationId xmlns:a16="http://schemas.microsoft.com/office/drawing/2014/main" id="{DFD06493-223E-484B-B535-A556B9BBAF46}"/>
              </a:ext>
            </a:extLst>
          </p:cNvPr>
          <p:cNvSpPr>
            <a:spLocks noGrp="1"/>
          </p:cNvSpPr>
          <p:nvPr>
            <p:ph type="sldNum" sz="quarter" idx="4"/>
          </p:nvPr>
        </p:nvSpPr>
        <p:spPr>
          <a:xfrm>
            <a:off x="11353800" y="6356350"/>
            <a:ext cx="478808" cy="365125"/>
          </a:xfrm>
          <a:prstGeom prst="rect">
            <a:avLst/>
          </a:prstGeom>
        </p:spPr>
        <p:txBody>
          <a:bodyPr vert="horz" lIns="91440" tIns="45720" rIns="91440" bIns="45720" rtlCol="0" anchor="ctr"/>
          <a:lstStyle>
            <a:lvl1pPr algn="r">
              <a:defRPr sz="1200" b="1">
                <a:solidFill>
                  <a:schemeClr val="tx1">
                    <a:tint val="75000"/>
                  </a:schemeClr>
                </a:solidFill>
              </a:defRPr>
            </a:lvl1pPr>
          </a:lstStyle>
          <a:p>
            <a:fld id="{24BEA51C-495D-44A2-B925-9AAC4BD9F0A2}" type="slidenum">
              <a:rPr lang="en-IN" smtClean="0"/>
              <a:pPr/>
              <a:t>‹#›</a:t>
            </a:fld>
            <a:endParaRPr lang="en-IN"/>
          </a:p>
        </p:txBody>
      </p:sp>
      <p:pic>
        <p:nvPicPr>
          <p:cNvPr id="8" name="Picture 7" descr="A screenshot of a cell phone&#10;&#10;Description generated with high confidence">
            <a:extLst>
              <a:ext uri="{FF2B5EF4-FFF2-40B4-BE49-F238E27FC236}">
                <a16:creationId xmlns:a16="http://schemas.microsoft.com/office/drawing/2014/main" id="{18E97DF4-2C3E-4424-8C33-C417831B4623}"/>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424380" y="40944"/>
            <a:ext cx="4726675" cy="628309"/>
          </a:xfrm>
          <a:prstGeom prst="rect">
            <a:avLst/>
          </a:prstGeom>
        </p:spPr>
      </p:pic>
    </p:spTree>
    <p:extLst>
      <p:ext uri="{BB962C8B-B14F-4D97-AF65-F5344CB8AC3E}">
        <p14:creationId xmlns:p14="http://schemas.microsoft.com/office/powerpoint/2010/main" val="11957353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0AF3C-F54C-4FA7-AA9E-7DE3B2209E70}"/>
              </a:ext>
            </a:extLst>
          </p:cNvPr>
          <p:cNvSpPr>
            <a:spLocks noGrp="1"/>
          </p:cNvSpPr>
          <p:nvPr>
            <p:ph type="ctrTitle"/>
          </p:nvPr>
        </p:nvSpPr>
        <p:spPr/>
        <p:txBody>
          <a:bodyPr/>
          <a:lstStyle/>
          <a:p>
            <a:r>
              <a:rPr lang="en-US" dirty="0"/>
              <a:t>Introduction</a:t>
            </a:r>
          </a:p>
        </p:txBody>
      </p:sp>
      <p:sp>
        <p:nvSpPr>
          <p:cNvPr id="3" name="Subtitle 2">
            <a:extLst>
              <a:ext uri="{FF2B5EF4-FFF2-40B4-BE49-F238E27FC236}">
                <a16:creationId xmlns:a16="http://schemas.microsoft.com/office/drawing/2014/main" id="{A43064CB-650C-4664-B123-35D2F0426658}"/>
              </a:ext>
            </a:extLst>
          </p:cNvPr>
          <p:cNvSpPr>
            <a:spLocks noGrp="1"/>
          </p:cNvSpPr>
          <p:nvPr>
            <p:ph type="subTitle" idx="1"/>
          </p:nvPr>
        </p:nvSpPr>
        <p:spPr/>
        <p:txBody>
          <a:bodyPr/>
          <a:lstStyle/>
          <a:p>
            <a:endParaRPr lang="en-US" b="1" dirty="0"/>
          </a:p>
          <a:p>
            <a:endParaRPr lang="en-IN" dirty="0"/>
          </a:p>
        </p:txBody>
      </p:sp>
    </p:spTree>
    <p:extLst>
      <p:ext uri="{BB962C8B-B14F-4D97-AF65-F5344CB8AC3E}">
        <p14:creationId xmlns:p14="http://schemas.microsoft.com/office/powerpoint/2010/main" val="1483207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Objectives</a:t>
            </a:r>
          </a:p>
        </p:txBody>
      </p:sp>
      <p:sp>
        <p:nvSpPr>
          <p:cNvPr id="3" name="Content Placeholder 2"/>
          <p:cNvSpPr>
            <a:spLocks noGrp="1"/>
          </p:cNvSpPr>
          <p:nvPr>
            <p:ph idx="1"/>
          </p:nvPr>
        </p:nvSpPr>
        <p:spPr/>
        <p:txBody>
          <a:bodyPr/>
          <a:lstStyle/>
          <a:p>
            <a:pPr marL="0" indent="0">
              <a:buNone/>
            </a:pPr>
            <a:r>
              <a:rPr lang="en-US" dirty="0"/>
              <a:t>To learn and appreciate the following concepts:</a:t>
            </a:r>
          </a:p>
          <a:p>
            <a:pPr marL="0" indent="0">
              <a:buNone/>
            </a:pPr>
            <a:endParaRPr lang="en-US" dirty="0"/>
          </a:p>
          <a:p>
            <a:pPr>
              <a:buFont typeface="Wingdings" pitchFamily="2" charset="2"/>
              <a:buChar char="ü"/>
            </a:pPr>
            <a:r>
              <a:rPr lang="en-US" dirty="0"/>
              <a:t>Introduction </a:t>
            </a:r>
          </a:p>
          <a:p>
            <a:pPr>
              <a:buFont typeface="Wingdings" pitchFamily="2" charset="2"/>
              <a:buChar char="ü"/>
            </a:pPr>
            <a:r>
              <a:rPr lang="en-US" dirty="0"/>
              <a:t>Fundamentals of Algorithmic Problem Solving</a:t>
            </a:r>
          </a:p>
          <a:p>
            <a:pPr>
              <a:buFont typeface="Wingdings" pitchFamily="2" charset="2"/>
              <a:buChar char="ü"/>
            </a:pPr>
            <a:r>
              <a:rPr lang="en-US" dirty="0"/>
              <a:t>Important Problem Types</a:t>
            </a:r>
          </a:p>
          <a:p>
            <a:pPr>
              <a:buFont typeface="Wingdings" pitchFamily="2" charset="2"/>
              <a:buChar char="ü"/>
            </a:pPr>
            <a:r>
              <a:rPr lang="en-US" dirty="0"/>
              <a:t>Fundamentals Data Structures</a:t>
            </a:r>
          </a:p>
        </p:txBody>
      </p:sp>
      <p:sp>
        <p:nvSpPr>
          <p:cNvPr id="4" name="Date Placeholder 3"/>
          <p:cNvSpPr>
            <a:spLocks noGrp="1"/>
          </p:cNvSpPr>
          <p:nvPr>
            <p:ph type="dt" sz="half" idx="10"/>
          </p:nvPr>
        </p:nvSpPr>
        <p:spPr/>
        <p:txBody>
          <a:bodyPr/>
          <a:lstStyle/>
          <a:p>
            <a:fld id="{3C6C83D2-F39D-428E-88CC-6443E0DDAA8C}" type="datetime1">
              <a:rPr lang="en-IN" smtClean="0"/>
              <a:t>03-01-2024</a:t>
            </a:fld>
            <a:endParaRPr lang="en-IN"/>
          </a:p>
        </p:txBody>
      </p:sp>
      <p:sp>
        <p:nvSpPr>
          <p:cNvPr id="6" name="Slide Number Placeholder 5"/>
          <p:cNvSpPr>
            <a:spLocks noGrp="1"/>
          </p:cNvSpPr>
          <p:nvPr>
            <p:ph type="sldNum" sz="quarter" idx="12"/>
          </p:nvPr>
        </p:nvSpPr>
        <p:spPr/>
        <p:txBody>
          <a:bodyPr/>
          <a:lstStyle/>
          <a:p>
            <a:fld id="{24BEA51C-495D-44A2-B925-9AAC4BD9F0A2}" type="slidenum">
              <a:rPr lang="en-IN" smtClean="0"/>
              <a:t>2</a:t>
            </a:fld>
            <a:endParaRPr lang="en-IN"/>
          </a:p>
        </p:txBody>
      </p:sp>
      <p:sp>
        <p:nvSpPr>
          <p:cNvPr id="8" name="Footer Placeholder 4">
            <a:extLst>
              <a:ext uri="{FF2B5EF4-FFF2-40B4-BE49-F238E27FC236}">
                <a16:creationId xmlns:a16="http://schemas.microsoft.com/office/drawing/2014/main" id="{2DF012EA-7332-D87D-5032-026501A6D69A}"/>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677675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Session outcome</a:t>
            </a:r>
          </a:p>
        </p:txBody>
      </p:sp>
      <p:sp>
        <p:nvSpPr>
          <p:cNvPr id="3" name="Content Placeholder 2"/>
          <p:cNvSpPr>
            <a:spLocks noGrp="1"/>
          </p:cNvSpPr>
          <p:nvPr>
            <p:ph idx="1"/>
          </p:nvPr>
        </p:nvSpPr>
        <p:spPr/>
        <p:txBody>
          <a:bodyPr/>
          <a:lstStyle/>
          <a:p>
            <a:r>
              <a:rPr lang="en-US" dirty="0"/>
              <a:t>At the end of session the student will be able to understand:</a:t>
            </a:r>
          </a:p>
          <a:p>
            <a:endParaRPr lang="en-US" dirty="0"/>
          </a:p>
          <a:p>
            <a:pPr lvl="1"/>
            <a:r>
              <a:rPr lang="en-US" dirty="0"/>
              <a:t>What is algorithm</a:t>
            </a:r>
          </a:p>
          <a:p>
            <a:pPr lvl="1"/>
            <a:endParaRPr lang="en-US" dirty="0"/>
          </a:p>
          <a:p>
            <a:pPr lvl="1"/>
            <a:r>
              <a:rPr lang="en-US" dirty="0"/>
              <a:t>Understanding problem</a:t>
            </a:r>
          </a:p>
          <a:p>
            <a:pPr lvl="1"/>
            <a:endParaRPr lang="en-US" dirty="0"/>
          </a:p>
          <a:p>
            <a:pPr lvl="1"/>
            <a:r>
              <a:rPr lang="en-US" dirty="0"/>
              <a:t>Importance of algorithmic problem solving, problem types </a:t>
            </a:r>
          </a:p>
          <a:p>
            <a:pPr lvl="1"/>
            <a:endParaRPr lang="en-US" dirty="0"/>
          </a:p>
          <a:p>
            <a:pPr lvl="1"/>
            <a:r>
              <a:rPr lang="en-US" dirty="0"/>
              <a:t>Fundamental Data Structures</a:t>
            </a:r>
          </a:p>
          <a:p>
            <a:endParaRPr lang="en-US" dirty="0"/>
          </a:p>
        </p:txBody>
      </p:sp>
      <p:sp>
        <p:nvSpPr>
          <p:cNvPr id="4" name="Date Placeholder 3"/>
          <p:cNvSpPr>
            <a:spLocks noGrp="1"/>
          </p:cNvSpPr>
          <p:nvPr>
            <p:ph type="dt" sz="half" idx="10"/>
          </p:nvPr>
        </p:nvSpPr>
        <p:spPr/>
        <p:txBody>
          <a:bodyPr/>
          <a:lstStyle/>
          <a:p>
            <a:fld id="{1D6A19EA-F200-456E-9E7F-B058E04F908E}" type="datetime1">
              <a:rPr lang="en-IN" smtClean="0"/>
              <a:t>03-01-2024</a:t>
            </a:fld>
            <a:endParaRPr lang="en-IN"/>
          </a:p>
        </p:txBody>
      </p:sp>
      <p:sp>
        <p:nvSpPr>
          <p:cNvPr id="5" name="Footer Placeholder 4"/>
          <p:cNvSpPr>
            <a:spLocks noGrp="1"/>
          </p:cNvSpPr>
          <p:nvPr>
            <p:ph type="ftr" sz="quarter" idx="11"/>
          </p:nvPr>
        </p:nvSpPr>
        <p:spPr/>
        <p:txBody>
          <a:bodyPr/>
          <a:lstStyle/>
          <a:p>
            <a:r>
              <a:rPr lang="en-US" dirty="0"/>
              <a:t>IT_2222 Design and Analysis of Algorithms- 2024</a:t>
            </a:r>
            <a:endParaRPr lang="en-IN" dirty="0"/>
          </a:p>
        </p:txBody>
      </p:sp>
      <p:sp>
        <p:nvSpPr>
          <p:cNvPr id="6" name="Slide Number Placeholder 5"/>
          <p:cNvSpPr>
            <a:spLocks noGrp="1"/>
          </p:cNvSpPr>
          <p:nvPr>
            <p:ph type="sldNum" sz="quarter" idx="12"/>
          </p:nvPr>
        </p:nvSpPr>
        <p:spPr/>
        <p:txBody>
          <a:bodyPr/>
          <a:lstStyle/>
          <a:p>
            <a:fld id="{24BEA51C-495D-44A2-B925-9AAC4BD9F0A2}" type="slidenum">
              <a:rPr lang="en-IN" smtClean="0"/>
              <a:t>3</a:t>
            </a:fld>
            <a:endParaRPr lang="en-IN"/>
          </a:p>
        </p:txBody>
      </p:sp>
    </p:spTree>
    <p:extLst>
      <p:ext uri="{BB962C8B-B14F-4D97-AF65-F5344CB8AC3E}">
        <p14:creationId xmlns:p14="http://schemas.microsoft.com/office/powerpoint/2010/main" val="3401255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CC154BEF-1FDE-406F-8006-4DAA6ECCDF11}"/>
              </a:ext>
            </a:extLst>
          </p:cNvPr>
          <p:cNvSpPr>
            <a:spLocks noGrp="1" noChangeArrowheads="1"/>
          </p:cNvSpPr>
          <p:nvPr>
            <p:ph type="title"/>
          </p:nvPr>
        </p:nvSpPr>
        <p:spPr/>
        <p:txBody>
          <a:bodyPr>
            <a:normAutofit fontScale="90000"/>
          </a:bodyPr>
          <a:lstStyle/>
          <a:p>
            <a:pPr eaLnBrk="1" hangingPunct="1"/>
            <a:r>
              <a:rPr lang="en-US" altLang="en-US"/>
              <a:t>All algorithms must satisfy the following criteria:</a:t>
            </a:r>
            <a:endParaRPr lang="en-IN" altLang="en-US"/>
          </a:p>
        </p:txBody>
      </p:sp>
      <p:sp>
        <p:nvSpPr>
          <p:cNvPr id="8195" name="Content Placeholder 2">
            <a:extLst>
              <a:ext uri="{FF2B5EF4-FFF2-40B4-BE49-F238E27FC236}">
                <a16:creationId xmlns:a16="http://schemas.microsoft.com/office/drawing/2014/main" id="{2094AA51-8446-4AF0-9B93-29190B888C11}"/>
              </a:ext>
            </a:extLst>
          </p:cNvPr>
          <p:cNvSpPr>
            <a:spLocks noGrp="1" noChangeArrowheads="1"/>
          </p:cNvSpPr>
          <p:nvPr>
            <p:ph idx="1"/>
          </p:nvPr>
        </p:nvSpPr>
        <p:spPr/>
        <p:txBody>
          <a:bodyPr/>
          <a:lstStyle/>
          <a:p>
            <a:pPr eaLnBrk="1" hangingPunct="1"/>
            <a:r>
              <a:rPr lang="en-US" altLang="en-US" i="1" dirty="0">
                <a:solidFill>
                  <a:srgbClr val="FF0000"/>
                </a:solidFill>
              </a:rPr>
              <a:t>Input: </a:t>
            </a:r>
            <a:r>
              <a:rPr lang="en-US" altLang="en-US" dirty="0"/>
              <a:t>Zero or more quantities are externally supplied.</a:t>
            </a:r>
          </a:p>
          <a:p>
            <a:pPr eaLnBrk="1" hangingPunct="1"/>
            <a:endParaRPr lang="en-US" altLang="en-US" dirty="0"/>
          </a:p>
          <a:p>
            <a:pPr eaLnBrk="1" hangingPunct="1"/>
            <a:r>
              <a:rPr lang="en-US" altLang="en-US" i="1" dirty="0">
                <a:solidFill>
                  <a:srgbClr val="FF0000"/>
                </a:solidFill>
              </a:rPr>
              <a:t>Output: </a:t>
            </a:r>
            <a:r>
              <a:rPr lang="en-US" altLang="en-US" dirty="0"/>
              <a:t>At least one quantity is produced.</a:t>
            </a:r>
          </a:p>
          <a:p>
            <a:pPr eaLnBrk="1" hangingPunct="1"/>
            <a:endParaRPr lang="en-US" altLang="en-US" dirty="0"/>
          </a:p>
          <a:p>
            <a:pPr eaLnBrk="1" hangingPunct="1"/>
            <a:r>
              <a:rPr lang="en-US" altLang="en-US" i="1" dirty="0">
                <a:solidFill>
                  <a:srgbClr val="FF0000"/>
                </a:solidFill>
              </a:rPr>
              <a:t>Definiteness: </a:t>
            </a:r>
            <a:r>
              <a:rPr lang="en-US" altLang="en-US" dirty="0"/>
              <a:t>Each instruction is clear and unambiguous.</a:t>
            </a:r>
          </a:p>
          <a:p>
            <a:pPr eaLnBrk="1" hangingPunct="1"/>
            <a:endParaRPr lang="en-US" altLang="en-US" dirty="0"/>
          </a:p>
          <a:p>
            <a:pPr eaLnBrk="1" hangingPunct="1"/>
            <a:r>
              <a:rPr lang="en-US" altLang="en-US" i="1" dirty="0">
                <a:solidFill>
                  <a:srgbClr val="FF0000"/>
                </a:solidFill>
              </a:rPr>
              <a:t>Finiteness: </a:t>
            </a:r>
            <a:r>
              <a:rPr lang="en-US" altLang="en-US" dirty="0"/>
              <a:t>algorithm terminates after a finite number of steps.</a:t>
            </a:r>
          </a:p>
          <a:p>
            <a:pPr eaLnBrk="1" hangingPunct="1"/>
            <a:endParaRPr lang="en-US" altLang="en-US" dirty="0"/>
          </a:p>
          <a:p>
            <a:r>
              <a:rPr lang="en-US" altLang="en-US" i="1" dirty="0">
                <a:solidFill>
                  <a:srgbClr val="FF0000"/>
                </a:solidFill>
              </a:rPr>
              <a:t>Effectiveness: </a:t>
            </a:r>
            <a:r>
              <a:rPr lang="en-US" dirty="0"/>
              <a:t>Steps are sufficiently simple and basic</a:t>
            </a:r>
          </a:p>
          <a:p>
            <a:pPr eaLnBrk="1" hangingPunct="1"/>
            <a:endParaRPr lang="en-US" altLang="en-US" dirty="0"/>
          </a:p>
          <a:p>
            <a:pPr eaLnBrk="1" hangingPunct="1"/>
            <a:endParaRPr lang="en-IN" altLang="en-US" dirty="0"/>
          </a:p>
        </p:txBody>
      </p:sp>
      <p:sp>
        <p:nvSpPr>
          <p:cNvPr id="8196" name="Slide Number Placeholder 3">
            <a:extLst>
              <a:ext uri="{FF2B5EF4-FFF2-40B4-BE49-F238E27FC236}">
                <a16:creationId xmlns:a16="http://schemas.microsoft.com/office/drawing/2014/main" id="{1ACBB487-9EB8-41C1-AF12-04E26C73E4D7}"/>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63B148A-B5CA-44F0-8873-121700F327CB}" type="slidenum">
              <a:rPr lang="en-US" altLang="en-US">
                <a:latin typeface="Arial Black" panose="020B0A04020102020204" pitchFamily="34" charset="0"/>
              </a:rPr>
              <a:pPr/>
              <a:t>4</a:t>
            </a:fld>
            <a:endParaRPr lang="en-US" altLang="en-US">
              <a:latin typeface="Arial Black" panose="020B0A040201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6E2D0-3BC1-ECD9-107F-1B1C231FD15A}"/>
              </a:ext>
            </a:extLst>
          </p:cNvPr>
          <p:cNvSpPr>
            <a:spLocks noGrp="1"/>
          </p:cNvSpPr>
          <p:nvPr>
            <p:ph type="title"/>
          </p:nvPr>
        </p:nvSpPr>
        <p:spPr/>
        <p:txBody>
          <a:bodyPr>
            <a:normAutofit fontScale="90000"/>
          </a:bodyPr>
          <a:lstStyle/>
          <a:p>
            <a:r>
              <a:rPr lang="en-US" dirty="0"/>
              <a:t>Algorithm </a:t>
            </a:r>
            <a:endParaRPr lang="en-IN" dirty="0"/>
          </a:p>
        </p:txBody>
      </p:sp>
      <p:sp>
        <p:nvSpPr>
          <p:cNvPr id="3" name="Content Placeholder 2">
            <a:extLst>
              <a:ext uri="{FF2B5EF4-FFF2-40B4-BE49-F238E27FC236}">
                <a16:creationId xmlns:a16="http://schemas.microsoft.com/office/drawing/2014/main" id="{37EBB449-41F5-86AC-14DE-62188D5F456C}"/>
              </a:ext>
            </a:extLst>
          </p:cNvPr>
          <p:cNvSpPr>
            <a:spLocks noGrp="1"/>
          </p:cNvSpPr>
          <p:nvPr>
            <p:ph idx="1"/>
          </p:nvPr>
        </p:nvSpPr>
        <p:spPr>
          <a:xfrm>
            <a:off x="633572" y="854643"/>
            <a:ext cx="10994408" cy="4907721"/>
          </a:xfrm>
        </p:spPr>
        <p:txBody>
          <a:bodyPr/>
          <a:lstStyle/>
          <a:p>
            <a:endParaRPr lang="en-US" altLang="zh-TW" dirty="0">
              <a:ea typeface="新細明體" pitchFamily="18" charset="-120"/>
            </a:endParaRPr>
          </a:p>
          <a:p>
            <a:r>
              <a:rPr lang="en-US" altLang="zh-TW" dirty="0">
                <a:ea typeface="新細明體" pitchFamily="18" charset="-120"/>
              </a:rPr>
              <a:t>An </a:t>
            </a:r>
            <a:r>
              <a:rPr lang="en-US" altLang="zh-TW" b="1" dirty="0">
                <a:ea typeface="新細明體" pitchFamily="18" charset="-120"/>
              </a:rPr>
              <a:t>algorithm</a:t>
            </a:r>
            <a:r>
              <a:rPr lang="en-US" altLang="zh-TW" dirty="0">
                <a:ea typeface="新細明體" pitchFamily="18" charset="-120"/>
              </a:rPr>
              <a:t> is a step-by-step procedure for solving a problem in a finite amount of time.</a:t>
            </a:r>
          </a:p>
        </p:txBody>
      </p:sp>
      <p:sp>
        <p:nvSpPr>
          <p:cNvPr id="4" name="Date Placeholder 3">
            <a:extLst>
              <a:ext uri="{FF2B5EF4-FFF2-40B4-BE49-F238E27FC236}">
                <a16:creationId xmlns:a16="http://schemas.microsoft.com/office/drawing/2014/main" id="{D4642431-2907-0CEE-4E70-6F3D7DBDCECF}"/>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BB800831-7566-376D-351F-729855D6F229}"/>
              </a:ext>
            </a:extLst>
          </p:cNvPr>
          <p:cNvSpPr>
            <a:spLocks noGrp="1"/>
          </p:cNvSpPr>
          <p:nvPr>
            <p:ph type="sldNum" sz="quarter" idx="12"/>
          </p:nvPr>
        </p:nvSpPr>
        <p:spPr/>
        <p:txBody>
          <a:bodyPr/>
          <a:lstStyle/>
          <a:p>
            <a:fld id="{24BEA51C-495D-44A2-B925-9AAC4BD9F0A2}" type="slidenum">
              <a:rPr lang="en-IN" smtClean="0"/>
              <a:t>5</a:t>
            </a:fld>
            <a:endParaRPr lang="en-IN"/>
          </a:p>
        </p:txBody>
      </p:sp>
      <p:sp>
        <p:nvSpPr>
          <p:cNvPr id="7" name="Rectangle 6">
            <a:extLst>
              <a:ext uri="{FF2B5EF4-FFF2-40B4-BE49-F238E27FC236}">
                <a16:creationId xmlns:a16="http://schemas.microsoft.com/office/drawing/2014/main" id="{1BEA306B-341C-C861-07CB-22967A17DA0F}"/>
              </a:ext>
            </a:extLst>
          </p:cNvPr>
          <p:cNvSpPr>
            <a:spLocks noChangeArrowheads="1"/>
          </p:cNvSpPr>
          <p:nvPr/>
        </p:nvSpPr>
        <p:spPr bwMode="auto">
          <a:xfrm>
            <a:off x="6333336" y="4162047"/>
            <a:ext cx="1025922" cy="276999"/>
          </a:xfrm>
          <a:prstGeom prst="rect">
            <a:avLst/>
          </a:prstGeom>
          <a:noFill/>
          <a:ln w="9525">
            <a:noFill/>
            <a:miter lim="800000"/>
            <a:headEnd/>
            <a:tailEnd/>
          </a:ln>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TW" b="1" dirty="0">
                <a:solidFill>
                  <a:srgbClr val="000000"/>
                </a:solidFill>
                <a:latin typeface="Times" pitchFamily="18" charset="0"/>
                <a:ea typeface="新細明體" pitchFamily="18" charset="-120"/>
              </a:rPr>
              <a:t>Algorithm</a:t>
            </a:r>
            <a:endParaRPr lang="en-US" altLang="zh-TW" dirty="0">
              <a:solidFill>
                <a:srgbClr val="000000"/>
              </a:solidFill>
              <a:ea typeface="新細明體" pitchFamily="18" charset="-120"/>
            </a:endParaRPr>
          </a:p>
        </p:txBody>
      </p:sp>
      <p:sp>
        <p:nvSpPr>
          <p:cNvPr id="8" name="Rectangle 7">
            <a:extLst>
              <a:ext uri="{FF2B5EF4-FFF2-40B4-BE49-F238E27FC236}">
                <a16:creationId xmlns:a16="http://schemas.microsoft.com/office/drawing/2014/main" id="{DCD6CE69-7991-2D7E-1354-493650C4C649}"/>
              </a:ext>
            </a:extLst>
          </p:cNvPr>
          <p:cNvSpPr>
            <a:spLocks noChangeArrowheads="1"/>
          </p:cNvSpPr>
          <p:nvPr/>
        </p:nvSpPr>
        <p:spPr bwMode="auto">
          <a:xfrm>
            <a:off x="2487616" y="5874951"/>
            <a:ext cx="551433" cy="276999"/>
          </a:xfrm>
          <a:prstGeom prst="rect">
            <a:avLst/>
          </a:prstGeom>
          <a:noFill/>
          <a:ln w="9525">
            <a:noFill/>
            <a:miter lim="800000"/>
            <a:headEnd/>
            <a:tailEnd/>
          </a:ln>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TW" b="1">
                <a:latin typeface="Times" pitchFamily="18" charset="0"/>
                <a:ea typeface="新細明體" pitchFamily="18" charset="-120"/>
              </a:rPr>
              <a:t>Input</a:t>
            </a:r>
            <a:endParaRPr lang="en-US" altLang="zh-TW">
              <a:ea typeface="新細明體" pitchFamily="18" charset="-120"/>
            </a:endParaRPr>
          </a:p>
        </p:txBody>
      </p:sp>
      <p:grpSp>
        <p:nvGrpSpPr>
          <p:cNvPr id="9" name="Group 8">
            <a:extLst>
              <a:ext uri="{FF2B5EF4-FFF2-40B4-BE49-F238E27FC236}">
                <a16:creationId xmlns:a16="http://schemas.microsoft.com/office/drawing/2014/main" id="{9115D460-CE39-98EB-C33F-6827877D7B56}"/>
              </a:ext>
            </a:extLst>
          </p:cNvPr>
          <p:cNvGrpSpPr>
            <a:grpSpLocks/>
          </p:cNvGrpSpPr>
          <p:nvPr/>
        </p:nvGrpSpPr>
        <p:grpSpPr bwMode="auto">
          <a:xfrm>
            <a:off x="9150242" y="4728904"/>
            <a:ext cx="1236653" cy="976313"/>
            <a:chOff x="4193" y="2328"/>
            <a:chExt cx="779" cy="615"/>
          </a:xfrm>
        </p:grpSpPr>
        <p:sp>
          <p:nvSpPr>
            <p:cNvPr id="74" name="Freeform 12">
              <a:extLst>
                <a:ext uri="{FF2B5EF4-FFF2-40B4-BE49-F238E27FC236}">
                  <a16:creationId xmlns:a16="http://schemas.microsoft.com/office/drawing/2014/main" id="{5C6A1218-5EEC-A0D0-B947-BE703027CCEE}"/>
                </a:ext>
              </a:extLst>
            </p:cNvPr>
            <p:cNvSpPr>
              <a:spLocks/>
            </p:cNvSpPr>
            <p:nvPr/>
          </p:nvSpPr>
          <p:spPr bwMode="auto">
            <a:xfrm>
              <a:off x="4862" y="2823"/>
              <a:ext cx="65" cy="88"/>
            </a:xfrm>
            <a:custGeom>
              <a:avLst/>
              <a:gdLst/>
              <a:ahLst/>
              <a:cxnLst>
                <a:cxn ang="0">
                  <a:pos x="0" y="0"/>
                </a:cxn>
                <a:cxn ang="0">
                  <a:pos x="6" y="56"/>
                </a:cxn>
                <a:cxn ang="0">
                  <a:pos x="6" y="80"/>
                </a:cxn>
                <a:cxn ang="0">
                  <a:pos x="26" y="88"/>
                </a:cxn>
                <a:cxn ang="0">
                  <a:pos x="32" y="80"/>
                </a:cxn>
                <a:cxn ang="0">
                  <a:pos x="45" y="88"/>
                </a:cxn>
                <a:cxn ang="0">
                  <a:pos x="65" y="80"/>
                </a:cxn>
                <a:cxn ang="0">
                  <a:pos x="58" y="64"/>
                </a:cxn>
                <a:cxn ang="0">
                  <a:pos x="65" y="0"/>
                </a:cxn>
                <a:cxn ang="0">
                  <a:pos x="52" y="8"/>
                </a:cxn>
                <a:cxn ang="0">
                  <a:pos x="0" y="0"/>
                </a:cxn>
              </a:cxnLst>
              <a:rect l="0" t="0" r="r" b="b"/>
              <a:pathLst>
                <a:path w="65" h="88">
                  <a:moveTo>
                    <a:pt x="0" y="0"/>
                  </a:moveTo>
                  <a:lnTo>
                    <a:pt x="6" y="56"/>
                  </a:lnTo>
                  <a:lnTo>
                    <a:pt x="6" y="80"/>
                  </a:lnTo>
                  <a:lnTo>
                    <a:pt x="26" y="88"/>
                  </a:lnTo>
                  <a:lnTo>
                    <a:pt x="32" y="80"/>
                  </a:lnTo>
                  <a:lnTo>
                    <a:pt x="45" y="88"/>
                  </a:lnTo>
                  <a:lnTo>
                    <a:pt x="65" y="80"/>
                  </a:lnTo>
                  <a:lnTo>
                    <a:pt x="58" y="64"/>
                  </a:lnTo>
                  <a:lnTo>
                    <a:pt x="65" y="0"/>
                  </a:lnTo>
                  <a:lnTo>
                    <a:pt x="52" y="8"/>
                  </a:lnTo>
                  <a:lnTo>
                    <a:pt x="0"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75" name="Freeform 13">
              <a:extLst>
                <a:ext uri="{FF2B5EF4-FFF2-40B4-BE49-F238E27FC236}">
                  <a16:creationId xmlns:a16="http://schemas.microsoft.com/office/drawing/2014/main" id="{CCA06B9F-BE31-4D49-BE5F-6AB781833CA1}"/>
                </a:ext>
              </a:extLst>
            </p:cNvPr>
            <p:cNvSpPr>
              <a:spLocks/>
            </p:cNvSpPr>
            <p:nvPr/>
          </p:nvSpPr>
          <p:spPr bwMode="auto">
            <a:xfrm>
              <a:off x="4907" y="2376"/>
              <a:ext cx="39" cy="56"/>
            </a:xfrm>
            <a:custGeom>
              <a:avLst/>
              <a:gdLst/>
              <a:ahLst/>
              <a:cxnLst>
                <a:cxn ang="0">
                  <a:pos x="0" y="8"/>
                </a:cxn>
                <a:cxn ang="0">
                  <a:pos x="7" y="0"/>
                </a:cxn>
                <a:cxn ang="0">
                  <a:pos x="20" y="8"/>
                </a:cxn>
                <a:cxn ang="0">
                  <a:pos x="33" y="24"/>
                </a:cxn>
                <a:cxn ang="0">
                  <a:pos x="39" y="32"/>
                </a:cxn>
                <a:cxn ang="0">
                  <a:pos x="33" y="56"/>
                </a:cxn>
                <a:cxn ang="0">
                  <a:pos x="26" y="48"/>
                </a:cxn>
                <a:cxn ang="0">
                  <a:pos x="20" y="40"/>
                </a:cxn>
                <a:cxn ang="0">
                  <a:pos x="13" y="16"/>
                </a:cxn>
                <a:cxn ang="0">
                  <a:pos x="0" y="8"/>
                </a:cxn>
              </a:cxnLst>
              <a:rect l="0" t="0" r="r" b="b"/>
              <a:pathLst>
                <a:path w="39" h="56">
                  <a:moveTo>
                    <a:pt x="0" y="8"/>
                  </a:moveTo>
                  <a:lnTo>
                    <a:pt x="7" y="0"/>
                  </a:lnTo>
                  <a:lnTo>
                    <a:pt x="20" y="8"/>
                  </a:lnTo>
                  <a:lnTo>
                    <a:pt x="33" y="24"/>
                  </a:lnTo>
                  <a:lnTo>
                    <a:pt x="39" y="32"/>
                  </a:lnTo>
                  <a:lnTo>
                    <a:pt x="33" y="56"/>
                  </a:lnTo>
                  <a:lnTo>
                    <a:pt x="26" y="48"/>
                  </a:lnTo>
                  <a:lnTo>
                    <a:pt x="20" y="40"/>
                  </a:lnTo>
                  <a:lnTo>
                    <a:pt x="13" y="16"/>
                  </a:lnTo>
                  <a:lnTo>
                    <a:pt x="0"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76" name="Freeform 14">
              <a:extLst>
                <a:ext uri="{FF2B5EF4-FFF2-40B4-BE49-F238E27FC236}">
                  <a16:creationId xmlns:a16="http://schemas.microsoft.com/office/drawing/2014/main" id="{35D43FBF-3260-4AE5-D592-8A5CE8DF9632}"/>
                </a:ext>
              </a:extLst>
            </p:cNvPr>
            <p:cNvSpPr>
              <a:spLocks/>
            </p:cNvSpPr>
            <p:nvPr/>
          </p:nvSpPr>
          <p:spPr bwMode="auto">
            <a:xfrm>
              <a:off x="4842" y="2352"/>
              <a:ext cx="72" cy="96"/>
            </a:xfrm>
            <a:custGeom>
              <a:avLst/>
              <a:gdLst/>
              <a:ahLst/>
              <a:cxnLst>
                <a:cxn ang="0">
                  <a:pos x="13" y="40"/>
                </a:cxn>
                <a:cxn ang="0">
                  <a:pos x="7" y="32"/>
                </a:cxn>
                <a:cxn ang="0">
                  <a:pos x="0" y="40"/>
                </a:cxn>
                <a:cxn ang="0">
                  <a:pos x="0" y="56"/>
                </a:cxn>
                <a:cxn ang="0">
                  <a:pos x="13" y="56"/>
                </a:cxn>
                <a:cxn ang="0">
                  <a:pos x="20" y="80"/>
                </a:cxn>
                <a:cxn ang="0">
                  <a:pos x="46" y="96"/>
                </a:cxn>
                <a:cxn ang="0">
                  <a:pos x="59" y="96"/>
                </a:cxn>
                <a:cxn ang="0">
                  <a:pos x="65" y="72"/>
                </a:cxn>
                <a:cxn ang="0">
                  <a:pos x="72" y="48"/>
                </a:cxn>
                <a:cxn ang="0">
                  <a:pos x="65" y="16"/>
                </a:cxn>
                <a:cxn ang="0">
                  <a:pos x="39" y="0"/>
                </a:cxn>
                <a:cxn ang="0">
                  <a:pos x="20" y="16"/>
                </a:cxn>
                <a:cxn ang="0">
                  <a:pos x="13" y="40"/>
                </a:cxn>
              </a:cxnLst>
              <a:rect l="0" t="0" r="r" b="b"/>
              <a:pathLst>
                <a:path w="72" h="96">
                  <a:moveTo>
                    <a:pt x="13" y="40"/>
                  </a:moveTo>
                  <a:lnTo>
                    <a:pt x="7" y="32"/>
                  </a:lnTo>
                  <a:lnTo>
                    <a:pt x="0" y="40"/>
                  </a:lnTo>
                  <a:lnTo>
                    <a:pt x="0" y="56"/>
                  </a:lnTo>
                  <a:lnTo>
                    <a:pt x="13" y="56"/>
                  </a:lnTo>
                  <a:lnTo>
                    <a:pt x="20" y="80"/>
                  </a:lnTo>
                  <a:lnTo>
                    <a:pt x="46" y="96"/>
                  </a:lnTo>
                  <a:lnTo>
                    <a:pt x="59" y="96"/>
                  </a:lnTo>
                  <a:lnTo>
                    <a:pt x="65" y="72"/>
                  </a:lnTo>
                  <a:lnTo>
                    <a:pt x="72" y="48"/>
                  </a:lnTo>
                  <a:lnTo>
                    <a:pt x="65" y="16"/>
                  </a:lnTo>
                  <a:lnTo>
                    <a:pt x="39" y="0"/>
                  </a:lnTo>
                  <a:lnTo>
                    <a:pt x="20" y="16"/>
                  </a:lnTo>
                  <a:lnTo>
                    <a:pt x="13" y="4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77" name="Freeform 15">
              <a:extLst>
                <a:ext uri="{FF2B5EF4-FFF2-40B4-BE49-F238E27FC236}">
                  <a16:creationId xmlns:a16="http://schemas.microsoft.com/office/drawing/2014/main" id="{73CF7520-601B-2DCD-D140-B9FE13C86E01}"/>
                </a:ext>
              </a:extLst>
            </p:cNvPr>
            <p:cNvSpPr>
              <a:spLocks/>
            </p:cNvSpPr>
            <p:nvPr/>
          </p:nvSpPr>
          <p:spPr bwMode="auto">
            <a:xfrm>
              <a:off x="4836" y="2328"/>
              <a:ext cx="84" cy="80"/>
            </a:xfrm>
            <a:custGeom>
              <a:avLst/>
              <a:gdLst/>
              <a:ahLst/>
              <a:cxnLst>
                <a:cxn ang="0">
                  <a:pos x="78" y="48"/>
                </a:cxn>
                <a:cxn ang="0">
                  <a:pos x="84" y="40"/>
                </a:cxn>
                <a:cxn ang="0">
                  <a:pos x="84" y="24"/>
                </a:cxn>
                <a:cxn ang="0">
                  <a:pos x="71" y="16"/>
                </a:cxn>
                <a:cxn ang="0">
                  <a:pos x="58" y="0"/>
                </a:cxn>
                <a:cxn ang="0">
                  <a:pos x="39" y="0"/>
                </a:cxn>
                <a:cxn ang="0">
                  <a:pos x="19" y="0"/>
                </a:cxn>
                <a:cxn ang="0">
                  <a:pos x="19" y="16"/>
                </a:cxn>
                <a:cxn ang="0">
                  <a:pos x="6" y="16"/>
                </a:cxn>
                <a:cxn ang="0">
                  <a:pos x="0" y="48"/>
                </a:cxn>
                <a:cxn ang="0">
                  <a:pos x="0" y="72"/>
                </a:cxn>
                <a:cxn ang="0">
                  <a:pos x="6" y="80"/>
                </a:cxn>
                <a:cxn ang="0">
                  <a:pos x="6" y="64"/>
                </a:cxn>
                <a:cxn ang="0">
                  <a:pos x="13" y="56"/>
                </a:cxn>
                <a:cxn ang="0">
                  <a:pos x="19" y="64"/>
                </a:cxn>
                <a:cxn ang="0">
                  <a:pos x="26" y="40"/>
                </a:cxn>
                <a:cxn ang="0">
                  <a:pos x="45" y="24"/>
                </a:cxn>
                <a:cxn ang="0">
                  <a:pos x="71" y="40"/>
                </a:cxn>
                <a:cxn ang="0">
                  <a:pos x="78" y="48"/>
                </a:cxn>
              </a:cxnLst>
              <a:rect l="0" t="0" r="r" b="b"/>
              <a:pathLst>
                <a:path w="84" h="80">
                  <a:moveTo>
                    <a:pt x="78" y="48"/>
                  </a:moveTo>
                  <a:lnTo>
                    <a:pt x="84" y="40"/>
                  </a:lnTo>
                  <a:lnTo>
                    <a:pt x="84" y="24"/>
                  </a:lnTo>
                  <a:lnTo>
                    <a:pt x="71" y="16"/>
                  </a:lnTo>
                  <a:lnTo>
                    <a:pt x="58" y="0"/>
                  </a:lnTo>
                  <a:lnTo>
                    <a:pt x="39" y="0"/>
                  </a:lnTo>
                  <a:lnTo>
                    <a:pt x="19" y="0"/>
                  </a:lnTo>
                  <a:lnTo>
                    <a:pt x="19" y="16"/>
                  </a:lnTo>
                  <a:lnTo>
                    <a:pt x="6" y="16"/>
                  </a:lnTo>
                  <a:lnTo>
                    <a:pt x="0" y="48"/>
                  </a:lnTo>
                  <a:lnTo>
                    <a:pt x="0" y="72"/>
                  </a:lnTo>
                  <a:lnTo>
                    <a:pt x="6" y="80"/>
                  </a:lnTo>
                  <a:lnTo>
                    <a:pt x="6" y="64"/>
                  </a:lnTo>
                  <a:lnTo>
                    <a:pt x="13" y="56"/>
                  </a:lnTo>
                  <a:lnTo>
                    <a:pt x="19" y="64"/>
                  </a:lnTo>
                  <a:lnTo>
                    <a:pt x="26" y="40"/>
                  </a:lnTo>
                  <a:lnTo>
                    <a:pt x="45" y="24"/>
                  </a:lnTo>
                  <a:lnTo>
                    <a:pt x="71" y="40"/>
                  </a:lnTo>
                  <a:lnTo>
                    <a:pt x="78" y="4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78" name="Freeform 16">
              <a:extLst>
                <a:ext uri="{FF2B5EF4-FFF2-40B4-BE49-F238E27FC236}">
                  <a16:creationId xmlns:a16="http://schemas.microsoft.com/office/drawing/2014/main" id="{C5D3904C-B778-02BD-814E-0C582DEC64E1}"/>
                </a:ext>
              </a:extLst>
            </p:cNvPr>
            <p:cNvSpPr>
              <a:spLocks/>
            </p:cNvSpPr>
            <p:nvPr/>
          </p:nvSpPr>
          <p:spPr bwMode="auto">
            <a:xfrm>
              <a:off x="4803" y="2376"/>
              <a:ext cx="33" cy="56"/>
            </a:xfrm>
            <a:custGeom>
              <a:avLst/>
              <a:gdLst/>
              <a:ahLst/>
              <a:cxnLst>
                <a:cxn ang="0">
                  <a:pos x="33" y="16"/>
                </a:cxn>
                <a:cxn ang="0">
                  <a:pos x="33" y="0"/>
                </a:cxn>
                <a:cxn ang="0">
                  <a:pos x="20" y="8"/>
                </a:cxn>
                <a:cxn ang="0">
                  <a:pos x="0" y="24"/>
                </a:cxn>
                <a:cxn ang="0">
                  <a:pos x="0" y="40"/>
                </a:cxn>
                <a:cxn ang="0">
                  <a:pos x="0" y="56"/>
                </a:cxn>
                <a:cxn ang="0">
                  <a:pos x="13" y="56"/>
                </a:cxn>
                <a:cxn ang="0">
                  <a:pos x="13" y="40"/>
                </a:cxn>
                <a:cxn ang="0">
                  <a:pos x="26" y="16"/>
                </a:cxn>
                <a:cxn ang="0">
                  <a:pos x="33" y="16"/>
                </a:cxn>
              </a:cxnLst>
              <a:rect l="0" t="0" r="r" b="b"/>
              <a:pathLst>
                <a:path w="33" h="56">
                  <a:moveTo>
                    <a:pt x="33" y="16"/>
                  </a:moveTo>
                  <a:lnTo>
                    <a:pt x="33" y="0"/>
                  </a:lnTo>
                  <a:lnTo>
                    <a:pt x="20" y="8"/>
                  </a:lnTo>
                  <a:lnTo>
                    <a:pt x="0" y="24"/>
                  </a:lnTo>
                  <a:lnTo>
                    <a:pt x="0" y="40"/>
                  </a:lnTo>
                  <a:lnTo>
                    <a:pt x="0" y="56"/>
                  </a:lnTo>
                  <a:lnTo>
                    <a:pt x="13" y="56"/>
                  </a:lnTo>
                  <a:lnTo>
                    <a:pt x="13" y="40"/>
                  </a:lnTo>
                  <a:lnTo>
                    <a:pt x="26" y="16"/>
                  </a:lnTo>
                  <a:lnTo>
                    <a:pt x="33" y="16"/>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79" name="Freeform 17">
              <a:extLst>
                <a:ext uri="{FF2B5EF4-FFF2-40B4-BE49-F238E27FC236}">
                  <a16:creationId xmlns:a16="http://schemas.microsoft.com/office/drawing/2014/main" id="{9693BC3C-EE57-70C9-1F2B-490DEC352849}"/>
                </a:ext>
              </a:extLst>
            </p:cNvPr>
            <p:cNvSpPr>
              <a:spLocks/>
            </p:cNvSpPr>
            <p:nvPr/>
          </p:nvSpPr>
          <p:spPr bwMode="auto">
            <a:xfrm>
              <a:off x="4829" y="2368"/>
              <a:ext cx="13" cy="24"/>
            </a:xfrm>
            <a:custGeom>
              <a:avLst/>
              <a:gdLst/>
              <a:ahLst/>
              <a:cxnLst>
                <a:cxn ang="0">
                  <a:pos x="7" y="8"/>
                </a:cxn>
                <a:cxn ang="0">
                  <a:pos x="0" y="8"/>
                </a:cxn>
                <a:cxn ang="0">
                  <a:pos x="7" y="0"/>
                </a:cxn>
                <a:cxn ang="0">
                  <a:pos x="7" y="8"/>
                </a:cxn>
                <a:cxn ang="0">
                  <a:pos x="13" y="0"/>
                </a:cxn>
                <a:cxn ang="0">
                  <a:pos x="13" y="8"/>
                </a:cxn>
                <a:cxn ang="0">
                  <a:pos x="7" y="8"/>
                </a:cxn>
                <a:cxn ang="0">
                  <a:pos x="7" y="24"/>
                </a:cxn>
                <a:cxn ang="0">
                  <a:pos x="7" y="8"/>
                </a:cxn>
              </a:cxnLst>
              <a:rect l="0" t="0" r="r" b="b"/>
              <a:pathLst>
                <a:path w="13" h="24">
                  <a:moveTo>
                    <a:pt x="7" y="8"/>
                  </a:moveTo>
                  <a:lnTo>
                    <a:pt x="0" y="8"/>
                  </a:lnTo>
                  <a:lnTo>
                    <a:pt x="7" y="0"/>
                  </a:lnTo>
                  <a:lnTo>
                    <a:pt x="7" y="8"/>
                  </a:lnTo>
                  <a:lnTo>
                    <a:pt x="13" y="0"/>
                  </a:lnTo>
                  <a:lnTo>
                    <a:pt x="13" y="8"/>
                  </a:lnTo>
                  <a:lnTo>
                    <a:pt x="7" y="8"/>
                  </a:lnTo>
                  <a:lnTo>
                    <a:pt x="7" y="24"/>
                  </a:lnTo>
                  <a:lnTo>
                    <a:pt x="7"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80" name="Freeform 18">
              <a:extLst>
                <a:ext uri="{FF2B5EF4-FFF2-40B4-BE49-F238E27FC236}">
                  <a16:creationId xmlns:a16="http://schemas.microsoft.com/office/drawing/2014/main" id="{3B2D74F8-F5EB-2C89-AE8E-42F3C51F25BA}"/>
                </a:ext>
              </a:extLst>
            </p:cNvPr>
            <p:cNvSpPr>
              <a:spLocks/>
            </p:cNvSpPr>
            <p:nvPr/>
          </p:nvSpPr>
          <p:spPr bwMode="auto">
            <a:xfrm>
              <a:off x="4849" y="2408"/>
              <a:ext cx="45" cy="64"/>
            </a:xfrm>
            <a:custGeom>
              <a:avLst/>
              <a:gdLst/>
              <a:ahLst/>
              <a:cxnLst>
                <a:cxn ang="0">
                  <a:pos x="6" y="0"/>
                </a:cxn>
                <a:cxn ang="0">
                  <a:pos x="0" y="48"/>
                </a:cxn>
                <a:cxn ang="0">
                  <a:pos x="13" y="56"/>
                </a:cxn>
                <a:cxn ang="0">
                  <a:pos x="32" y="64"/>
                </a:cxn>
                <a:cxn ang="0">
                  <a:pos x="45" y="56"/>
                </a:cxn>
                <a:cxn ang="0">
                  <a:pos x="45" y="40"/>
                </a:cxn>
                <a:cxn ang="0">
                  <a:pos x="39" y="40"/>
                </a:cxn>
                <a:cxn ang="0">
                  <a:pos x="13" y="24"/>
                </a:cxn>
                <a:cxn ang="0">
                  <a:pos x="6" y="0"/>
                </a:cxn>
              </a:cxnLst>
              <a:rect l="0" t="0" r="r" b="b"/>
              <a:pathLst>
                <a:path w="45" h="64">
                  <a:moveTo>
                    <a:pt x="6" y="0"/>
                  </a:moveTo>
                  <a:lnTo>
                    <a:pt x="0" y="48"/>
                  </a:lnTo>
                  <a:lnTo>
                    <a:pt x="13" y="56"/>
                  </a:lnTo>
                  <a:lnTo>
                    <a:pt x="32" y="64"/>
                  </a:lnTo>
                  <a:lnTo>
                    <a:pt x="45" y="56"/>
                  </a:lnTo>
                  <a:lnTo>
                    <a:pt x="45" y="40"/>
                  </a:lnTo>
                  <a:lnTo>
                    <a:pt x="39" y="40"/>
                  </a:lnTo>
                  <a:lnTo>
                    <a:pt x="13" y="24"/>
                  </a:lnTo>
                  <a:lnTo>
                    <a:pt x="6"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81" name="Freeform 19">
              <a:extLst>
                <a:ext uri="{FF2B5EF4-FFF2-40B4-BE49-F238E27FC236}">
                  <a16:creationId xmlns:a16="http://schemas.microsoft.com/office/drawing/2014/main" id="{54BE6FEC-13E0-3BAB-813D-98719ECFE901}"/>
                </a:ext>
              </a:extLst>
            </p:cNvPr>
            <p:cNvSpPr>
              <a:spLocks/>
            </p:cNvSpPr>
            <p:nvPr/>
          </p:nvSpPr>
          <p:spPr bwMode="auto">
            <a:xfrm>
              <a:off x="4790" y="2448"/>
              <a:ext cx="182" cy="375"/>
            </a:xfrm>
            <a:custGeom>
              <a:avLst/>
              <a:gdLst/>
              <a:ahLst/>
              <a:cxnLst>
                <a:cxn ang="0">
                  <a:pos x="59" y="8"/>
                </a:cxn>
                <a:cxn ang="0">
                  <a:pos x="26" y="16"/>
                </a:cxn>
                <a:cxn ang="0">
                  <a:pos x="13" y="8"/>
                </a:cxn>
                <a:cxn ang="0">
                  <a:pos x="0" y="24"/>
                </a:cxn>
                <a:cxn ang="0">
                  <a:pos x="0" y="47"/>
                </a:cxn>
                <a:cxn ang="0">
                  <a:pos x="0" y="79"/>
                </a:cxn>
                <a:cxn ang="0">
                  <a:pos x="20" y="95"/>
                </a:cxn>
                <a:cxn ang="0">
                  <a:pos x="33" y="95"/>
                </a:cxn>
                <a:cxn ang="0">
                  <a:pos x="39" y="175"/>
                </a:cxn>
                <a:cxn ang="0">
                  <a:pos x="13" y="319"/>
                </a:cxn>
                <a:cxn ang="0">
                  <a:pos x="13" y="359"/>
                </a:cxn>
                <a:cxn ang="0">
                  <a:pos x="59" y="367"/>
                </a:cxn>
                <a:cxn ang="0">
                  <a:pos x="117" y="375"/>
                </a:cxn>
                <a:cxn ang="0">
                  <a:pos x="150" y="367"/>
                </a:cxn>
                <a:cxn ang="0">
                  <a:pos x="182" y="343"/>
                </a:cxn>
                <a:cxn ang="0">
                  <a:pos x="176" y="311"/>
                </a:cxn>
                <a:cxn ang="0">
                  <a:pos x="143" y="167"/>
                </a:cxn>
                <a:cxn ang="0">
                  <a:pos x="137" y="95"/>
                </a:cxn>
                <a:cxn ang="0">
                  <a:pos x="156" y="87"/>
                </a:cxn>
                <a:cxn ang="0">
                  <a:pos x="163" y="79"/>
                </a:cxn>
                <a:cxn ang="0">
                  <a:pos x="163" y="31"/>
                </a:cxn>
                <a:cxn ang="0">
                  <a:pos x="150" y="8"/>
                </a:cxn>
                <a:cxn ang="0">
                  <a:pos x="130" y="16"/>
                </a:cxn>
                <a:cxn ang="0">
                  <a:pos x="104" y="0"/>
                </a:cxn>
                <a:cxn ang="0">
                  <a:pos x="104" y="16"/>
                </a:cxn>
                <a:cxn ang="0">
                  <a:pos x="91" y="24"/>
                </a:cxn>
                <a:cxn ang="0">
                  <a:pos x="72" y="16"/>
                </a:cxn>
                <a:cxn ang="0">
                  <a:pos x="59" y="8"/>
                </a:cxn>
              </a:cxnLst>
              <a:rect l="0" t="0" r="r" b="b"/>
              <a:pathLst>
                <a:path w="182" h="375">
                  <a:moveTo>
                    <a:pt x="59" y="8"/>
                  </a:moveTo>
                  <a:lnTo>
                    <a:pt x="26" y="16"/>
                  </a:lnTo>
                  <a:lnTo>
                    <a:pt x="13" y="8"/>
                  </a:lnTo>
                  <a:lnTo>
                    <a:pt x="0" y="24"/>
                  </a:lnTo>
                  <a:lnTo>
                    <a:pt x="0" y="47"/>
                  </a:lnTo>
                  <a:lnTo>
                    <a:pt x="0" y="79"/>
                  </a:lnTo>
                  <a:lnTo>
                    <a:pt x="20" y="95"/>
                  </a:lnTo>
                  <a:lnTo>
                    <a:pt x="33" y="95"/>
                  </a:lnTo>
                  <a:lnTo>
                    <a:pt x="39" y="175"/>
                  </a:lnTo>
                  <a:lnTo>
                    <a:pt x="13" y="319"/>
                  </a:lnTo>
                  <a:lnTo>
                    <a:pt x="13" y="359"/>
                  </a:lnTo>
                  <a:lnTo>
                    <a:pt x="59" y="367"/>
                  </a:lnTo>
                  <a:lnTo>
                    <a:pt x="117" y="375"/>
                  </a:lnTo>
                  <a:lnTo>
                    <a:pt x="150" y="367"/>
                  </a:lnTo>
                  <a:lnTo>
                    <a:pt x="182" y="343"/>
                  </a:lnTo>
                  <a:lnTo>
                    <a:pt x="176" y="311"/>
                  </a:lnTo>
                  <a:lnTo>
                    <a:pt x="143" y="167"/>
                  </a:lnTo>
                  <a:lnTo>
                    <a:pt x="137" y="95"/>
                  </a:lnTo>
                  <a:lnTo>
                    <a:pt x="156" y="87"/>
                  </a:lnTo>
                  <a:lnTo>
                    <a:pt x="163" y="79"/>
                  </a:lnTo>
                  <a:lnTo>
                    <a:pt x="163" y="31"/>
                  </a:lnTo>
                  <a:lnTo>
                    <a:pt x="150" y="8"/>
                  </a:lnTo>
                  <a:lnTo>
                    <a:pt x="130" y="16"/>
                  </a:lnTo>
                  <a:lnTo>
                    <a:pt x="104" y="0"/>
                  </a:lnTo>
                  <a:lnTo>
                    <a:pt x="104" y="16"/>
                  </a:lnTo>
                  <a:lnTo>
                    <a:pt x="91" y="24"/>
                  </a:lnTo>
                  <a:lnTo>
                    <a:pt x="72" y="16"/>
                  </a:lnTo>
                  <a:lnTo>
                    <a:pt x="59"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82" name="Line 20">
              <a:extLst>
                <a:ext uri="{FF2B5EF4-FFF2-40B4-BE49-F238E27FC236}">
                  <a16:creationId xmlns:a16="http://schemas.microsoft.com/office/drawing/2014/main" id="{924F6AF1-A478-4376-4645-8C1A2656F207}"/>
                </a:ext>
              </a:extLst>
            </p:cNvPr>
            <p:cNvSpPr>
              <a:spLocks noChangeShapeType="1"/>
            </p:cNvSpPr>
            <p:nvPr/>
          </p:nvSpPr>
          <p:spPr bwMode="auto">
            <a:xfrm flipV="1">
              <a:off x="4927" y="2511"/>
              <a:ext cx="6" cy="32"/>
            </a:xfrm>
            <a:prstGeom prst="line">
              <a:avLst/>
            </a:prstGeom>
            <a:noFill/>
            <a:ln w="9525">
              <a:solidFill>
                <a:srgbClr val="E4BB0C"/>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83" name="Freeform 21">
              <a:extLst>
                <a:ext uri="{FF2B5EF4-FFF2-40B4-BE49-F238E27FC236}">
                  <a16:creationId xmlns:a16="http://schemas.microsoft.com/office/drawing/2014/main" id="{587DF3E9-662A-1AFA-2FEB-034B70D2814E}"/>
                </a:ext>
              </a:extLst>
            </p:cNvPr>
            <p:cNvSpPr>
              <a:spLocks/>
            </p:cNvSpPr>
            <p:nvPr/>
          </p:nvSpPr>
          <p:spPr bwMode="auto">
            <a:xfrm>
              <a:off x="4797" y="2535"/>
              <a:ext cx="32" cy="32"/>
            </a:xfrm>
            <a:custGeom>
              <a:avLst/>
              <a:gdLst/>
              <a:ahLst/>
              <a:cxnLst>
                <a:cxn ang="0">
                  <a:pos x="0" y="0"/>
                </a:cxn>
                <a:cxn ang="0">
                  <a:pos x="6" y="24"/>
                </a:cxn>
                <a:cxn ang="0">
                  <a:pos x="13" y="32"/>
                </a:cxn>
                <a:cxn ang="0">
                  <a:pos x="32" y="24"/>
                </a:cxn>
                <a:cxn ang="0">
                  <a:pos x="26" y="8"/>
                </a:cxn>
                <a:cxn ang="0">
                  <a:pos x="13" y="8"/>
                </a:cxn>
                <a:cxn ang="0">
                  <a:pos x="0" y="0"/>
                </a:cxn>
              </a:cxnLst>
              <a:rect l="0" t="0" r="r" b="b"/>
              <a:pathLst>
                <a:path w="32" h="32">
                  <a:moveTo>
                    <a:pt x="0" y="0"/>
                  </a:moveTo>
                  <a:lnTo>
                    <a:pt x="6" y="24"/>
                  </a:lnTo>
                  <a:lnTo>
                    <a:pt x="13" y="32"/>
                  </a:lnTo>
                  <a:lnTo>
                    <a:pt x="32" y="24"/>
                  </a:lnTo>
                  <a:lnTo>
                    <a:pt x="26" y="8"/>
                  </a:lnTo>
                  <a:lnTo>
                    <a:pt x="13" y="8"/>
                  </a:lnTo>
                  <a:lnTo>
                    <a:pt x="0"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84" name="Freeform 22">
              <a:extLst>
                <a:ext uri="{FF2B5EF4-FFF2-40B4-BE49-F238E27FC236}">
                  <a16:creationId xmlns:a16="http://schemas.microsoft.com/office/drawing/2014/main" id="{07DD0905-6FBB-E298-8BEC-83F57D535074}"/>
                </a:ext>
              </a:extLst>
            </p:cNvPr>
            <p:cNvSpPr>
              <a:spLocks/>
            </p:cNvSpPr>
            <p:nvPr/>
          </p:nvSpPr>
          <p:spPr bwMode="auto">
            <a:xfrm>
              <a:off x="4927" y="2527"/>
              <a:ext cx="26" cy="32"/>
            </a:xfrm>
            <a:custGeom>
              <a:avLst/>
              <a:gdLst/>
              <a:ahLst/>
              <a:cxnLst>
                <a:cxn ang="0">
                  <a:pos x="0" y="16"/>
                </a:cxn>
                <a:cxn ang="0">
                  <a:pos x="0" y="32"/>
                </a:cxn>
                <a:cxn ang="0">
                  <a:pos x="13" y="32"/>
                </a:cxn>
                <a:cxn ang="0">
                  <a:pos x="26" y="24"/>
                </a:cxn>
                <a:cxn ang="0">
                  <a:pos x="26" y="0"/>
                </a:cxn>
                <a:cxn ang="0">
                  <a:pos x="19" y="8"/>
                </a:cxn>
                <a:cxn ang="0">
                  <a:pos x="0" y="16"/>
                </a:cxn>
              </a:cxnLst>
              <a:rect l="0" t="0" r="r" b="b"/>
              <a:pathLst>
                <a:path w="26" h="32">
                  <a:moveTo>
                    <a:pt x="0" y="16"/>
                  </a:moveTo>
                  <a:lnTo>
                    <a:pt x="0" y="32"/>
                  </a:lnTo>
                  <a:lnTo>
                    <a:pt x="13" y="32"/>
                  </a:lnTo>
                  <a:lnTo>
                    <a:pt x="26" y="24"/>
                  </a:lnTo>
                  <a:lnTo>
                    <a:pt x="26" y="0"/>
                  </a:lnTo>
                  <a:lnTo>
                    <a:pt x="19" y="8"/>
                  </a:lnTo>
                  <a:lnTo>
                    <a:pt x="0" y="16"/>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85" name="Freeform 23">
              <a:extLst>
                <a:ext uri="{FF2B5EF4-FFF2-40B4-BE49-F238E27FC236}">
                  <a16:creationId xmlns:a16="http://schemas.microsoft.com/office/drawing/2014/main" id="{76AA6550-7E18-1031-0BD1-780EE376E4B6}"/>
                </a:ext>
              </a:extLst>
            </p:cNvPr>
            <p:cNvSpPr>
              <a:spLocks/>
            </p:cNvSpPr>
            <p:nvPr/>
          </p:nvSpPr>
          <p:spPr bwMode="auto">
            <a:xfrm>
              <a:off x="4803" y="2559"/>
              <a:ext cx="111" cy="104"/>
            </a:xfrm>
            <a:custGeom>
              <a:avLst/>
              <a:gdLst/>
              <a:ahLst/>
              <a:cxnLst>
                <a:cxn ang="0">
                  <a:pos x="0" y="0"/>
                </a:cxn>
                <a:cxn ang="0">
                  <a:pos x="7" y="48"/>
                </a:cxn>
                <a:cxn ang="0">
                  <a:pos x="59" y="88"/>
                </a:cxn>
                <a:cxn ang="0">
                  <a:pos x="72" y="96"/>
                </a:cxn>
                <a:cxn ang="0">
                  <a:pos x="91" y="104"/>
                </a:cxn>
                <a:cxn ang="0">
                  <a:pos x="111" y="88"/>
                </a:cxn>
                <a:cxn ang="0">
                  <a:pos x="91" y="80"/>
                </a:cxn>
                <a:cxn ang="0">
                  <a:pos x="85" y="72"/>
                </a:cxn>
                <a:cxn ang="0">
                  <a:pos x="91" y="64"/>
                </a:cxn>
                <a:cxn ang="0">
                  <a:pos x="91" y="56"/>
                </a:cxn>
                <a:cxn ang="0">
                  <a:pos x="78" y="64"/>
                </a:cxn>
                <a:cxn ang="0">
                  <a:pos x="65" y="64"/>
                </a:cxn>
                <a:cxn ang="0">
                  <a:pos x="26" y="32"/>
                </a:cxn>
                <a:cxn ang="0">
                  <a:pos x="26" y="0"/>
                </a:cxn>
                <a:cxn ang="0">
                  <a:pos x="0" y="0"/>
                </a:cxn>
              </a:cxnLst>
              <a:rect l="0" t="0" r="r" b="b"/>
              <a:pathLst>
                <a:path w="111" h="104">
                  <a:moveTo>
                    <a:pt x="0" y="0"/>
                  </a:moveTo>
                  <a:lnTo>
                    <a:pt x="7" y="48"/>
                  </a:lnTo>
                  <a:lnTo>
                    <a:pt x="59" y="88"/>
                  </a:lnTo>
                  <a:lnTo>
                    <a:pt x="72" y="96"/>
                  </a:lnTo>
                  <a:lnTo>
                    <a:pt x="91" y="104"/>
                  </a:lnTo>
                  <a:lnTo>
                    <a:pt x="111" y="88"/>
                  </a:lnTo>
                  <a:lnTo>
                    <a:pt x="91" y="80"/>
                  </a:lnTo>
                  <a:lnTo>
                    <a:pt x="85" y="72"/>
                  </a:lnTo>
                  <a:lnTo>
                    <a:pt x="91" y="64"/>
                  </a:lnTo>
                  <a:lnTo>
                    <a:pt x="91" y="56"/>
                  </a:lnTo>
                  <a:lnTo>
                    <a:pt x="78" y="64"/>
                  </a:lnTo>
                  <a:lnTo>
                    <a:pt x="65" y="64"/>
                  </a:lnTo>
                  <a:lnTo>
                    <a:pt x="26" y="32"/>
                  </a:lnTo>
                  <a:lnTo>
                    <a:pt x="26" y="0"/>
                  </a:lnTo>
                  <a:lnTo>
                    <a:pt x="0"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86" name="Freeform 24">
              <a:extLst>
                <a:ext uri="{FF2B5EF4-FFF2-40B4-BE49-F238E27FC236}">
                  <a16:creationId xmlns:a16="http://schemas.microsoft.com/office/drawing/2014/main" id="{79CE6812-F82D-2920-B512-743E3F39EC4C}"/>
                </a:ext>
              </a:extLst>
            </p:cNvPr>
            <p:cNvSpPr>
              <a:spLocks/>
            </p:cNvSpPr>
            <p:nvPr/>
          </p:nvSpPr>
          <p:spPr bwMode="auto">
            <a:xfrm>
              <a:off x="4888" y="2551"/>
              <a:ext cx="65" cy="96"/>
            </a:xfrm>
            <a:custGeom>
              <a:avLst/>
              <a:gdLst/>
              <a:ahLst/>
              <a:cxnLst>
                <a:cxn ang="0">
                  <a:pos x="39" y="8"/>
                </a:cxn>
                <a:cxn ang="0">
                  <a:pos x="39" y="48"/>
                </a:cxn>
                <a:cxn ang="0">
                  <a:pos x="19" y="72"/>
                </a:cxn>
                <a:cxn ang="0">
                  <a:pos x="6" y="64"/>
                </a:cxn>
                <a:cxn ang="0">
                  <a:pos x="6" y="72"/>
                </a:cxn>
                <a:cxn ang="0">
                  <a:pos x="0" y="80"/>
                </a:cxn>
                <a:cxn ang="0">
                  <a:pos x="6" y="88"/>
                </a:cxn>
                <a:cxn ang="0">
                  <a:pos x="26" y="96"/>
                </a:cxn>
                <a:cxn ang="0">
                  <a:pos x="32" y="88"/>
                </a:cxn>
                <a:cxn ang="0">
                  <a:pos x="39" y="80"/>
                </a:cxn>
                <a:cxn ang="0">
                  <a:pos x="58" y="56"/>
                </a:cxn>
                <a:cxn ang="0">
                  <a:pos x="65" y="0"/>
                </a:cxn>
                <a:cxn ang="0">
                  <a:pos x="52" y="8"/>
                </a:cxn>
                <a:cxn ang="0">
                  <a:pos x="39" y="8"/>
                </a:cxn>
              </a:cxnLst>
              <a:rect l="0" t="0" r="r" b="b"/>
              <a:pathLst>
                <a:path w="65" h="96">
                  <a:moveTo>
                    <a:pt x="39" y="8"/>
                  </a:moveTo>
                  <a:lnTo>
                    <a:pt x="39" y="48"/>
                  </a:lnTo>
                  <a:lnTo>
                    <a:pt x="19" y="72"/>
                  </a:lnTo>
                  <a:lnTo>
                    <a:pt x="6" y="64"/>
                  </a:lnTo>
                  <a:lnTo>
                    <a:pt x="6" y="72"/>
                  </a:lnTo>
                  <a:lnTo>
                    <a:pt x="0" y="80"/>
                  </a:lnTo>
                  <a:lnTo>
                    <a:pt x="6" y="88"/>
                  </a:lnTo>
                  <a:lnTo>
                    <a:pt x="26" y="96"/>
                  </a:lnTo>
                  <a:lnTo>
                    <a:pt x="32" y="88"/>
                  </a:lnTo>
                  <a:lnTo>
                    <a:pt x="39" y="80"/>
                  </a:lnTo>
                  <a:lnTo>
                    <a:pt x="58" y="56"/>
                  </a:lnTo>
                  <a:lnTo>
                    <a:pt x="65" y="0"/>
                  </a:lnTo>
                  <a:lnTo>
                    <a:pt x="52" y="8"/>
                  </a:lnTo>
                  <a:lnTo>
                    <a:pt x="39"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87" name="Freeform 25">
              <a:extLst>
                <a:ext uri="{FF2B5EF4-FFF2-40B4-BE49-F238E27FC236}">
                  <a16:creationId xmlns:a16="http://schemas.microsoft.com/office/drawing/2014/main" id="{21F31548-A423-D745-3E95-59293D3B7E62}"/>
                </a:ext>
              </a:extLst>
            </p:cNvPr>
            <p:cNvSpPr>
              <a:spLocks/>
            </p:cNvSpPr>
            <p:nvPr/>
          </p:nvSpPr>
          <p:spPr bwMode="auto">
            <a:xfrm>
              <a:off x="4836" y="2448"/>
              <a:ext cx="78" cy="47"/>
            </a:xfrm>
            <a:custGeom>
              <a:avLst/>
              <a:gdLst/>
              <a:ahLst/>
              <a:cxnLst>
                <a:cxn ang="0">
                  <a:pos x="13" y="8"/>
                </a:cxn>
                <a:cxn ang="0">
                  <a:pos x="0" y="16"/>
                </a:cxn>
                <a:cxn ang="0">
                  <a:pos x="0" y="31"/>
                </a:cxn>
                <a:cxn ang="0">
                  <a:pos x="19" y="47"/>
                </a:cxn>
                <a:cxn ang="0">
                  <a:pos x="32" y="47"/>
                </a:cxn>
                <a:cxn ang="0">
                  <a:pos x="45" y="31"/>
                </a:cxn>
                <a:cxn ang="0">
                  <a:pos x="52" y="47"/>
                </a:cxn>
                <a:cxn ang="0">
                  <a:pos x="65" y="47"/>
                </a:cxn>
                <a:cxn ang="0">
                  <a:pos x="78" y="31"/>
                </a:cxn>
                <a:cxn ang="0">
                  <a:pos x="71" y="8"/>
                </a:cxn>
                <a:cxn ang="0">
                  <a:pos x="58" y="0"/>
                </a:cxn>
                <a:cxn ang="0">
                  <a:pos x="58" y="16"/>
                </a:cxn>
                <a:cxn ang="0">
                  <a:pos x="45" y="24"/>
                </a:cxn>
                <a:cxn ang="0">
                  <a:pos x="26" y="16"/>
                </a:cxn>
                <a:cxn ang="0">
                  <a:pos x="13" y="8"/>
                </a:cxn>
              </a:cxnLst>
              <a:rect l="0" t="0" r="r" b="b"/>
              <a:pathLst>
                <a:path w="78" h="47">
                  <a:moveTo>
                    <a:pt x="13" y="8"/>
                  </a:moveTo>
                  <a:lnTo>
                    <a:pt x="0" y="16"/>
                  </a:lnTo>
                  <a:lnTo>
                    <a:pt x="0" y="31"/>
                  </a:lnTo>
                  <a:lnTo>
                    <a:pt x="19" y="47"/>
                  </a:lnTo>
                  <a:lnTo>
                    <a:pt x="32" y="47"/>
                  </a:lnTo>
                  <a:lnTo>
                    <a:pt x="45" y="31"/>
                  </a:lnTo>
                  <a:lnTo>
                    <a:pt x="52" y="47"/>
                  </a:lnTo>
                  <a:lnTo>
                    <a:pt x="65" y="47"/>
                  </a:lnTo>
                  <a:lnTo>
                    <a:pt x="78" y="31"/>
                  </a:lnTo>
                  <a:lnTo>
                    <a:pt x="71" y="8"/>
                  </a:lnTo>
                  <a:lnTo>
                    <a:pt x="58" y="0"/>
                  </a:lnTo>
                  <a:lnTo>
                    <a:pt x="58" y="16"/>
                  </a:lnTo>
                  <a:lnTo>
                    <a:pt x="45" y="24"/>
                  </a:lnTo>
                  <a:lnTo>
                    <a:pt x="26" y="16"/>
                  </a:lnTo>
                  <a:lnTo>
                    <a:pt x="13"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88" name="Freeform 26">
              <a:extLst>
                <a:ext uri="{FF2B5EF4-FFF2-40B4-BE49-F238E27FC236}">
                  <a16:creationId xmlns:a16="http://schemas.microsoft.com/office/drawing/2014/main" id="{D2532308-C19F-0F0F-547B-2642B1831A0C}"/>
                </a:ext>
              </a:extLst>
            </p:cNvPr>
            <p:cNvSpPr>
              <a:spLocks/>
            </p:cNvSpPr>
            <p:nvPr/>
          </p:nvSpPr>
          <p:spPr bwMode="auto">
            <a:xfrm>
              <a:off x="4888" y="2823"/>
              <a:ext cx="6" cy="72"/>
            </a:xfrm>
            <a:custGeom>
              <a:avLst/>
              <a:gdLst/>
              <a:ahLst/>
              <a:cxnLst>
                <a:cxn ang="0">
                  <a:pos x="0" y="72"/>
                </a:cxn>
                <a:cxn ang="0">
                  <a:pos x="0" y="40"/>
                </a:cxn>
                <a:cxn ang="0">
                  <a:pos x="6" y="0"/>
                </a:cxn>
              </a:cxnLst>
              <a:rect l="0" t="0" r="r" b="b"/>
              <a:pathLst>
                <a:path w="6" h="72">
                  <a:moveTo>
                    <a:pt x="0" y="72"/>
                  </a:moveTo>
                  <a:lnTo>
                    <a:pt x="0" y="40"/>
                  </a:lnTo>
                  <a:lnTo>
                    <a:pt x="6" y="0"/>
                  </a:lnTo>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89" name="Freeform 27">
              <a:extLst>
                <a:ext uri="{FF2B5EF4-FFF2-40B4-BE49-F238E27FC236}">
                  <a16:creationId xmlns:a16="http://schemas.microsoft.com/office/drawing/2014/main" id="{806122E0-3B0B-5E4C-1552-EAF8405BAFBE}"/>
                </a:ext>
              </a:extLst>
            </p:cNvPr>
            <p:cNvSpPr>
              <a:spLocks/>
            </p:cNvSpPr>
            <p:nvPr/>
          </p:nvSpPr>
          <p:spPr bwMode="auto">
            <a:xfrm>
              <a:off x="4855" y="2895"/>
              <a:ext cx="98" cy="48"/>
            </a:xfrm>
            <a:custGeom>
              <a:avLst/>
              <a:gdLst/>
              <a:ahLst/>
              <a:cxnLst>
                <a:cxn ang="0">
                  <a:pos x="7" y="0"/>
                </a:cxn>
                <a:cxn ang="0">
                  <a:pos x="0" y="24"/>
                </a:cxn>
                <a:cxn ang="0">
                  <a:pos x="7" y="40"/>
                </a:cxn>
                <a:cxn ang="0">
                  <a:pos x="20" y="48"/>
                </a:cxn>
                <a:cxn ang="0">
                  <a:pos x="46" y="48"/>
                </a:cxn>
                <a:cxn ang="0">
                  <a:pos x="52" y="32"/>
                </a:cxn>
                <a:cxn ang="0">
                  <a:pos x="59" y="40"/>
                </a:cxn>
                <a:cxn ang="0">
                  <a:pos x="78" y="40"/>
                </a:cxn>
                <a:cxn ang="0">
                  <a:pos x="98" y="32"/>
                </a:cxn>
                <a:cxn ang="0">
                  <a:pos x="91" y="16"/>
                </a:cxn>
                <a:cxn ang="0">
                  <a:pos x="78" y="16"/>
                </a:cxn>
                <a:cxn ang="0">
                  <a:pos x="65" y="0"/>
                </a:cxn>
                <a:cxn ang="0">
                  <a:pos x="46" y="8"/>
                </a:cxn>
                <a:cxn ang="0">
                  <a:pos x="33" y="0"/>
                </a:cxn>
                <a:cxn ang="0">
                  <a:pos x="26" y="8"/>
                </a:cxn>
                <a:cxn ang="0">
                  <a:pos x="7" y="0"/>
                </a:cxn>
              </a:cxnLst>
              <a:rect l="0" t="0" r="r" b="b"/>
              <a:pathLst>
                <a:path w="98" h="48">
                  <a:moveTo>
                    <a:pt x="7" y="0"/>
                  </a:moveTo>
                  <a:lnTo>
                    <a:pt x="0" y="24"/>
                  </a:lnTo>
                  <a:lnTo>
                    <a:pt x="7" y="40"/>
                  </a:lnTo>
                  <a:lnTo>
                    <a:pt x="20" y="48"/>
                  </a:lnTo>
                  <a:lnTo>
                    <a:pt x="46" y="48"/>
                  </a:lnTo>
                  <a:lnTo>
                    <a:pt x="52" y="32"/>
                  </a:lnTo>
                  <a:lnTo>
                    <a:pt x="59" y="40"/>
                  </a:lnTo>
                  <a:lnTo>
                    <a:pt x="78" y="40"/>
                  </a:lnTo>
                  <a:lnTo>
                    <a:pt x="98" y="32"/>
                  </a:lnTo>
                  <a:lnTo>
                    <a:pt x="91" y="16"/>
                  </a:lnTo>
                  <a:lnTo>
                    <a:pt x="78" y="16"/>
                  </a:lnTo>
                  <a:lnTo>
                    <a:pt x="65" y="0"/>
                  </a:lnTo>
                  <a:lnTo>
                    <a:pt x="46" y="8"/>
                  </a:lnTo>
                  <a:lnTo>
                    <a:pt x="33" y="0"/>
                  </a:lnTo>
                  <a:lnTo>
                    <a:pt x="26" y="8"/>
                  </a:lnTo>
                  <a:lnTo>
                    <a:pt x="7"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90" name="Freeform 28">
              <a:extLst>
                <a:ext uri="{FF2B5EF4-FFF2-40B4-BE49-F238E27FC236}">
                  <a16:creationId xmlns:a16="http://schemas.microsoft.com/office/drawing/2014/main" id="{D119453D-A15F-8FC6-A1EA-B26BB83208E8}"/>
                </a:ext>
              </a:extLst>
            </p:cNvPr>
            <p:cNvSpPr>
              <a:spLocks/>
            </p:cNvSpPr>
            <p:nvPr/>
          </p:nvSpPr>
          <p:spPr bwMode="auto">
            <a:xfrm>
              <a:off x="4427" y="2863"/>
              <a:ext cx="39" cy="48"/>
            </a:xfrm>
            <a:custGeom>
              <a:avLst/>
              <a:gdLst/>
              <a:ahLst/>
              <a:cxnLst>
                <a:cxn ang="0">
                  <a:pos x="0" y="0"/>
                </a:cxn>
                <a:cxn ang="0">
                  <a:pos x="0" y="32"/>
                </a:cxn>
                <a:cxn ang="0">
                  <a:pos x="0" y="48"/>
                </a:cxn>
                <a:cxn ang="0">
                  <a:pos x="13" y="48"/>
                </a:cxn>
                <a:cxn ang="0">
                  <a:pos x="19" y="48"/>
                </a:cxn>
                <a:cxn ang="0">
                  <a:pos x="26" y="48"/>
                </a:cxn>
                <a:cxn ang="0">
                  <a:pos x="39" y="48"/>
                </a:cxn>
                <a:cxn ang="0">
                  <a:pos x="39" y="32"/>
                </a:cxn>
                <a:cxn ang="0">
                  <a:pos x="39" y="0"/>
                </a:cxn>
                <a:cxn ang="0">
                  <a:pos x="32" y="0"/>
                </a:cxn>
                <a:cxn ang="0">
                  <a:pos x="0" y="0"/>
                </a:cxn>
              </a:cxnLst>
              <a:rect l="0" t="0" r="r" b="b"/>
              <a:pathLst>
                <a:path w="39" h="48">
                  <a:moveTo>
                    <a:pt x="0" y="0"/>
                  </a:moveTo>
                  <a:lnTo>
                    <a:pt x="0" y="32"/>
                  </a:lnTo>
                  <a:lnTo>
                    <a:pt x="0" y="48"/>
                  </a:lnTo>
                  <a:lnTo>
                    <a:pt x="13" y="48"/>
                  </a:lnTo>
                  <a:lnTo>
                    <a:pt x="19" y="48"/>
                  </a:lnTo>
                  <a:lnTo>
                    <a:pt x="26" y="48"/>
                  </a:lnTo>
                  <a:lnTo>
                    <a:pt x="39" y="48"/>
                  </a:lnTo>
                  <a:lnTo>
                    <a:pt x="39" y="32"/>
                  </a:lnTo>
                  <a:lnTo>
                    <a:pt x="39" y="0"/>
                  </a:lnTo>
                  <a:lnTo>
                    <a:pt x="32" y="0"/>
                  </a:lnTo>
                  <a:lnTo>
                    <a:pt x="0"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91" name="Freeform 29">
              <a:extLst>
                <a:ext uri="{FF2B5EF4-FFF2-40B4-BE49-F238E27FC236}">
                  <a16:creationId xmlns:a16="http://schemas.microsoft.com/office/drawing/2014/main" id="{C12F5272-6873-D704-A9B0-96CEE4CF663B}"/>
                </a:ext>
              </a:extLst>
            </p:cNvPr>
            <p:cNvSpPr>
              <a:spLocks/>
            </p:cNvSpPr>
            <p:nvPr/>
          </p:nvSpPr>
          <p:spPr bwMode="auto">
            <a:xfrm>
              <a:off x="4459" y="2567"/>
              <a:ext cx="20" cy="32"/>
            </a:xfrm>
            <a:custGeom>
              <a:avLst/>
              <a:gdLst/>
              <a:ahLst/>
              <a:cxnLst>
                <a:cxn ang="0">
                  <a:pos x="0" y="8"/>
                </a:cxn>
                <a:cxn ang="0">
                  <a:pos x="0" y="0"/>
                </a:cxn>
                <a:cxn ang="0">
                  <a:pos x="13" y="0"/>
                </a:cxn>
                <a:cxn ang="0">
                  <a:pos x="20" y="16"/>
                </a:cxn>
                <a:cxn ang="0">
                  <a:pos x="20" y="24"/>
                </a:cxn>
                <a:cxn ang="0">
                  <a:pos x="20" y="32"/>
                </a:cxn>
                <a:cxn ang="0">
                  <a:pos x="13" y="32"/>
                </a:cxn>
                <a:cxn ang="0">
                  <a:pos x="13" y="24"/>
                </a:cxn>
                <a:cxn ang="0">
                  <a:pos x="7" y="8"/>
                </a:cxn>
                <a:cxn ang="0">
                  <a:pos x="0" y="8"/>
                </a:cxn>
              </a:cxnLst>
              <a:rect l="0" t="0" r="r" b="b"/>
              <a:pathLst>
                <a:path w="20" h="32">
                  <a:moveTo>
                    <a:pt x="0" y="8"/>
                  </a:moveTo>
                  <a:lnTo>
                    <a:pt x="0" y="0"/>
                  </a:lnTo>
                  <a:lnTo>
                    <a:pt x="13" y="0"/>
                  </a:lnTo>
                  <a:lnTo>
                    <a:pt x="20" y="16"/>
                  </a:lnTo>
                  <a:lnTo>
                    <a:pt x="20" y="24"/>
                  </a:lnTo>
                  <a:lnTo>
                    <a:pt x="20" y="32"/>
                  </a:lnTo>
                  <a:lnTo>
                    <a:pt x="13" y="32"/>
                  </a:lnTo>
                  <a:lnTo>
                    <a:pt x="13" y="24"/>
                  </a:lnTo>
                  <a:lnTo>
                    <a:pt x="7" y="8"/>
                  </a:lnTo>
                  <a:lnTo>
                    <a:pt x="0"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92" name="Freeform 30">
              <a:extLst>
                <a:ext uri="{FF2B5EF4-FFF2-40B4-BE49-F238E27FC236}">
                  <a16:creationId xmlns:a16="http://schemas.microsoft.com/office/drawing/2014/main" id="{83891F8D-0190-E592-3E1C-C340D1B75B74}"/>
                </a:ext>
              </a:extLst>
            </p:cNvPr>
            <p:cNvSpPr>
              <a:spLocks/>
            </p:cNvSpPr>
            <p:nvPr/>
          </p:nvSpPr>
          <p:spPr bwMode="auto">
            <a:xfrm>
              <a:off x="4414" y="2551"/>
              <a:ext cx="52" cy="64"/>
            </a:xfrm>
            <a:custGeom>
              <a:avLst/>
              <a:gdLst/>
              <a:ahLst/>
              <a:cxnLst>
                <a:cxn ang="0">
                  <a:pos x="13" y="24"/>
                </a:cxn>
                <a:cxn ang="0">
                  <a:pos x="7" y="24"/>
                </a:cxn>
                <a:cxn ang="0">
                  <a:pos x="0" y="32"/>
                </a:cxn>
                <a:cxn ang="0">
                  <a:pos x="0" y="40"/>
                </a:cxn>
                <a:cxn ang="0">
                  <a:pos x="7" y="40"/>
                </a:cxn>
                <a:cxn ang="0">
                  <a:pos x="13" y="56"/>
                </a:cxn>
                <a:cxn ang="0">
                  <a:pos x="32" y="64"/>
                </a:cxn>
                <a:cxn ang="0">
                  <a:pos x="39" y="64"/>
                </a:cxn>
                <a:cxn ang="0">
                  <a:pos x="45" y="48"/>
                </a:cxn>
                <a:cxn ang="0">
                  <a:pos x="52" y="32"/>
                </a:cxn>
                <a:cxn ang="0">
                  <a:pos x="45" y="8"/>
                </a:cxn>
                <a:cxn ang="0">
                  <a:pos x="26" y="0"/>
                </a:cxn>
                <a:cxn ang="0">
                  <a:pos x="13" y="16"/>
                </a:cxn>
                <a:cxn ang="0">
                  <a:pos x="13" y="24"/>
                </a:cxn>
              </a:cxnLst>
              <a:rect l="0" t="0" r="r" b="b"/>
              <a:pathLst>
                <a:path w="52" h="64">
                  <a:moveTo>
                    <a:pt x="13" y="24"/>
                  </a:moveTo>
                  <a:lnTo>
                    <a:pt x="7" y="24"/>
                  </a:lnTo>
                  <a:lnTo>
                    <a:pt x="0" y="32"/>
                  </a:lnTo>
                  <a:lnTo>
                    <a:pt x="0" y="40"/>
                  </a:lnTo>
                  <a:lnTo>
                    <a:pt x="7" y="40"/>
                  </a:lnTo>
                  <a:lnTo>
                    <a:pt x="13" y="56"/>
                  </a:lnTo>
                  <a:lnTo>
                    <a:pt x="32" y="64"/>
                  </a:lnTo>
                  <a:lnTo>
                    <a:pt x="39" y="64"/>
                  </a:lnTo>
                  <a:lnTo>
                    <a:pt x="45" y="48"/>
                  </a:lnTo>
                  <a:lnTo>
                    <a:pt x="52" y="32"/>
                  </a:lnTo>
                  <a:lnTo>
                    <a:pt x="45" y="8"/>
                  </a:lnTo>
                  <a:lnTo>
                    <a:pt x="26" y="0"/>
                  </a:lnTo>
                  <a:lnTo>
                    <a:pt x="13" y="16"/>
                  </a:lnTo>
                  <a:lnTo>
                    <a:pt x="13" y="24"/>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93" name="Freeform 31">
              <a:extLst>
                <a:ext uri="{FF2B5EF4-FFF2-40B4-BE49-F238E27FC236}">
                  <a16:creationId xmlns:a16="http://schemas.microsoft.com/office/drawing/2014/main" id="{5B8CC8BC-6928-E022-AD5F-23090443C559}"/>
                </a:ext>
              </a:extLst>
            </p:cNvPr>
            <p:cNvSpPr>
              <a:spLocks/>
            </p:cNvSpPr>
            <p:nvPr/>
          </p:nvSpPr>
          <p:spPr bwMode="auto">
            <a:xfrm>
              <a:off x="4408" y="2535"/>
              <a:ext cx="58" cy="56"/>
            </a:xfrm>
            <a:custGeom>
              <a:avLst/>
              <a:gdLst/>
              <a:ahLst/>
              <a:cxnLst>
                <a:cxn ang="0">
                  <a:pos x="51" y="32"/>
                </a:cxn>
                <a:cxn ang="0">
                  <a:pos x="58" y="32"/>
                </a:cxn>
                <a:cxn ang="0">
                  <a:pos x="58" y="16"/>
                </a:cxn>
                <a:cxn ang="0">
                  <a:pos x="51" y="8"/>
                </a:cxn>
                <a:cxn ang="0">
                  <a:pos x="38" y="0"/>
                </a:cxn>
                <a:cxn ang="0">
                  <a:pos x="26" y="0"/>
                </a:cxn>
                <a:cxn ang="0">
                  <a:pos x="19" y="0"/>
                </a:cxn>
                <a:cxn ang="0">
                  <a:pos x="13" y="8"/>
                </a:cxn>
                <a:cxn ang="0">
                  <a:pos x="6" y="16"/>
                </a:cxn>
                <a:cxn ang="0">
                  <a:pos x="0" y="32"/>
                </a:cxn>
                <a:cxn ang="0">
                  <a:pos x="0" y="48"/>
                </a:cxn>
                <a:cxn ang="0">
                  <a:pos x="6" y="56"/>
                </a:cxn>
                <a:cxn ang="0">
                  <a:pos x="6" y="48"/>
                </a:cxn>
                <a:cxn ang="0">
                  <a:pos x="13" y="40"/>
                </a:cxn>
                <a:cxn ang="0">
                  <a:pos x="19" y="40"/>
                </a:cxn>
                <a:cxn ang="0">
                  <a:pos x="19" y="32"/>
                </a:cxn>
                <a:cxn ang="0">
                  <a:pos x="32" y="16"/>
                </a:cxn>
                <a:cxn ang="0">
                  <a:pos x="51" y="24"/>
                </a:cxn>
                <a:cxn ang="0">
                  <a:pos x="51" y="32"/>
                </a:cxn>
              </a:cxnLst>
              <a:rect l="0" t="0" r="r" b="b"/>
              <a:pathLst>
                <a:path w="58" h="56">
                  <a:moveTo>
                    <a:pt x="51" y="32"/>
                  </a:moveTo>
                  <a:lnTo>
                    <a:pt x="58" y="32"/>
                  </a:lnTo>
                  <a:lnTo>
                    <a:pt x="58" y="16"/>
                  </a:lnTo>
                  <a:lnTo>
                    <a:pt x="51" y="8"/>
                  </a:lnTo>
                  <a:lnTo>
                    <a:pt x="38" y="0"/>
                  </a:lnTo>
                  <a:lnTo>
                    <a:pt x="26" y="0"/>
                  </a:lnTo>
                  <a:lnTo>
                    <a:pt x="19" y="0"/>
                  </a:lnTo>
                  <a:lnTo>
                    <a:pt x="13" y="8"/>
                  </a:lnTo>
                  <a:lnTo>
                    <a:pt x="6" y="16"/>
                  </a:lnTo>
                  <a:lnTo>
                    <a:pt x="0" y="32"/>
                  </a:lnTo>
                  <a:lnTo>
                    <a:pt x="0" y="48"/>
                  </a:lnTo>
                  <a:lnTo>
                    <a:pt x="6" y="56"/>
                  </a:lnTo>
                  <a:lnTo>
                    <a:pt x="6" y="48"/>
                  </a:lnTo>
                  <a:lnTo>
                    <a:pt x="13" y="40"/>
                  </a:lnTo>
                  <a:lnTo>
                    <a:pt x="19" y="40"/>
                  </a:lnTo>
                  <a:lnTo>
                    <a:pt x="19" y="32"/>
                  </a:lnTo>
                  <a:lnTo>
                    <a:pt x="32" y="16"/>
                  </a:lnTo>
                  <a:lnTo>
                    <a:pt x="51" y="24"/>
                  </a:lnTo>
                  <a:lnTo>
                    <a:pt x="51" y="32"/>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94" name="Freeform 32">
              <a:extLst>
                <a:ext uri="{FF2B5EF4-FFF2-40B4-BE49-F238E27FC236}">
                  <a16:creationId xmlns:a16="http://schemas.microsoft.com/office/drawing/2014/main" id="{665B3CA0-C64A-627F-DC47-505986EF9615}"/>
                </a:ext>
              </a:extLst>
            </p:cNvPr>
            <p:cNvSpPr>
              <a:spLocks/>
            </p:cNvSpPr>
            <p:nvPr/>
          </p:nvSpPr>
          <p:spPr bwMode="auto">
            <a:xfrm>
              <a:off x="4388" y="2567"/>
              <a:ext cx="26" cy="40"/>
            </a:xfrm>
            <a:custGeom>
              <a:avLst/>
              <a:gdLst/>
              <a:ahLst/>
              <a:cxnLst>
                <a:cxn ang="0">
                  <a:pos x="26" y="8"/>
                </a:cxn>
                <a:cxn ang="0">
                  <a:pos x="20" y="0"/>
                </a:cxn>
                <a:cxn ang="0">
                  <a:pos x="13" y="8"/>
                </a:cxn>
                <a:cxn ang="0">
                  <a:pos x="0" y="16"/>
                </a:cxn>
                <a:cxn ang="0">
                  <a:pos x="0" y="24"/>
                </a:cxn>
                <a:cxn ang="0">
                  <a:pos x="0" y="40"/>
                </a:cxn>
                <a:cxn ang="0">
                  <a:pos x="7" y="32"/>
                </a:cxn>
                <a:cxn ang="0">
                  <a:pos x="13" y="24"/>
                </a:cxn>
                <a:cxn ang="0">
                  <a:pos x="20" y="16"/>
                </a:cxn>
                <a:cxn ang="0">
                  <a:pos x="26" y="8"/>
                </a:cxn>
              </a:cxnLst>
              <a:rect l="0" t="0" r="r" b="b"/>
              <a:pathLst>
                <a:path w="26" h="40">
                  <a:moveTo>
                    <a:pt x="26" y="8"/>
                  </a:moveTo>
                  <a:lnTo>
                    <a:pt x="20" y="0"/>
                  </a:lnTo>
                  <a:lnTo>
                    <a:pt x="13" y="8"/>
                  </a:lnTo>
                  <a:lnTo>
                    <a:pt x="0" y="16"/>
                  </a:lnTo>
                  <a:lnTo>
                    <a:pt x="0" y="24"/>
                  </a:lnTo>
                  <a:lnTo>
                    <a:pt x="0" y="40"/>
                  </a:lnTo>
                  <a:lnTo>
                    <a:pt x="7" y="32"/>
                  </a:lnTo>
                  <a:lnTo>
                    <a:pt x="13" y="24"/>
                  </a:lnTo>
                  <a:lnTo>
                    <a:pt x="20" y="16"/>
                  </a:lnTo>
                  <a:lnTo>
                    <a:pt x="26"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95" name="Freeform 33">
              <a:extLst>
                <a:ext uri="{FF2B5EF4-FFF2-40B4-BE49-F238E27FC236}">
                  <a16:creationId xmlns:a16="http://schemas.microsoft.com/office/drawing/2014/main" id="{48948BAF-BD8B-35BB-C4E4-196CBDC19FBC}"/>
                </a:ext>
              </a:extLst>
            </p:cNvPr>
            <p:cNvSpPr>
              <a:spLocks/>
            </p:cNvSpPr>
            <p:nvPr/>
          </p:nvSpPr>
          <p:spPr bwMode="auto">
            <a:xfrm>
              <a:off x="4408" y="2559"/>
              <a:ext cx="6" cy="16"/>
            </a:xfrm>
            <a:custGeom>
              <a:avLst/>
              <a:gdLst/>
              <a:ahLst/>
              <a:cxnLst>
                <a:cxn ang="0">
                  <a:pos x="0" y="8"/>
                </a:cxn>
                <a:cxn ang="0">
                  <a:pos x="0" y="8"/>
                </a:cxn>
                <a:cxn ang="0">
                  <a:pos x="0" y="0"/>
                </a:cxn>
                <a:cxn ang="0">
                  <a:pos x="0" y="8"/>
                </a:cxn>
                <a:cxn ang="0">
                  <a:pos x="6" y="8"/>
                </a:cxn>
                <a:cxn ang="0">
                  <a:pos x="6" y="8"/>
                </a:cxn>
                <a:cxn ang="0">
                  <a:pos x="6" y="8"/>
                </a:cxn>
                <a:cxn ang="0">
                  <a:pos x="6" y="16"/>
                </a:cxn>
                <a:cxn ang="0">
                  <a:pos x="0" y="8"/>
                </a:cxn>
              </a:cxnLst>
              <a:rect l="0" t="0" r="r" b="b"/>
              <a:pathLst>
                <a:path w="6" h="16">
                  <a:moveTo>
                    <a:pt x="0" y="8"/>
                  </a:moveTo>
                  <a:lnTo>
                    <a:pt x="0" y="8"/>
                  </a:lnTo>
                  <a:lnTo>
                    <a:pt x="0" y="0"/>
                  </a:lnTo>
                  <a:lnTo>
                    <a:pt x="0" y="8"/>
                  </a:lnTo>
                  <a:lnTo>
                    <a:pt x="6" y="8"/>
                  </a:lnTo>
                  <a:lnTo>
                    <a:pt x="6" y="8"/>
                  </a:lnTo>
                  <a:lnTo>
                    <a:pt x="6" y="8"/>
                  </a:lnTo>
                  <a:lnTo>
                    <a:pt x="6" y="16"/>
                  </a:lnTo>
                  <a:lnTo>
                    <a:pt x="0"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96" name="Freeform 34">
              <a:extLst>
                <a:ext uri="{FF2B5EF4-FFF2-40B4-BE49-F238E27FC236}">
                  <a16:creationId xmlns:a16="http://schemas.microsoft.com/office/drawing/2014/main" id="{C08CB428-95D5-D417-BEBB-AC0AA731EE30}"/>
                </a:ext>
              </a:extLst>
            </p:cNvPr>
            <p:cNvSpPr>
              <a:spLocks/>
            </p:cNvSpPr>
            <p:nvPr/>
          </p:nvSpPr>
          <p:spPr bwMode="auto">
            <a:xfrm>
              <a:off x="4421" y="2591"/>
              <a:ext cx="25" cy="40"/>
            </a:xfrm>
            <a:custGeom>
              <a:avLst/>
              <a:gdLst/>
              <a:ahLst/>
              <a:cxnLst>
                <a:cxn ang="0">
                  <a:pos x="0" y="0"/>
                </a:cxn>
                <a:cxn ang="0">
                  <a:pos x="0" y="32"/>
                </a:cxn>
                <a:cxn ang="0">
                  <a:pos x="6" y="40"/>
                </a:cxn>
                <a:cxn ang="0">
                  <a:pos x="19" y="40"/>
                </a:cxn>
                <a:cxn ang="0">
                  <a:pos x="25" y="32"/>
                </a:cxn>
                <a:cxn ang="0">
                  <a:pos x="25" y="24"/>
                </a:cxn>
                <a:cxn ang="0">
                  <a:pos x="25" y="24"/>
                </a:cxn>
                <a:cxn ang="0">
                  <a:pos x="6" y="16"/>
                </a:cxn>
                <a:cxn ang="0">
                  <a:pos x="0" y="0"/>
                </a:cxn>
              </a:cxnLst>
              <a:rect l="0" t="0" r="r" b="b"/>
              <a:pathLst>
                <a:path w="25" h="40">
                  <a:moveTo>
                    <a:pt x="0" y="0"/>
                  </a:moveTo>
                  <a:lnTo>
                    <a:pt x="0" y="32"/>
                  </a:lnTo>
                  <a:lnTo>
                    <a:pt x="6" y="40"/>
                  </a:lnTo>
                  <a:lnTo>
                    <a:pt x="19" y="40"/>
                  </a:lnTo>
                  <a:lnTo>
                    <a:pt x="25" y="32"/>
                  </a:lnTo>
                  <a:lnTo>
                    <a:pt x="25" y="24"/>
                  </a:lnTo>
                  <a:lnTo>
                    <a:pt x="25" y="24"/>
                  </a:lnTo>
                  <a:lnTo>
                    <a:pt x="6" y="16"/>
                  </a:lnTo>
                  <a:lnTo>
                    <a:pt x="0"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97" name="Freeform 35">
              <a:extLst>
                <a:ext uri="{FF2B5EF4-FFF2-40B4-BE49-F238E27FC236}">
                  <a16:creationId xmlns:a16="http://schemas.microsoft.com/office/drawing/2014/main" id="{50B2712A-20C9-9201-4A87-D8A8D30DE44F}"/>
                </a:ext>
              </a:extLst>
            </p:cNvPr>
            <p:cNvSpPr>
              <a:spLocks/>
            </p:cNvSpPr>
            <p:nvPr/>
          </p:nvSpPr>
          <p:spPr bwMode="auto">
            <a:xfrm>
              <a:off x="4382" y="2615"/>
              <a:ext cx="116" cy="248"/>
            </a:xfrm>
            <a:custGeom>
              <a:avLst/>
              <a:gdLst/>
              <a:ahLst/>
              <a:cxnLst>
                <a:cxn ang="0">
                  <a:pos x="39" y="8"/>
                </a:cxn>
                <a:cxn ang="0">
                  <a:pos x="19" y="16"/>
                </a:cxn>
                <a:cxn ang="0">
                  <a:pos x="6" y="8"/>
                </a:cxn>
                <a:cxn ang="0">
                  <a:pos x="0" y="16"/>
                </a:cxn>
                <a:cxn ang="0">
                  <a:pos x="0" y="32"/>
                </a:cxn>
                <a:cxn ang="0">
                  <a:pos x="0" y="56"/>
                </a:cxn>
                <a:cxn ang="0">
                  <a:pos x="13" y="64"/>
                </a:cxn>
                <a:cxn ang="0">
                  <a:pos x="19" y="64"/>
                </a:cxn>
                <a:cxn ang="0">
                  <a:pos x="26" y="112"/>
                </a:cxn>
                <a:cxn ang="0">
                  <a:pos x="13" y="208"/>
                </a:cxn>
                <a:cxn ang="0">
                  <a:pos x="6" y="240"/>
                </a:cxn>
                <a:cxn ang="0">
                  <a:pos x="39" y="248"/>
                </a:cxn>
                <a:cxn ang="0">
                  <a:pos x="77" y="248"/>
                </a:cxn>
                <a:cxn ang="0">
                  <a:pos x="97" y="240"/>
                </a:cxn>
                <a:cxn ang="0">
                  <a:pos x="116" y="224"/>
                </a:cxn>
                <a:cxn ang="0">
                  <a:pos x="116" y="208"/>
                </a:cxn>
                <a:cxn ang="0">
                  <a:pos x="90" y="112"/>
                </a:cxn>
                <a:cxn ang="0">
                  <a:pos x="90" y="64"/>
                </a:cxn>
                <a:cxn ang="0">
                  <a:pos x="97" y="56"/>
                </a:cxn>
                <a:cxn ang="0">
                  <a:pos x="103" y="48"/>
                </a:cxn>
                <a:cxn ang="0">
                  <a:pos x="103" y="24"/>
                </a:cxn>
                <a:cxn ang="0">
                  <a:pos x="97" y="8"/>
                </a:cxn>
                <a:cxn ang="0">
                  <a:pos x="84" y="8"/>
                </a:cxn>
                <a:cxn ang="0">
                  <a:pos x="64" y="0"/>
                </a:cxn>
                <a:cxn ang="0">
                  <a:pos x="64" y="8"/>
                </a:cxn>
                <a:cxn ang="0">
                  <a:pos x="58" y="16"/>
                </a:cxn>
                <a:cxn ang="0">
                  <a:pos x="45" y="16"/>
                </a:cxn>
                <a:cxn ang="0">
                  <a:pos x="39" y="8"/>
                </a:cxn>
              </a:cxnLst>
              <a:rect l="0" t="0" r="r" b="b"/>
              <a:pathLst>
                <a:path w="116" h="248">
                  <a:moveTo>
                    <a:pt x="39" y="8"/>
                  </a:moveTo>
                  <a:lnTo>
                    <a:pt x="19" y="16"/>
                  </a:lnTo>
                  <a:lnTo>
                    <a:pt x="6" y="8"/>
                  </a:lnTo>
                  <a:lnTo>
                    <a:pt x="0" y="16"/>
                  </a:lnTo>
                  <a:lnTo>
                    <a:pt x="0" y="32"/>
                  </a:lnTo>
                  <a:lnTo>
                    <a:pt x="0" y="56"/>
                  </a:lnTo>
                  <a:lnTo>
                    <a:pt x="13" y="64"/>
                  </a:lnTo>
                  <a:lnTo>
                    <a:pt x="19" y="64"/>
                  </a:lnTo>
                  <a:lnTo>
                    <a:pt x="26" y="112"/>
                  </a:lnTo>
                  <a:lnTo>
                    <a:pt x="13" y="208"/>
                  </a:lnTo>
                  <a:lnTo>
                    <a:pt x="6" y="240"/>
                  </a:lnTo>
                  <a:lnTo>
                    <a:pt x="39" y="248"/>
                  </a:lnTo>
                  <a:lnTo>
                    <a:pt x="77" y="248"/>
                  </a:lnTo>
                  <a:lnTo>
                    <a:pt x="97" y="240"/>
                  </a:lnTo>
                  <a:lnTo>
                    <a:pt x="116" y="224"/>
                  </a:lnTo>
                  <a:lnTo>
                    <a:pt x="116" y="208"/>
                  </a:lnTo>
                  <a:lnTo>
                    <a:pt x="90" y="112"/>
                  </a:lnTo>
                  <a:lnTo>
                    <a:pt x="90" y="64"/>
                  </a:lnTo>
                  <a:lnTo>
                    <a:pt x="97" y="56"/>
                  </a:lnTo>
                  <a:lnTo>
                    <a:pt x="103" y="48"/>
                  </a:lnTo>
                  <a:lnTo>
                    <a:pt x="103" y="24"/>
                  </a:lnTo>
                  <a:lnTo>
                    <a:pt x="97" y="8"/>
                  </a:lnTo>
                  <a:lnTo>
                    <a:pt x="84" y="8"/>
                  </a:lnTo>
                  <a:lnTo>
                    <a:pt x="64" y="0"/>
                  </a:lnTo>
                  <a:lnTo>
                    <a:pt x="64" y="8"/>
                  </a:lnTo>
                  <a:lnTo>
                    <a:pt x="58" y="16"/>
                  </a:lnTo>
                  <a:lnTo>
                    <a:pt x="45" y="16"/>
                  </a:lnTo>
                  <a:lnTo>
                    <a:pt x="39"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98" name="Line 36">
              <a:extLst>
                <a:ext uri="{FF2B5EF4-FFF2-40B4-BE49-F238E27FC236}">
                  <a16:creationId xmlns:a16="http://schemas.microsoft.com/office/drawing/2014/main" id="{AC52877A-14FC-A187-8947-17137433FDDD}"/>
                </a:ext>
              </a:extLst>
            </p:cNvPr>
            <p:cNvSpPr>
              <a:spLocks noChangeShapeType="1"/>
            </p:cNvSpPr>
            <p:nvPr/>
          </p:nvSpPr>
          <p:spPr bwMode="auto">
            <a:xfrm flipV="1">
              <a:off x="4472" y="2655"/>
              <a:ext cx="1" cy="24"/>
            </a:xfrm>
            <a:prstGeom prst="line">
              <a:avLst/>
            </a:prstGeom>
            <a:noFill/>
            <a:ln w="9525">
              <a:solidFill>
                <a:srgbClr val="E4BB0C"/>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99" name="Freeform 37">
              <a:extLst>
                <a:ext uri="{FF2B5EF4-FFF2-40B4-BE49-F238E27FC236}">
                  <a16:creationId xmlns:a16="http://schemas.microsoft.com/office/drawing/2014/main" id="{CAD55E21-2816-3CC7-9695-B3576EAD809F}"/>
                </a:ext>
              </a:extLst>
            </p:cNvPr>
            <p:cNvSpPr>
              <a:spLocks/>
            </p:cNvSpPr>
            <p:nvPr/>
          </p:nvSpPr>
          <p:spPr bwMode="auto">
            <a:xfrm>
              <a:off x="4388" y="2671"/>
              <a:ext cx="20" cy="24"/>
            </a:xfrm>
            <a:custGeom>
              <a:avLst/>
              <a:gdLst/>
              <a:ahLst/>
              <a:cxnLst>
                <a:cxn ang="0">
                  <a:pos x="0" y="0"/>
                </a:cxn>
                <a:cxn ang="0">
                  <a:pos x="0" y="24"/>
                </a:cxn>
                <a:cxn ang="0">
                  <a:pos x="7" y="24"/>
                </a:cxn>
                <a:cxn ang="0">
                  <a:pos x="20" y="24"/>
                </a:cxn>
                <a:cxn ang="0">
                  <a:pos x="13" y="8"/>
                </a:cxn>
                <a:cxn ang="0">
                  <a:pos x="7" y="8"/>
                </a:cxn>
                <a:cxn ang="0">
                  <a:pos x="0" y="0"/>
                </a:cxn>
              </a:cxnLst>
              <a:rect l="0" t="0" r="r" b="b"/>
              <a:pathLst>
                <a:path w="20" h="24">
                  <a:moveTo>
                    <a:pt x="0" y="0"/>
                  </a:moveTo>
                  <a:lnTo>
                    <a:pt x="0" y="24"/>
                  </a:lnTo>
                  <a:lnTo>
                    <a:pt x="7" y="24"/>
                  </a:lnTo>
                  <a:lnTo>
                    <a:pt x="20" y="24"/>
                  </a:lnTo>
                  <a:lnTo>
                    <a:pt x="13" y="8"/>
                  </a:lnTo>
                  <a:lnTo>
                    <a:pt x="7" y="8"/>
                  </a:lnTo>
                  <a:lnTo>
                    <a:pt x="0"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00" name="Freeform 38">
              <a:extLst>
                <a:ext uri="{FF2B5EF4-FFF2-40B4-BE49-F238E27FC236}">
                  <a16:creationId xmlns:a16="http://schemas.microsoft.com/office/drawing/2014/main" id="{1FCB3C2D-B222-0872-8D3A-C72B32933381}"/>
                </a:ext>
              </a:extLst>
            </p:cNvPr>
            <p:cNvSpPr>
              <a:spLocks/>
            </p:cNvSpPr>
            <p:nvPr/>
          </p:nvSpPr>
          <p:spPr bwMode="auto">
            <a:xfrm>
              <a:off x="4472" y="2671"/>
              <a:ext cx="13" cy="16"/>
            </a:xfrm>
            <a:custGeom>
              <a:avLst/>
              <a:gdLst/>
              <a:ahLst/>
              <a:cxnLst>
                <a:cxn ang="0">
                  <a:pos x="0" y="8"/>
                </a:cxn>
                <a:cxn ang="0">
                  <a:pos x="0" y="16"/>
                </a:cxn>
                <a:cxn ang="0">
                  <a:pos x="7" y="16"/>
                </a:cxn>
                <a:cxn ang="0">
                  <a:pos x="13" y="16"/>
                </a:cxn>
                <a:cxn ang="0">
                  <a:pos x="13" y="0"/>
                </a:cxn>
                <a:cxn ang="0">
                  <a:pos x="7" y="0"/>
                </a:cxn>
                <a:cxn ang="0">
                  <a:pos x="0" y="8"/>
                </a:cxn>
              </a:cxnLst>
              <a:rect l="0" t="0" r="r" b="b"/>
              <a:pathLst>
                <a:path w="13" h="16">
                  <a:moveTo>
                    <a:pt x="0" y="8"/>
                  </a:moveTo>
                  <a:lnTo>
                    <a:pt x="0" y="16"/>
                  </a:lnTo>
                  <a:lnTo>
                    <a:pt x="7" y="16"/>
                  </a:lnTo>
                  <a:lnTo>
                    <a:pt x="13" y="16"/>
                  </a:lnTo>
                  <a:lnTo>
                    <a:pt x="13" y="0"/>
                  </a:lnTo>
                  <a:lnTo>
                    <a:pt x="7" y="0"/>
                  </a:lnTo>
                  <a:lnTo>
                    <a:pt x="0"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01" name="Freeform 39">
              <a:extLst>
                <a:ext uri="{FF2B5EF4-FFF2-40B4-BE49-F238E27FC236}">
                  <a16:creationId xmlns:a16="http://schemas.microsoft.com/office/drawing/2014/main" id="{F8D58BA6-EDE2-8B45-28F8-EE051B0B8EFC}"/>
                </a:ext>
              </a:extLst>
            </p:cNvPr>
            <p:cNvSpPr>
              <a:spLocks/>
            </p:cNvSpPr>
            <p:nvPr/>
          </p:nvSpPr>
          <p:spPr bwMode="auto">
            <a:xfrm>
              <a:off x="4388" y="2695"/>
              <a:ext cx="71" cy="64"/>
            </a:xfrm>
            <a:custGeom>
              <a:avLst/>
              <a:gdLst/>
              <a:ahLst/>
              <a:cxnLst>
                <a:cxn ang="0">
                  <a:pos x="0" y="0"/>
                </a:cxn>
                <a:cxn ang="0">
                  <a:pos x="7" y="24"/>
                </a:cxn>
                <a:cxn ang="0">
                  <a:pos x="39" y="48"/>
                </a:cxn>
                <a:cxn ang="0">
                  <a:pos x="46" y="56"/>
                </a:cxn>
                <a:cxn ang="0">
                  <a:pos x="58" y="64"/>
                </a:cxn>
                <a:cxn ang="0">
                  <a:pos x="71" y="48"/>
                </a:cxn>
                <a:cxn ang="0">
                  <a:pos x="65" y="48"/>
                </a:cxn>
                <a:cxn ang="0">
                  <a:pos x="58" y="40"/>
                </a:cxn>
                <a:cxn ang="0">
                  <a:pos x="65" y="40"/>
                </a:cxn>
                <a:cxn ang="0">
                  <a:pos x="65" y="32"/>
                </a:cxn>
                <a:cxn ang="0">
                  <a:pos x="52" y="32"/>
                </a:cxn>
                <a:cxn ang="0">
                  <a:pos x="46" y="40"/>
                </a:cxn>
                <a:cxn ang="0">
                  <a:pos x="20" y="16"/>
                </a:cxn>
                <a:cxn ang="0">
                  <a:pos x="20" y="0"/>
                </a:cxn>
                <a:cxn ang="0">
                  <a:pos x="0" y="0"/>
                </a:cxn>
              </a:cxnLst>
              <a:rect l="0" t="0" r="r" b="b"/>
              <a:pathLst>
                <a:path w="71" h="64">
                  <a:moveTo>
                    <a:pt x="0" y="0"/>
                  </a:moveTo>
                  <a:lnTo>
                    <a:pt x="7" y="24"/>
                  </a:lnTo>
                  <a:lnTo>
                    <a:pt x="39" y="48"/>
                  </a:lnTo>
                  <a:lnTo>
                    <a:pt x="46" y="56"/>
                  </a:lnTo>
                  <a:lnTo>
                    <a:pt x="58" y="64"/>
                  </a:lnTo>
                  <a:lnTo>
                    <a:pt x="71" y="48"/>
                  </a:lnTo>
                  <a:lnTo>
                    <a:pt x="65" y="48"/>
                  </a:lnTo>
                  <a:lnTo>
                    <a:pt x="58" y="40"/>
                  </a:lnTo>
                  <a:lnTo>
                    <a:pt x="65" y="40"/>
                  </a:lnTo>
                  <a:lnTo>
                    <a:pt x="65" y="32"/>
                  </a:lnTo>
                  <a:lnTo>
                    <a:pt x="52" y="32"/>
                  </a:lnTo>
                  <a:lnTo>
                    <a:pt x="46" y="40"/>
                  </a:lnTo>
                  <a:lnTo>
                    <a:pt x="20" y="16"/>
                  </a:lnTo>
                  <a:lnTo>
                    <a:pt x="20" y="0"/>
                  </a:lnTo>
                  <a:lnTo>
                    <a:pt x="0"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02" name="Freeform 40">
              <a:extLst>
                <a:ext uri="{FF2B5EF4-FFF2-40B4-BE49-F238E27FC236}">
                  <a16:creationId xmlns:a16="http://schemas.microsoft.com/office/drawing/2014/main" id="{E4D49F0F-3165-83F8-18AC-E25F62111666}"/>
                </a:ext>
              </a:extLst>
            </p:cNvPr>
            <p:cNvSpPr>
              <a:spLocks/>
            </p:cNvSpPr>
            <p:nvPr/>
          </p:nvSpPr>
          <p:spPr bwMode="auto">
            <a:xfrm>
              <a:off x="4446" y="2687"/>
              <a:ext cx="39" cy="56"/>
            </a:xfrm>
            <a:custGeom>
              <a:avLst/>
              <a:gdLst/>
              <a:ahLst/>
              <a:cxnLst>
                <a:cxn ang="0">
                  <a:pos x="26" y="0"/>
                </a:cxn>
                <a:cxn ang="0">
                  <a:pos x="26" y="32"/>
                </a:cxn>
                <a:cxn ang="0">
                  <a:pos x="13" y="40"/>
                </a:cxn>
                <a:cxn ang="0">
                  <a:pos x="7" y="40"/>
                </a:cxn>
                <a:cxn ang="0">
                  <a:pos x="7" y="48"/>
                </a:cxn>
                <a:cxn ang="0">
                  <a:pos x="0" y="48"/>
                </a:cxn>
                <a:cxn ang="0">
                  <a:pos x="7" y="56"/>
                </a:cxn>
                <a:cxn ang="0">
                  <a:pos x="13" y="56"/>
                </a:cxn>
                <a:cxn ang="0">
                  <a:pos x="20" y="56"/>
                </a:cxn>
                <a:cxn ang="0">
                  <a:pos x="26" y="48"/>
                </a:cxn>
                <a:cxn ang="0">
                  <a:pos x="39" y="32"/>
                </a:cxn>
                <a:cxn ang="0">
                  <a:pos x="39" y="0"/>
                </a:cxn>
                <a:cxn ang="0">
                  <a:pos x="33" y="0"/>
                </a:cxn>
                <a:cxn ang="0">
                  <a:pos x="26" y="0"/>
                </a:cxn>
              </a:cxnLst>
              <a:rect l="0" t="0" r="r" b="b"/>
              <a:pathLst>
                <a:path w="39" h="56">
                  <a:moveTo>
                    <a:pt x="26" y="0"/>
                  </a:moveTo>
                  <a:lnTo>
                    <a:pt x="26" y="32"/>
                  </a:lnTo>
                  <a:lnTo>
                    <a:pt x="13" y="40"/>
                  </a:lnTo>
                  <a:lnTo>
                    <a:pt x="7" y="40"/>
                  </a:lnTo>
                  <a:lnTo>
                    <a:pt x="7" y="48"/>
                  </a:lnTo>
                  <a:lnTo>
                    <a:pt x="0" y="48"/>
                  </a:lnTo>
                  <a:lnTo>
                    <a:pt x="7" y="56"/>
                  </a:lnTo>
                  <a:lnTo>
                    <a:pt x="13" y="56"/>
                  </a:lnTo>
                  <a:lnTo>
                    <a:pt x="20" y="56"/>
                  </a:lnTo>
                  <a:lnTo>
                    <a:pt x="26" y="48"/>
                  </a:lnTo>
                  <a:lnTo>
                    <a:pt x="39" y="32"/>
                  </a:lnTo>
                  <a:lnTo>
                    <a:pt x="39" y="0"/>
                  </a:lnTo>
                  <a:lnTo>
                    <a:pt x="33" y="0"/>
                  </a:lnTo>
                  <a:lnTo>
                    <a:pt x="26"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03" name="Freeform 41">
              <a:extLst>
                <a:ext uri="{FF2B5EF4-FFF2-40B4-BE49-F238E27FC236}">
                  <a16:creationId xmlns:a16="http://schemas.microsoft.com/office/drawing/2014/main" id="{BB756B57-D3EE-6758-6E3B-20117C5CA373}"/>
                </a:ext>
              </a:extLst>
            </p:cNvPr>
            <p:cNvSpPr>
              <a:spLocks/>
            </p:cNvSpPr>
            <p:nvPr/>
          </p:nvSpPr>
          <p:spPr bwMode="auto">
            <a:xfrm>
              <a:off x="4408" y="2615"/>
              <a:ext cx="51" cy="32"/>
            </a:xfrm>
            <a:custGeom>
              <a:avLst/>
              <a:gdLst/>
              <a:ahLst/>
              <a:cxnLst>
                <a:cxn ang="0">
                  <a:pos x="13" y="8"/>
                </a:cxn>
                <a:cxn ang="0">
                  <a:pos x="0" y="8"/>
                </a:cxn>
                <a:cxn ang="0">
                  <a:pos x="0" y="24"/>
                </a:cxn>
                <a:cxn ang="0">
                  <a:pos x="19" y="32"/>
                </a:cxn>
                <a:cxn ang="0">
                  <a:pos x="26" y="32"/>
                </a:cxn>
                <a:cxn ang="0">
                  <a:pos x="32" y="24"/>
                </a:cxn>
                <a:cxn ang="0">
                  <a:pos x="38" y="32"/>
                </a:cxn>
                <a:cxn ang="0">
                  <a:pos x="45" y="32"/>
                </a:cxn>
                <a:cxn ang="0">
                  <a:pos x="51" y="16"/>
                </a:cxn>
                <a:cxn ang="0">
                  <a:pos x="51" y="8"/>
                </a:cxn>
                <a:cxn ang="0">
                  <a:pos x="38" y="0"/>
                </a:cxn>
                <a:cxn ang="0">
                  <a:pos x="38" y="8"/>
                </a:cxn>
                <a:cxn ang="0">
                  <a:pos x="32" y="16"/>
                </a:cxn>
                <a:cxn ang="0">
                  <a:pos x="19" y="16"/>
                </a:cxn>
                <a:cxn ang="0">
                  <a:pos x="13" y="8"/>
                </a:cxn>
              </a:cxnLst>
              <a:rect l="0" t="0" r="r" b="b"/>
              <a:pathLst>
                <a:path w="51" h="32">
                  <a:moveTo>
                    <a:pt x="13" y="8"/>
                  </a:moveTo>
                  <a:lnTo>
                    <a:pt x="0" y="8"/>
                  </a:lnTo>
                  <a:lnTo>
                    <a:pt x="0" y="24"/>
                  </a:lnTo>
                  <a:lnTo>
                    <a:pt x="19" y="32"/>
                  </a:lnTo>
                  <a:lnTo>
                    <a:pt x="26" y="32"/>
                  </a:lnTo>
                  <a:lnTo>
                    <a:pt x="32" y="24"/>
                  </a:lnTo>
                  <a:lnTo>
                    <a:pt x="38" y="32"/>
                  </a:lnTo>
                  <a:lnTo>
                    <a:pt x="45" y="32"/>
                  </a:lnTo>
                  <a:lnTo>
                    <a:pt x="51" y="16"/>
                  </a:lnTo>
                  <a:lnTo>
                    <a:pt x="51" y="8"/>
                  </a:lnTo>
                  <a:lnTo>
                    <a:pt x="38" y="0"/>
                  </a:lnTo>
                  <a:lnTo>
                    <a:pt x="38" y="8"/>
                  </a:lnTo>
                  <a:lnTo>
                    <a:pt x="32" y="16"/>
                  </a:lnTo>
                  <a:lnTo>
                    <a:pt x="19" y="16"/>
                  </a:lnTo>
                  <a:lnTo>
                    <a:pt x="13"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04" name="Freeform 42">
              <a:extLst>
                <a:ext uri="{FF2B5EF4-FFF2-40B4-BE49-F238E27FC236}">
                  <a16:creationId xmlns:a16="http://schemas.microsoft.com/office/drawing/2014/main" id="{F04B05B0-363A-5B60-2C0C-C57D95943259}"/>
                </a:ext>
              </a:extLst>
            </p:cNvPr>
            <p:cNvSpPr>
              <a:spLocks/>
            </p:cNvSpPr>
            <p:nvPr/>
          </p:nvSpPr>
          <p:spPr bwMode="auto">
            <a:xfrm>
              <a:off x="4446" y="2863"/>
              <a:ext cx="1" cy="48"/>
            </a:xfrm>
            <a:custGeom>
              <a:avLst/>
              <a:gdLst/>
              <a:ahLst/>
              <a:cxnLst>
                <a:cxn ang="0">
                  <a:pos x="0" y="48"/>
                </a:cxn>
                <a:cxn ang="0">
                  <a:pos x="0" y="32"/>
                </a:cxn>
                <a:cxn ang="0">
                  <a:pos x="0" y="0"/>
                </a:cxn>
              </a:cxnLst>
              <a:rect l="0" t="0" r="r" b="b"/>
              <a:pathLst>
                <a:path h="48">
                  <a:moveTo>
                    <a:pt x="0" y="48"/>
                  </a:moveTo>
                  <a:lnTo>
                    <a:pt x="0" y="32"/>
                  </a:lnTo>
                  <a:lnTo>
                    <a:pt x="0" y="0"/>
                  </a:lnTo>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05" name="Freeform 43">
              <a:extLst>
                <a:ext uri="{FF2B5EF4-FFF2-40B4-BE49-F238E27FC236}">
                  <a16:creationId xmlns:a16="http://schemas.microsoft.com/office/drawing/2014/main" id="{F225B5F7-9A1E-3F4C-C7E5-54B78D31D719}"/>
                </a:ext>
              </a:extLst>
            </p:cNvPr>
            <p:cNvSpPr>
              <a:spLocks/>
            </p:cNvSpPr>
            <p:nvPr/>
          </p:nvSpPr>
          <p:spPr bwMode="auto">
            <a:xfrm>
              <a:off x="4427" y="2911"/>
              <a:ext cx="58" cy="32"/>
            </a:xfrm>
            <a:custGeom>
              <a:avLst/>
              <a:gdLst/>
              <a:ahLst/>
              <a:cxnLst>
                <a:cxn ang="0">
                  <a:pos x="0" y="0"/>
                </a:cxn>
                <a:cxn ang="0">
                  <a:pos x="0" y="16"/>
                </a:cxn>
                <a:cxn ang="0">
                  <a:pos x="0" y="24"/>
                </a:cxn>
                <a:cxn ang="0">
                  <a:pos x="7" y="32"/>
                </a:cxn>
                <a:cxn ang="0">
                  <a:pos x="26" y="32"/>
                </a:cxn>
                <a:cxn ang="0">
                  <a:pos x="32" y="24"/>
                </a:cxn>
                <a:cxn ang="0">
                  <a:pos x="32" y="24"/>
                </a:cxn>
                <a:cxn ang="0">
                  <a:pos x="45" y="24"/>
                </a:cxn>
                <a:cxn ang="0">
                  <a:pos x="58" y="16"/>
                </a:cxn>
                <a:cxn ang="0">
                  <a:pos x="58" y="8"/>
                </a:cxn>
                <a:cxn ang="0">
                  <a:pos x="45" y="8"/>
                </a:cxn>
                <a:cxn ang="0">
                  <a:pos x="39" y="0"/>
                </a:cxn>
                <a:cxn ang="0">
                  <a:pos x="26" y="0"/>
                </a:cxn>
                <a:cxn ang="0">
                  <a:pos x="19" y="0"/>
                </a:cxn>
                <a:cxn ang="0">
                  <a:pos x="13" y="0"/>
                </a:cxn>
                <a:cxn ang="0">
                  <a:pos x="0" y="0"/>
                </a:cxn>
              </a:cxnLst>
              <a:rect l="0" t="0" r="r" b="b"/>
              <a:pathLst>
                <a:path w="58" h="32">
                  <a:moveTo>
                    <a:pt x="0" y="0"/>
                  </a:moveTo>
                  <a:lnTo>
                    <a:pt x="0" y="16"/>
                  </a:lnTo>
                  <a:lnTo>
                    <a:pt x="0" y="24"/>
                  </a:lnTo>
                  <a:lnTo>
                    <a:pt x="7" y="32"/>
                  </a:lnTo>
                  <a:lnTo>
                    <a:pt x="26" y="32"/>
                  </a:lnTo>
                  <a:lnTo>
                    <a:pt x="32" y="24"/>
                  </a:lnTo>
                  <a:lnTo>
                    <a:pt x="32" y="24"/>
                  </a:lnTo>
                  <a:lnTo>
                    <a:pt x="45" y="24"/>
                  </a:lnTo>
                  <a:lnTo>
                    <a:pt x="58" y="16"/>
                  </a:lnTo>
                  <a:lnTo>
                    <a:pt x="58" y="8"/>
                  </a:lnTo>
                  <a:lnTo>
                    <a:pt x="45" y="8"/>
                  </a:lnTo>
                  <a:lnTo>
                    <a:pt x="39" y="0"/>
                  </a:lnTo>
                  <a:lnTo>
                    <a:pt x="26" y="0"/>
                  </a:lnTo>
                  <a:lnTo>
                    <a:pt x="19" y="0"/>
                  </a:lnTo>
                  <a:lnTo>
                    <a:pt x="13" y="0"/>
                  </a:lnTo>
                  <a:lnTo>
                    <a:pt x="0"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06" name="Freeform 44">
              <a:extLst>
                <a:ext uri="{FF2B5EF4-FFF2-40B4-BE49-F238E27FC236}">
                  <a16:creationId xmlns:a16="http://schemas.microsoft.com/office/drawing/2014/main" id="{802894CC-40B2-1CB8-402C-ABFCF11C643C}"/>
                </a:ext>
              </a:extLst>
            </p:cNvPr>
            <p:cNvSpPr>
              <a:spLocks/>
            </p:cNvSpPr>
            <p:nvPr/>
          </p:nvSpPr>
          <p:spPr bwMode="auto">
            <a:xfrm>
              <a:off x="4628" y="2839"/>
              <a:ext cx="52" cy="72"/>
            </a:xfrm>
            <a:custGeom>
              <a:avLst/>
              <a:gdLst/>
              <a:ahLst/>
              <a:cxnLst>
                <a:cxn ang="0">
                  <a:pos x="0" y="0"/>
                </a:cxn>
                <a:cxn ang="0">
                  <a:pos x="7" y="48"/>
                </a:cxn>
                <a:cxn ang="0">
                  <a:pos x="7" y="64"/>
                </a:cxn>
                <a:cxn ang="0">
                  <a:pos x="20" y="72"/>
                </a:cxn>
                <a:cxn ang="0">
                  <a:pos x="26" y="64"/>
                </a:cxn>
                <a:cxn ang="0">
                  <a:pos x="39" y="72"/>
                </a:cxn>
                <a:cxn ang="0">
                  <a:pos x="52" y="64"/>
                </a:cxn>
                <a:cxn ang="0">
                  <a:pos x="52" y="48"/>
                </a:cxn>
                <a:cxn ang="0">
                  <a:pos x="52" y="0"/>
                </a:cxn>
                <a:cxn ang="0">
                  <a:pos x="46" y="8"/>
                </a:cxn>
                <a:cxn ang="0">
                  <a:pos x="0" y="0"/>
                </a:cxn>
              </a:cxnLst>
              <a:rect l="0" t="0" r="r" b="b"/>
              <a:pathLst>
                <a:path w="52" h="72">
                  <a:moveTo>
                    <a:pt x="0" y="0"/>
                  </a:moveTo>
                  <a:lnTo>
                    <a:pt x="7" y="48"/>
                  </a:lnTo>
                  <a:lnTo>
                    <a:pt x="7" y="64"/>
                  </a:lnTo>
                  <a:lnTo>
                    <a:pt x="20" y="72"/>
                  </a:lnTo>
                  <a:lnTo>
                    <a:pt x="26" y="64"/>
                  </a:lnTo>
                  <a:lnTo>
                    <a:pt x="39" y="72"/>
                  </a:lnTo>
                  <a:lnTo>
                    <a:pt x="52" y="64"/>
                  </a:lnTo>
                  <a:lnTo>
                    <a:pt x="52" y="48"/>
                  </a:lnTo>
                  <a:lnTo>
                    <a:pt x="52" y="0"/>
                  </a:lnTo>
                  <a:lnTo>
                    <a:pt x="46" y="8"/>
                  </a:lnTo>
                  <a:lnTo>
                    <a:pt x="0"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07" name="Freeform 45">
              <a:extLst>
                <a:ext uri="{FF2B5EF4-FFF2-40B4-BE49-F238E27FC236}">
                  <a16:creationId xmlns:a16="http://schemas.microsoft.com/office/drawing/2014/main" id="{435743D3-32F9-CE6C-424C-8BD1AB499B9D}"/>
                </a:ext>
              </a:extLst>
            </p:cNvPr>
            <p:cNvSpPr>
              <a:spLocks/>
            </p:cNvSpPr>
            <p:nvPr/>
          </p:nvSpPr>
          <p:spPr bwMode="auto">
            <a:xfrm>
              <a:off x="4667" y="2487"/>
              <a:ext cx="33" cy="40"/>
            </a:xfrm>
            <a:custGeom>
              <a:avLst/>
              <a:gdLst/>
              <a:ahLst/>
              <a:cxnLst>
                <a:cxn ang="0">
                  <a:pos x="0" y="8"/>
                </a:cxn>
                <a:cxn ang="0">
                  <a:pos x="7" y="0"/>
                </a:cxn>
                <a:cxn ang="0">
                  <a:pos x="20" y="0"/>
                </a:cxn>
                <a:cxn ang="0">
                  <a:pos x="33" y="16"/>
                </a:cxn>
                <a:cxn ang="0">
                  <a:pos x="33" y="24"/>
                </a:cxn>
                <a:cxn ang="0">
                  <a:pos x="33" y="40"/>
                </a:cxn>
                <a:cxn ang="0">
                  <a:pos x="20" y="40"/>
                </a:cxn>
                <a:cxn ang="0">
                  <a:pos x="20" y="32"/>
                </a:cxn>
                <a:cxn ang="0">
                  <a:pos x="13" y="8"/>
                </a:cxn>
                <a:cxn ang="0">
                  <a:pos x="0" y="8"/>
                </a:cxn>
              </a:cxnLst>
              <a:rect l="0" t="0" r="r" b="b"/>
              <a:pathLst>
                <a:path w="33" h="40">
                  <a:moveTo>
                    <a:pt x="0" y="8"/>
                  </a:moveTo>
                  <a:lnTo>
                    <a:pt x="7" y="0"/>
                  </a:lnTo>
                  <a:lnTo>
                    <a:pt x="20" y="0"/>
                  </a:lnTo>
                  <a:lnTo>
                    <a:pt x="33" y="16"/>
                  </a:lnTo>
                  <a:lnTo>
                    <a:pt x="33" y="24"/>
                  </a:lnTo>
                  <a:lnTo>
                    <a:pt x="33" y="40"/>
                  </a:lnTo>
                  <a:lnTo>
                    <a:pt x="20" y="40"/>
                  </a:lnTo>
                  <a:lnTo>
                    <a:pt x="20" y="32"/>
                  </a:lnTo>
                  <a:lnTo>
                    <a:pt x="13" y="8"/>
                  </a:lnTo>
                  <a:lnTo>
                    <a:pt x="0"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08" name="Freeform 46">
              <a:extLst>
                <a:ext uri="{FF2B5EF4-FFF2-40B4-BE49-F238E27FC236}">
                  <a16:creationId xmlns:a16="http://schemas.microsoft.com/office/drawing/2014/main" id="{CE5725A9-8804-3A6E-5FB0-84E9909D911B}"/>
                </a:ext>
              </a:extLst>
            </p:cNvPr>
            <p:cNvSpPr>
              <a:spLocks/>
            </p:cNvSpPr>
            <p:nvPr/>
          </p:nvSpPr>
          <p:spPr bwMode="auto">
            <a:xfrm>
              <a:off x="4622" y="2464"/>
              <a:ext cx="52" cy="79"/>
            </a:xfrm>
            <a:custGeom>
              <a:avLst/>
              <a:gdLst/>
              <a:ahLst/>
              <a:cxnLst>
                <a:cxn ang="0">
                  <a:pos x="6" y="31"/>
                </a:cxn>
                <a:cxn ang="0">
                  <a:pos x="0" y="31"/>
                </a:cxn>
                <a:cxn ang="0">
                  <a:pos x="0" y="31"/>
                </a:cxn>
                <a:cxn ang="0">
                  <a:pos x="0" y="47"/>
                </a:cxn>
                <a:cxn ang="0">
                  <a:pos x="6" y="47"/>
                </a:cxn>
                <a:cxn ang="0">
                  <a:pos x="13" y="71"/>
                </a:cxn>
                <a:cxn ang="0">
                  <a:pos x="32" y="79"/>
                </a:cxn>
                <a:cxn ang="0">
                  <a:pos x="45" y="79"/>
                </a:cxn>
                <a:cxn ang="0">
                  <a:pos x="52" y="63"/>
                </a:cxn>
                <a:cxn ang="0">
                  <a:pos x="52" y="39"/>
                </a:cxn>
                <a:cxn ang="0">
                  <a:pos x="52" y="15"/>
                </a:cxn>
                <a:cxn ang="0">
                  <a:pos x="26" y="0"/>
                </a:cxn>
                <a:cxn ang="0">
                  <a:pos x="6" y="15"/>
                </a:cxn>
                <a:cxn ang="0">
                  <a:pos x="6" y="31"/>
                </a:cxn>
              </a:cxnLst>
              <a:rect l="0" t="0" r="r" b="b"/>
              <a:pathLst>
                <a:path w="52" h="79">
                  <a:moveTo>
                    <a:pt x="6" y="31"/>
                  </a:moveTo>
                  <a:lnTo>
                    <a:pt x="0" y="31"/>
                  </a:lnTo>
                  <a:lnTo>
                    <a:pt x="0" y="31"/>
                  </a:lnTo>
                  <a:lnTo>
                    <a:pt x="0" y="47"/>
                  </a:lnTo>
                  <a:lnTo>
                    <a:pt x="6" y="47"/>
                  </a:lnTo>
                  <a:lnTo>
                    <a:pt x="13" y="71"/>
                  </a:lnTo>
                  <a:lnTo>
                    <a:pt x="32" y="79"/>
                  </a:lnTo>
                  <a:lnTo>
                    <a:pt x="45" y="79"/>
                  </a:lnTo>
                  <a:lnTo>
                    <a:pt x="52" y="63"/>
                  </a:lnTo>
                  <a:lnTo>
                    <a:pt x="52" y="39"/>
                  </a:lnTo>
                  <a:lnTo>
                    <a:pt x="52" y="15"/>
                  </a:lnTo>
                  <a:lnTo>
                    <a:pt x="26" y="0"/>
                  </a:lnTo>
                  <a:lnTo>
                    <a:pt x="6" y="15"/>
                  </a:lnTo>
                  <a:lnTo>
                    <a:pt x="6" y="31"/>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09" name="Freeform 47">
              <a:extLst>
                <a:ext uri="{FF2B5EF4-FFF2-40B4-BE49-F238E27FC236}">
                  <a16:creationId xmlns:a16="http://schemas.microsoft.com/office/drawing/2014/main" id="{A4AD6743-DF78-20C6-576D-B112E0D2377F}"/>
                </a:ext>
              </a:extLst>
            </p:cNvPr>
            <p:cNvSpPr>
              <a:spLocks/>
            </p:cNvSpPr>
            <p:nvPr/>
          </p:nvSpPr>
          <p:spPr bwMode="auto">
            <a:xfrm>
              <a:off x="4609" y="2448"/>
              <a:ext cx="71" cy="63"/>
            </a:xfrm>
            <a:custGeom>
              <a:avLst/>
              <a:gdLst/>
              <a:ahLst/>
              <a:cxnLst>
                <a:cxn ang="0">
                  <a:pos x="65" y="39"/>
                </a:cxn>
                <a:cxn ang="0">
                  <a:pos x="71" y="31"/>
                </a:cxn>
                <a:cxn ang="0">
                  <a:pos x="71" y="16"/>
                </a:cxn>
                <a:cxn ang="0">
                  <a:pos x="58" y="8"/>
                </a:cxn>
                <a:cxn ang="0">
                  <a:pos x="52" y="0"/>
                </a:cxn>
                <a:cxn ang="0">
                  <a:pos x="32" y="0"/>
                </a:cxn>
                <a:cxn ang="0">
                  <a:pos x="19" y="0"/>
                </a:cxn>
                <a:cxn ang="0">
                  <a:pos x="19" y="8"/>
                </a:cxn>
                <a:cxn ang="0">
                  <a:pos x="6" y="16"/>
                </a:cxn>
                <a:cxn ang="0">
                  <a:pos x="0" y="31"/>
                </a:cxn>
                <a:cxn ang="0">
                  <a:pos x="0" y="55"/>
                </a:cxn>
                <a:cxn ang="0">
                  <a:pos x="13" y="63"/>
                </a:cxn>
                <a:cxn ang="0">
                  <a:pos x="13" y="47"/>
                </a:cxn>
                <a:cxn ang="0">
                  <a:pos x="13" y="47"/>
                </a:cxn>
                <a:cxn ang="0">
                  <a:pos x="19" y="47"/>
                </a:cxn>
                <a:cxn ang="0">
                  <a:pos x="19" y="31"/>
                </a:cxn>
                <a:cxn ang="0">
                  <a:pos x="39" y="16"/>
                </a:cxn>
                <a:cxn ang="0">
                  <a:pos x="65" y="31"/>
                </a:cxn>
                <a:cxn ang="0">
                  <a:pos x="65" y="39"/>
                </a:cxn>
              </a:cxnLst>
              <a:rect l="0" t="0" r="r" b="b"/>
              <a:pathLst>
                <a:path w="71" h="63">
                  <a:moveTo>
                    <a:pt x="65" y="39"/>
                  </a:moveTo>
                  <a:lnTo>
                    <a:pt x="71" y="31"/>
                  </a:lnTo>
                  <a:lnTo>
                    <a:pt x="71" y="16"/>
                  </a:lnTo>
                  <a:lnTo>
                    <a:pt x="58" y="8"/>
                  </a:lnTo>
                  <a:lnTo>
                    <a:pt x="52" y="0"/>
                  </a:lnTo>
                  <a:lnTo>
                    <a:pt x="32" y="0"/>
                  </a:lnTo>
                  <a:lnTo>
                    <a:pt x="19" y="0"/>
                  </a:lnTo>
                  <a:lnTo>
                    <a:pt x="19" y="8"/>
                  </a:lnTo>
                  <a:lnTo>
                    <a:pt x="6" y="16"/>
                  </a:lnTo>
                  <a:lnTo>
                    <a:pt x="0" y="31"/>
                  </a:lnTo>
                  <a:lnTo>
                    <a:pt x="0" y="55"/>
                  </a:lnTo>
                  <a:lnTo>
                    <a:pt x="13" y="63"/>
                  </a:lnTo>
                  <a:lnTo>
                    <a:pt x="13" y="47"/>
                  </a:lnTo>
                  <a:lnTo>
                    <a:pt x="13" y="47"/>
                  </a:lnTo>
                  <a:lnTo>
                    <a:pt x="19" y="47"/>
                  </a:lnTo>
                  <a:lnTo>
                    <a:pt x="19" y="31"/>
                  </a:lnTo>
                  <a:lnTo>
                    <a:pt x="39" y="16"/>
                  </a:lnTo>
                  <a:lnTo>
                    <a:pt x="65" y="31"/>
                  </a:lnTo>
                  <a:lnTo>
                    <a:pt x="65" y="39"/>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10" name="Freeform 48">
              <a:extLst>
                <a:ext uri="{FF2B5EF4-FFF2-40B4-BE49-F238E27FC236}">
                  <a16:creationId xmlns:a16="http://schemas.microsoft.com/office/drawing/2014/main" id="{7D11C22F-8744-D5DD-FD97-E90ACAC9FC4B}"/>
                </a:ext>
              </a:extLst>
            </p:cNvPr>
            <p:cNvSpPr>
              <a:spLocks/>
            </p:cNvSpPr>
            <p:nvPr/>
          </p:nvSpPr>
          <p:spPr bwMode="auto">
            <a:xfrm>
              <a:off x="4583" y="2487"/>
              <a:ext cx="32" cy="40"/>
            </a:xfrm>
            <a:custGeom>
              <a:avLst/>
              <a:gdLst/>
              <a:ahLst/>
              <a:cxnLst>
                <a:cxn ang="0">
                  <a:pos x="32" y="8"/>
                </a:cxn>
                <a:cxn ang="0">
                  <a:pos x="26" y="0"/>
                </a:cxn>
                <a:cxn ang="0">
                  <a:pos x="19" y="8"/>
                </a:cxn>
                <a:cxn ang="0">
                  <a:pos x="6" y="16"/>
                </a:cxn>
                <a:cxn ang="0">
                  <a:pos x="0" y="32"/>
                </a:cxn>
                <a:cxn ang="0">
                  <a:pos x="6" y="40"/>
                </a:cxn>
                <a:cxn ang="0">
                  <a:pos x="13" y="40"/>
                </a:cxn>
                <a:cxn ang="0">
                  <a:pos x="13" y="32"/>
                </a:cxn>
                <a:cxn ang="0">
                  <a:pos x="19" y="16"/>
                </a:cxn>
                <a:cxn ang="0">
                  <a:pos x="32" y="8"/>
                </a:cxn>
              </a:cxnLst>
              <a:rect l="0" t="0" r="r" b="b"/>
              <a:pathLst>
                <a:path w="32" h="40">
                  <a:moveTo>
                    <a:pt x="32" y="8"/>
                  </a:moveTo>
                  <a:lnTo>
                    <a:pt x="26" y="0"/>
                  </a:lnTo>
                  <a:lnTo>
                    <a:pt x="19" y="8"/>
                  </a:lnTo>
                  <a:lnTo>
                    <a:pt x="6" y="16"/>
                  </a:lnTo>
                  <a:lnTo>
                    <a:pt x="0" y="32"/>
                  </a:lnTo>
                  <a:lnTo>
                    <a:pt x="6" y="40"/>
                  </a:lnTo>
                  <a:lnTo>
                    <a:pt x="13" y="40"/>
                  </a:lnTo>
                  <a:lnTo>
                    <a:pt x="13" y="32"/>
                  </a:lnTo>
                  <a:lnTo>
                    <a:pt x="19" y="16"/>
                  </a:lnTo>
                  <a:lnTo>
                    <a:pt x="32"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11" name="Freeform 49">
              <a:extLst>
                <a:ext uri="{FF2B5EF4-FFF2-40B4-BE49-F238E27FC236}">
                  <a16:creationId xmlns:a16="http://schemas.microsoft.com/office/drawing/2014/main" id="{477E2D37-139E-92B0-8E24-3ACD156C8A03}"/>
                </a:ext>
              </a:extLst>
            </p:cNvPr>
            <p:cNvSpPr>
              <a:spLocks/>
            </p:cNvSpPr>
            <p:nvPr/>
          </p:nvSpPr>
          <p:spPr bwMode="auto">
            <a:xfrm>
              <a:off x="4609" y="2479"/>
              <a:ext cx="13" cy="16"/>
            </a:xfrm>
            <a:custGeom>
              <a:avLst/>
              <a:gdLst/>
              <a:ahLst/>
              <a:cxnLst>
                <a:cxn ang="0">
                  <a:pos x="0" y="8"/>
                </a:cxn>
                <a:cxn ang="0">
                  <a:pos x="0" y="8"/>
                </a:cxn>
                <a:cxn ang="0">
                  <a:pos x="0" y="0"/>
                </a:cxn>
                <a:cxn ang="0">
                  <a:pos x="6" y="8"/>
                </a:cxn>
                <a:cxn ang="0">
                  <a:pos x="6" y="0"/>
                </a:cxn>
                <a:cxn ang="0">
                  <a:pos x="13" y="8"/>
                </a:cxn>
                <a:cxn ang="0">
                  <a:pos x="6" y="8"/>
                </a:cxn>
                <a:cxn ang="0">
                  <a:pos x="6" y="16"/>
                </a:cxn>
                <a:cxn ang="0">
                  <a:pos x="0" y="8"/>
                </a:cxn>
              </a:cxnLst>
              <a:rect l="0" t="0" r="r" b="b"/>
              <a:pathLst>
                <a:path w="13" h="16">
                  <a:moveTo>
                    <a:pt x="0" y="8"/>
                  </a:moveTo>
                  <a:lnTo>
                    <a:pt x="0" y="8"/>
                  </a:lnTo>
                  <a:lnTo>
                    <a:pt x="0" y="0"/>
                  </a:lnTo>
                  <a:lnTo>
                    <a:pt x="6" y="8"/>
                  </a:lnTo>
                  <a:lnTo>
                    <a:pt x="6" y="0"/>
                  </a:lnTo>
                  <a:lnTo>
                    <a:pt x="13" y="8"/>
                  </a:lnTo>
                  <a:lnTo>
                    <a:pt x="6" y="8"/>
                  </a:lnTo>
                  <a:lnTo>
                    <a:pt x="6" y="16"/>
                  </a:lnTo>
                  <a:lnTo>
                    <a:pt x="0"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12" name="Freeform 50">
              <a:extLst>
                <a:ext uri="{FF2B5EF4-FFF2-40B4-BE49-F238E27FC236}">
                  <a16:creationId xmlns:a16="http://schemas.microsoft.com/office/drawing/2014/main" id="{6C6B4876-5ED6-BEE3-5BF4-CC692C998C8C}"/>
                </a:ext>
              </a:extLst>
            </p:cNvPr>
            <p:cNvSpPr>
              <a:spLocks/>
            </p:cNvSpPr>
            <p:nvPr/>
          </p:nvSpPr>
          <p:spPr bwMode="auto">
            <a:xfrm>
              <a:off x="4622" y="2511"/>
              <a:ext cx="39" cy="48"/>
            </a:xfrm>
            <a:custGeom>
              <a:avLst/>
              <a:gdLst/>
              <a:ahLst/>
              <a:cxnLst>
                <a:cxn ang="0">
                  <a:pos x="6" y="0"/>
                </a:cxn>
                <a:cxn ang="0">
                  <a:pos x="0" y="40"/>
                </a:cxn>
                <a:cxn ang="0">
                  <a:pos x="13" y="48"/>
                </a:cxn>
                <a:cxn ang="0">
                  <a:pos x="26" y="48"/>
                </a:cxn>
                <a:cxn ang="0">
                  <a:pos x="39" y="40"/>
                </a:cxn>
                <a:cxn ang="0">
                  <a:pos x="39" y="32"/>
                </a:cxn>
                <a:cxn ang="0">
                  <a:pos x="32" y="32"/>
                </a:cxn>
                <a:cxn ang="0">
                  <a:pos x="13" y="24"/>
                </a:cxn>
                <a:cxn ang="0">
                  <a:pos x="6" y="0"/>
                </a:cxn>
              </a:cxnLst>
              <a:rect l="0" t="0" r="r" b="b"/>
              <a:pathLst>
                <a:path w="39" h="48">
                  <a:moveTo>
                    <a:pt x="6" y="0"/>
                  </a:moveTo>
                  <a:lnTo>
                    <a:pt x="0" y="40"/>
                  </a:lnTo>
                  <a:lnTo>
                    <a:pt x="13" y="48"/>
                  </a:lnTo>
                  <a:lnTo>
                    <a:pt x="26" y="48"/>
                  </a:lnTo>
                  <a:lnTo>
                    <a:pt x="39" y="40"/>
                  </a:lnTo>
                  <a:lnTo>
                    <a:pt x="39" y="32"/>
                  </a:lnTo>
                  <a:lnTo>
                    <a:pt x="32" y="32"/>
                  </a:lnTo>
                  <a:lnTo>
                    <a:pt x="13" y="24"/>
                  </a:lnTo>
                  <a:lnTo>
                    <a:pt x="6"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13" name="Freeform 51">
              <a:extLst>
                <a:ext uri="{FF2B5EF4-FFF2-40B4-BE49-F238E27FC236}">
                  <a16:creationId xmlns:a16="http://schemas.microsoft.com/office/drawing/2014/main" id="{99EF211D-777C-A578-BD18-7296A9847882}"/>
                </a:ext>
              </a:extLst>
            </p:cNvPr>
            <p:cNvSpPr>
              <a:spLocks/>
            </p:cNvSpPr>
            <p:nvPr/>
          </p:nvSpPr>
          <p:spPr bwMode="auto">
            <a:xfrm>
              <a:off x="4576" y="2543"/>
              <a:ext cx="149" cy="304"/>
            </a:xfrm>
            <a:custGeom>
              <a:avLst/>
              <a:gdLst/>
              <a:ahLst/>
              <a:cxnLst>
                <a:cxn ang="0">
                  <a:pos x="46" y="8"/>
                </a:cxn>
                <a:cxn ang="0">
                  <a:pos x="20" y="16"/>
                </a:cxn>
                <a:cxn ang="0">
                  <a:pos x="13" y="8"/>
                </a:cxn>
                <a:cxn ang="0">
                  <a:pos x="0" y="16"/>
                </a:cxn>
                <a:cxn ang="0">
                  <a:pos x="0" y="40"/>
                </a:cxn>
                <a:cxn ang="0">
                  <a:pos x="0" y="64"/>
                </a:cxn>
                <a:cxn ang="0">
                  <a:pos x="13" y="80"/>
                </a:cxn>
                <a:cxn ang="0">
                  <a:pos x="26" y="80"/>
                </a:cxn>
                <a:cxn ang="0">
                  <a:pos x="33" y="144"/>
                </a:cxn>
                <a:cxn ang="0">
                  <a:pos x="13" y="256"/>
                </a:cxn>
                <a:cxn ang="0">
                  <a:pos x="13" y="288"/>
                </a:cxn>
                <a:cxn ang="0">
                  <a:pos x="46" y="296"/>
                </a:cxn>
                <a:cxn ang="0">
                  <a:pos x="98" y="304"/>
                </a:cxn>
                <a:cxn ang="0">
                  <a:pos x="124" y="296"/>
                </a:cxn>
                <a:cxn ang="0">
                  <a:pos x="149" y="280"/>
                </a:cxn>
                <a:cxn ang="0">
                  <a:pos x="143" y="248"/>
                </a:cxn>
                <a:cxn ang="0">
                  <a:pos x="111" y="136"/>
                </a:cxn>
                <a:cxn ang="0">
                  <a:pos x="111" y="72"/>
                </a:cxn>
                <a:cxn ang="0">
                  <a:pos x="124" y="72"/>
                </a:cxn>
                <a:cxn ang="0">
                  <a:pos x="130" y="64"/>
                </a:cxn>
                <a:cxn ang="0">
                  <a:pos x="130" y="24"/>
                </a:cxn>
                <a:cxn ang="0">
                  <a:pos x="117" y="8"/>
                </a:cxn>
                <a:cxn ang="0">
                  <a:pos x="104" y="16"/>
                </a:cxn>
                <a:cxn ang="0">
                  <a:pos x="85" y="0"/>
                </a:cxn>
                <a:cxn ang="0">
                  <a:pos x="85" y="8"/>
                </a:cxn>
                <a:cxn ang="0">
                  <a:pos x="72" y="16"/>
                </a:cxn>
                <a:cxn ang="0">
                  <a:pos x="59" y="16"/>
                </a:cxn>
                <a:cxn ang="0">
                  <a:pos x="46" y="8"/>
                </a:cxn>
              </a:cxnLst>
              <a:rect l="0" t="0" r="r" b="b"/>
              <a:pathLst>
                <a:path w="149" h="304">
                  <a:moveTo>
                    <a:pt x="46" y="8"/>
                  </a:moveTo>
                  <a:lnTo>
                    <a:pt x="20" y="16"/>
                  </a:lnTo>
                  <a:lnTo>
                    <a:pt x="13" y="8"/>
                  </a:lnTo>
                  <a:lnTo>
                    <a:pt x="0" y="16"/>
                  </a:lnTo>
                  <a:lnTo>
                    <a:pt x="0" y="40"/>
                  </a:lnTo>
                  <a:lnTo>
                    <a:pt x="0" y="64"/>
                  </a:lnTo>
                  <a:lnTo>
                    <a:pt x="13" y="80"/>
                  </a:lnTo>
                  <a:lnTo>
                    <a:pt x="26" y="80"/>
                  </a:lnTo>
                  <a:lnTo>
                    <a:pt x="33" y="144"/>
                  </a:lnTo>
                  <a:lnTo>
                    <a:pt x="13" y="256"/>
                  </a:lnTo>
                  <a:lnTo>
                    <a:pt x="13" y="288"/>
                  </a:lnTo>
                  <a:lnTo>
                    <a:pt x="46" y="296"/>
                  </a:lnTo>
                  <a:lnTo>
                    <a:pt x="98" y="304"/>
                  </a:lnTo>
                  <a:lnTo>
                    <a:pt x="124" y="296"/>
                  </a:lnTo>
                  <a:lnTo>
                    <a:pt x="149" y="280"/>
                  </a:lnTo>
                  <a:lnTo>
                    <a:pt x="143" y="248"/>
                  </a:lnTo>
                  <a:lnTo>
                    <a:pt x="111" y="136"/>
                  </a:lnTo>
                  <a:lnTo>
                    <a:pt x="111" y="72"/>
                  </a:lnTo>
                  <a:lnTo>
                    <a:pt x="124" y="72"/>
                  </a:lnTo>
                  <a:lnTo>
                    <a:pt x="130" y="64"/>
                  </a:lnTo>
                  <a:lnTo>
                    <a:pt x="130" y="24"/>
                  </a:lnTo>
                  <a:lnTo>
                    <a:pt x="117" y="8"/>
                  </a:lnTo>
                  <a:lnTo>
                    <a:pt x="104" y="16"/>
                  </a:lnTo>
                  <a:lnTo>
                    <a:pt x="85" y="0"/>
                  </a:lnTo>
                  <a:lnTo>
                    <a:pt x="85" y="8"/>
                  </a:lnTo>
                  <a:lnTo>
                    <a:pt x="72" y="16"/>
                  </a:lnTo>
                  <a:lnTo>
                    <a:pt x="59" y="16"/>
                  </a:lnTo>
                  <a:lnTo>
                    <a:pt x="46"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14" name="Line 52">
              <a:extLst>
                <a:ext uri="{FF2B5EF4-FFF2-40B4-BE49-F238E27FC236}">
                  <a16:creationId xmlns:a16="http://schemas.microsoft.com/office/drawing/2014/main" id="{3DF5AEF7-AA4F-D5DF-74C4-BBD32DEC6297}"/>
                </a:ext>
              </a:extLst>
            </p:cNvPr>
            <p:cNvSpPr>
              <a:spLocks noChangeShapeType="1"/>
            </p:cNvSpPr>
            <p:nvPr/>
          </p:nvSpPr>
          <p:spPr bwMode="auto">
            <a:xfrm flipV="1">
              <a:off x="4687" y="2599"/>
              <a:ext cx="1" cy="16"/>
            </a:xfrm>
            <a:prstGeom prst="line">
              <a:avLst/>
            </a:prstGeom>
            <a:noFill/>
            <a:ln w="9525">
              <a:solidFill>
                <a:srgbClr val="E4BB0C"/>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15" name="Freeform 53">
              <a:extLst>
                <a:ext uri="{FF2B5EF4-FFF2-40B4-BE49-F238E27FC236}">
                  <a16:creationId xmlns:a16="http://schemas.microsoft.com/office/drawing/2014/main" id="{E8A7E2ED-E60F-9986-6EFE-AABD641AE1F3}"/>
                </a:ext>
              </a:extLst>
            </p:cNvPr>
            <p:cNvSpPr>
              <a:spLocks/>
            </p:cNvSpPr>
            <p:nvPr/>
          </p:nvSpPr>
          <p:spPr bwMode="auto">
            <a:xfrm>
              <a:off x="4583" y="2615"/>
              <a:ext cx="19" cy="24"/>
            </a:xfrm>
            <a:custGeom>
              <a:avLst/>
              <a:gdLst/>
              <a:ahLst/>
              <a:cxnLst>
                <a:cxn ang="0">
                  <a:pos x="0" y="0"/>
                </a:cxn>
                <a:cxn ang="0">
                  <a:pos x="0" y="24"/>
                </a:cxn>
                <a:cxn ang="0">
                  <a:pos x="13" y="24"/>
                </a:cxn>
                <a:cxn ang="0">
                  <a:pos x="19" y="24"/>
                </a:cxn>
                <a:cxn ang="0">
                  <a:pos x="19" y="8"/>
                </a:cxn>
                <a:cxn ang="0">
                  <a:pos x="6" y="8"/>
                </a:cxn>
                <a:cxn ang="0">
                  <a:pos x="0" y="0"/>
                </a:cxn>
              </a:cxnLst>
              <a:rect l="0" t="0" r="r" b="b"/>
              <a:pathLst>
                <a:path w="19" h="24">
                  <a:moveTo>
                    <a:pt x="0" y="0"/>
                  </a:moveTo>
                  <a:lnTo>
                    <a:pt x="0" y="24"/>
                  </a:lnTo>
                  <a:lnTo>
                    <a:pt x="13" y="24"/>
                  </a:lnTo>
                  <a:lnTo>
                    <a:pt x="19" y="24"/>
                  </a:lnTo>
                  <a:lnTo>
                    <a:pt x="19" y="8"/>
                  </a:lnTo>
                  <a:lnTo>
                    <a:pt x="6" y="8"/>
                  </a:lnTo>
                  <a:lnTo>
                    <a:pt x="0"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16" name="Freeform 54">
              <a:extLst>
                <a:ext uri="{FF2B5EF4-FFF2-40B4-BE49-F238E27FC236}">
                  <a16:creationId xmlns:a16="http://schemas.microsoft.com/office/drawing/2014/main" id="{EDDBFE39-1E35-F25F-6B18-A57564B9E5DA}"/>
                </a:ext>
              </a:extLst>
            </p:cNvPr>
            <p:cNvSpPr>
              <a:spLocks/>
            </p:cNvSpPr>
            <p:nvPr/>
          </p:nvSpPr>
          <p:spPr bwMode="auto">
            <a:xfrm>
              <a:off x="4687" y="2607"/>
              <a:ext cx="19" cy="24"/>
            </a:xfrm>
            <a:custGeom>
              <a:avLst/>
              <a:gdLst/>
              <a:ahLst/>
              <a:cxnLst>
                <a:cxn ang="0">
                  <a:pos x="0" y="8"/>
                </a:cxn>
                <a:cxn ang="0">
                  <a:pos x="0" y="24"/>
                </a:cxn>
                <a:cxn ang="0">
                  <a:pos x="13" y="24"/>
                </a:cxn>
                <a:cxn ang="0">
                  <a:pos x="19" y="24"/>
                </a:cxn>
                <a:cxn ang="0">
                  <a:pos x="19" y="0"/>
                </a:cxn>
                <a:cxn ang="0">
                  <a:pos x="13" y="8"/>
                </a:cxn>
                <a:cxn ang="0">
                  <a:pos x="0" y="8"/>
                </a:cxn>
              </a:cxnLst>
              <a:rect l="0" t="0" r="r" b="b"/>
              <a:pathLst>
                <a:path w="19" h="24">
                  <a:moveTo>
                    <a:pt x="0" y="8"/>
                  </a:moveTo>
                  <a:lnTo>
                    <a:pt x="0" y="24"/>
                  </a:lnTo>
                  <a:lnTo>
                    <a:pt x="13" y="24"/>
                  </a:lnTo>
                  <a:lnTo>
                    <a:pt x="19" y="24"/>
                  </a:lnTo>
                  <a:lnTo>
                    <a:pt x="19" y="0"/>
                  </a:lnTo>
                  <a:lnTo>
                    <a:pt x="13" y="8"/>
                  </a:lnTo>
                  <a:lnTo>
                    <a:pt x="0"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17" name="Freeform 55">
              <a:extLst>
                <a:ext uri="{FF2B5EF4-FFF2-40B4-BE49-F238E27FC236}">
                  <a16:creationId xmlns:a16="http://schemas.microsoft.com/office/drawing/2014/main" id="{C9400D8D-84D4-F99C-16CD-4AC01367AD90}"/>
                </a:ext>
              </a:extLst>
            </p:cNvPr>
            <p:cNvSpPr>
              <a:spLocks/>
            </p:cNvSpPr>
            <p:nvPr/>
          </p:nvSpPr>
          <p:spPr bwMode="auto">
            <a:xfrm>
              <a:off x="4583" y="2639"/>
              <a:ext cx="91" cy="72"/>
            </a:xfrm>
            <a:custGeom>
              <a:avLst/>
              <a:gdLst/>
              <a:ahLst/>
              <a:cxnLst>
                <a:cxn ang="0">
                  <a:pos x="0" y="0"/>
                </a:cxn>
                <a:cxn ang="0">
                  <a:pos x="6" y="32"/>
                </a:cxn>
                <a:cxn ang="0">
                  <a:pos x="45" y="64"/>
                </a:cxn>
                <a:cxn ang="0">
                  <a:pos x="58" y="72"/>
                </a:cxn>
                <a:cxn ang="0">
                  <a:pos x="78" y="72"/>
                </a:cxn>
                <a:cxn ang="0">
                  <a:pos x="91" y="64"/>
                </a:cxn>
                <a:cxn ang="0">
                  <a:pos x="78" y="56"/>
                </a:cxn>
                <a:cxn ang="0">
                  <a:pos x="71" y="56"/>
                </a:cxn>
                <a:cxn ang="0">
                  <a:pos x="78" y="48"/>
                </a:cxn>
                <a:cxn ang="0">
                  <a:pos x="78" y="40"/>
                </a:cxn>
                <a:cxn ang="0">
                  <a:pos x="65" y="40"/>
                </a:cxn>
                <a:cxn ang="0">
                  <a:pos x="58" y="48"/>
                </a:cxn>
                <a:cxn ang="0">
                  <a:pos x="26" y="24"/>
                </a:cxn>
                <a:cxn ang="0">
                  <a:pos x="19" y="0"/>
                </a:cxn>
                <a:cxn ang="0">
                  <a:pos x="0" y="0"/>
                </a:cxn>
              </a:cxnLst>
              <a:rect l="0" t="0" r="r" b="b"/>
              <a:pathLst>
                <a:path w="91" h="72">
                  <a:moveTo>
                    <a:pt x="0" y="0"/>
                  </a:moveTo>
                  <a:lnTo>
                    <a:pt x="6" y="32"/>
                  </a:lnTo>
                  <a:lnTo>
                    <a:pt x="45" y="64"/>
                  </a:lnTo>
                  <a:lnTo>
                    <a:pt x="58" y="72"/>
                  </a:lnTo>
                  <a:lnTo>
                    <a:pt x="78" y="72"/>
                  </a:lnTo>
                  <a:lnTo>
                    <a:pt x="91" y="64"/>
                  </a:lnTo>
                  <a:lnTo>
                    <a:pt x="78" y="56"/>
                  </a:lnTo>
                  <a:lnTo>
                    <a:pt x="71" y="56"/>
                  </a:lnTo>
                  <a:lnTo>
                    <a:pt x="78" y="48"/>
                  </a:lnTo>
                  <a:lnTo>
                    <a:pt x="78" y="40"/>
                  </a:lnTo>
                  <a:lnTo>
                    <a:pt x="65" y="40"/>
                  </a:lnTo>
                  <a:lnTo>
                    <a:pt x="58" y="48"/>
                  </a:lnTo>
                  <a:lnTo>
                    <a:pt x="26" y="24"/>
                  </a:lnTo>
                  <a:lnTo>
                    <a:pt x="19" y="0"/>
                  </a:lnTo>
                  <a:lnTo>
                    <a:pt x="0"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18" name="Freeform 56">
              <a:extLst>
                <a:ext uri="{FF2B5EF4-FFF2-40B4-BE49-F238E27FC236}">
                  <a16:creationId xmlns:a16="http://schemas.microsoft.com/office/drawing/2014/main" id="{2E779CCF-E3AD-8453-4122-830A20CD7429}"/>
                </a:ext>
              </a:extLst>
            </p:cNvPr>
            <p:cNvSpPr>
              <a:spLocks/>
            </p:cNvSpPr>
            <p:nvPr/>
          </p:nvSpPr>
          <p:spPr bwMode="auto">
            <a:xfrm>
              <a:off x="4654" y="2631"/>
              <a:ext cx="52" cy="72"/>
            </a:xfrm>
            <a:custGeom>
              <a:avLst/>
              <a:gdLst/>
              <a:ahLst/>
              <a:cxnLst>
                <a:cxn ang="0">
                  <a:pos x="33" y="0"/>
                </a:cxn>
                <a:cxn ang="0">
                  <a:pos x="33" y="32"/>
                </a:cxn>
                <a:cxn ang="0">
                  <a:pos x="20" y="48"/>
                </a:cxn>
                <a:cxn ang="0">
                  <a:pos x="7" y="48"/>
                </a:cxn>
                <a:cxn ang="0">
                  <a:pos x="7" y="56"/>
                </a:cxn>
                <a:cxn ang="0">
                  <a:pos x="0" y="64"/>
                </a:cxn>
                <a:cxn ang="0">
                  <a:pos x="7" y="64"/>
                </a:cxn>
                <a:cxn ang="0">
                  <a:pos x="20" y="72"/>
                </a:cxn>
                <a:cxn ang="0">
                  <a:pos x="26" y="64"/>
                </a:cxn>
                <a:cxn ang="0">
                  <a:pos x="33" y="56"/>
                </a:cxn>
                <a:cxn ang="0">
                  <a:pos x="46" y="40"/>
                </a:cxn>
                <a:cxn ang="0">
                  <a:pos x="52" y="0"/>
                </a:cxn>
                <a:cxn ang="0">
                  <a:pos x="46" y="0"/>
                </a:cxn>
                <a:cxn ang="0">
                  <a:pos x="33" y="0"/>
                </a:cxn>
              </a:cxnLst>
              <a:rect l="0" t="0" r="r" b="b"/>
              <a:pathLst>
                <a:path w="52" h="72">
                  <a:moveTo>
                    <a:pt x="33" y="0"/>
                  </a:moveTo>
                  <a:lnTo>
                    <a:pt x="33" y="32"/>
                  </a:lnTo>
                  <a:lnTo>
                    <a:pt x="20" y="48"/>
                  </a:lnTo>
                  <a:lnTo>
                    <a:pt x="7" y="48"/>
                  </a:lnTo>
                  <a:lnTo>
                    <a:pt x="7" y="56"/>
                  </a:lnTo>
                  <a:lnTo>
                    <a:pt x="0" y="64"/>
                  </a:lnTo>
                  <a:lnTo>
                    <a:pt x="7" y="64"/>
                  </a:lnTo>
                  <a:lnTo>
                    <a:pt x="20" y="72"/>
                  </a:lnTo>
                  <a:lnTo>
                    <a:pt x="26" y="64"/>
                  </a:lnTo>
                  <a:lnTo>
                    <a:pt x="33" y="56"/>
                  </a:lnTo>
                  <a:lnTo>
                    <a:pt x="46" y="40"/>
                  </a:lnTo>
                  <a:lnTo>
                    <a:pt x="52" y="0"/>
                  </a:lnTo>
                  <a:lnTo>
                    <a:pt x="46" y="0"/>
                  </a:lnTo>
                  <a:lnTo>
                    <a:pt x="33"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19" name="Freeform 57">
              <a:extLst>
                <a:ext uri="{FF2B5EF4-FFF2-40B4-BE49-F238E27FC236}">
                  <a16:creationId xmlns:a16="http://schemas.microsoft.com/office/drawing/2014/main" id="{7B62D503-895C-604C-61AB-F614401F26D9}"/>
                </a:ext>
              </a:extLst>
            </p:cNvPr>
            <p:cNvSpPr>
              <a:spLocks/>
            </p:cNvSpPr>
            <p:nvPr/>
          </p:nvSpPr>
          <p:spPr bwMode="auto">
            <a:xfrm>
              <a:off x="4609" y="2543"/>
              <a:ext cx="65" cy="40"/>
            </a:xfrm>
            <a:custGeom>
              <a:avLst/>
              <a:gdLst/>
              <a:ahLst/>
              <a:cxnLst>
                <a:cxn ang="0">
                  <a:pos x="13" y="8"/>
                </a:cxn>
                <a:cxn ang="0">
                  <a:pos x="0" y="8"/>
                </a:cxn>
                <a:cxn ang="0">
                  <a:pos x="0" y="24"/>
                </a:cxn>
                <a:cxn ang="0">
                  <a:pos x="19" y="40"/>
                </a:cxn>
                <a:cxn ang="0">
                  <a:pos x="32" y="40"/>
                </a:cxn>
                <a:cxn ang="0">
                  <a:pos x="39" y="24"/>
                </a:cxn>
                <a:cxn ang="0">
                  <a:pos x="45" y="40"/>
                </a:cxn>
                <a:cxn ang="0">
                  <a:pos x="58" y="40"/>
                </a:cxn>
                <a:cxn ang="0">
                  <a:pos x="65" y="24"/>
                </a:cxn>
                <a:cxn ang="0">
                  <a:pos x="65" y="8"/>
                </a:cxn>
                <a:cxn ang="0">
                  <a:pos x="52" y="0"/>
                </a:cxn>
                <a:cxn ang="0">
                  <a:pos x="52" y="8"/>
                </a:cxn>
                <a:cxn ang="0">
                  <a:pos x="39" y="16"/>
                </a:cxn>
                <a:cxn ang="0">
                  <a:pos x="26" y="16"/>
                </a:cxn>
                <a:cxn ang="0">
                  <a:pos x="13" y="8"/>
                </a:cxn>
              </a:cxnLst>
              <a:rect l="0" t="0" r="r" b="b"/>
              <a:pathLst>
                <a:path w="65" h="40">
                  <a:moveTo>
                    <a:pt x="13" y="8"/>
                  </a:moveTo>
                  <a:lnTo>
                    <a:pt x="0" y="8"/>
                  </a:lnTo>
                  <a:lnTo>
                    <a:pt x="0" y="24"/>
                  </a:lnTo>
                  <a:lnTo>
                    <a:pt x="19" y="40"/>
                  </a:lnTo>
                  <a:lnTo>
                    <a:pt x="32" y="40"/>
                  </a:lnTo>
                  <a:lnTo>
                    <a:pt x="39" y="24"/>
                  </a:lnTo>
                  <a:lnTo>
                    <a:pt x="45" y="40"/>
                  </a:lnTo>
                  <a:lnTo>
                    <a:pt x="58" y="40"/>
                  </a:lnTo>
                  <a:lnTo>
                    <a:pt x="65" y="24"/>
                  </a:lnTo>
                  <a:lnTo>
                    <a:pt x="65" y="8"/>
                  </a:lnTo>
                  <a:lnTo>
                    <a:pt x="52" y="0"/>
                  </a:lnTo>
                  <a:lnTo>
                    <a:pt x="52" y="8"/>
                  </a:lnTo>
                  <a:lnTo>
                    <a:pt x="39" y="16"/>
                  </a:lnTo>
                  <a:lnTo>
                    <a:pt x="26" y="16"/>
                  </a:lnTo>
                  <a:lnTo>
                    <a:pt x="13"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20" name="Freeform 58">
              <a:extLst>
                <a:ext uri="{FF2B5EF4-FFF2-40B4-BE49-F238E27FC236}">
                  <a16:creationId xmlns:a16="http://schemas.microsoft.com/office/drawing/2014/main" id="{3C5CE594-5260-84D6-802B-560A2E35EF9D}"/>
                </a:ext>
              </a:extLst>
            </p:cNvPr>
            <p:cNvSpPr>
              <a:spLocks/>
            </p:cNvSpPr>
            <p:nvPr/>
          </p:nvSpPr>
          <p:spPr bwMode="auto">
            <a:xfrm>
              <a:off x="4654" y="2847"/>
              <a:ext cx="7" cy="56"/>
            </a:xfrm>
            <a:custGeom>
              <a:avLst/>
              <a:gdLst/>
              <a:ahLst/>
              <a:cxnLst>
                <a:cxn ang="0">
                  <a:pos x="0" y="56"/>
                </a:cxn>
                <a:cxn ang="0">
                  <a:pos x="0" y="32"/>
                </a:cxn>
                <a:cxn ang="0">
                  <a:pos x="7" y="0"/>
                </a:cxn>
              </a:cxnLst>
              <a:rect l="0" t="0" r="r" b="b"/>
              <a:pathLst>
                <a:path w="7" h="56">
                  <a:moveTo>
                    <a:pt x="0" y="56"/>
                  </a:moveTo>
                  <a:lnTo>
                    <a:pt x="0" y="32"/>
                  </a:lnTo>
                  <a:lnTo>
                    <a:pt x="7" y="0"/>
                  </a:lnTo>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21" name="Freeform 59">
              <a:extLst>
                <a:ext uri="{FF2B5EF4-FFF2-40B4-BE49-F238E27FC236}">
                  <a16:creationId xmlns:a16="http://schemas.microsoft.com/office/drawing/2014/main" id="{916FBA35-F8A2-771D-30EA-CB94CCEF3D6E}"/>
                </a:ext>
              </a:extLst>
            </p:cNvPr>
            <p:cNvSpPr>
              <a:spLocks/>
            </p:cNvSpPr>
            <p:nvPr/>
          </p:nvSpPr>
          <p:spPr bwMode="auto">
            <a:xfrm>
              <a:off x="4628" y="2903"/>
              <a:ext cx="78" cy="40"/>
            </a:xfrm>
            <a:custGeom>
              <a:avLst/>
              <a:gdLst/>
              <a:ahLst/>
              <a:cxnLst>
                <a:cxn ang="0">
                  <a:pos x="7" y="0"/>
                </a:cxn>
                <a:cxn ang="0">
                  <a:pos x="0" y="16"/>
                </a:cxn>
                <a:cxn ang="0">
                  <a:pos x="7" y="32"/>
                </a:cxn>
                <a:cxn ang="0">
                  <a:pos x="13" y="40"/>
                </a:cxn>
                <a:cxn ang="0">
                  <a:pos x="39" y="40"/>
                </a:cxn>
                <a:cxn ang="0">
                  <a:pos x="39" y="32"/>
                </a:cxn>
                <a:cxn ang="0">
                  <a:pos x="46" y="32"/>
                </a:cxn>
                <a:cxn ang="0">
                  <a:pos x="65" y="32"/>
                </a:cxn>
                <a:cxn ang="0">
                  <a:pos x="78" y="24"/>
                </a:cxn>
                <a:cxn ang="0">
                  <a:pos x="72" y="16"/>
                </a:cxn>
                <a:cxn ang="0">
                  <a:pos x="65" y="8"/>
                </a:cxn>
                <a:cxn ang="0">
                  <a:pos x="52" y="0"/>
                </a:cxn>
                <a:cxn ang="0">
                  <a:pos x="39" y="8"/>
                </a:cxn>
                <a:cxn ang="0">
                  <a:pos x="26" y="0"/>
                </a:cxn>
                <a:cxn ang="0">
                  <a:pos x="20" y="8"/>
                </a:cxn>
                <a:cxn ang="0">
                  <a:pos x="7" y="0"/>
                </a:cxn>
              </a:cxnLst>
              <a:rect l="0" t="0" r="r" b="b"/>
              <a:pathLst>
                <a:path w="78" h="40">
                  <a:moveTo>
                    <a:pt x="7" y="0"/>
                  </a:moveTo>
                  <a:lnTo>
                    <a:pt x="0" y="16"/>
                  </a:lnTo>
                  <a:lnTo>
                    <a:pt x="7" y="32"/>
                  </a:lnTo>
                  <a:lnTo>
                    <a:pt x="13" y="40"/>
                  </a:lnTo>
                  <a:lnTo>
                    <a:pt x="39" y="40"/>
                  </a:lnTo>
                  <a:lnTo>
                    <a:pt x="39" y="32"/>
                  </a:lnTo>
                  <a:lnTo>
                    <a:pt x="46" y="32"/>
                  </a:lnTo>
                  <a:lnTo>
                    <a:pt x="65" y="32"/>
                  </a:lnTo>
                  <a:lnTo>
                    <a:pt x="78" y="24"/>
                  </a:lnTo>
                  <a:lnTo>
                    <a:pt x="72" y="16"/>
                  </a:lnTo>
                  <a:lnTo>
                    <a:pt x="65" y="8"/>
                  </a:lnTo>
                  <a:lnTo>
                    <a:pt x="52" y="0"/>
                  </a:lnTo>
                  <a:lnTo>
                    <a:pt x="39" y="8"/>
                  </a:lnTo>
                  <a:lnTo>
                    <a:pt x="26" y="0"/>
                  </a:lnTo>
                  <a:lnTo>
                    <a:pt x="20" y="8"/>
                  </a:lnTo>
                  <a:lnTo>
                    <a:pt x="7"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22" name="Freeform 60">
              <a:extLst>
                <a:ext uri="{FF2B5EF4-FFF2-40B4-BE49-F238E27FC236}">
                  <a16:creationId xmlns:a16="http://schemas.microsoft.com/office/drawing/2014/main" id="{B90F307C-7C31-4BD3-CE40-57B0296BC9A3}"/>
                </a:ext>
              </a:extLst>
            </p:cNvPr>
            <p:cNvSpPr>
              <a:spLocks/>
            </p:cNvSpPr>
            <p:nvPr/>
          </p:nvSpPr>
          <p:spPr bwMode="auto">
            <a:xfrm>
              <a:off x="4232" y="2879"/>
              <a:ext cx="39" cy="40"/>
            </a:xfrm>
            <a:custGeom>
              <a:avLst/>
              <a:gdLst/>
              <a:ahLst/>
              <a:cxnLst>
                <a:cxn ang="0">
                  <a:pos x="0" y="0"/>
                </a:cxn>
                <a:cxn ang="0">
                  <a:pos x="0" y="24"/>
                </a:cxn>
                <a:cxn ang="0">
                  <a:pos x="0" y="40"/>
                </a:cxn>
                <a:cxn ang="0">
                  <a:pos x="13" y="40"/>
                </a:cxn>
                <a:cxn ang="0">
                  <a:pos x="20" y="40"/>
                </a:cxn>
                <a:cxn ang="0">
                  <a:pos x="26" y="40"/>
                </a:cxn>
                <a:cxn ang="0">
                  <a:pos x="39" y="40"/>
                </a:cxn>
                <a:cxn ang="0">
                  <a:pos x="33" y="24"/>
                </a:cxn>
                <a:cxn ang="0">
                  <a:pos x="39" y="0"/>
                </a:cxn>
                <a:cxn ang="0">
                  <a:pos x="33" y="0"/>
                </a:cxn>
                <a:cxn ang="0">
                  <a:pos x="0" y="0"/>
                </a:cxn>
              </a:cxnLst>
              <a:rect l="0" t="0" r="r" b="b"/>
              <a:pathLst>
                <a:path w="39" h="40">
                  <a:moveTo>
                    <a:pt x="0" y="0"/>
                  </a:moveTo>
                  <a:lnTo>
                    <a:pt x="0" y="24"/>
                  </a:lnTo>
                  <a:lnTo>
                    <a:pt x="0" y="40"/>
                  </a:lnTo>
                  <a:lnTo>
                    <a:pt x="13" y="40"/>
                  </a:lnTo>
                  <a:lnTo>
                    <a:pt x="20" y="40"/>
                  </a:lnTo>
                  <a:lnTo>
                    <a:pt x="26" y="40"/>
                  </a:lnTo>
                  <a:lnTo>
                    <a:pt x="39" y="40"/>
                  </a:lnTo>
                  <a:lnTo>
                    <a:pt x="33" y="24"/>
                  </a:lnTo>
                  <a:lnTo>
                    <a:pt x="39" y="0"/>
                  </a:lnTo>
                  <a:lnTo>
                    <a:pt x="33" y="0"/>
                  </a:lnTo>
                  <a:lnTo>
                    <a:pt x="0"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23" name="Freeform 61">
              <a:extLst>
                <a:ext uri="{FF2B5EF4-FFF2-40B4-BE49-F238E27FC236}">
                  <a16:creationId xmlns:a16="http://schemas.microsoft.com/office/drawing/2014/main" id="{0F29DECE-6B04-FE05-BE1D-83ABC0335E75}"/>
                </a:ext>
              </a:extLst>
            </p:cNvPr>
            <p:cNvSpPr>
              <a:spLocks/>
            </p:cNvSpPr>
            <p:nvPr/>
          </p:nvSpPr>
          <p:spPr bwMode="auto">
            <a:xfrm>
              <a:off x="4265" y="2647"/>
              <a:ext cx="19" cy="24"/>
            </a:xfrm>
            <a:custGeom>
              <a:avLst/>
              <a:gdLst/>
              <a:ahLst/>
              <a:cxnLst>
                <a:cxn ang="0">
                  <a:pos x="0" y="0"/>
                </a:cxn>
                <a:cxn ang="0">
                  <a:pos x="0" y="0"/>
                </a:cxn>
                <a:cxn ang="0">
                  <a:pos x="6" y="0"/>
                </a:cxn>
                <a:cxn ang="0">
                  <a:pos x="19" y="8"/>
                </a:cxn>
                <a:cxn ang="0">
                  <a:pos x="19" y="16"/>
                </a:cxn>
                <a:cxn ang="0">
                  <a:pos x="19" y="24"/>
                </a:cxn>
                <a:cxn ang="0">
                  <a:pos x="13" y="24"/>
                </a:cxn>
                <a:cxn ang="0">
                  <a:pos x="6" y="16"/>
                </a:cxn>
                <a:cxn ang="0">
                  <a:pos x="6" y="8"/>
                </a:cxn>
                <a:cxn ang="0">
                  <a:pos x="0" y="0"/>
                </a:cxn>
              </a:cxnLst>
              <a:rect l="0" t="0" r="r" b="b"/>
              <a:pathLst>
                <a:path w="19" h="24">
                  <a:moveTo>
                    <a:pt x="0" y="0"/>
                  </a:moveTo>
                  <a:lnTo>
                    <a:pt x="0" y="0"/>
                  </a:lnTo>
                  <a:lnTo>
                    <a:pt x="6" y="0"/>
                  </a:lnTo>
                  <a:lnTo>
                    <a:pt x="19" y="8"/>
                  </a:lnTo>
                  <a:lnTo>
                    <a:pt x="19" y="16"/>
                  </a:lnTo>
                  <a:lnTo>
                    <a:pt x="19" y="24"/>
                  </a:lnTo>
                  <a:lnTo>
                    <a:pt x="13" y="24"/>
                  </a:lnTo>
                  <a:lnTo>
                    <a:pt x="6" y="16"/>
                  </a:lnTo>
                  <a:lnTo>
                    <a:pt x="6" y="8"/>
                  </a:lnTo>
                  <a:lnTo>
                    <a:pt x="0"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24" name="Freeform 62">
              <a:extLst>
                <a:ext uri="{FF2B5EF4-FFF2-40B4-BE49-F238E27FC236}">
                  <a16:creationId xmlns:a16="http://schemas.microsoft.com/office/drawing/2014/main" id="{55F65E67-26BC-0DAE-3827-B108C90A724D}"/>
                </a:ext>
              </a:extLst>
            </p:cNvPr>
            <p:cNvSpPr>
              <a:spLocks/>
            </p:cNvSpPr>
            <p:nvPr/>
          </p:nvSpPr>
          <p:spPr bwMode="auto">
            <a:xfrm>
              <a:off x="4226" y="2631"/>
              <a:ext cx="39" cy="56"/>
            </a:xfrm>
            <a:custGeom>
              <a:avLst/>
              <a:gdLst/>
              <a:ahLst/>
              <a:cxnLst>
                <a:cxn ang="0">
                  <a:pos x="6" y="24"/>
                </a:cxn>
                <a:cxn ang="0">
                  <a:pos x="0" y="16"/>
                </a:cxn>
                <a:cxn ang="0">
                  <a:pos x="0" y="24"/>
                </a:cxn>
                <a:cxn ang="0">
                  <a:pos x="0" y="32"/>
                </a:cxn>
                <a:cxn ang="0">
                  <a:pos x="6" y="32"/>
                </a:cxn>
                <a:cxn ang="0">
                  <a:pos x="13" y="40"/>
                </a:cxn>
                <a:cxn ang="0">
                  <a:pos x="26" y="56"/>
                </a:cxn>
                <a:cxn ang="0">
                  <a:pos x="32" y="48"/>
                </a:cxn>
                <a:cxn ang="0">
                  <a:pos x="39" y="40"/>
                </a:cxn>
                <a:cxn ang="0">
                  <a:pos x="39" y="24"/>
                </a:cxn>
                <a:cxn ang="0">
                  <a:pos x="39" y="8"/>
                </a:cxn>
                <a:cxn ang="0">
                  <a:pos x="19" y="0"/>
                </a:cxn>
                <a:cxn ang="0">
                  <a:pos x="6" y="8"/>
                </a:cxn>
                <a:cxn ang="0">
                  <a:pos x="6" y="24"/>
                </a:cxn>
              </a:cxnLst>
              <a:rect l="0" t="0" r="r" b="b"/>
              <a:pathLst>
                <a:path w="39" h="56">
                  <a:moveTo>
                    <a:pt x="6" y="24"/>
                  </a:moveTo>
                  <a:lnTo>
                    <a:pt x="0" y="16"/>
                  </a:lnTo>
                  <a:lnTo>
                    <a:pt x="0" y="24"/>
                  </a:lnTo>
                  <a:lnTo>
                    <a:pt x="0" y="32"/>
                  </a:lnTo>
                  <a:lnTo>
                    <a:pt x="6" y="32"/>
                  </a:lnTo>
                  <a:lnTo>
                    <a:pt x="13" y="40"/>
                  </a:lnTo>
                  <a:lnTo>
                    <a:pt x="26" y="56"/>
                  </a:lnTo>
                  <a:lnTo>
                    <a:pt x="32" y="48"/>
                  </a:lnTo>
                  <a:lnTo>
                    <a:pt x="39" y="40"/>
                  </a:lnTo>
                  <a:lnTo>
                    <a:pt x="39" y="24"/>
                  </a:lnTo>
                  <a:lnTo>
                    <a:pt x="39" y="8"/>
                  </a:lnTo>
                  <a:lnTo>
                    <a:pt x="19" y="0"/>
                  </a:lnTo>
                  <a:lnTo>
                    <a:pt x="6" y="8"/>
                  </a:lnTo>
                  <a:lnTo>
                    <a:pt x="6" y="24"/>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25" name="Freeform 63">
              <a:extLst>
                <a:ext uri="{FF2B5EF4-FFF2-40B4-BE49-F238E27FC236}">
                  <a16:creationId xmlns:a16="http://schemas.microsoft.com/office/drawing/2014/main" id="{419014B8-1C90-3615-062A-9529CCEBD310}"/>
                </a:ext>
              </a:extLst>
            </p:cNvPr>
            <p:cNvSpPr>
              <a:spLocks/>
            </p:cNvSpPr>
            <p:nvPr/>
          </p:nvSpPr>
          <p:spPr bwMode="auto">
            <a:xfrm>
              <a:off x="4219" y="2615"/>
              <a:ext cx="52" cy="48"/>
            </a:xfrm>
            <a:custGeom>
              <a:avLst/>
              <a:gdLst/>
              <a:ahLst/>
              <a:cxnLst>
                <a:cxn ang="0">
                  <a:pos x="46" y="32"/>
                </a:cxn>
                <a:cxn ang="0">
                  <a:pos x="52" y="24"/>
                </a:cxn>
                <a:cxn ang="0">
                  <a:pos x="52" y="16"/>
                </a:cxn>
                <a:cxn ang="0">
                  <a:pos x="46" y="8"/>
                </a:cxn>
                <a:cxn ang="0">
                  <a:pos x="33" y="8"/>
                </a:cxn>
                <a:cxn ang="0">
                  <a:pos x="20" y="0"/>
                </a:cxn>
                <a:cxn ang="0">
                  <a:pos x="13" y="8"/>
                </a:cxn>
                <a:cxn ang="0">
                  <a:pos x="13" y="8"/>
                </a:cxn>
                <a:cxn ang="0">
                  <a:pos x="7" y="16"/>
                </a:cxn>
                <a:cxn ang="0">
                  <a:pos x="0" y="24"/>
                </a:cxn>
                <a:cxn ang="0">
                  <a:pos x="0" y="40"/>
                </a:cxn>
                <a:cxn ang="0">
                  <a:pos x="7" y="48"/>
                </a:cxn>
                <a:cxn ang="0">
                  <a:pos x="7" y="40"/>
                </a:cxn>
                <a:cxn ang="0">
                  <a:pos x="7" y="32"/>
                </a:cxn>
                <a:cxn ang="0">
                  <a:pos x="13" y="40"/>
                </a:cxn>
                <a:cxn ang="0">
                  <a:pos x="13" y="24"/>
                </a:cxn>
                <a:cxn ang="0">
                  <a:pos x="26" y="16"/>
                </a:cxn>
                <a:cxn ang="0">
                  <a:pos x="46" y="24"/>
                </a:cxn>
                <a:cxn ang="0">
                  <a:pos x="46" y="32"/>
                </a:cxn>
              </a:cxnLst>
              <a:rect l="0" t="0" r="r" b="b"/>
              <a:pathLst>
                <a:path w="52" h="48">
                  <a:moveTo>
                    <a:pt x="46" y="32"/>
                  </a:moveTo>
                  <a:lnTo>
                    <a:pt x="52" y="24"/>
                  </a:lnTo>
                  <a:lnTo>
                    <a:pt x="52" y="16"/>
                  </a:lnTo>
                  <a:lnTo>
                    <a:pt x="46" y="8"/>
                  </a:lnTo>
                  <a:lnTo>
                    <a:pt x="33" y="8"/>
                  </a:lnTo>
                  <a:lnTo>
                    <a:pt x="20" y="0"/>
                  </a:lnTo>
                  <a:lnTo>
                    <a:pt x="13" y="8"/>
                  </a:lnTo>
                  <a:lnTo>
                    <a:pt x="13" y="8"/>
                  </a:lnTo>
                  <a:lnTo>
                    <a:pt x="7" y="16"/>
                  </a:lnTo>
                  <a:lnTo>
                    <a:pt x="0" y="24"/>
                  </a:lnTo>
                  <a:lnTo>
                    <a:pt x="0" y="40"/>
                  </a:lnTo>
                  <a:lnTo>
                    <a:pt x="7" y="48"/>
                  </a:lnTo>
                  <a:lnTo>
                    <a:pt x="7" y="40"/>
                  </a:lnTo>
                  <a:lnTo>
                    <a:pt x="7" y="32"/>
                  </a:lnTo>
                  <a:lnTo>
                    <a:pt x="13" y="40"/>
                  </a:lnTo>
                  <a:lnTo>
                    <a:pt x="13" y="24"/>
                  </a:lnTo>
                  <a:lnTo>
                    <a:pt x="26" y="16"/>
                  </a:lnTo>
                  <a:lnTo>
                    <a:pt x="46" y="24"/>
                  </a:lnTo>
                  <a:lnTo>
                    <a:pt x="46" y="32"/>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26" name="Freeform 64">
              <a:extLst>
                <a:ext uri="{FF2B5EF4-FFF2-40B4-BE49-F238E27FC236}">
                  <a16:creationId xmlns:a16="http://schemas.microsoft.com/office/drawing/2014/main" id="{CEA0114C-0288-AA27-2A83-F826AEAA630B}"/>
                </a:ext>
              </a:extLst>
            </p:cNvPr>
            <p:cNvSpPr>
              <a:spLocks/>
            </p:cNvSpPr>
            <p:nvPr/>
          </p:nvSpPr>
          <p:spPr bwMode="auto">
            <a:xfrm>
              <a:off x="4200" y="2647"/>
              <a:ext cx="19" cy="24"/>
            </a:xfrm>
            <a:custGeom>
              <a:avLst/>
              <a:gdLst/>
              <a:ahLst/>
              <a:cxnLst>
                <a:cxn ang="0">
                  <a:pos x="19" y="8"/>
                </a:cxn>
                <a:cxn ang="0">
                  <a:pos x="19" y="0"/>
                </a:cxn>
                <a:cxn ang="0">
                  <a:pos x="13" y="0"/>
                </a:cxn>
                <a:cxn ang="0">
                  <a:pos x="0" y="8"/>
                </a:cxn>
                <a:cxn ang="0">
                  <a:pos x="0" y="16"/>
                </a:cxn>
                <a:cxn ang="0">
                  <a:pos x="0" y="24"/>
                </a:cxn>
                <a:cxn ang="0">
                  <a:pos x="6" y="24"/>
                </a:cxn>
                <a:cxn ang="0">
                  <a:pos x="6" y="16"/>
                </a:cxn>
                <a:cxn ang="0">
                  <a:pos x="13" y="8"/>
                </a:cxn>
                <a:cxn ang="0">
                  <a:pos x="19" y="8"/>
                </a:cxn>
              </a:cxnLst>
              <a:rect l="0" t="0" r="r" b="b"/>
              <a:pathLst>
                <a:path w="19" h="24">
                  <a:moveTo>
                    <a:pt x="19" y="8"/>
                  </a:moveTo>
                  <a:lnTo>
                    <a:pt x="19" y="0"/>
                  </a:lnTo>
                  <a:lnTo>
                    <a:pt x="13" y="0"/>
                  </a:lnTo>
                  <a:lnTo>
                    <a:pt x="0" y="8"/>
                  </a:lnTo>
                  <a:lnTo>
                    <a:pt x="0" y="16"/>
                  </a:lnTo>
                  <a:lnTo>
                    <a:pt x="0" y="24"/>
                  </a:lnTo>
                  <a:lnTo>
                    <a:pt x="6" y="24"/>
                  </a:lnTo>
                  <a:lnTo>
                    <a:pt x="6" y="16"/>
                  </a:lnTo>
                  <a:lnTo>
                    <a:pt x="13" y="8"/>
                  </a:lnTo>
                  <a:lnTo>
                    <a:pt x="19"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27" name="Freeform 65">
              <a:extLst>
                <a:ext uri="{FF2B5EF4-FFF2-40B4-BE49-F238E27FC236}">
                  <a16:creationId xmlns:a16="http://schemas.microsoft.com/office/drawing/2014/main" id="{EEDC563C-F13A-FED2-1B23-DDD1DC016EC6}"/>
                </a:ext>
              </a:extLst>
            </p:cNvPr>
            <p:cNvSpPr>
              <a:spLocks/>
            </p:cNvSpPr>
            <p:nvPr/>
          </p:nvSpPr>
          <p:spPr bwMode="auto">
            <a:xfrm>
              <a:off x="4213" y="2639"/>
              <a:ext cx="13" cy="16"/>
            </a:xfrm>
            <a:custGeom>
              <a:avLst/>
              <a:gdLst/>
              <a:ahLst/>
              <a:cxnLst>
                <a:cxn ang="0">
                  <a:pos x="6" y="8"/>
                </a:cxn>
                <a:cxn ang="0">
                  <a:pos x="0" y="8"/>
                </a:cxn>
                <a:cxn ang="0">
                  <a:pos x="6" y="0"/>
                </a:cxn>
                <a:cxn ang="0">
                  <a:pos x="6" y="8"/>
                </a:cxn>
                <a:cxn ang="0">
                  <a:pos x="6" y="0"/>
                </a:cxn>
                <a:cxn ang="0">
                  <a:pos x="13" y="8"/>
                </a:cxn>
                <a:cxn ang="0">
                  <a:pos x="6" y="8"/>
                </a:cxn>
                <a:cxn ang="0">
                  <a:pos x="6" y="16"/>
                </a:cxn>
                <a:cxn ang="0">
                  <a:pos x="6" y="8"/>
                </a:cxn>
              </a:cxnLst>
              <a:rect l="0" t="0" r="r" b="b"/>
              <a:pathLst>
                <a:path w="13" h="16">
                  <a:moveTo>
                    <a:pt x="6" y="8"/>
                  </a:moveTo>
                  <a:lnTo>
                    <a:pt x="0" y="8"/>
                  </a:lnTo>
                  <a:lnTo>
                    <a:pt x="6" y="0"/>
                  </a:lnTo>
                  <a:lnTo>
                    <a:pt x="6" y="8"/>
                  </a:lnTo>
                  <a:lnTo>
                    <a:pt x="6" y="0"/>
                  </a:lnTo>
                  <a:lnTo>
                    <a:pt x="13" y="8"/>
                  </a:lnTo>
                  <a:lnTo>
                    <a:pt x="6" y="8"/>
                  </a:lnTo>
                  <a:lnTo>
                    <a:pt x="6" y="16"/>
                  </a:lnTo>
                  <a:lnTo>
                    <a:pt x="6"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28" name="Freeform 66">
              <a:extLst>
                <a:ext uri="{FF2B5EF4-FFF2-40B4-BE49-F238E27FC236}">
                  <a16:creationId xmlns:a16="http://schemas.microsoft.com/office/drawing/2014/main" id="{0B49866E-3530-ECF2-BA82-556B5306E5A2}"/>
                </a:ext>
              </a:extLst>
            </p:cNvPr>
            <p:cNvSpPr>
              <a:spLocks/>
            </p:cNvSpPr>
            <p:nvPr/>
          </p:nvSpPr>
          <p:spPr bwMode="auto">
            <a:xfrm>
              <a:off x="4226" y="2663"/>
              <a:ext cx="26" cy="32"/>
            </a:xfrm>
            <a:custGeom>
              <a:avLst/>
              <a:gdLst/>
              <a:ahLst/>
              <a:cxnLst>
                <a:cxn ang="0">
                  <a:pos x="6" y="0"/>
                </a:cxn>
                <a:cxn ang="0">
                  <a:pos x="0" y="24"/>
                </a:cxn>
                <a:cxn ang="0">
                  <a:pos x="6" y="32"/>
                </a:cxn>
                <a:cxn ang="0">
                  <a:pos x="19" y="32"/>
                </a:cxn>
                <a:cxn ang="0">
                  <a:pos x="26" y="24"/>
                </a:cxn>
                <a:cxn ang="0">
                  <a:pos x="26" y="24"/>
                </a:cxn>
                <a:cxn ang="0">
                  <a:pos x="26" y="24"/>
                </a:cxn>
                <a:cxn ang="0">
                  <a:pos x="13" y="8"/>
                </a:cxn>
                <a:cxn ang="0">
                  <a:pos x="6" y="0"/>
                </a:cxn>
              </a:cxnLst>
              <a:rect l="0" t="0" r="r" b="b"/>
              <a:pathLst>
                <a:path w="26" h="32">
                  <a:moveTo>
                    <a:pt x="6" y="0"/>
                  </a:moveTo>
                  <a:lnTo>
                    <a:pt x="0" y="24"/>
                  </a:lnTo>
                  <a:lnTo>
                    <a:pt x="6" y="32"/>
                  </a:lnTo>
                  <a:lnTo>
                    <a:pt x="19" y="32"/>
                  </a:lnTo>
                  <a:lnTo>
                    <a:pt x="26" y="24"/>
                  </a:lnTo>
                  <a:lnTo>
                    <a:pt x="26" y="24"/>
                  </a:lnTo>
                  <a:lnTo>
                    <a:pt x="26" y="24"/>
                  </a:lnTo>
                  <a:lnTo>
                    <a:pt x="13" y="8"/>
                  </a:lnTo>
                  <a:lnTo>
                    <a:pt x="6"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29" name="Freeform 67">
              <a:extLst>
                <a:ext uri="{FF2B5EF4-FFF2-40B4-BE49-F238E27FC236}">
                  <a16:creationId xmlns:a16="http://schemas.microsoft.com/office/drawing/2014/main" id="{80035827-64BE-F0DB-8BEC-EAB9046DC52D}"/>
                </a:ext>
              </a:extLst>
            </p:cNvPr>
            <p:cNvSpPr>
              <a:spLocks/>
            </p:cNvSpPr>
            <p:nvPr/>
          </p:nvSpPr>
          <p:spPr bwMode="auto">
            <a:xfrm>
              <a:off x="4193" y="2687"/>
              <a:ext cx="111" cy="192"/>
            </a:xfrm>
            <a:custGeom>
              <a:avLst/>
              <a:gdLst/>
              <a:ahLst/>
              <a:cxnLst>
                <a:cxn ang="0">
                  <a:pos x="33" y="0"/>
                </a:cxn>
                <a:cxn ang="0">
                  <a:pos x="13" y="8"/>
                </a:cxn>
                <a:cxn ang="0">
                  <a:pos x="7" y="0"/>
                </a:cxn>
                <a:cxn ang="0">
                  <a:pos x="0" y="8"/>
                </a:cxn>
                <a:cxn ang="0">
                  <a:pos x="0" y="24"/>
                </a:cxn>
                <a:cxn ang="0">
                  <a:pos x="0" y="40"/>
                </a:cxn>
                <a:cxn ang="0">
                  <a:pos x="7" y="48"/>
                </a:cxn>
                <a:cxn ang="0">
                  <a:pos x="20" y="48"/>
                </a:cxn>
                <a:cxn ang="0">
                  <a:pos x="26" y="88"/>
                </a:cxn>
                <a:cxn ang="0">
                  <a:pos x="7" y="160"/>
                </a:cxn>
                <a:cxn ang="0">
                  <a:pos x="7" y="184"/>
                </a:cxn>
                <a:cxn ang="0">
                  <a:pos x="33" y="192"/>
                </a:cxn>
                <a:cxn ang="0">
                  <a:pos x="72" y="192"/>
                </a:cxn>
                <a:cxn ang="0">
                  <a:pos x="91" y="184"/>
                </a:cxn>
                <a:cxn ang="0">
                  <a:pos x="111" y="176"/>
                </a:cxn>
                <a:cxn ang="0">
                  <a:pos x="104" y="160"/>
                </a:cxn>
                <a:cxn ang="0">
                  <a:pos x="85" y="80"/>
                </a:cxn>
                <a:cxn ang="0">
                  <a:pos x="85" y="40"/>
                </a:cxn>
                <a:cxn ang="0">
                  <a:pos x="91" y="40"/>
                </a:cxn>
                <a:cxn ang="0">
                  <a:pos x="98" y="40"/>
                </a:cxn>
                <a:cxn ang="0">
                  <a:pos x="98" y="16"/>
                </a:cxn>
                <a:cxn ang="0">
                  <a:pos x="85" y="0"/>
                </a:cxn>
                <a:cxn ang="0">
                  <a:pos x="78" y="0"/>
                </a:cxn>
                <a:cxn ang="0">
                  <a:pos x="59" y="0"/>
                </a:cxn>
                <a:cxn ang="0">
                  <a:pos x="59" y="0"/>
                </a:cxn>
                <a:cxn ang="0">
                  <a:pos x="52" y="8"/>
                </a:cxn>
                <a:cxn ang="0">
                  <a:pos x="39" y="8"/>
                </a:cxn>
                <a:cxn ang="0">
                  <a:pos x="33" y="0"/>
                </a:cxn>
              </a:cxnLst>
              <a:rect l="0" t="0" r="r" b="b"/>
              <a:pathLst>
                <a:path w="111" h="192">
                  <a:moveTo>
                    <a:pt x="33" y="0"/>
                  </a:moveTo>
                  <a:lnTo>
                    <a:pt x="13" y="8"/>
                  </a:lnTo>
                  <a:lnTo>
                    <a:pt x="7" y="0"/>
                  </a:lnTo>
                  <a:lnTo>
                    <a:pt x="0" y="8"/>
                  </a:lnTo>
                  <a:lnTo>
                    <a:pt x="0" y="24"/>
                  </a:lnTo>
                  <a:lnTo>
                    <a:pt x="0" y="40"/>
                  </a:lnTo>
                  <a:lnTo>
                    <a:pt x="7" y="48"/>
                  </a:lnTo>
                  <a:lnTo>
                    <a:pt x="20" y="48"/>
                  </a:lnTo>
                  <a:lnTo>
                    <a:pt x="26" y="88"/>
                  </a:lnTo>
                  <a:lnTo>
                    <a:pt x="7" y="160"/>
                  </a:lnTo>
                  <a:lnTo>
                    <a:pt x="7" y="184"/>
                  </a:lnTo>
                  <a:lnTo>
                    <a:pt x="33" y="192"/>
                  </a:lnTo>
                  <a:lnTo>
                    <a:pt x="72" y="192"/>
                  </a:lnTo>
                  <a:lnTo>
                    <a:pt x="91" y="184"/>
                  </a:lnTo>
                  <a:lnTo>
                    <a:pt x="111" y="176"/>
                  </a:lnTo>
                  <a:lnTo>
                    <a:pt x="104" y="160"/>
                  </a:lnTo>
                  <a:lnTo>
                    <a:pt x="85" y="80"/>
                  </a:lnTo>
                  <a:lnTo>
                    <a:pt x="85" y="40"/>
                  </a:lnTo>
                  <a:lnTo>
                    <a:pt x="91" y="40"/>
                  </a:lnTo>
                  <a:lnTo>
                    <a:pt x="98" y="40"/>
                  </a:lnTo>
                  <a:lnTo>
                    <a:pt x="98" y="16"/>
                  </a:lnTo>
                  <a:lnTo>
                    <a:pt x="85" y="0"/>
                  </a:lnTo>
                  <a:lnTo>
                    <a:pt x="78" y="0"/>
                  </a:lnTo>
                  <a:lnTo>
                    <a:pt x="59" y="0"/>
                  </a:lnTo>
                  <a:lnTo>
                    <a:pt x="59" y="0"/>
                  </a:lnTo>
                  <a:lnTo>
                    <a:pt x="52" y="8"/>
                  </a:lnTo>
                  <a:lnTo>
                    <a:pt x="39" y="8"/>
                  </a:lnTo>
                  <a:lnTo>
                    <a:pt x="33"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30" name="Line 68">
              <a:extLst>
                <a:ext uri="{FF2B5EF4-FFF2-40B4-BE49-F238E27FC236}">
                  <a16:creationId xmlns:a16="http://schemas.microsoft.com/office/drawing/2014/main" id="{539330F2-4D2A-B684-9A40-4B53C78C263F}"/>
                </a:ext>
              </a:extLst>
            </p:cNvPr>
            <p:cNvSpPr>
              <a:spLocks noChangeShapeType="1"/>
            </p:cNvSpPr>
            <p:nvPr/>
          </p:nvSpPr>
          <p:spPr bwMode="auto">
            <a:xfrm flipV="1">
              <a:off x="4278" y="2719"/>
              <a:ext cx="1" cy="8"/>
            </a:xfrm>
            <a:prstGeom prst="line">
              <a:avLst/>
            </a:prstGeom>
            <a:noFill/>
            <a:ln w="9525">
              <a:solidFill>
                <a:srgbClr val="E4BB0C"/>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31" name="Freeform 69">
              <a:extLst>
                <a:ext uri="{FF2B5EF4-FFF2-40B4-BE49-F238E27FC236}">
                  <a16:creationId xmlns:a16="http://schemas.microsoft.com/office/drawing/2014/main" id="{5BD673C7-C874-4D4D-CCD6-CB71A9D0031C}"/>
                </a:ext>
              </a:extLst>
            </p:cNvPr>
            <p:cNvSpPr>
              <a:spLocks/>
            </p:cNvSpPr>
            <p:nvPr/>
          </p:nvSpPr>
          <p:spPr bwMode="auto">
            <a:xfrm>
              <a:off x="4193" y="2727"/>
              <a:ext cx="20" cy="16"/>
            </a:xfrm>
            <a:custGeom>
              <a:avLst/>
              <a:gdLst/>
              <a:ahLst/>
              <a:cxnLst>
                <a:cxn ang="0">
                  <a:pos x="0" y="0"/>
                </a:cxn>
                <a:cxn ang="0">
                  <a:pos x="7" y="16"/>
                </a:cxn>
                <a:cxn ang="0">
                  <a:pos x="13" y="16"/>
                </a:cxn>
                <a:cxn ang="0">
                  <a:pos x="20" y="16"/>
                </a:cxn>
                <a:cxn ang="0">
                  <a:pos x="20" y="8"/>
                </a:cxn>
                <a:cxn ang="0">
                  <a:pos x="7" y="8"/>
                </a:cxn>
                <a:cxn ang="0">
                  <a:pos x="0" y="0"/>
                </a:cxn>
              </a:cxnLst>
              <a:rect l="0" t="0" r="r" b="b"/>
              <a:pathLst>
                <a:path w="20" h="16">
                  <a:moveTo>
                    <a:pt x="0" y="0"/>
                  </a:moveTo>
                  <a:lnTo>
                    <a:pt x="7" y="16"/>
                  </a:lnTo>
                  <a:lnTo>
                    <a:pt x="13" y="16"/>
                  </a:lnTo>
                  <a:lnTo>
                    <a:pt x="20" y="16"/>
                  </a:lnTo>
                  <a:lnTo>
                    <a:pt x="20" y="8"/>
                  </a:lnTo>
                  <a:lnTo>
                    <a:pt x="7" y="8"/>
                  </a:lnTo>
                  <a:lnTo>
                    <a:pt x="0"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32" name="Freeform 70">
              <a:extLst>
                <a:ext uri="{FF2B5EF4-FFF2-40B4-BE49-F238E27FC236}">
                  <a16:creationId xmlns:a16="http://schemas.microsoft.com/office/drawing/2014/main" id="{B55AB142-1BB5-2378-F52F-801155E47DDF}"/>
                </a:ext>
              </a:extLst>
            </p:cNvPr>
            <p:cNvSpPr>
              <a:spLocks/>
            </p:cNvSpPr>
            <p:nvPr/>
          </p:nvSpPr>
          <p:spPr bwMode="auto">
            <a:xfrm>
              <a:off x="4271" y="2727"/>
              <a:ext cx="20" cy="16"/>
            </a:xfrm>
            <a:custGeom>
              <a:avLst/>
              <a:gdLst/>
              <a:ahLst/>
              <a:cxnLst>
                <a:cxn ang="0">
                  <a:pos x="7" y="0"/>
                </a:cxn>
                <a:cxn ang="0">
                  <a:pos x="0" y="16"/>
                </a:cxn>
                <a:cxn ang="0">
                  <a:pos x="13" y="16"/>
                </a:cxn>
                <a:cxn ang="0">
                  <a:pos x="20" y="8"/>
                </a:cxn>
                <a:cxn ang="0">
                  <a:pos x="20" y="0"/>
                </a:cxn>
                <a:cxn ang="0">
                  <a:pos x="13" y="0"/>
                </a:cxn>
                <a:cxn ang="0">
                  <a:pos x="7" y="0"/>
                </a:cxn>
              </a:cxnLst>
              <a:rect l="0" t="0" r="r" b="b"/>
              <a:pathLst>
                <a:path w="20" h="16">
                  <a:moveTo>
                    <a:pt x="7" y="0"/>
                  </a:moveTo>
                  <a:lnTo>
                    <a:pt x="0" y="16"/>
                  </a:lnTo>
                  <a:lnTo>
                    <a:pt x="13" y="16"/>
                  </a:lnTo>
                  <a:lnTo>
                    <a:pt x="20" y="8"/>
                  </a:lnTo>
                  <a:lnTo>
                    <a:pt x="20" y="0"/>
                  </a:lnTo>
                  <a:lnTo>
                    <a:pt x="13" y="0"/>
                  </a:lnTo>
                  <a:lnTo>
                    <a:pt x="7"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33" name="Freeform 71">
              <a:extLst>
                <a:ext uri="{FF2B5EF4-FFF2-40B4-BE49-F238E27FC236}">
                  <a16:creationId xmlns:a16="http://schemas.microsoft.com/office/drawing/2014/main" id="{663BAD17-927B-EB20-5D32-84CB8F550339}"/>
                </a:ext>
              </a:extLst>
            </p:cNvPr>
            <p:cNvSpPr>
              <a:spLocks/>
            </p:cNvSpPr>
            <p:nvPr/>
          </p:nvSpPr>
          <p:spPr bwMode="auto">
            <a:xfrm>
              <a:off x="4200" y="2743"/>
              <a:ext cx="65" cy="48"/>
            </a:xfrm>
            <a:custGeom>
              <a:avLst/>
              <a:gdLst/>
              <a:ahLst/>
              <a:cxnLst>
                <a:cxn ang="0">
                  <a:pos x="0" y="0"/>
                </a:cxn>
                <a:cxn ang="0">
                  <a:pos x="6" y="24"/>
                </a:cxn>
                <a:cxn ang="0">
                  <a:pos x="32" y="40"/>
                </a:cxn>
                <a:cxn ang="0">
                  <a:pos x="45" y="48"/>
                </a:cxn>
                <a:cxn ang="0">
                  <a:pos x="52" y="48"/>
                </a:cxn>
                <a:cxn ang="0">
                  <a:pos x="65" y="40"/>
                </a:cxn>
                <a:cxn ang="0">
                  <a:pos x="58" y="40"/>
                </a:cxn>
                <a:cxn ang="0">
                  <a:pos x="52" y="32"/>
                </a:cxn>
                <a:cxn ang="0">
                  <a:pos x="52" y="32"/>
                </a:cxn>
                <a:cxn ang="0">
                  <a:pos x="58" y="32"/>
                </a:cxn>
                <a:cxn ang="0">
                  <a:pos x="45" y="32"/>
                </a:cxn>
                <a:cxn ang="0">
                  <a:pos x="39" y="32"/>
                </a:cxn>
                <a:cxn ang="0">
                  <a:pos x="19" y="16"/>
                </a:cxn>
                <a:cxn ang="0">
                  <a:pos x="13" y="0"/>
                </a:cxn>
                <a:cxn ang="0">
                  <a:pos x="0" y="0"/>
                </a:cxn>
              </a:cxnLst>
              <a:rect l="0" t="0" r="r" b="b"/>
              <a:pathLst>
                <a:path w="65" h="48">
                  <a:moveTo>
                    <a:pt x="0" y="0"/>
                  </a:moveTo>
                  <a:lnTo>
                    <a:pt x="6" y="24"/>
                  </a:lnTo>
                  <a:lnTo>
                    <a:pt x="32" y="40"/>
                  </a:lnTo>
                  <a:lnTo>
                    <a:pt x="45" y="48"/>
                  </a:lnTo>
                  <a:lnTo>
                    <a:pt x="52" y="48"/>
                  </a:lnTo>
                  <a:lnTo>
                    <a:pt x="65" y="40"/>
                  </a:lnTo>
                  <a:lnTo>
                    <a:pt x="58" y="40"/>
                  </a:lnTo>
                  <a:lnTo>
                    <a:pt x="52" y="32"/>
                  </a:lnTo>
                  <a:lnTo>
                    <a:pt x="52" y="32"/>
                  </a:lnTo>
                  <a:lnTo>
                    <a:pt x="58" y="32"/>
                  </a:lnTo>
                  <a:lnTo>
                    <a:pt x="45" y="32"/>
                  </a:lnTo>
                  <a:lnTo>
                    <a:pt x="39" y="32"/>
                  </a:lnTo>
                  <a:lnTo>
                    <a:pt x="19" y="16"/>
                  </a:lnTo>
                  <a:lnTo>
                    <a:pt x="13" y="0"/>
                  </a:lnTo>
                  <a:lnTo>
                    <a:pt x="0"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34" name="Freeform 72">
              <a:extLst>
                <a:ext uri="{FF2B5EF4-FFF2-40B4-BE49-F238E27FC236}">
                  <a16:creationId xmlns:a16="http://schemas.microsoft.com/office/drawing/2014/main" id="{1256C5CF-DED7-D652-D474-E6909C7BBCCF}"/>
                </a:ext>
              </a:extLst>
            </p:cNvPr>
            <p:cNvSpPr>
              <a:spLocks/>
            </p:cNvSpPr>
            <p:nvPr/>
          </p:nvSpPr>
          <p:spPr bwMode="auto">
            <a:xfrm>
              <a:off x="4252" y="2735"/>
              <a:ext cx="39" cy="48"/>
            </a:xfrm>
            <a:custGeom>
              <a:avLst/>
              <a:gdLst/>
              <a:ahLst/>
              <a:cxnLst>
                <a:cxn ang="0">
                  <a:pos x="19" y="8"/>
                </a:cxn>
                <a:cxn ang="0">
                  <a:pos x="19" y="24"/>
                </a:cxn>
                <a:cxn ang="0">
                  <a:pos x="13" y="40"/>
                </a:cxn>
                <a:cxn ang="0">
                  <a:pos x="6" y="40"/>
                </a:cxn>
                <a:cxn ang="0">
                  <a:pos x="0" y="40"/>
                </a:cxn>
                <a:cxn ang="0">
                  <a:pos x="0" y="40"/>
                </a:cxn>
                <a:cxn ang="0">
                  <a:pos x="6" y="48"/>
                </a:cxn>
                <a:cxn ang="0">
                  <a:pos x="13" y="48"/>
                </a:cxn>
                <a:cxn ang="0">
                  <a:pos x="19" y="48"/>
                </a:cxn>
                <a:cxn ang="0">
                  <a:pos x="19" y="40"/>
                </a:cxn>
                <a:cxn ang="0">
                  <a:pos x="32" y="32"/>
                </a:cxn>
                <a:cxn ang="0">
                  <a:pos x="39" y="0"/>
                </a:cxn>
                <a:cxn ang="0">
                  <a:pos x="32" y="8"/>
                </a:cxn>
                <a:cxn ang="0">
                  <a:pos x="19" y="8"/>
                </a:cxn>
              </a:cxnLst>
              <a:rect l="0" t="0" r="r" b="b"/>
              <a:pathLst>
                <a:path w="39" h="48">
                  <a:moveTo>
                    <a:pt x="19" y="8"/>
                  </a:moveTo>
                  <a:lnTo>
                    <a:pt x="19" y="24"/>
                  </a:lnTo>
                  <a:lnTo>
                    <a:pt x="13" y="40"/>
                  </a:lnTo>
                  <a:lnTo>
                    <a:pt x="6" y="40"/>
                  </a:lnTo>
                  <a:lnTo>
                    <a:pt x="0" y="40"/>
                  </a:lnTo>
                  <a:lnTo>
                    <a:pt x="0" y="40"/>
                  </a:lnTo>
                  <a:lnTo>
                    <a:pt x="6" y="48"/>
                  </a:lnTo>
                  <a:lnTo>
                    <a:pt x="13" y="48"/>
                  </a:lnTo>
                  <a:lnTo>
                    <a:pt x="19" y="48"/>
                  </a:lnTo>
                  <a:lnTo>
                    <a:pt x="19" y="40"/>
                  </a:lnTo>
                  <a:lnTo>
                    <a:pt x="32" y="32"/>
                  </a:lnTo>
                  <a:lnTo>
                    <a:pt x="39" y="0"/>
                  </a:lnTo>
                  <a:lnTo>
                    <a:pt x="32" y="8"/>
                  </a:lnTo>
                  <a:lnTo>
                    <a:pt x="19" y="8"/>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35" name="Freeform 73">
              <a:extLst>
                <a:ext uri="{FF2B5EF4-FFF2-40B4-BE49-F238E27FC236}">
                  <a16:creationId xmlns:a16="http://schemas.microsoft.com/office/drawing/2014/main" id="{7DE46DA0-AC27-F89B-970A-77CF8BCC4A19}"/>
                </a:ext>
              </a:extLst>
            </p:cNvPr>
            <p:cNvSpPr>
              <a:spLocks/>
            </p:cNvSpPr>
            <p:nvPr/>
          </p:nvSpPr>
          <p:spPr bwMode="auto">
            <a:xfrm>
              <a:off x="4219" y="2687"/>
              <a:ext cx="46" cy="24"/>
            </a:xfrm>
            <a:custGeom>
              <a:avLst/>
              <a:gdLst/>
              <a:ahLst/>
              <a:cxnLst>
                <a:cxn ang="0">
                  <a:pos x="7" y="0"/>
                </a:cxn>
                <a:cxn ang="0">
                  <a:pos x="0" y="0"/>
                </a:cxn>
                <a:cxn ang="0">
                  <a:pos x="0" y="8"/>
                </a:cxn>
                <a:cxn ang="0">
                  <a:pos x="13" y="24"/>
                </a:cxn>
                <a:cxn ang="0">
                  <a:pos x="20" y="24"/>
                </a:cxn>
                <a:cxn ang="0">
                  <a:pos x="26" y="16"/>
                </a:cxn>
                <a:cxn ang="0">
                  <a:pos x="33" y="24"/>
                </a:cxn>
                <a:cxn ang="0">
                  <a:pos x="39" y="16"/>
                </a:cxn>
                <a:cxn ang="0">
                  <a:pos x="46" y="8"/>
                </a:cxn>
                <a:cxn ang="0">
                  <a:pos x="46" y="0"/>
                </a:cxn>
                <a:cxn ang="0">
                  <a:pos x="33" y="0"/>
                </a:cxn>
                <a:cxn ang="0">
                  <a:pos x="33" y="0"/>
                </a:cxn>
                <a:cxn ang="0">
                  <a:pos x="26" y="8"/>
                </a:cxn>
                <a:cxn ang="0">
                  <a:pos x="13" y="8"/>
                </a:cxn>
                <a:cxn ang="0">
                  <a:pos x="7" y="0"/>
                </a:cxn>
              </a:cxnLst>
              <a:rect l="0" t="0" r="r" b="b"/>
              <a:pathLst>
                <a:path w="46" h="24">
                  <a:moveTo>
                    <a:pt x="7" y="0"/>
                  </a:moveTo>
                  <a:lnTo>
                    <a:pt x="0" y="0"/>
                  </a:lnTo>
                  <a:lnTo>
                    <a:pt x="0" y="8"/>
                  </a:lnTo>
                  <a:lnTo>
                    <a:pt x="13" y="24"/>
                  </a:lnTo>
                  <a:lnTo>
                    <a:pt x="20" y="24"/>
                  </a:lnTo>
                  <a:lnTo>
                    <a:pt x="26" y="16"/>
                  </a:lnTo>
                  <a:lnTo>
                    <a:pt x="33" y="24"/>
                  </a:lnTo>
                  <a:lnTo>
                    <a:pt x="39" y="16"/>
                  </a:lnTo>
                  <a:lnTo>
                    <a:pt x="46" y="8"/>
                  </a:lnTo>
                  <a:lnTo>
                    <a:pt x="46" y="0"/>
                  </a:lnTo>
                  <a:lnTo>
                    <a:pt x="33" y="0"/>
                  </a:lnTo>
                  <a:lnTo>
                    <a:pt x="33" y="0"/>
                  </a:lnTo>
                  <a:lnTo>
                    <a:pt x="26" y="8"/>
                  </a:lnTo>
                  <a:lnTo>
                    <a:pt x="13" y="8"/>
                  </a:lnTo>
                  <a:lnTo>
                    <a:pt x="7"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36" name="Freeform 74">
              <a:extLst>
                <a:ext uri="{FF2B5EF4-FFF2-40B4-BE49-F238E27FC236}">
                  <a16:creationId xmlns:a16="http://schemas.microsoft.com/office/drawing/2014/main" id="{AE46AD9F-4631-AB55-8141-0CDE5BFFCF65}"/>
                </a:ext>
              </a:extLst>
            </p:cNvPr>
            <p:cNvSpPr>
              <a:spLocks/>
            </p:cNvSpPr>
            <p:nvPr/>
          </p:nvSpPr>
          <p:spPr bwMode="auto">
            <a:xfrm>
              <a:off x="4252" y="2879"/>
              <a:ext cx="1" cy="40"/>
            </a:xfrm>
            <a:custGeom>
              <a:avLst/>
              <a:gdLst/>
              <a:ahLst/>
              <a:cxnLst>
                <a:cxn ang="0">
                  <a:pos x="0" y="40"/>
                </a:cxn>
                <a:cxn ang="0">
                  <a:pos x="0" y="24"/>
                </a:cxn>
                <a:cxn ang="0">
                  <a:pos x="0" y="0"/>
                </a:cxn>
              </a:cxnLst>
              <a:rect l="0" t="0" r="r" b="b"/>
              <a:pathLst>
                <a:path h="40">
                  <a:moveTo>
                    <a:pt x="0" y="40"/>
                  </a:moveTo>
                  <a:lnTo>
                    <a:pt x="0" y="24"/>
                  </a:lnTo>
                  <a:lnTo>
                    <a:pt x="0" y="0"/>
                  </a:lnTo>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37" name="Freeform 75">
              <a:extLst>
                <a:ext uri="{FF2B5EF4-FFF2-40B4-BE49-F238E27FC236}">
                  <a16:creationId xmlns:a16="http://schemas.microsoft.com/office/drawing/2014/main" id="{1C3B7433-D85D-A4BE-EEA7-B73D8149E9CB}"/>
                </a:ext>
              </a:extLst>
            </p:cNvPr>
            <p:cNvSpPr>
              <a:spLocks/>
            </p:cNvSpPr>
            <p:nvPr/>
          </p:nvSpPr>
          <p:spPr bwMode="auto">
            <a:xfrm>
              <a:off x="4232" y="2919"/>
              <a:ext cx="52" cy="24"/>
            </a:xfrm>
            <a:custGeom>
              <a:avLst/>
              <a:gdLst/>
              <a:ahLst/>
              <a:cxnLst>
                <a:cxn ang="0">
                  <a:pos x="0" y="0"/>
                </a:cxn>
                <a:cxn ang="0">
                  <a:pos x="0" y="8"/>
                </a:cxn>
                <a:cxn ang="0">
                  <a:pos x="0" y="16"/>
                </a:cxn>
                <a:cxn ang="0">
                  <a:pos x="7" y="24"/>
                </a:cxn>
                <a:cxn ang="0">
                  <a:pos x="26" y="24"/>
                </a:cxn>
                <a:cxn ang="0">
                  <a:pos x="26" y="16"/>
                </a:cxn>
                <a:cxn ang="0">
                  <a:pos x="33" y="16"/>
                </a:cxn>
                <a:cxn ang="0">
                  <a:pos x="46" y="16"/>
                </a:cxn>
                <a:cxn ang="0">
                  <a:pos x="52" y="16"/>
                </a:cxn>
                <a:cxn ang="0">
                  <a:pos x="52" y="8"/>
                </a:cxn>
                <a:cxn ang="0">
                  <a:pos x="46" y="8"/>
                </a:cxn>
                <a:cxn ang="0">
                  <a:pos x="39" y="0"/>
                </a:cxn>
                <a:cxn ang="0">
                  <a:pos x="26" y="0"/>
                </a:cxn>
                <a:cxn ang="0">
                  <a:pos x="20" y="0"/>
                </a:cxn>
                <a:cxn ang="0">
                  <a:pos x="13" y="0"/>
                </a:cxn>
                <a:cxn ang="0">
                  <a:pos x="0" y="0"/>
                </a:cxn>
              </a:cxnLst>
              <a:rect l="0" t="0" r="r" b="b"/>
              <a:pathLst>
                <a:path w="52" h="24">
                  <a:moveTo>
                    <a:pt x="0" y="0"/>
                  </a:moveTo>
                  <a:lnTo>
                    <a:pt x="0" y="8"/>
                  </a:lnTo>
                  <a:lnTo>
                    <a:pt x="0" y="16"/>
                  </a:lnTo>
                  <a:lnTo>
                    <a:pt x="7" y="24"/>
                  </a:lnTo>
                  <a:lnTo>
                    <a:pt x="26" y="24"/>
                  </a:lnTo>
                  <a:lnTo>
                    <a:pt x="26" y="16"/>
                  </a:lnTo>
                  <a:lnTo>
                    <a:pt x="33" y="16"/>
                  </a:lnTo>
                  <a:lnTo>
                    <a:pt x="46" y="16"/>
                  </a:lnTo>
                  <a:lnTo>
                    <a:pt x="52" y="16"/>
                  </a:lnTo>
                  <a:lnTo>
                    <a:pt x="52" y="8"/>
                  </a:lnTo>
                  <a:lnTo>
                    <a:pt x="46" y="8"/>
                  </a:lnTo>
                  <a:lnTo>
                    <a:pt x="39" y="0"/>
                  </a:lnTo>
                  <a:lnTo>
                    <a:pt x="26" y="0"/>
                  </a:lnTo>
                  <a:lnTo>
                    <a:pt x="20" y="0"/>
                  </a:lnTo>
                  <a:lnTo>
                    <a:pt x="13" y="0"/>
                  </a:lnTo>
                  <a:lnTo>
                    <a:pt x="0" y="0"/>
                  </a:lnTo>
                  <a:close/>
                </a:path>
              </a:pathLst>
            </a:custGeom>
            <a:solidFill>
              <a:schemeClr val="accent1"/>
            </a:solidFill>
            <a:ln w="9525">
              <a:solidFill>
                <a:srgbClr val="E4BB0C"/>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sp>
        <p:nvSpPr>
          <p:cNvPr id="10" name="Rectangle 9">
            <a:extLst>
              <a:ext uri="{FF2B5EF4-FFF2-40B4-BE49-F238E27FC236}">
                <a16:creationId xmlns:a16="http://schemas.microsoft.com/office/drawing/2014/main" id="{D5BB4D90-4BAA-A1E6-D801-CB2E13BBC45D}"/>
              </a:ext>
            </a:extLst>
          </p:cNvPr>
          <p:cNvSpPr>
            <a:spLocks noChangeArrowheads="1"/>
          </p:cNvSpPr>
          <p:nvPr/>
        </p:nvSpPr>
        <p:spPr bwMode="auto">
          <a:xfrm>
            <a:off x="9316977" y="5971912"/>
            <a:ext cx="718145" cy="276999"/>
          </a:xfrm>
          <a:prstGeom prst="rect">
            <a:avLst/>
          </a:prstGeom>
          <a:noFill/>
          <a:ln w="9525">
            <a:noFill/>
            <a:miter lim="800000"/>
            <a:headEnd/>
            <a:tailEnd/>
          </a:ln>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TW" b="1" dirty="0">
                <a:latin typeface="Times" pitchFamily="18" charset="0"/>
                <a:ea typeface="新細明體" pitchFamily="18" charset="-120"/>
              </a:rPr>
              <a:t>Output</a:t>
            </a:r>
            <a:endParaRPr lang="en-US" altLang="zh-TW" dirty="0">
              <a:ea typeface="新細明體" pitchFamily="18" charset="-120"/>
            </a:endParaRPr>
          </a:p>
        </p:txBody>
      </p:sp>
      <p:grpSp>
        <p:nvGrpSpPr>
          <p:cNvPr id="11" name="Group 10">
            <a:extLst>
              <a:ext uri="{FF2B5EF4-FFF2-40B4-BE49-F238E27FC236}">
                <a16:creationId xmlns:a16="http://schemas.microsoft.com/office/drawing/2014/main" id="{C325EEC8-8B24-19CE-87B3-83C117288ECA}"/>
              </a:ext>
            </a:extLst>
          </p:cNvPr>
          <p:cNvGrpSpPr>
            <a:grpSpLocks/>
          </p:cNvGrpSpPr>
          <p:nvPr/>
        </p:nvGrpSpPr>
        <p:grpSpPr bwMode="auto">
          <a:xfrm>
            <a:off x="2268543" y="4633530"/>
            <a:ext cx="1154114" cy="976313"/>
            <a:chOff x="1974" y="2320"/>
            <a:chExt cx="727" cy="615"/>
          </a:xfrm>
        </p:grpSpPr>
        <p:sp>
          <p:nvSpPr>
            <p:cNvPr id="20" name="Freeform 96">
              <a:extLst>
                <a:ext uri="{FF2B5EF4-FFF2-40B4-BE49-F238E27FC236}">
                  <a16:creationId xmlns:a16="http://schemas.microsoft.com/office/drawing/2014/main" id="{5BDCE55A-AF72-4838-E143-6C4DCE5AA0A5}"/>
                </a:ext>
              </a:extLst>
            </p:cNvPr>
            <p:cNvSpPr>
              <a:spLocks/>
            </p:cNvSpPr>
            <p:nvPr/>
          </p:nvSpPr>
          <p:spPr bwMode="auto">
            <a:xfrm>
              <a:off x="2013" y="2871"/>
              <a:ext cx="104" cy="48"/>
            </a:xfrm>
            <a:custGeom>
              <a:avLst/>
              <a:gdLst/>
              <a:ahLst/>
              <a:cxnLst>
                <a:cxn ang="0">
                  <a:pos x="0" y="8"/>
                </a:cxn>
                <a:cxn ang="0">
                  <a:pos x="0" y="32"/>
                </a:cxn>
                <a:cxn ang="0">
                  <a:pos x="0" y="40"/>
                </a:cxn>
                <a:cxn ang="0">
                  <a:pos x="13" y="48"/>
                </a:cxn>
                <a:cxn ang="0">
                  <a:pos x="33" y="48"/>
                </a:cxn>
                <a:cxn ang="0">
                  <a:pos x="52" y="48"/>
                </a:cxn>
                <a:cxn ang="0">
                  <a:pos x="52" y="40"/>
                </a:cxn>
                <a:cxn ang="0">
                  <a:pos x="72" y="40"/>
                </a:cxn>
                <a:cxn ang="0">
                  <a:pos x="85" y="40"/>
                </a:cxn>
                <a:cxn ang="0">
                  <a:pos x="104" y="40"/>
                </a:cxn>
                <a:cxn ang="0">
                  <a:pos x="104" y="32"/>
                </a:cxn>
                <a:cxn ang="0">
                  <a:pos x="104" y="16"/>
                </a:cxn>
                <a:cxn ang="0">
                  <a:pos x="91" y="16"/>
                </a:cxn>
                <a:cxn ang="0">
                  <a:pos x="78" y="8"/>
                </a:cxn>
                <a:cxn ang="0">
                  <a:pos x="72" y="0"/>
                </a:cxn>
                <a:cxn ang="0">
                  <a:pos x="59" y="8"/>
                </a:cxn>
                <a:cxn ang="0">
                  <a:pos x="39" y="0"/>
                </a:cxn>
                <a:cxn ang="0">
                  <a:pos x="33" y="8"/>
                </a:cxn>
                <a:cxn ang="0">
                  <a:pos x="13" y="8"/>
                </a:cxn>
                <a:cxn ang="0">
                  <a:pos x="0" y="8"/>
                </a:cxn>
              </a:cxnLst>
              <a:rect l="0" t="0" r="r" b="b"/>
              <a:pathLst>
                <a:path w="104" h="48">
                  <a:moveTo>
                    <a:pt x="0" y="8"/>
                  </a:moveTo>
                  <a:lnTo>
                    <a:pt x="0" y="32"/>
                  </a:lnTo>
                  <a:lnTo>
                    <a:pt x="0" y="40"/>
                  </a:lnTo>
                  <a:lnTo>
                    <a:pt x="13" y="48"/>
                  </a:lnTo>
                  <a:lnTo>
                    <a:pt x="33" y="48"/>
                  </a:lnTo>
                  <a:lnTo>
                    <a:pt x="52" y="48"/>
                  </a:lnTo>
                  <a:lnTo>
                    <a:pt x="52" y="40"/>
                  </a:lnTo>
                  <a:lnTo>
                    <a:pt x="72" y="40"/>
                  </a:lnTo>
                  <a:lnTo>
                    <a:pt x="85" y="40"/>
                  </a:lnTo>
                  <a:lnTo>
                    <a:pt x="104" y="40"/>
                  </a:lnTo>
                  <a:lnTo>
                    <a:pt x="104" y="32"/>
                  </a:lnTo>
                  <a:lnTo>
                    <a:pt x="104" y="16"/>
                  </a:lnTo>
                  <a:lnTo>
                    <a:pt x="91" y="16"/>
                  </a:lnTo>
                  <a:lnTo>
                    <a:pt x="78" y="8"/>
                  </a:lnTo>
                  <a:lnTo>
                    <a:pt x="72" y="0"/>
                  </a:lnTo>
                  <a:lnTo>
                    <a:pt x="59" y="8"/>
                  </a:lnTo>
                  <a:lnTo>
                    <a:pt x="39" y="0"/>
                  </a:lnTo>
                  <a:lnTo>
                    <a:pt x="33" y="8"/>
                  </a:lnTo>
                  <a:lnTo>
                    <a:pt x="13" y="8"/>
                  </a:lnTo>
                  <a:lnTo>
                    <a:pt x="0" y="8"/>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1" name="Oval 20">
              <a:extLst>
                <a:ext uri="{FF2B5EF4-FFF2-40B4-BE49-F238E27FC236}">
                  <a16:creationId xmlns:a16="http://schemas.microsoft.com/office/drawing/2014/main" id="{56980C58-E847-271E-05F5-3DE031C62E5E}"/>
                </a:ext>
              </a:extLst>
            </p:cNvPr>
            <p:cNvSpPr>
              <a:spLocks noChangeArrowheads="1"/>
            </p:cNvSpPr>
            <p:nvPr/>
          </p:nvSpPr>
          <p:spPr bwMode="auto">
            <a:xfrm>
              <a:off x="2016" y="2890"/>
              <a:ext cx="7" cy="2"/>
            </a:xfrm>
            <a:prstGeom prst="ellipse">
              <a:avLst/>
            </a:prstGeom>
            <a:solidFill>
              <a:schemeClr val="bg2"/>
            </a:solidFill>
            <a:ln w="9525">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2" name="Oval 21">
              <a:extLst>
                <a:ext uri="{FF2B5EF4-FFF2-40B4-BE49-F238E27FC236}">
                  <a16:creationId xmlns:a16="http://schemas.microsoft.com/office/drawing/2014/main" id="{2F4C663A-B043-3AAB-524D-A50AE2D94198}"/>
                </a:ext>
              </a:extLst>
            </p:cNvPr>
            <p:cNvSpPr>
              <a:spLocks noChangeArrowheads="1"/>
            </p:cNvSpPr>
            <p:nvPr/>
          </p:nvSpPr>
          <p:spPr bwMode="auto">
            <a:xfrm>
              <a:off x="2062" y="2882"/>
              <a:ext cx="0" cy="10"/>
            </a:xfrm>
            <a:prstGeom prst="ellipse">
              <a:avLst/>
            </a:prstGeom>
            <a:solidFill>
              <a:schemeClr val="bg2"/>
            </a:solidFill>
            <a:ln w="9525">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3" name="Freeform 99">
              <a:extLst>
                <a:ext uri="{FF2B5EF4-FFF2-40B4-BE49-F238E27FC236}">
                  <a16:creationId xmlns:a16="http://schemas.microsoft.com/office/drawing/2014/main" id="{8FEBB499-9AD7-99F7-EBA6-EB94987C8C06}"/>
                </a:ext>
              </a:extLst>
            </p:cNvPr>
            <p:cNvSpPr>
              <a:spLocks/>
            </p:cNvSpPr>
            <p:nvPr/>
          </p:nvSpPr>
          <p:spPr bwMode="auto">
            <a:xfrm>
              <a:off x="2052" y="2879"/>
              <a:ext cx="20" cy="32"/>
            </a:xfrm>
            <a:custGeom>
              <a:avLst/>
              <a:gdLst/>
              <a:ahLst/>
              <a:cxnLst>
                <a:cxn ang="0">
                  <a:pos x="13" y="32"/>
                </a:cxn>
                <a:cxn ang="0">
                  <a:pos x="20" y="16"/>
                </a:cxn>
                <a:cxn ang="0">
                  <a:pos x="13" y="8"/>
                </a:cxn>
                <a:cxn ang="0">
                  <a:pos x="0" y="8"/>
                </a:cxn>
                <a:cxn ang="0">
                  <a:pos x="0" y="0"/>
                </a:cxn>
                <a:cxn ang="0">
                  <a:pos x="13" y="32"/>
                </a:cxn>
              </a:cxnLst>
              <a:rect l="0" t="0" r="r" b="b"/>
              <a:pathLst>
                <a:path w="20" h="32">
                  <a:moveTo>
                    <a:pt x="13" y="32"/>
                  </a:moveTo>
                  <a:lnTo>
                    <a:pt x="20" y="16"/>
                  </a:lnTo>
                  <a:lnTo>
                    <a:pt x="13" y="8"/>
                  </a:lnTo>
                  <a:lnTo>
                    <a:pt x="0" y="8"/>
                  </a:lnTo>
                  <a:lnTo>
                    <a:pt x="0" y="0"/>
                  </a:lnTo>
                  <a:lnTo>
                    <a:pt x="13" y="32"/>
                  </a:lnTo>
                  <a:close/>
                </a:path>
              </a:pathLst>
            </a:custGeom>
            <a:solidFill>
              <a:schemeClr val="bg2"/>
            </a:solidFill>
            <a:ln w="9525">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4" name="Freeform 100">
              <a:extLst>
                <a:ext uri="{FF2B5EF4-FFF2-40B4-BE49-F238E27FC236}">
                  <a16:creationId xmlns:a16="http://schemas.microsoft.com/office/drawing/2014/main" id="{DFA547DD-1CC5-32E2-0546-E703795C3ACA}"/>
                </a:ext>
              </a:extLst>
            </p:cNvPr>
            <p:cNvSpPr>
              <a:spLocks/>
            </p:cNvSpPr>
            <p:nvPr/>
          </p:nvSpPr>
          <p:spPr bwMode="auto">
            <a:xfrm>
              <a:off x="2052" y="2879"/>
              <a:ext cx="20" cy="32"/>
            </a:xfrm>
            <a:custGeom>
              <a:avLst/>
              <a:gdLst/>
              <a:ahLst/>
              <a:cxnLst>
                <a:cxn ang="0">
                  <a:pos x="13" y="32"/>
                </a:cxn>
                <a:cxn ang="0">
                  <a:pos x="20" y="16"/>
                </a:cxn>
                <a:cxn ang="0">
                  <a:pos x="13" y="8"/>
                </a:cxn>
                <a:cxn ang="0">
                  <a:pos x="0" y="8"/>
                </a:cxn>
                <a:cxn ang="0">
                  <a:pos x="0" y="0"/>
                </a:cxn>
              </a:cxnLst>
              <a:rect l="0" t="0" r="r" b="b"/>
              <a:pathLst>
                <a:path w="20" h="32">
                  <a:moveTo>
                    <a:pt x="13" y="32"/>
                  </a:moveTo>
                  <a:lnTo>
                    <a:pt x="20" y="16"/>
                  </a:lnTo>
                  <a:lnTo>
                    <a:pt x="13" y="8"/>
                  </a:lnTo>
                  <a:lnTo>
                    <a:pt x="0" y="8"/>
                  </a:lnTo>
                  <a:lnTo>
                    <a:pt x="0" y="0"/>
                  </a:lnTo>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5" name="Freeform 101">
              <a:extLst>
                <a:ext uri="{FF2B5EF4-FFF2-40B4-BE49-F238E27FC236}">
                  <a16:creationId xmlns:a16="http://schemas.microsoft.com/office/drawing/2014/main" id="{D995DCF6-6D21-8DC9-D00E-08BD2695B1F8}"/>
                </a:ext>
              </a:extLst>
            </p:cNvPr>
            <p:cNvSpPr>
              <a:spLocks/>
            </p:cNvSpPr>
            <p:nvPr/>
          </p:nvSpPr>
          <p:spPr bwMode="auto">
            <a:xfrm>
              <a:off x="2000" y="2671"/>
              <a:ext cx="91" cy="208"/>
            </a:xfrm>
            <a:custGeom>
              <a:avLst/>
              <a:gdLst/>
              <a:ahLst/>
              <a:cxnLst>
                <a:cxn ang="0">
                  <a:pos x="7" y="0"/>
                </a:cxn>
                <a:cxn ang="0">
                  <a:pos x="0" y="32"/>
                </a:cxn>
                <a:cxn ang="0">
                  <a:pos x="7" y="64"/>
                </a:cxn>
                <a:cxn ang="0">
                  <a:pos x="7" y="152"/>
                </a:cxn>
                <a:cxn ang="0">
                  <a:pos x="7" y="200"/>
                </a:cxn>
                <a:cxn ang="0">
                  <a:pos x="20" y="208"/>
                </a:cxn>
                <a:cxn ang="0">
                  <a:pos x="26" y="208"/>
                </a:cxn>
                <a:cxn ang="0">
                  <a:pos x="46" y="208"/>
                </a:cxn>
                <a:cxn ang="0">
                  <a:pos x="52" y="200"/>
                </a:cxn>
                <a:cxn ang="0">
                  <a:pos x="78" y="208"/>
                </a:cxn>
                <a:cxn ang="0">
                  <a:pos x="85" y="208"/>
                </a:cxn>
                <a:cxn ang="0">
                  <a:pos x="91" y="200"/>
                </a:cxn>
                <a:cxn ang="0">
                  <a:pos x="91" y="144"/>
                </a:cxn>
                <a:cxn ang="0">
                  <a:pos x="91" y="112"/>
                </a:cxn>
                <a:cxn ang="0">
                  <a:pos x="85" y="0"/>
                </a:cxn>
                <a:cxn ang="0">
                  <a:pos x="78" y="8"/>
                </a:cxn>
                <a:cxn ang="0">
                  <a:pos x="52" y="16"/>
                </a:cxn>
                <a:cxn ang="0">
                  <a:pos x="26" y="16"/>
                </a:cxn>
                <a:cxn ang="0">
                  <a:pos x="7" y="0"/>
                </a:cxn>
              </a:cxnLst>
              <a:rect l="0" t="0" r="r" b="b"/>
              <a:pathLst>
                <a:path w="91" h="208">
                  <a:moveTo>
                    <a:pt x="7" y="0"/>
                  </a:moveTo>
                  <a:lnTo>
                    <a:pt x="0" y="32"/>
                  </a:lnTo>
                  <a:lnTo>
                    <a:pt x="7" y="64"/>
                  </a:lnTo>
                  <a:lnTo>
                    <a:pt x="7" y="152"/>
                  </a:lnTo>
                  <a:lnTo>
                    <a:pt x="7" y="200"/>
                  </a:lnTo>
                  <a:lnTo>
                    <a:pt x="20" y="208"/>
                  </a:lnTo>
                  <a:lnTo>
                    <a:pt x="26" y="208"/>
                  </a:lnTo>
                  <a:lnTo>
                    <a:pt x="46" y="208"/>
                  </a:lnTo>
                  <a:lnTo>
                    <a:pt x="52" y="200"/>
                  </a:lnTo>
                  <a:lnTo>
                    <a:pt x="78" y="208"/>
                  </a:lnTo>
                  <a:lnTo>
                    <a:pt x="85" y="208"/>
                  </a:lnTo>
                  <a:lnTo>
                    <a:pt x="91" y="200"/>
                  </a:lnTo>
                  <a:lnTo>
                    <a:pt x="91" y="144"/>
                  </a:lnTo>
                  <a:lnTo>
                    <a:pt x="91" y="112"/>
                  </a:lnTo>
                  <a:lnTo>
                    <a:pt x="85" y="0"/>
                  </a:lnTo>
                  <a:lnTo>
                    <a:pt x="78" y="8"/>
                  </a:lnTo>
                  <a:lnTo>
                    <a:pt x="52" y="16"/>
                  </a:lnTo>
                  <a:lnTo>
                    <a:pt x="26" y="16"/>
                  </a:lnTo>
                  <a:lnTo>
                    <a:pt x="7"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6" name="Freeform 102">
              <a:extLst>
                <a:ext uri="{FF2B5EF4-FFF2-40B4-BE49-F238E27FC236}">
                  <a16:creationId xmlns:a16="http://schemas.microsoft.com/office/drawing/2014/main" id="{80F05253-7278-BEE2-482F-955DEA197AE6}"/>
                </a:ext>
              </a:extLst>
            </p:cNvPr>
            <p:cNvSpPr>
              <a:spLocks/>
            </p:cNvSpPr>
            <p:nvPr/>
          </p:nvSpPr>
          <p:spPr bwMode="auto">
            <a:xfrm>
              <a:off x="2052" y="2743"/>
              <a:ext cx="7" cy="128"/>
            </a:xfrm>
            <a:custGeom>
              <a:avLst/>
              <a:gdLst/>
              <a:ahLst/>
              <a:cxnLst>
                <a:cxn ang="0">
                  <a:pos x="0" y="128"/>
                </a:cxn>
                <a:cxn ang="0">
                  <a:pos x="7" y="48"/>
                </a:cxn>
                <a:cxn ang="0">
                  <a:pos x="7" y="0"/>
                </a:cxn>
              </a:cxnLst>
              <a:rect l="0" t="0" r="r" b="b"/>
              <a:pathLst>
                <a:path w="7" h="128">
                  <a:moveTo>
                    <a:pt x="0" y="128"/>
                  </a:moveTo>
                  <a:lnTo>
                    <a:pt x="7" y="48"/>
                  </a:lnTo>
                  <a:lnTo>
                    <a:pt x="7" y="0"/>
                  </a:lnTo>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7" name="Freeform 103">
              <a:extLst>
                <a:ext uri="{FF2B5EF4-FFF2-40B4-BE49-F238E27FC236}">
                  <a16:creationId xmlns:a16="http://schemas.microsoft.com/office/drawing/2014/main" id="{91A97CD9-6EC4-63EA-4AE5-B4724D895C6A}"/>
                </a:ext>
              </a:extLst>
            </p:cNvPr>
            <p:cNvSpPr>
              <a:spLocks/>
            </p:cNvSpPr>
            <p:nvPr/>
          </p:nvSpPr>
          <p:spPr bwMode="auto">
            <a:xfrm>
              <a:off x="2013" y="2456"/>
              <a:ext cx="52" cy="71"/>
            </a:xfrm>
            <a:custGeom>
              <a:avLst/>
              <a:gdLst/>
              <a:ahLst/>
              <a:cxnLst>
                <a:cxn ang="0">
                  <a:pos x="7" y="23"/>
                </a:cxn>
                <a:cxn ang="0">
                  <a:pos x="0" y="23"/>
                </a:cxn>
                <a:cxn ang="0">
                  <a:pos x="0" y="31"/>
                </a:cxn>
                <a:cxn ang="0">
                  <a:pos x="0" y="39"/>
                </a:cxn>
                <a:cxn ang="0">
                  <a:pos x="7" y="39"/>
                </a:cxn>
                <a:cxn ang="0">
                  <a:pos x="13" y="55"/>
                </a:cxn>
                <a:cxn ang="0">
                  <a:pos x="26" y="71"/>
                </a:cxn>
                <a:cxn ang="0">
                  <a:pos x="46" y="71"/>
                </a:cxn>
                <a:cxn ang="0">
                  <a:pos x="52" y="55"/>
                </a:cxn>
                <a:cxn ang="0">
                  <a:pos x="52" y="47"/>
                </a:cxn>
                <a:cxn ang="0">
                  <a:pos x="52" y="16"/>
                </a:cxn>
                <a:cxn ang="0">
                  <a:pos x="46" y="0"/>
                </a:cxn>
                <a:cxn ang="0">
                  <a:pos x="20" y="16"/>
                </a:cxn>
                <a:cxn ang="0">
                  <a:pos x="7" y="8"/>
                </a:cxn>
                <a:cxn ang="0">
                  <a:pos x="7" y="23"/>
                </a:cxn>
              </a:cxnLst>
              <a:rect l="0" t="0" r="r" b="b"/>
              <a:pathLst>
                <a:path w="52" h="71">
                  <a:moveTo>
                    <a:pt x="7" y="23"/>
                  </a:moveTo>
                  <a:lnTo>
                    <a:pt x="0" y="23"/>
                  </a:lnTo>
                  <a:lnTo>
                    <a:pt x="0" y="31"/>
                  </a:lnTo>
                  <a:lnTo>
                    <a:pt x="0" y="39"/>
                  </a:lnTo>
                  <a:lnTo>
                    <a:pt x="7" y="39"/>
                  </a:lnTo>
                  <a:lnTo>
                    <a:pt x="13" y="55"/>
                  </a:lnTo>
                  <a:lnTo>
                    <a:pt x="26" y="71"/>
                  </a:lnTo>
                  <a:lnTo>
                    <a:pt x="46" y="71"/>
                  </a:lnTo>
                  <a:lnTo>
                    <a:pt x="52" y="55"/>
                  </a:lnTo>
                  <a:lnTo>
                    <a:pt x="52" y="47"/>
                  </a:lnTo>
                  <a:lnTo>
                    <a:pt x="52" y="16"/>
                  </a:lnTo>
                  <a:lnTo>
                    <a:pt x="46" y="0"/>
                  </a:lnTo>
                  <a:lnTo>
                    <a:pt x="20" y="16"/>
                  </a:lnTo>
                  <a:lnTo>
                    <a:pt x="7" y="8"/>
                  </a:lnTo>
                  <a:lnTo>
                    <a:pt x="7" y="23"/>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8" name="Freeform 104">
              <a:extLst>
                <a:ext uri="{FF2B5EF4-FFF2-40B4-BE49-F238E27FC236}">
                  <a16:creationId xmlns:a16="http://schemas.microsoft.com/office/drawing/2014/main" id="{F06A653A-2A71-2CCE-15E5-029CF18A9B3C}"/>
                </a:ext>
              </a:extLst>
            </p:cNvPr>
            <p:cNvSpPr>
              <a:spLocks/>
            </p:cNvSpPr>
            <p:nvPr/>
          </p:nvSpPr>
          <p:spPr bwMode="auto">
            <a:xfrm>
              <a:off x="2000" y="2432"/>
              <a:ext cx="72" cy="63"/>
            </a:xfrm>
            <a:custGeom>
              <a:avLst/>
              <a:gdLst/>
              <a:ahLst/>
              <a:cxnLst>
                <a:cxn ang="0">
                  <a:pos x="65" y="40"/>
                </a:cxn>
                <a:cxn ang="0">
                  <a:pos x="72" y="32"/>
                </a:cxn>
                <a:cxn ang="0">
                  <a:pos x="72" y="16"/>
                </a:cxn>
                <a:cxn ang="0">
                  <a:pos x="65" y="8"/>
                </a:cxn>
                <a:cxn ang="0">
                  <a:pos x="52" y="0"/>
                </a:cxn>
                <a:cxn ang="0">
                  <a:pos x="33" y="0"/>
                </a:cxn>
                <a:cxn ang="0">
                  <a:pos x="20" y="0"/>
                </a:cxn>
                <a:cxn ang="0">
                  <a:pos x="13" y="8"/>
                </a:cxn>
                <a:cxn ang="0">
                  <a:pos x="7" y="0"/>
                </a:cxn>
                <a:cxn ang="0">
                  <a:pos x="13" y="8"/>
                </a:cxn>
                <a:cxn ang="0">
                  <a:pos x="7" y="8"/>
                </a:cxn>
                <a:cxn ang="0">
                  <a:pos x="7" y="8"/>
                </a:cxn>
                <a:cxn ang="0">
                  <a:pos x="0" y="16"/>
                </a:cxn>
                <a:cxn ang="0">
                  <a:pos x="0" y="40"/>
                </a:cxn>
                <a:cxn ang="0">
                  <a:pos x="13" y="63"/>
                </a:cxn>
                <a:cxn ang="0">
                  <a:pos x="13" y="55"/>
                </a:cxn>
                <a:cxn ang="0">
                  <a:pos x="13" y="47"/>
                </a:cxn>
                <a:cxn ang="0">
                  <a:pos x="20" y="47"/>
                </a:cxn>
                <a:cxn ang="0">
                  <a:pos x="20" y="32"/>
                </a:cxn>
                <a:cxn ang="0">
                  <a:pos x="33" y="40"/>
                </a:cxn>
                <a:cxn ang="0">
                  <a:pos x="59" y="24"/>
                </a:cxn>
                <a:cxn ang="0">
                  <a:pos x="65" y="40"/>
                </a:cxn>
              </a:cxnLst>
              <a:rect l="0" t="0" r="r" b="b"/>
              <a:pathLst>
                <a:path w="72" h="63">
                  <a:moveTo>
                    <a:pt x="65" y="40"/>
                  </a:moveTo>
                  <a:lnTo>
                    <a:pt x="72" y="32"/>
                  </a:lnTo>
                  <a:lnTo>
                    <a:pt x="72" y="16"/>
                  </a:lnTo>
                  <a:lnTo>
                    <a:pt x="65" y="8"/>
                  </a:lnTo>
                  <a:lnTo>
                    <a:pt x="52" y="0"/>
                  </a:lnTo>
                  <a:lnTo>
                    <a:pt x="33" y="0"/>
                  </a:lnTo>
                  <a:lnTo>
                    <a:pt x="20" y="0"/>
                  </a:lnTo>
                  <a:lnTo>
                    <a:pt x="13" y="8"/>
                  </a:lnTo>
                  <a:lnTo>
                    <a:pt x="7" y="0"/>
                  </a:lnTo>
                  <a:lnTo>
                    <a:pt x="13" y="8"/>
                  </a:lnTo>
                  <a:lnTo>
                    <a:pt x="7" y="8"/>
                  </a:lnTo>
                  <a:lnTo>
                    <a:pt x="7" y="8"/>
                  </a:lnTo>
                  <a:lnTo>
                    <a:pt x="0" y="16"/>
                  </a:lnTo>
                  <a:lnTo>
                    <a:pt x="0" y="40"/>
                  </a:lnTo>
                  <a:lnTo>
                    <a:pt x="13" y="63"/>
                  </a:lnTo>
                  <a:lnTo>
                    <a:pt x="13" y="55"/>
                  </a:lnTo>
                  <a:lnTo>
                    <a:pt x="13" y="47"/>
                  </a:lnTo>
                  <a:lnTo>
                    <a:pt x="20" y="47"/>
                  </a:lnTo>
                  <a:lnTo>
                    <a:pt x="20" y="32"/>
                  </a:lnTo>
                  <a:lnTo>
                    <a:pt x="33" y="40"/>
                  </a:lnTo>
                  <a:lnTo>
                    <a:pt x="59" y="24"/>
                  </a:lnTo>
                  <a:lnTo>
                    <a:pt x="65" y="4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9" name="Freeform 105">
              <a:extLst>
                <a:ext uri="{FF2B5EF4-FFF2-40B4-BE49-F238E27FC236}">
                  <a16:creationId xmlns:a16="http://schemas.microsoft.com/office/drawing/2014/main" id="{96F0DCEC-B23F-5F65-24BD-3C29DCA43529}"/>
                </a:ext>
              </a:extLst>
            </p:cNvPr>
            <p:cNvSpPr>
              <a:spLocks/>
            </p:cNvSpPr>
            <p:nvPr/>
          </p:nvSpPr>
          <p:spPr bwMode="auto">
            <a:xfrm>
              <a:off x="2020" y="2495"/>
              <a:ext cx="39" cy="48"/>
            </a:xfrm>
            <a:custGeom>
              <a:avLst/>
              <a:gdLst/>
              <a:ahLst/>
              <a:cxnLst>
                <a:cxn ang="0">
                  <a:pos x="0" y="0"/>
                </a:cxn>
                <a:cxn ang="0">
                  <a:pos x="0" y="32"/>
                </a:cxn>
                <a:cxn ang="0">
                  <a:pos x="13" y="40"/>
                </a:cxn>
                <a:cxn ang="0">
                  <a:pos x="26" y="48"/>
                </a:cxn>
                <a:cxn ang="0">
                  <a:pos x="32" y="40"/>
                </a:cxn>
                <a:cxn ang="0">
                  <a:pos x="39" y="32"/>
                </a:cxn>
                <a:cxn ang="0">
                  <a:pos x="32" y="32"/>
                </a:cxn>
                <a:cxn ang="0">
                  <a:pos x="19" y="32"/>
                </a:cxn>
                <a:cxn ang="0">
                  <a:pos x="6" y="16"/>
                </a:cxn>
                <a:cxn ang="0">
                  <a:pos x="0" y="0"/>
                </a:cxn>
              </a:cxnLst>
              <a:rect l="0" t="0" r="r" b="b"/>
              <a:pathLst>
                <a:path w="39" h="48">
                  <a:moveTo>
                    <a:pt x="0" y="0"/>
                  </a:moveTo>
                  <a:lnTo>
                    <a:pt x="0" y="32"/>
                  </a:lnTo>
                  <a:lnTo>
                    <a:pt x="13" y="40"/>
                  </a:lnTo>
                  <a:lnTo>
                    <a:pt x="26" y="48"/>
                  </a:lnTo>
                  <a:lnTo>
                    <a:pt x="32" y="40"/>
                  </a:lnTo>
                  <a:lnTo>
                    <a:pt x="39" y="32"/>
                  </a:lnTo>
                  <a:lnTo>
                    <a:pt x="32" y="32"/>
                  </a:lnTo>
                  <a:lnTo>
                    <a:pt x="19" y="32"/>
                  </a:lnTo>
                  <a:lnTo>
                    <a:pt x="6" y="16"/>
                  </a:lnTo>
                  <a:lnTo>
                    <a:pt x="0"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30" name="Freeform 106">
              <a:extLst>
                <a:ext uri="{FF2B5EF4-FFF2-40B4-BE49-F238E27FC236}">
                  <a16:creationId xmlns:a16="http://schemas.microsoft.com/office/drawing/2014/main" id="{0CC64C76-067B-EE97-DA18-4C8DAD8FADE3}"/>
                </a:ext>
              </a:extLst>
            </p:cNvPr>
            <p:cNvSpPr>
              <a:spLocks/>
            </p:cNvSpPr>
            <p:nvPr/>
          </p:nvSpPr>
          <p:spPr bwMode="auto">
            <a:xfrm>
              <a:off x="1974" y="2527"/>
              <a:ext cx="130" cy="160"/>
            </a:xfrm>
            <a:custGeom>
              <a:avLst/>
              <a:gdLst/>
              <a:ahLst/>
              <a:cxnLst>
                <a:cxn ang="0">
                  <a:pos x="46" y="0"/>
                </a:cxn>
                <a:cxn ang="0">
                  <a:pos x="26" y="8"/>
                </a:cxn>
                <a:cxn ang="0">
                  <a:pos x="13" y="24"/>
                </a:cxn>
                <a:cxn ang="0">
                  <a:pos x="0" y="56"/>
                </a:cxn>
                <a:cxn ang="0">
                  <a:pos x="0" y="96"/>
                </a:cxn>
                <a:cxn ang="0">
                  <a:pos x="13" y="104"/>
                </a:cxn>
                <a:cxn ang="0">
                  <a:pos x="26" y="96"/>
                </a:cxn>
                <a:cxn ang="0">
                  <a:pos x="26" y="80"/>
                </a:cxn>
                <a:cxn ang="0">
                  <a:pos x="26" y="144"/>
                </a:cxn>
                <a:cxn ang="0">
                  <a:pos x="52" y="160"/>
                </a:cxn>
                <a:cxn ang="0">
                  <a:pos x="78" y="160"/>
                </a:cxn>
                <a:cxn ang="0">
                  <a:pos x="104" y="160"/>
                </a:cxn>
                <a:cxn ang="0">
                  <a:pos x="117" y="144"/>
                </a:cxn>
                <a:cxn ang="0">
                  <a:pos x="111" y="80"/>
                </a:cxn>
                <a:cxn ang="0">
                  <a:pos x="124" y="88"/>
                </a:cxn>
                <a:cxn ang="0">
                  <a:pos x="130" y="80"/>
                </a:cxn>
                <a:cxn ang="0">
                  <a:pos x="124" y="40"/>
                </a:cxn>
                <a:cxn ang="0">
                  <a:pos x="111" y="16"/>
                </a:cxn>
                <a:cxn ang="0">
                  <a:pos x="98" y="0"/>
                </a:cxn>
                <a:cxn ang="0">
                  <a:pos x="78" y="0"/>
                </a:cxn>
                <a:cxn ang="0">
                  <a:pos x="78" y="8"/>
                </a:cxn>
                <a:cxn ang="0">
                  <a:pos x="72" y="16"/>
                </a:cxn>
                <a:cxn ang="0">
                  <a:pos x="59" y="8"/>
                </a:cxn>
                <a:cxn ang="0">
                  <a:pos x="46" y="0"/>
                </a:cxn>
              </a:cxnLst>
              <a:rect l="0" t="0" r="r" b="b"/>
              <a:pathLst>
                <a:path w="130" h="160">
                  <a:moveTo>
                    <a:pt x="46" y="0"/>
                  </a:moveTo>
                  <a:lnTo>
                    <a:pt x="26" y="8"/>
                  </a:lnTo>
                  <a:lnTo>
                    <a:pt x="13" y="24"/>
                  </a:lnTo>
                  <a:lnTo>
                    <a:pt x="0" y="56"/>
                  </a:lnTo>
                  <a:lnTo>
                    <a:pt x="0" y="96"/>
                  </a:lnTo>
                  <a:lnTo>
                    <a:pt x="13" y="104"/>
                  </a:lnTo>
                  <a:lnTo>
                    <a:pt x="26" y="96"/>
                  </a:lnTo>
                  <a:lnTo>
                    <a:pt x="26" y="80"/>
                  </a:lnTo>
                  <a:lnTo>
                    <a:pt x="26" y="144"/>
                  </a:lnTo>
                  <a:lnTo>
                    <a:pt x="52" y="160"/>
                  </a:lnTo>
                  <a:lnTo>
                    <a:pt x="78" y="160"/>
                  </a:lnTo>
                  <a:lnTo>
                    <a:pt x="104" y="160"/>
                  </a:lnTo>
                  <a:lnTo>
                    <a:pt x="117" y="144"/>
                  </a:lnTo>
                  <a:lnTo>
                    <a:pt x="111" y="80"/>
                  </a:lnTo>
                  <a:lnTo>
                    <a:pt x="124" y="88"/>
                  </a:lnTo>
                  <a:lnTo>
                    <a:pt x="130" y="80"/>
                  </a:lnTo>
                  <a:lnTo>
                    <a:pt x="124" y="40"/>
                  </a:lnTo>
                  <a:lnTo>
                    <a:pt x="111" y="16"/>
                  </a:lnTo>
                  <a:lnTo>
                    <a:pt x="98" y="0"/>
                  </a:lnTo>
                  <a:lnTo>
                    <a:pt x="78" y="0"/>
                  </a:lnTo>
                  <a:lnTo>
                    <a:pt x="78" y="8"/>
                  </a:lnTo>
                  <a:lnTo>
                    <a:pt x="72" y="16"/>
                  </a:lnTo>
                  <a:lnTo>
                    <a:pt x="59" y="8"/>
                  </a:lnTo>
                  <a:lnTo>
                    <a:pt x="46"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31" name="Line 107">
              <a:extLst>
                <a:ext uri="{FF2B5EF4-FFF2-40B4-BE49-F238E27FC236}">
                  <a16:creationId xmlns:a16="http://schemas.microsoft.com/office/drawing/2014/main" id="{60140C93-95C2-6A05-9BDE-F2ACCA5C8D8B}"/>
                </a:ext>
              </a:extLst>
            </p:cNvPr>
            <p:cNvSpPr>
              <a:spLocks noChangeShapeType="1"/>
            </p:cNvSpPr>
            <p:nvPr/>
          </p:nvSpPr>
          <p:spPr bwMode="auto">
            <a:xfrm flipV="1">
              <a:off x="2085" y="2591"/>
              <a:ext cx="1" cy="16"/>
            </a:xfrm>
            <a:prstGeom prst="line">
              <a:avLst/>
            </a:prstGeom>
            <a:noFill/>
            <a:ln w="9525">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32" name="Freeform 108">
              <a:extLst>
                <a:ext uri="{FF2B5EF4-FFF2-40B4-BE49-F238E27FC236}">
                  <a16:creationId xmlns:a16="http://schemas.microsoft.com/office/drawing/2014/main" id="{632BF057-2E4A-5F04-FFB4-932E57F86382}"/>
                </a:ext>
              </a:extLst>
            </p:cNvPr>
            <p:cNvSpPr>
              <a:spLocks/>
            </p:cNvSpPr>
            <p:nvPr/>
          </p:nvSpPr>
          <p:spPr bwMode="auto">
            <a:xfrm>
              <a:off x="1974" y="2623"/>
              <a:ext cx="39" cy="88"/>
            </a:xfrm>
            <a:custGeom>
              <a:avLst/>
              <a:gdLst/>
              <a:ahLst/>
              <a:cxnLst>
                <a:cxn ang="0">
                  <a:pos x="26" y="0"/>
                </a:cxn>
                <a:cxn ang="0">
                  <a:pos x="26" y="32"/>
                </a:cxn>
                <a:cxn ang="0">
                  <a:pos x="39" y="72"/>
                </a:cxn>
                <a:cxn ang="0">
                  <a:pos x="33" y="88"/>
                </a:cxn>
                <a:cxn ang="0">
                  <a:pos x="7" y="40"/>
                </a:cxn>
                <a:cxn ang="0">
                  <a:pos x="0" y="0"/>
                </a:cxn>
                <a:cxn ang="0">
                  <a:pos x="13" y="8"/>
                </a:cxn>
                <a:cxn ang="0">
                  <a:pos x="26" y="0"/>
                </a:cxn>
              </a:cxnLst>
              <a:rect l="0" t="0" r="r" b="b"/>
              <a:pathLst>
                <a:path w="39" h="88">
                  <a:moveTo>
                    <a:pt x="26" y="0"/>
                  </a:moveTo>
                  <a:lnTo>
                    <a:pt x="26" y="32"/>
                  </a:lnTo>
                  <a:lnTo>
                    <a:pt x="39" y="72"/>
                  </a:lnTo>
                  <a:lnTo>
                    <a:pt x="33" y="88"/>
                  </a:lnTo>
                  <a:lnTo>
                    <a:pt x="7" y="40"/>
                  </a:lnTo>
                  <a:lnTo>
                    <a:pt x="0" y="0"/>
                  </a:lnTo>
                  <a:lnTo>
                    <a:pt x="13" y="8"/>
                  </a:lnTo>
                  <a:lnTo>
                    <a:pt x="26"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33" name="Freeform 109">
              <a:extLst>
                <a:ext uri="{FF2B5EF4-FFF2-40B4-BE49-F238E27FC236}">
                  <a16:creationId xmlns:a16="http://schemas.microsoft.com/office/drawing/2014/main" id="{4CAAFAFE-CDC4-FFE4-A1B2-978927240D9E}"/>
                </a:ext>
              </a:extLst>
            </p:cNvPr>
            <p:cNvSpPr>
              <a:spLocks/>
            </p:cNvSpPr>
            <p:nvPr/>
          </p:nvSpPr>
          <p:spPr bwMode="auto">
            <a:xfrm>
              <a:off x="2085" y="2607"/>
              <a:ext cx="19" cy="88"/>
            </a:xfrm>
            <a:custGeom>
              <a:avLst/>
              <a:gdLst/>
              <a:ahLst/>
              <a:cxnLst>
                <a:cxn ang="0">
                  <a:pos x="19" y="0"/>
                </a:cxn>
                <a:cxn ang="0">
                  <a:pos x="19" y="40"/>
                </a:cxn>
                <a:cxn ang="0">
                  <a:pos x="6" y="88"/>
                </a:cxn>
                <a:cxn ang="0">
                  <a:pos x="0" y="72"/>
                </a:cxn>
                <a:cxn ang="0">
                  <a:pos x="6" y="64"/>
                </a:cxn>
                <a:cxn ang="0">
                  <a:pos x="0" y="0"/>
                </a:cxn>
                <a:cxn ang="0">
                  <a:pos x="13" y="8"/>
                </a:cxn>
                <a:cxn ang="0">
                  <a:pos x="19" y="0"/>
                </a:cxn>
              </a:cxnLst>
              <a:rect l="0" t="0" r="r" b="b"/>
              <a:pathLst>
                <a:path w="19" h="88">
                  <a:moveTo>
                    <a:pt x="19" y="0"/>
                  </a:moveTo>
                  <a:lnTo>
                    <a:pt x="19" y="40"/>
                  </a:lnTo>
                  <a:lnTo>
                    <a:pt x="6" y="88"/>
                  </a:lnTo>
                  <a:lnTo>
                    <a:pt x="0" y="72"/>
                  </a:lnTo>
                  <a:lnTo>
                    <a:pt x="6" y="64"/>
                  </a:lnTo>
                  <a:lnTo>
                    <a:pt x="0" y="0"/>
                  </a:lnTo>
                  <a:lnTo>
                    <a:pt x="13" y="8"/>
                  </a:lnTo>
                  <a:lnTo>
                    <a:pt x="19"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34" name="Freeform 110">
              <a:extLst>
                <a:ext uri="{FF2B5EF4-FFF2-40B4-BE49-F238E27FC236}">
                  <a16:creationId xmlns:a16="http://schemas.microsoft.com/office/drawing/2014/main" id="{7FEDAFAB-6053-5C03-52F4-0E685DB49EB8}"/>
                </a:ext>
              </a:extLst>
            </p:cNvPr>
            <p:cNvSpPr>
              <a:spLocks/>
            </p:cNvSpPr>
            <p:nvPr/>
          </p:nvSpPr>
          <p:spPr bwMode="auto">
            <a:xfrm>
              <a:off x="2228" y="2871"/>
              <a:ext cx="136" cy="64"/>
            </a:xfrm>
            <a:custGeom>
              <a:avLst/>
              <a:gdLst/>
              <a:ahLst/>
              <a:cxnLst>
                <a:cxn ang="0">
                  <a:pos x="6" y="16"/>
                </a:cxn>
                <a:cxn ang="0">
                  <a:pos x="0" y="40"/>
                </a:cxn>
                <a:cxn ang="0">
                  <a:pos x="0" y="48"/>
                </a:cxn>
                <a:cxn ang="0">
                  <a:pos x="19" y="56"/>
                </a:cxn>
                <a:cxn ang="0">
                  <a:pos x="38" y="64"/>
                </a:cxn>
                <a:cxn ang="0">
                  <a:pos x="64" y="56"/>
                </a:cxn>
                <a:cxn ang="0">
                  <a:pos x="71" y="48"/>
                </a:cxn>
                <a:cxn ang="0">
                  <a:pos x="97" y="48"/>
                </a:cxn>
                <a:cxn ang="0">
                  <a:pos x="103" y="48"/>
                </a:cxn>
                <a:cxn ang="0">
                  <a:pos x="129" y="48"/>
                </a:cxn>
                <a:cxn ang="0">
                  <a:pos x="136" y="40"/>
                </a:cxn>
                <a:cxn ang="0">
                  <a:pos x="129" y="24"/>
                </a:cxn>
                <a:cxn ang="0">
                  <a:pos x="116" y="16"/>
                </a:cxn>
                <a:cxn ang="0">
                  <a:pos x="103" y="8"/>
                </a:cxn>
                <a:cxn ang="0">
                  <a:pos x="90" y="0"/>
                </a:cxn>
                <a:cxn ang="0">
                  <a:pos x="77" y="8"/>
                </a:cxn>
                <a:cxn ang="0">
                  <a:pos x="51" y="8"/>
                </a:cxn>
                <a:cxn ang="0">
                  <a:pos x="38" y="8"/>
                </a:cxn>
                <a:cxn ang="0">
                  <a:pos x="19" y="16"/>
                </a:cxn>
                <a:cxn ang="0">
                  <a:pos x="6" y="16"/>
                </a:cxn>
              </a:cxnLst>
              <a:rect l="0" t="0" r="r" b="b"/>
              <a:pathLst>
                <a:path w="136" h="64">
                  <a:moveTo>
                    <a:pt x="6" y="16"/>
                  </a:moveTo>
                  <a:lnTo>
                    <a:pt x="0" y="40"/>
                  </a:lnTo>
                  <a:lnTo>
                    <a:pt x="0" y="48"/>
                  </a:lnTo>
                  <a:lnTo>
                    <a:pt x="19" y="56"/>
                  </a:lnTo>
                  <a:lnTo>
                    <a:pt x="38" y="64"/>
                  </a:lnTo>
                  <a:lnTo>
                    <a:pt x="64" y="56"/>
                  </a:lnTo>
                  <a:lnTo>
                    <a:pt x="71" y="48"/>
                  </a:lnTo>
                  <a:lnTo>
                    <a:pt x="97" y="48"/>
                  </a:lnTo>
                  <a:lnTo>
                    <a:pt x="103" y="48"/>
                  </a:lnTo>
                  <a:lnTo>
                    <a:pt x="129" y="48"/>
                  </a:lnTo>
                  <a:lnTo>
                    <a:pt x="136" y="40"/>
                  </a:lnTo>
                  <a:lnTo>
                    <a:pt x="129" y="24"/>
                  </a:lnTo>
                  <a:lnTo>
                    <a:pt x="116" y="16"/>
                  </a:lnTo>
                  <a:lnTo>
                    <a:pt x="103" y="8"/>
                  </a:lnTo>
                  <a:lnTo>
                    <a:pt x="90" y="0"/>
                  </a:lnTo>
                  <a:lnTo>
                    <a:pt x="77" y="8"/>
                  </a:lnTo>
                  <a:lnTo>
                    <a:pt x="51" y="8"/>
                  </a:lnTo>
                  <a:lnTo>
                    <a:pt x="38" y="8"/>
                  </a:lnTo>
                  <a:lnTo>
                    <a:pt x="19" y="16"/>
                  </a:lnTo>
                  <a:lnTo>
                    <a:pt x="6" y="16"/>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35" name="Oval 34">
              <a:extLst>
                <a:ext uri="{FF2B5EF4-FFF2-40B4-BE49-F238E27FC236}">
                  <a16:creationId xmlns:a16="http://schemas.microsoft.com/office/drawing/2014/main" id="{07291F0C-F84C-2ADF-9FF6-B0F34C650C21}"/>
                </a:ext>
              </a:extLst>
            </p:cNvPr>
            <p:cNvSpPr>
              <a:spLocks noChangeArrowheads="1"/>
            </p:cNvSpPr>
            <p:nvPr/>
          </p:nvSpPr>
          <p:spPr bwMode="auto">
            <a:xfrm>
              <a:off x="2237" y="2890"/>
              <a:ext cx="1" cy="10"/>
            </a:xfrm>
            <a:prstGeom prst="ellipse">
              <a:avLst/>
            </a:prstGeom>
            <a:solidFill>
              <a:schemeClr val="bg2"/>
            </a:solidFill>
            <a:ln w="9525">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36" name="Oval 35">
              <a:extLst>
                <a:ext uri="{FF2B5EF4-FFF2-40B4-BE49-F238E27FC236}">
                  <a16:creationId xmlns:a16="http://schemas.microsoft.com/office/drawing/2014/main" id="{429246D5-D025-2D77-E5FD-7930F93B4368}"/>
                </a:ext>
              </a:extLst>
            </p:cNvPr>
            <p:cNvSpPr>
              <a:spLocks noChangeArrowheads="1"/>
            </p:cNvSpPr>
            <p:nvPr/>
          </p:nvSpPr>
          <p:spPr bwMode="auto">
            <a:xfrm>
              <a:off x="2289" y="2882"/>
              <a:ext cx="0" cy="10"/>
            </a:xfrm>
            <a:prstGeom prst="ellipse">
              <a:avLst/>
            </a:prstGeom>
            <a:solidFill>
              <a:schemeClr val="bg2"/>
            </a:solidFill>
            <a:ln w="9525">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37" name="Freeform 113">
              <a:extLst>
                <a:ext uri="{FF2B5EF4-FFF2-40B4-BE49-F238E27FC236}">
                  <a16:creationId xmlns:a16="http://schemas.microsoft.com/office/drawing/2014/main" id="{B642BCE0-2FD0-8135-6D05-476D5A9074D7}"/>
                </a:ext>
              </a:extLst>
            </p:cNvPr>
            <p:cNvSpPr>
              <a:spLocks/>
            </p:cNvSpPr>
            <p:nvPr/>
          </p:nvSpPr>
          <p:spPr bwMode="auto">
            <a:xfrm>
              <a:off x="2279" y="2879"/>
              <a:ext cx="20" cy="40"/>
            </a:xfrm>
            <a:custGeom>
              <a:avLst/>
              <a:gdLst/>
              <a:ahLst/>
              <a:cxnLst>
                <a:cxn ang="0">
                  <a:pos x="20" y="40"/>
                </a:cxn>
                <a:cxn ang="0">
                  <a:pos x="20" y="24"/>
                </a:cxn>
                <a:cxn ang="0">
                  <a:pos x="13" y="16"/>
                </a:cxn>
                <a:cxn ang="0">
                  <a:pos x="0" y="16"/>
                </a:cxn>
                <a:cxn ang="0">
                  <a:pos x="0" y="0"/>
                </a:cxn>
                <a:cxn ang="0">
                  <a:pos x="20" y="40"/>
                </a:cxn>
              </a:cxnLst>
              <a:rect l="0" t="0" r="r" b="b"/>
              <a:pathLst>
                <a:path w="20" h="40">
                  <a:moveTo>
                    <a:pt x="20" y="40"/>
                  </a:moveTo>
                  <a:lnTo>
                    <a:pt x="20" y="24"/>
                  </a:lnTo>
                  <a:lnTo>
                    <a:pt x="13" y="16"/>
                  </a:lnTo>
                  <a:lnTo>
                    <a:pt x="0" y="16"/>
                  </a:lnTo>
                  <a:lnTo>
                    <a:pt x="0" y="0"/>
                  </a:lnTo>
                  <a:lnTo>
                    <a:pt x="20" y="40"/>
                  </a:lnTo>
                  <a:close/>
                </a:path>
              </a:pathLst>
            </a:custGeom>
            <a:solidFill>
              <a:schemeClr val="bg2"/>
            </a:solidFill>
            <a:ln w="9525">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38" name="Freeform 114">
              <a:extLst>
                <a:ext uri="{FF2B5EF4-FFF2-40B4-BE49-F238E27FC236}">
                  <a16:creationId xmlns:a16="http://schemas.microsoft.com/office/drawing/2014/main" id="{CC4D4209-CD7E-3F22-6130-CD128AA2B186}"/>
                </a:ext>
              </a:extLst>
            </p:cNvPr>
            <p:cNvSpPr>
              <a:spLocks/>
            </p:cNvSpPr>
            <p:nvPr/>
          </p:nvSpPr>
          <p:spPr bwMode="auto">
            <a:xfrm>
              <a:off x="2279" y="2879"/>
              <a:ext cx="20" cy="40"/>
            </a:xfrm>
            <a:custGeom>
              <a:avLst/>
              <a:gdLst/>
              <a:ahLst/>
              <a:cxnLst>
                <a:cxn ang="0">
                  <a:pos x="20" y="40"/>
                </a:cxn>
                <a:cxn ang="0">
                  <a:pos x="20" y="24"/>
                </a:cxn>
                <a:cxn ang="0">
                  <a:pos x="13" y="16"/>
                </a:cxn>
                <a:cxn ang="0">
                  <a:pos x="0" y="16"/>
                </a:cxn>
                <a:cxn ang="0">
                  <a:pos x="0" y="0"/>
                </a:cxn>
              </a:cxnLst>
              <a:rect l="0" t="0" r="r" b="b"/>
              <a:pathLst>
                <a:path w="20" h="40">
                  <a:moveTo>
                    <a:pt x="20" y="40"/>
                  </a:moveTo>
                  <a:lnTo>
                    <a:pt x="20" y="24"/>
                  </a:lnTo>
                  <a:lnTo>
                    <a:pt x="13" y="16"/>
                  </a:lnTo>
                  <a:lnTo>
                    <a:pt x="0" y="16"/>
                  </a:lnTo>
                  <a:lnTo>
                    <a:pt x="0" y="0"/>
                  </a:lnTo>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39" name="Freeform 115">
              <a:extLst>
                <a:ext uri="{FF2B5EF4-FFF2-40B4-BE49-F238E27FC236}">
                  <a16:creationId xmlns:a16="http://schemas.microsoft.com/office/drawing/2014/main" id="{AEA5193B-E117-2FC2-2447-5A9A63605597}"/>
                </a:ext>
              </a:extLst>
            </p:cNvPr>
            <p:cNvSpPr>
              <a:spLocks/>
            </p:cNvSpPr>
            <p:nvPr/>
          </p:nvSpPr>
          <p:spPr bwMode="auto">
            <a:xfrm>
              <a:off x="2215" y="2623"/>
              <a:ext cx="116" cy="264"/>
            </a:xfrm>
            <a:custGeom>
              <a:avLst/>
              <a:gdLst/>
              <a:ahLst/>
              <a:cxnLst>
                <a:cxn ang="0">
                  <a:pos x="6" y="0"/>
                </a:cxn>
                <a:cxn ang="0">
                  <a:pos x="0" y="40"/>
                </a:cxn>
                <a:cxn ang="0">
                  <a:pos x="6" y="80"/>
                </a:cxn>
                <a:cxn ang="0">
                  <a:pos x="13" y="184"/>
                </a:cxn>
                <a:cxn ang="0">
                  <a:pos x="13" y="248"/>
                </a:cxn>
                <a:cxn ang="0">
                  <a:pos x="19" y="264"/>
                </a:cxn>
                <a:cxn ang="0">
                  <a:pos x="32" y="264"/>
                </a:cxn>
                <a:cxn ang="0">
                  <a:pos x="58" y="256"/>
                </a:cxn>
                <a:cxn ang="0">
                  <a:pos x="64" y="248"/>
                </a:cxn>
                <a:cxn ang="0">
                  <a:pos x="90" y="256"/>
                </a:cxn>
                <a:cxn ang="0">
                  <a:pos x="103" y="256"/>
                </a:cxn>
                <a:cxn ang="0">
                  <a:pos x="110" y="240"/>
                </a:cxn>
                <a:cxn ang="0">
                  <a:pos x="116" y="176"/>
                </a:cxn>
                <a:cxn ang="0">
                  <a:pos x="116" y="136"/>
                </a:cxn>
                <a:cxn ang="0">
                  <a:pos x="110" y="0"/>
                </a:cxn>
                <a:cxn ang="0">
                  <a:pos x="97" y="8"/>
                </a:cxn>
                <a:cxn ang="0">
                  <a:pos x="64" y="16"/>
                </a:cxn>
                <a:cxn ang="0">
                  <a:pos x="32" y="16"/>
                </a:cxn>
                <a:cxn ang="0">
                  <a:pos x="6" y="0"/>
                </a:cxn>
              </a:cxnLst>
              <a:rect l="0" t="0" r="r" b="b"/>
              <a:pathLst>
                <a:path w="116" h="264">
                  <a:moveTo>
                    <a:pt x="6" y="0"/>
                  </a:moveTo>
                  <a:lnTo>
                    <a:pt x="0" y="40"/>
                  </a:lnTo>
                  <a:lnTo>
                    <a:pt x="6" y="80"/>
                  </a:lnTo>
                  <a:lnTo>
                    <a:pt x="13" y="184"/>
                  </a:lnTo>
                  <a:lnTo>
                    <a:pt x="13" y="248"/>
                  </a:lnTo>
                  <a:lnTo>
                    <a:pt x="19" y="264"/>
                  </a:lnTo>
                  <a:lnTo>
                    <a:pt x="32" y="264"/>
                  </a:lnTo>
                  <a:lnTo>
                    <a:pt x="58" y="256"/>
                  </a:lnTo>
                  <a:lnTo>
                    <a:pt x="64" y="248"/>
                  </a:lnTo>
                  <a:lnTo>
                    <a:pt x="90" y="256"/>
                  </a:lnTo>
                  <a:lnTo>
                    <a:pt x="103" y="256"/>
                  </a:lnTo>
                  <a:lnTo>
                    <a:pt x="110" y="240"/>
                  </a:lnTo>
                  <a:lnTo>
                    <a:pt x="116" y="176"/>
                  </a:lnTo>
                  <a:lnTo>
                    <a:pt x="116" y="136"/>
                  </a:lnTo>
                  <a:lnTo>
                    <a:pt x="110" y="0"/>
                  </a:lnTo>
                  <a:lnTo>
                    <a:pt x="97" y="8"/>
                  </a:lnTo>
                  <a:lnTo>
                    <a:pt x="64" y="16"/>
                  </a:lnTo>
                  <a:lnTo>
                    <a:pt x="32" y="16"/>
                  </a:lnTo>
                  <a:lnTo>
                    <a:pt x="6"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40" name="Freeform 116">
              <a:extLst>
                <a:ext uri="{FF2B5EF4-FFF2-40B4-BE49-F238E27FC236}">
                  <a16:creationId xmlns:a16="http://schemas.microsoft.com/office/drawing/2014/main" id="{E4303EDF-427A-A5C7-AA54-9B580A785FDD}"/>
                </a:ext>
              </a:extLst>
            </p:cNvPr>
            <p:cNvSpPr>
              <a:spLocks/>
            </p:cNvSpPr>
            <p:nvPr/>
          </p:nvSpPr>
          <p:spPr bwMode="auto">
            <a:xfrm>
              <a:off x="2279" y="2703"/>
              <a:ext cx="7" cy="168"/>
            </a:xfrm>
            <a:custGeom>
              <a:avLst/>
              <a:gdLst/>
              <a:ahLst/>
              <a:cxnLst>
                <a:cxn ang="0">
                  <a:pos x="0" y="168"/>
                </a:cxn>
                <a:cxn ang="0">
                  <a:pos x="7" y="64"/>
                </a:cxn>
                <a:cxn ang="0">
                  <a:pos x="7" y="0"/>
                </a:cxn>
              </a:cxnLst>
              <a:rect l="0" t="0" r="r" b="b"/>
              <a:pathLst>
                <a:path w="7" h="168">
                  <a:moveTo>
                    <a:pt x="0" y="168"/>
                  </a:moveTo>
                  <a:lnTo>
                    <a:pt x="7" y="64"/>
                  </a:lnTo>
                  <a:lnTo>
                    <a:pt x="7" y="0"/>
                  </a:lnTo>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41" name="Freeform 117">
              <a:extLst>
                <a:ext uri="{FF2B5EF4-FFF2-40B4-BE49-F238E27FC236}">
                  <a16:creationId xmlns:a16="http://schemas.microsoft.com/office/drawing/2014/main" id="{1BE122EC-8993-92C1-C4C7-FB7D3287C82C}"/>
                </a:ext>
              </a:extLst>
            </p:cNvPr>
            <p:cNvSpPr>
              <a:spLocks/>
            </p:cNvSpPr>
            <p:nvPr/>
          </p:nvSpPr>
          <p:spPr bwMode="auto">
            <a:xfrm>
              <a:off x="2228" y="2344"/>
              <a:ext cx="71" cy="96"/>
            </a:xfrm>
            <a:custGeom>
              <a:avLst/>
              <a:gdLst/>
              <a:ahLst/>
              <a:cxnLst>
                <a:cxn ang="0">
                  <a:pos x="13" y="40"/>
                </a:cxn>
                <a:cxn ang="0">
                  <a:pos x="6" y="40"/>
                </a:cxn>
                <a:cxn ang="0">
                  <a:pos x="0" y="48"/>
                </a:cxn>
                <a:cxn ang="0">
                  <a:pos x="0" y="56"/>
                </a:cxn>
                <a:cxn ang="0">
                  <a:pos x="13" y="64"/>
                </a:cxn>
                <a:cxn ang="0">
                  <a:pos x="19" y="80"/>
                </a:cxn>
                <a:cxn ang="0">
                  <a:pos x="38" y="96"/>
                </a:cxn>
                <a:cxn ang="0">
                  <a:pos x="58" y="96"/>
                </a:cxn>
                <a:cxn ang="0">
                  <a:pos x="64" y="80"/>
                </a:cxn>
                <a:cxn ang="0">
                  <a:pos x="71" y="64"/>
                </a:cxn>
                <a:cxn ang="0">
                  <a:pos x="71" y="32"/>
                </a:cxn>
                <a:cxn ang="0">
                  <a:pos x="64" y="0"/>
                </a:cxn>
                <a:cxn ang="0">
                  <a:pos x="25" y="24"/>
                </a:cxn>
                <a:cxn ang="0">
                  <a:pos x="13" y="24"/>
                </a:cxn>
                <a:cxn ang="0">
                  <a:pos x="13" y="40"/>
                </a:cxn>
              </a:cxnLst>
              <a:rect l="0" t="0" r="r" b="b"/>
              <a:pathLst>
                <a:path w="71" h="96">
                  <a:moveTo>
                    <a:pt x="13" y="40"/>
                  </a:moveTo>
                  <a:lnTo>
                    <a:pt x="6" y="40"/>
                  </a:lnTo>
                  <a:lnTo>
                    <a:pt x="0" y="48"/>
                  </a:lnTo>
                  <a:lnTo>
                    <a:pt x="0" y="56"/>
                  </a:lnTo>
                  <a:lnTo>
                    <a:pt x="13" y="64"/>
                  </a:lnTo>
                  <a:lnTo>
                    <a:pt x="19" y="80"/>
                  </a:lnTo>
                  <a:lnTo>
                    <a:pt x="38" y="96"/>
                  </a:lnTo>
                  <a:lnTo>
                    <a:pt x="58" y="96"/>
                  </a:lnTo>
                  <a:lnTo>
                    <a:pt x="64" y="80"/>
                  </a:lnTo>
                  <a:lnTo>
                    <a:pt x="71" y="64"/>
                  </a:lnTo>
                  <a:lnTo>
                    <a:pt x="71" y="32"/>
                  </a:lnTo>
                  <a:lnTo>
                    <a:pt x="64" y="0"/>
                  </a:lnTo>
                  <a:lnTo>
                    <a:pt x="25" y="24"/>
                  </a:lnTo>
                  <a:lnTo>
                    <a:pt x="13" y="24"/>
                  </a:lnTo>
                  <a:lnTo>
                    <a:pt x="13" y="4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42" name="Freeform 118">
              <a:extLst>
                <a:ext uri="{FF2B5EF4-FFF2-40B4-BE49-F238E27FC236}">
                  <a16:creationId xmlns:a16="http://schemas.microsoft.com/office/drawing/2014/main" id="{6216581F-5037-F552-374C-7C18FE724F47}"/>
                </a:ext>
              </a:extLst>
            </p:cNvPr>
            <p:cNvSpPr>
              <a:spLocks/>
            </p:cNvSpPr>
            <p:nvPr/>
          </p:nvSpPr>
          <p:spPr bwMode="auto">
            <a:xfrm>
              <a:off x="2215" y="2320"/>
              <a:ext cx="90" cy="80"/>
            </a:xfrm>
            <a:custGeom>
              <a:avLst/>
              <a:gdLst/>
              <a:ahLst/>
              <a:cxnLst>
                <a:cxn ang="0">
                  <a:pos x="84" y="56"/>
                </a:cxn>
                <a:cxn ang="0">
                  <a:pos x="84" y="40"/>
                </a:cxn>
                <a:cxn ang="0">
                  <a:pos x="90" y="24"/>
                </a:cxn>
                <a:cxn ang="0">
                  <a:pos x="77" y="8"/>
                </a:cxn>
                <a:cxn ang="0">
                  <a:pos x="64" y="0"/>
                </a:cxn>
                <a:cxn ang="0">
                  <a:pos x="38" y="0"/>
                </a:cxn>
                <a:cxn ang="0">
                  <a:pos x="19" y="0"/>
                </a:cxn>
                <a:cxn ang="0">
                  <a:pos x="13" y="8"/>
                </a:cxn>
                <a:cxn ang="0">
                  <a:pos x="6" y="0"/>
                </a:cxn>
                <a:cxn ang="0">
                  <a:pos x="13" y="8"/>
                </a:cxn>
                <a:cxn ang="0">
                  <a:pos x="6" y="8"/>
                </a:cxn>
                <a:cxn ang="0">
                  <a:pos x="13" y="16"/>
                </a:cxn>
                <a:cxn ang="0">
                  <a:pos x="0" y="24"/>
                </a:cxn>
                <a:cxn ang="0">
                  <a:pos x="0" y="56"/>
                </a:cxn>
                <a:cxn ang="0">
                  <a:pos x="13" y="80"/>
                </a:cxn>
                <a:cxn ang="0">
                  <a:pos x="13" y="72"/>
                </a:cxn>
                <a:cxn ang="0">
                  <a:pos x="19" y="64"/>
                </a:cxn>
                <a:cxn ang="0">
                  <a:pos x="26" y="64"/>
                </a:cxn>
                <a:cxn ang="0">
                  <a:pos x="26" y="48"/>
                </a:cxn>
                <a:cxn ang="0">
                  <a:pos x="38" y="48"/>
                </a:cxn>
                <a:cxn ang="0">
                  <a:pos x="77" y="24"/>
                </a:cxn>
                <a:cxn ang="0">
                  <a:pos x="84" y="56"/>
                </a:cxn>
              </a:cxnLst>
              <a:rect l="0" t="0" r="r" b="b"/>
              <a:pathLst>
                <a:path w="90" h="80">
                  <a:moveTo>
                    <a:pt x="84" y="56"/>
                  </a:moveTo>
                  <a:lnTo>
                    <a:pt x="84" y="40"/>
                  </a:lnTo>
                  <a:lnTo>
                    <a:pt x="90" y="24"/>
                  </a:lnTo>
                  <a:lnTo>
                    <a:pt x="77" y="8"/>
                  </a:lnTo>
                  <a:lnTo>
                    <a:pt x="64" y="0"/>
                  </a:lnTo>
                  <a:lnTo>
                    <a:pt x="38" y="0"/>
                  </a:lnTo>
                  <a:lnTo>
                    <a:pt x="19" y="0"/>
                  </a:lnTo>
                  <a:lnTo>
                    <a:pt x="13" y="8"/>
                  </a:lnTo>
                  <a:lnTo>
                    <a:pt x="6" y="0"/>
                  </a:lnTo>
                  <a:lnTo>
                    <a:pt x="13" y="8"/>
                  </a:lnTo>
                  <a:lnTo>
                    <a:pt x="6" y="8"/>
                  </a:lnTo>
                  <a:lnTo>
                    <a:pt x="13" y="16"/>
                  </a:lnTo>
                  <a:lnTo>
                    <a:pt x="0" y="24"/>
                  </a:lnTo>
                  <a:lnTo>
                    <a:pt x="0" y="56"/>
                  </a:lnTo>
                  <a:lnTo>
                    <a:pt x="13" y="80"/>
                  </a:lnTo>
                  <a:lnTo>
                    <a:pt x="13" y="72"/>
                  </a:lnTo>
                  <a:lnTo>
                    <a:pt x="19" y="64"/>
                  </a:lnTo>
                  <a:lnTo>
                    <a:pt x="26" y="64"/>
                  </a:lnTo>
                  <a:lnTo>
                    <a:pt x="26" y="48"/>
                  </a:lnTo>
                  <a:lnTo>
                    <a:pt x="38" y="48"/>
                  </a:lnTo>
                  <a:lnTo>
                    <a:pt x="77" y="24"/>
                  </a:lnTo>
                  <a:lnTo>
                    <a:pt x="84" y="56"/>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43" name="Freeform 119">
              <a:extLst>
                <a:ext uri="{FF2B5EF4-FFF2-40B4-BE49-F238E27FC236}">
                  <a16:creationId xmlns:a16="http://schemas.microsoft.com/office/drawing/2014/main" id="{66441352-5AC6-49DF-2077-ECEB277011CF}"/>
                </a:ext>
              </a:extLst>
            </p:cNvPr>
            <p:cNvSpPr>
              <a:spLocks/>
            </p:cNvSpPr>
            <p:nvPr/>
          </p:nvSpPr>
          <p:spPr bwMode="auto">
            <a:xfrm>
              <a:off x="2234" y="2408"/>
              <a:ext cx="52" cy="48"/>
            </a:xfrm>
            <a:custGeom>
              <a:avLst/>
              <a:gdLst/>
              <a:ahLst/>
              <a:cxnLst>
                <a:cxn ang="0">
                  <a:pos x="7" y="0"/>
                </a:cxn>
                <a:cxn ang="0">
                  <a:pos x="0" y="32"/>
                </a:cxn>
                <a:cxn ang="0">
                  <a:pos x="19" y="48"/>
                </a:cxn>
                <a:cxn ang="0">
                  <a:pos x="32" y="48"/>
                </a:cxn>
                <a:cxn ang="0">
                  <a:pos x="45" y="40"/>
                </a:cxn>
                <a:cxn ang="0">
                  <a:pos x="52" y="40"/>
                </a:cxn>
                <a:cxn ang="0">
                  <a:pos x="45" y="32"/>
                </a:cxn>
                <a:cxn ang="0">
                  <a:pos x="32" y="32"/>
                </a:cxn>
                <a:cxn ang="0">
                  <a:pos x="13" y="16"/>
                </a:cxn>
                <a:cxn ang="0">
                  <a:pos x="7" y="0"/>
                </a:cxn>
              </a:cxnLst>
              <a:rect l="0" t="0" r="r" b="b"/>
              <a:pathLst>
                <a:path w="52" h="48">
                  <a:moveTo>
                    <a:pt x="7" y="0"/>
                  </a:moveTo>
                  <a:lnTo>
                    <a:pt x="0" y="32"/>
                  </a:lnTo>
                  <a:lnTo>
                    <a:pt x="19" y="48"/>
                  </a:lnTo>
                  <a:lnTo>
                    <a:pt x="32" y="48"/>
                  </a:lnTo>
                  <a:lnTo>
                    <a:pt x="45" y="40"/>
                  </a:lnTo>
                  <a:lnTo>
                    <a:pt x="52" y="40"/>
                  </a:lnTo>
                  <a:lnTo>
                    <a:pt x="45" y="32"/>
                  </a:lnTo>
                  <a:lnTo>
                    <a:pt x="32" y="32"/>
                  </a:lnTo>
                  <a:lnTo>
                    <a:pt x="13" y="16"/>
                  </a:lnTo>
                  <a:lnTo>
                    <a:pt x="7"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44" name="Freeform 120">
              <a:extLst>
                <a:ext uri="{FF2B5EF4-FFF2-40B4-BE49-F238E27FC236}">
                  <a16:creationId xmlns:a16="http://schemas.microsoft.com/office/drawing/2014/main" id="{139572EC-7ABB-650E-CAA9-7A67C090568C}"/>
                </a:ext>
              </a:extLst>
            </p:cNvPr>
            <p:cNvSpPr>
              <a:spLocks/>
            </p:cNvSpPr>
            <p:nvPr/>
          </p:nvSpPr>
          <p:spPr bwMode="auto">
            <a:xfrm>
              <a:off x="2182" y="2440"/>
              <a:ext cx="162" cy="199"/>
            </a:xfrm>
            <a:custGeom>
              <a:avLst/>
              <a:gdLst/>
              <a:ahLst/>
              <a:cxnLst>
                <a:cxn ang="0">
                  <a:pos x="52" y="0"/>
                </a:cxn>
                <a:cxn ang="0">
                  <a:pos x="33" y="16"/>
                </a:cxn>
                <a:cxn ang="0">
                  <a:pos x="13" y="32"/>
                </a:cxn>
                <a:cxn ang="0">
                  <a:pos x="0" y="71"/>
                </a:cxn>
                <a:cxn ang="0">
                  <a:pos x="0" y="119"/>
                </a:cxn>
                <a:cxn ang="0">
                  <a:pos x="13" y="127"/>
                </a:cxn>
                <a:cxn ang="0">
                  <a:pos x="33" y="119"/>
                </a:cxn>
                <a:cxn ang="0">
                  <a:pos x="33" y="103"/>
                </a:cxn>
                <a:cxn ang="0">
                  <a:pos x="33" y="183"/>
                </a:cxn>
                <a:cxn ang="0">
                  <a:pos x="65" y="199"/>
                </a:cxn>
                <a:cxn ang="0">
                  <a:pos x="97" y="199"/>
                </a:cxn>
                <a:cxn ang="0">
                  <a:pos x="130" y="199"/>
                </a:cxn>
                <a:cxn ang="0">
                  <a:pos x="143" y="183"/>
                </a:cxn>
                <a:cxn ang="0">
                  <a:pos x="136" y="103"/>
                </a:cxn>
                <a:cxn ang="0">
                  <a:pos x="156" y="103"/>
                </a:cxn>
                <a:cxn ang="0">
                  <a:pos x="162" y="95"/>
                </a:cxn>
                <a:cxn ang="0">
                  <a:pos x="156" y="55"/>
                </a:cxn>
                <a:cxn ang="0">
                  <a:pos x="143" y="16"/>
                </a:cxn>
                <a:cxn ang="0">
                  <a:pos x="117" y="8"/>
                </a:cxn>
                <a:cxn ang="0">
                  <a:pos x="97" y="0"/>
                </a:cxn>
                <a:cxn ang="0">
                  <a:pos x="97" y="8"/>
                </a:cxn>
                <a:cxn ang="0">
                  <a:pos x="84" y="16"/>
                </a:cxn>
                <a:cxn ang="0">
                  <a:pos x="71" y="16"/>
                </a:cxn>
                <a:cxn ang="0">
                  <a:pos x="52" y="0"/>
                </a:cxn>
              </a:cxnLst>
              <a:rect l="0" t="0" r="r" b="b"/>
              <a:pathLst>
                <a:path w="162" h="199">
                  <a:moveTo>
                    <a:pt x="52" y="0"/>
                  </a:moveTo>
                  <a:lnTo>
                    <a:pt x="33" y="16"/>
                  </a:lnTo>
                  <a:lnTo>
                    <a:pt x="13" y="32"/>
                  </a:lnTo>
                  <a:lnTo>
                    <a:pt x="0" y="71"/>
                  </a:lnTo>
                  <a:lnTo>
                    <a:pt x="0" y="119"/>
                  </a:lnTo>
                  <a:lnTo>
                    <a:pt x="13" y="127"/>
                  </a:lnTo>
                  <a:lnTo>
                    <a:pt x="33" y="119"/>
                  </a:lnTo>
                  <a:lnTo>
                    <a:pt x="33" y="103"/>
                  </a:lnTo>
                  <a:lnTo>
                    <a:pt x="33" y="183"/>
                  </a:lnTo>
                  <a:lnTo>
                    <a:pt x="65" y="199"/>
                  </a:lnTo>
                  <a:lnTo>
                    <a:pt x="97" y="199"/>
                  </a:lnTo>
                  <a:lnTo>
                    <a:pt x="130" y="199"/>
                  </a:lnTo>
                  <a:lnTo>
                    <a:pt x="143" y="183"/>
                  </a:lnTo>
                  <a:lnTo>
                    <a:pt x="136" y="103"/>
                  </a:lnTo>
                  <a:lnTo>
                    <a:pt x="156" y="103"/>
                  </a:lnTo>
                  <a:lnTo>
                    <a:pt x="162" y="95"/>
                  </a:lnTo>
                  <a:lnTo>
                    <a:pt x="156" y="55"/>
                  </a:lnTo>
                  <a:lnTo>
                    <a:pt x="143" y="16"/>
                  </a:lnTo>
                  <a:lnTo>
                    <a:pt x="117" y="8"/>
                  </a:lnTo>
                  <a:lnTo>
                    <a:pt x="97" y="0"/>
                  </a:lnTo>
                  <a:lnTo>
                    <a:pt x="97" y="8"/>
                  </a:lnTo>
                  <a:lnTo>
                    <a:pt x="84" y="16"/>
                  </a:lnTo>
                  <a:lnTo>
                    <a:pt x="71" y="16"/>
                  </a:lnTo>
                  <a:lnTo>
                    <a:pt x="52"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45" name="Line 121">
              <a:extLst>
                <a:ext uri="{FF2B5EF4-FFF2-40B4-BE49-F238E27FC236}">
                  <a16:creationId xmlns:a16="http://schemas.microsoft.com/office/drawing/2014/main" id="{04A7BFF3-01D7-F204-222F-4512ABE1F989}"/>
                </a:ext>
              </a:extLst>
            </p:cNvPr>
            <p:cNvSpPr>
              <a:spLocks noChangeShapeType="1"/>
            </p:cNvSpPr>
            <p:nvPr/>
          </p:nvSpPr>
          <p:spPr bwMode="auto">
            <a:xfrm flipV="1">
              <a:off x="2318" y="2519"/>
              <a:ext cx="1" cy="24"/>
            </a:xfrm>
            <a:prstGeom prst="line">
              <a:avLst/>
            </a:prstGeom>
            <a:noFill/>
            <a:ln w="9525">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46" name="Freeform 122">
              <a:extLst>
                <a:ext uri="{FF2B5EF4-FFF2-40B4-BE49-F238E27FC236}">
                  <a16:creationId xmlns:a16="http://schemas.microsoft.com/office/drawing/2014/main" id="{F76422DC-115A-E381-1065-37E540CFC009}"/>
                </a:ext>
              </a:extLst>
            </p:cNvPr>
            <p:cNvSpPr>
              <a:spLocks/>
            </p:cNvSpPr>
            <p:nvPr/>
          </p:nvSpPr>
          <p:spPr bwMode="auto">
            <a:xfrm>
              <a:off x="2182" y="2559"/>
              <a:ext cx="52" cy="104"/>
            </a:xfrm>
            <a:custGeom>
              <a:avLst/>
              <a:gdLst/>
              <a:ahLst/>
              <a:cxnLst>
                <a:cxn ang="0">
                  <a:pos x="26" y="0"/>
                </a:cxn>
                <a:cxn ang="0">
                  <a:pos x="33" y="48"/>
                </a:cxn>
                <a:cxn ang="0">
                  <a:pos x="52" y="88"/>
                </a:cxn>
                <a:cxn ang="0">
                  <a:pos x="46" y="104"/>
                </a:cxn>
                <a:cxn ang="0">
                  <a:pos x="7" y="48"/>
                </a:cxn>
                <a:cxn ang="0">
                  <a:pos x="0" y="0"/>
                </a:cxn>
                <a:cxn ang="0">
                  <a:pos x="13" y="8"/>
                </a:cxn>
                <a:cxn ang="0">
                  <a:pos x="26" y="0"/>
                </a:cxn>
              </a:cxnLst>
              <a:rect l="0" t="0" r="r" b="b"/>
              <a:pathLst>
                <a:path w="52" h="104">
                  <a:moveTo>
                    <a:pt x="26" y="0"/>
                  </a:moveTo>
                  <a:lnTo>
                    <a:pt x="33" y="48"/>
                  </a:lnTo>
                  <a:lnTo>
                    <a:pt x="52" y="88"/>
                  </a:lnTo>
                  <a:lnTo>
                    <a:pt x="46" y="104"/>
                  </a:lnTo>
                  <a:lnTo>
                    <a:pt x="7" y="48"/>
                  </a:lnTo>
                  <a:lnTo>
                    <a:pt x="0" y="0"/>
                  </a:lnTo>
                  <a:lnTo>
                    <a:pt x="13" y="8"/>
                  </a:lnTo>
                  <a:lnTo>
                    <a:pt x="26"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47" name="Freeform 123">
              <a:extLst>
                <a:ext uri="{FF2B5EF4-FFF2-40B4-BE49-F238E27FC236}">
                  <a16:creationId xmlns:a16="http://schemas.microsoft.com/office/drawing/2014/main" id="{021CC950-1A26-D7C0-4FDB-71B37FA12ABA}"/>
                </a:ext>
              </a:extLst>
            </p:cNvPr>
            <p:cNvSpPr>
              <a:spLocks/>
            </p:cNvSpPr>
            <p:nvPr/>
          </p:nvSpPr>
          <p:spPr bwMode="auto">
            <a:xfrm>
              <a:off x="2318" y="2543"/>
              <a:ext cx="26" cy="112"/>
            </a:xfrm>
            <a:custGeom>
              <a:avLst/>
              <a:gdLst/>
              <a:ahLst/>
              <a:cxnLst>
                <a:cxn ang="0">
                  <a:pos x="26" y="0"/>
                </a:cxn>
                <a:cxn ang="0">
                  <a:pos x="26" y="40"/>
                </a:cxn>
                <a:cxn ang="0">
                  <a:pos x="7" y="112"/>
                </a:cxn>
                <a:cxn ang="0">
                  <a:pos x="7" y="88"/>
                </a:cxn>
                <a:cxn ang="0">
                  <a:pos x="7" y="80"/>
                </a:cxn>
                <a:cxn ang="0">
                  <a:pos x="0" y="0"/>
                </a:cxn>
                <a:cxn ang="0">
                  <a:pos x="20" y="0"/>
                </a:cxn>
                <a:cxn ang="0">
                  <a:pos x="26" y="0"/>
                </a:cxn>
              </a:cxnLst>
              <a:rect l="0" t="0" r="r" b="b"/>
              <a:pathLst>
                <a:path w="26" h="112">
                  <a:moveTo>
                    <a:pt x="26" y="0"/>
                  </a:moveTo>
                  <a:lnTo>
                    <a:pt x="26" y="40"/>
                  </a:lnTo>
                  <a:lnTo>
                    <a:pt x="7" y="112"/>
                  </a:lnTo>
                  <a:lnTo>
                    <a:pt x="7" y="88"/>
                  </a:lnTo>
                  <a:lnTo>
                    <a:pt x="7" y="80"/>
                  </a:lnTo>
                  <a:lnTo>
                    <a:pt x="0" y="0"/>
                  </a:lnTo>
                  <a:lnTo>
                    <a:pt x="20" y="0"/>
                  </a:lnTo>
                  <a:lnTo>
                    <a:pt x="26"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48" name="Freeform 124">
              <a:extLst>
                <a:ext uri="{FF2B5EF4-FFF2-40B4-BE49-F238E27FC236}">
                  <a16:creationId xmlns:a16="http://schemas.microsoft.com/office/drawing/2014/main" id="{8C4BB5F4-2266-685B-7828-B4311A061FC5}"/>
                </a:ext>
              </a:extLst>
            </p:cNvPr>
            <p:cNvSpPr>
              <a:spLocks/>
            </p:cNvSpPr>
            <p:nvPr/>
          </p:nvSpPr>
          <p:spPr bwMode="auto">
            <a:xfrm>
              <a:off x="2455" y="2895"/>
              <a:ext cx="77" cy="40"/>
            </a:xfrm>
            <a:custGeom>
              <a:avLst/>
              <a:gdLst/>
              <a:ahLst/>
              <a:cxnLst>
                <a:cxn ang="0">
                  <a:pos x="0" y="8"/>
                </a:cxn>
                <a:cxn ang="0">
                  <a:pos x="0" y="24"/>
                </a:cxn>
                <a:cxn ang="0">
                  <a:pos x="0" y="32"/>
                </a:cxn>
                <a:cxn ang="0">
                  <a:pos x="13" y="32"/>
                </a:cxn>
                <a:cxn ang="0">
                  <a:pos x="19" y="40"/>
                </a:cxn>
                <a:cxn ang="0">
                  <a:pos x="39" y="32"/>
                </a:cxn>
                <a:cxn ang="0">
                  <a:pos x="39" y="24"/>
                </a:cxn>
                <a:cxn ang="0">
                  <a:pos x="58" y="32"/>
                </a:cxn>
                <a:cxn ang="0">
                  <a:pos x="64" y="32"/>
                </a:cxn>
                <a:cxn ang="0">
                  <a:pos x="77" y="32"/>
                </a:cxn>
                <a:cxn ang="0">
                  <a:pos x="77" y="24"/>
                </a:cxn>
                <a:cxn ang="0">
                  <a:pos x="77" y="16"/>
                </a:cxn>
                <a:cxn ang="0">
                  <a:pos x="71" y="8"/>
                </a:cxn>
                <a:cxn ang="0">
                  <a:pos x="58" y="8"/>
                </a:cxn>
                <a:cxn ang="0">
                  <a:pos x="52" y="0"/>
                </a:cxn>
                <a:cxn ang="0">
                  <a:pos x="45" y="8"/>
                </a:cxn>
                <a:cxn ang="0">
                  <a:pos x="26" y="0"/>
                </a:cxn>
                <a:cxn ang="0">
                  <a:pos x="19" y="8"/>
                </a:cxn>
                <a:cxn ang="0">
                  <a:pos x="6" y="8"/>
                </a:cxn>
                <a:cxn ang="0">
                  <a:pos x="0" y="8"/>
                </a:cxn>
              </a:cxnLst>
              <a:rect l="0" t="0" r="r" b="b"/>
              <a:pathLst>
                <a:path w="77" h="40">
                  <a:moveTo>
                    <a:pt x="0" y="8"/>
                  </a:moveTo>
                  <a:lnTo>
                    <a:pt x="0" y="24"/>
                  </a:lnTo>
                  <a:lnTo>
                    <a:pt x="0" y="32"/>
                  </a:lnTo>
                  <a:lnTo>
                    <a:pt x="13" y="32"/>
                  </a:lnTo>
                  <a:lnTo>
                    <a:pt x="19" y="40"/>
                  </a:lnTo>
                  <a:lnTo>
                    <a:pt x="39" y="32"/>
                  </a:lnTo>
                  <a:lnTo>
                    <a:pt x="39" y="24"/>
                  </a:lnTo>
                  <a:lnTo>
                    <a:pt x="58" y="32"/>
                  </a:lnTo>
                  <a:lnTo>
                    <a:pt x="64" y="32"/>
                  </a:lnTo>
                  <a:lnTo>
                    <a:pt x="77" y="32"/>
                  </a:lnTo>
                  <a:lnTo>
                    <a:pt x="77" y="24"/>
                  </a:lnTo>
                  <a:lnTo>
                    <a:pt x="77" y="16"/>
                  </a:lnTo>
                  <a:lnTo>
                    <a:pt x="71" y="8"/>
                  </a:lnTo>
                  <a:lnTo>
                    <a:pt x="58" y="8"/>
                  </a:lnTo>
                  <a:lnTo>
                    <a:pt x="52" y="0"/>
                  </a:lnTo>
                  <a:lnTo>
                    <a:pt x="45" y="8"/>
                  </a:lnTo>
                  <a:lnTo>
                    <a:pt x="26" y="0"/>
                  </a:lnTo>
                  <a:lnTo>
                    <a:pt x="19" y="8"/>
                  </a:lnTo>
                  <a:lnTo>
                    <a:pt x="6" y="8"/>
                  </a:lnTo>
                  <a:lnTo>
                    <a:pt x="0" y="8"/>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49" name="Oval 48">
              <a:extLst>
                <a:ext uri="{FF2B5EF4-FFF2-40B4-BE49-F238E27FC236}">
                  <a16:creationId xmlns:a16="http://schemas.microsoft.com/office/drawing/2014/main" id="{9A70831E-6161-6F21-859D-0A0693998169}"/>
                </a:ext>
              </a:extLst>
            </p:cNvPr>
            <p:cNvSpPr>
              <a:spLocks noChangeArrowheads="1"/>
            </p:cNvSpPr>
            <p:nvPr/>
          </p:nvSpPr>
          <p:spPr bwMode="auto">
            <a:xfrm>
              <a:off x="2458" y="2906"/>
              <a:ext cx="0" cy="10"/>
            </a:xfrm>
            <a:prstGeom prst="ellipse">
              <a:avLst/>
            </a:prstGeom>
            <a:solidFill>
              <a:schemeClr val="bg2"/>
            </a:solidFill>
            <a:ln w="9525">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50" name="Oval 49">
              <a:extLst>
                <a:ext uri="{FF2B5EF4-FFF2-40B4-BE49-F238E27FC236}">
                  <a16:creationId xmlns:a16="http://schemas.microsoft.com/office/drawing/2014/main" id="{C7465645-A9C2-9B4E-ECF9-64AE2D026C2E}"/>
                </a:ext>
              </a:extLst>
            </p:cNvPr>
            <p:cNvSpPr>
              <a:spLocks noChangeArrowheads="1"/>
            </p:cNvSpPr>
            <p:nvPr/>
          </p:nvSpPr>
          <p:spPr bwMode="auto">
            <a:xfrm>
              <a:off x="2490" y="2906"/>
              <a:ext cx="1" cy="2"/>
            </a:xfrm>
            <a:prstGeom prst="ellipse">
              <a:avLst/>
            </a:prstGeom>
            <a:solidFill>
              <a:schemeClr val="bg2"/>
            </a:solidFill>
            <a:ln w="9525">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51" name="Freeform 127">
              <a:extLst>
                <a:ext uri="{FF2B5EF4-FFF2-40B4-BE49-F238E27FC236}">
                  <a16:creationId xmlns:a16="http://schemas.microsoft.com/office/drawing/2014/main" id="{BD2EC740-6F3B-4CDE-25E7-1FF067037B50}"/>
                </a:ext>
              </a:extLst>
            </p:cNvPr>
            <p:cNvSpPr>
              <a:spLocks/>
            </p:cNvSpPr>
            <p:nvPr/>
          </p:nvSpPr>
          <p:spPr bwMode="auto">
            <a:xfrm>
              <a:off x="2481" y="2903"/>
              <a:ext cx="13" cy="24"/>
            </a:xfrm>
            <a:custGeom>
              <a:avLst/>
              <a:gdLst/>
              <a:ahLst/>
              <a:cxnLst>
                <a:cxn ang="0">
                  <a:pos x="13" y="24"/>
                </a:cxn>
                <a:cxn ang="0">
                  <a:pos x="13" y="16"/>
                </a:cxn>
                <a:cxn ang="0">
                  <a:pos x="13" y="8"/>
                </a:cxn>
                <a:cxn ang="0">
                  <a:pos x="6" y="8"/>
                </a:cxn>
                <a:cxn ang="0">
                  <a:pos x="0" y="0"/>
                </a:cxn>
                <a:cxn ang="0">
                  <a:pos x="13" y="24"/>
                </a:cxn>
              </a:cxnLst>
              <a:rect l="0" t="0" r="r" b="b"/>
              <a:pathLst>
                <a:path w="13" h="24">
                  <a:moveTo>
                    <a:pt x="13" y="24"/>
                  </a:moveTo>
                  <a:lnTo>
                    <a:pt x="13" y="16"/>
                  </a:lnTo>
                  <a:lnTo>
                    <a:pt x="13" y="8"/>
                  </a:lnTo>
                  <a:lnTo>
                    <a:pt x="6" y="8"/>
                  </a:lnTo>
                  <a:lnTo>
                    <a:pt x="0" y="0"/>
                  </a:lnTo>
                  <a:lnTo>
                    <a:pt x="13" y="24"/>
                  </a:lnTo>
                  <a:close/>
                </a:path>
              </a:pathLst>
            </a:custGeom>
            <a:solidFill>
              <a:schemeClr val="bg2"/>
            </a:solidFill>
            <a:ln w="9525">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52" name="Freeform 128">
              <a:extLst>
                <a:ext uri="{FF2B5EF4-FFF2-40B4-BE49-F238E27FC236}">
                  <a16:creationId xmlns:a16="http://schemas.microsoft.com/office/drawing/2014/main" id="{E68BEA62-9D5D-5EAA-54A0-1B086EAFA409}"/>
                </a:ext>
              </a:extLst>
            </p:cNvPr>
            <p:cNvSpPr>
              <a:spLocks/>
            </p:cNvSpPr>
            <p:nvPr/>
          </p:nvSpPr>
          <p:spPr bwMode="auto">
            <a:xfrm>
              <a:off x="2481" y="2903"/>
              <a:ext cx="13" cy="24"/>
            </a:xfrm>
            <a:custGeom>
              <a:avLst/>
              <a:gdLst/>
              <a:ahLst/>
              <a:cxnLst>
                <a:cxn ang="0">
                  <a:pos x="13" y="24"/>
                </a:cxn>
                <a:cxn ang="0">
                  <a:pos x="13" y="16"/>
                </a:cxn>
                <a:cxn ang="0">
                  <a:pos x="13" y="8"/>
                </a:cxn>
                <a:cxn ang="0">
                  <a:pos x="6" y="8"/>
                </a:cxn>
                <a:cxn ang="0">
                  <a:pos x="0" y="0"/>
                </a:cxn>
              </a:cxnLst>
              <a:rect l="0" t="0" r="r" b="b"/>
              <a:pathLst>
                <a:path w="13" h="24">
                  <a:moveTo>
                    <a:pt x="13" y="24"/>
                  </a:moveTo>
                  <a:lnTo>
                    <a:pt x="13" y="16"/>
                  </a:lnTo>
                  <a:lnTo>
                    <a:pt x="13" y="8"/>
                  </a:lnTo>
                  <a:lnTo>
                    <a:pt x="6" y="8"/>
                  </a:lnTo>
                  <a:lnTo>
                    <a:pt x="0" y="0"/>
                  </a:lnTo>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53" name="Freeform 129">
              <a:extLst>
                <a:ext uri="{FF2B5EF4-FFF2-40B4-BE49-F238E27FC236}">
                  <a16:creationId xmlns:a16="http://schemas.microsoft.com/office/drawing/2014/main" id="{BF711682-40F2-CB51-3E5F-92E2F0A5E69F}"/>
                </a:ext>
              </a:extLst>
            </p:cNvPr>
            <p:cNvSpPr>
              <a:spLocks/>
            </p:cNvSpPr>
            <p:nvPr/>
          </p:nvSpPr>
          <p:spPr bwMode="auto">
            <a:xfrm>
              <a:off x="2448" y="2751"/>
              <a:ext cx="65" cy="152"/>
            </a:xfrm>
            <a:custGeom>
              <a:avLst/>
              <a:gdLst/>
              <a:ahLst/>
              <a:cxnLst>
                <a:cxn ang="0">
                  <a:pos x="0" y="0"/>
                </a:cxn>
                <a:cxn ang="0">
                  <a:pos x="0" y="16"/>
                </a:cxn>
                <a:cxn ang="0">
                  <a:pos x="0" y="40"/>
                </a:cxn>
                <a:cxn ang="0">
                  <a:pos x="0" y="104"/>
                </a:cxn>
                <a:cxn ang="0">
                  <a:pos x="0" y="144"/>
                </a:cxn>
                <a:cxn ang="0">
                  <a:pos x="7" y="152"/>
                </a:cxn>
                <a:cxn ang="0">
                  <a:pos x="20" y="152"/>
                </a:cxn>
                <a:cxn ang="0">
                  <a:pos x="33" y="152"/>
                </a:cxn>
                <a:cxn ang="0">
                  <a:pos x="39" y="144"/>
                </a:cxn>
                <a:cxn ang="0">
                  <a:pos x="52" y="152"/>
                </a:cxn>
                <a:cxn ang="0">
                  <a:pos x="59" y="152"/>
                </a:cxn>
                <a:cxn ang="0">
                  <a:pos x="65" y="144"/>
                </a:cxn>
                <a:cxn ang="0">
                  <a:pos x="65" y="96"/>
                </a:cxn>
                <a:cxn ang="0">
                  <a:pos x="65" y="80"/>
                </a:cxn>
                <a:cxn ang="0">
                  <a:pos x="59" y="0"/>
                </a:cxn>
                <a:cxn ang="0">
                  <a:pos x="59" y="0"/>
                </a:cxn>
                <a:cxn ang="0">
                  <a:pos x="39" y="8"/>
                </a:cxn>
                <a:cxn ang="0">
                  <a:pos x="20" y="8"/>
                </a:cxn>
                <a:cxn ang="0">
                  <a:pos x="0" y="0"/>
                </a:cxn>
              </a:cxnLst>
              <a:rect l="0" t="0" r="r" b="b"/>
              <a:pathLst>
                <a:path w="65" h="152">
                  <a:moveTo>
                    <a:pt x="0" y="0"/>
                  </a:moveTo>
                  <a:lnTo>
                    <a:pt x="0" y="16"/>
                  </a:lnTo>
                  <a:lnTo>
                    <a:pt x="0" y="40"/>
                  </a:lnTo>
                  <a:lnTo>
                    <a:pt x="0" y="104"/>
                  </a:lnTo>
                  <a:lnTo>
                    <a:pt x="0" y="144"/>
                  </a:lnTo>
                  <a:lnTo>
                    <a:pt x="7" y="152"/>
                  </a:lnTo>
                  <a:lnTo>
                    <a:pt x="20" y="152"/>
                  </a:lnTo>
                  <a:lnTo>
                    <a:pt x="33" y="152"/>
                  </a:lnTo>
                  <a:lnTo>
                    <a:pt x="39" y="144"/>
                  </a:lnTo>
                  <a:lnTo>
                    <a:pt x="52" y="152"/>
                  </a:lnTo>
                  <a:lnTo>
                    <a:pt x="59" y="152"/>
                  </a:lnTo>
                  <a:lnTo>
                    <a:pt x="65" y="144"/>
                  </a:lnTo>
                  <a:lnTo>
                    <a:pt x="65" y="96"/>
                  </a:lnTo>
                  <a:lnTo>
                    <a:pt x="65" y="80"/>
                  </a:lnTo>
                  <a:lnTo>
                    <a:pt x="59" y="0"/>
                  </a:lnTo>
                  <a:lnTo>
                    <a:pt x="59" y="0"/>
                  </a:lnTo>
                  <a:lnTo>
                    <a:pt x="39" y="8"/>
                  </a:lnTo>
                  <a:lnTo>
                    <a:pt x="20" y="8"/>
                  </a:lnTo>
                  <a:lnTo>
                    <a:pt x="0"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54" name="Freeform 130">
              <a:extLst>
                <a:ext uri="{FF2B5EF4-FFF2-40B4-BE49-F238E27FC236}">
                  <a16:creationId xmlns:a16="http://schemas.microsoft.com/office/drawing/2014/main" id="{25D939B6-C2AB-B169-6609-22560755D1B5}"/>
                </a:ext>
              </a:extLst>
            </p:cNvPr>
            <p:cNvSpPr>
              <a:spLocks/>
            </p:cNvSpPr>
            <p:nvPr/>
          </p:nvSpPr>
          <p:spPr bwMode="auto">
            <a:xfrm>
              <a:off x="2487" y="2799"/>
              <a:ext cx="1" cy="96"/>
            </a:xfrm>
            <a:custGeom>
              <a:avLst/>
              <a:gdLst/>
              <a:ahLst/>
              <a:cxnLst>
                <a:cxn ang="0">
                  <a:pos x="0" y="96"/>
                </a:cxn>
                <a:cxn ang="0">
                  <a:pos x="0" y="32"/>
                </a:cxn>
                <a:cxn ang="0">
                  <a:pos x="0" y="0"/>
                </a:cxn>
              </a:cxnLst>
              <a:rect l="0" t="0" r="r" b="b"/>
              <a:pathLst>
                <a:path h="96">
                  <a:moveTo>
                    <a:pt x="0" y="96"/>
                  </a:moveTo>
                  <a:lnTo>
                    <a:pt x="0" y="32"/>
                  </a:lnTo>
                  <a:lnTo>
                    <a:pt x="0" y="0"/>
                  </a:lnTo>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55" name="Freeform 131">
              <a:extLst>
                <a:ext uri="{FF2B5EF4-FFF2-40B4-BE49-F238E27FC236}">
                  <a16:creationId xmlns:a16="http://schemas.microsoft.com/office/drawing/2014/main" id="{404F3C37-426B-06C5-477F-C73409ED52B1}"/>
                </a:ext>
              </a:extLst>
            </p:cNvPr>
            <p:cNvSpPr>
              <a:spLocks/>
            </p:cNvSpPr>
            <p:nvPr/>
          </p:nvSpPr>
          <p:spPr bwMode="auto">
            <a:xfrm>
              <a:off x="2455" y="2583"/>
              <a:ext cx="39" cy="56"/>
            </a:xfrm>
            <a:custGeom>
              <a:avLst/>
              <a:gdLst/>
              <a:ahLst/>
              <a:cxnLst>
                <a:cxn ang="0">
                  <a:pos x="6" y="24"/>
                </a:cxn>
                <a:cxn ang="0">
                  <a:pos x="0" y="16"/>
                </a:cxn>
                <a:cxn ang="0">
                  <a:pos x="0" y="24"/>
                </a:cxn>
                <a:cxn ang="0">
                  <a:pos x="0" y="32"/>
                </a:cxn>
                <a:cxn ang="0">
                  <a:pos x="6" y="32"/>
                </a:cxn>
                <a:cxn ang="0">
                  <a:pos x="6" y="48"/>
                </a:cxn>
                <a:cxn ang="0">
                  <a:pos x="19" y="56"/>
                </a:cxn>
                <a:cxn ang="0">
                  <a:pos x="32" y="48"/>
                </a:cxn>
                <a:cxn ang="0">
                  <a:pos x="39" y="48"/>
                </a:cxn>
                <a:cxn ang="0">
                  <a:pos x="39" y="32"/>
                </a:cxn>
                <a:cxn ang="0">
                  <a:pos x="39" y="16"/>
                </a:cxn>
                <a:cxn ang="0">
                  <a:pos x="32" y="0"/>
                </a:cxn>
                <a:cxn ang="0">
                  <a:pos x="13" y="8"/>
                </a:cxn>
                <a:cxn ang="0">
                  <a:pos x="6" y="8"/>
                </a:cxn>
                <a:cxn ang="0">
                  <a:pos x="6" y="24"/>
                </a:cxn>
              </a:cxnLst>
              <a:rect l="0" t="0" r="r" b="b"/>
              <a:pathLst>
                <a:path w="39" h="56">
                  <a:moveTo>
                    <a:pt x="6" y="24"/>
                  </a:moveTo>
                  <a:lnTo>
                    <a:pt x="0" y="16"/>
                  </a:lnTo>
                  <a:lnTo>
                    <a:pt x="0" y="24"/>
                  </a:lnTo>
                  <a:lnTo>
                    <a:pt x="0" y="32"/>
                  </a:lnTo>
                  <a:lnTo>
                    <a:pt x="6" y="32"/>
                  </a:lnTo>
                  <a:lnTo>
                    <a:pt x="6" y="48"/>
                  </a:lnTo>
                  <a:lnTo>
                    <a:pt x="19" y="56"/>
                  </a:lnTo>
                  <a:lnTo>
                    <a:pt x="32" y="48"/>
                  </a:lnTo>
                  <a:lnTo>
                    <a:pt x="39" y="48"/>
                  </a:lnTo>
                  <a:lnTo>
                    <a:pt x="39" y="32"/>
                  </a:lnTo>
                  <a:lnTo>
                    <a:pt x="39" y="16"/>
                  </a:lnTo>
                  <a:lnTo>
                    <a:pt x="32" y="0"/>
                  </a:lnTo>
                  <a:lnTo>
                    <a:pt x="13" y="8"/>
                  </a:lnTo>
                  <a:lnTo>
                    <a:pt x="6" y="8"/>
                  </a:lnTo>
                  <a:lnTo>
                    <a:pt x="6" y="24"/>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56" name="Freeform 132">
              <a:extLst>
                <a:ext uri="{FF2B5EF4-FFF2-40B4-BE49-F238E27FC236}">
                  <a16:creationId xmlns:a16="http://schemas.microsoft.com/office/drawing/2014/main" id="{F0F27B0F-EAD6-7E5E-F19B-533240A1EBD6}"/>
                </a:ext>
              </a:extLst>
            </p:cNvPr>
            <p:cNvSpPr>
              <a:spLocks/>
            </p:cNvSpPr>
            <p:nvPr/>
          </p:nvSpPr>
          <p:spPr bwMode="auto">
            <a:xfrm>
              <a:off x="2442" y="2559"/>
              <a:ext cx="58" cy="56"/>
            </a:xfrm>
            <a:custGeom>
              <a:avLst/>
              <a:gdLst/>
              <a:ahLst/>
              <a:cxnLst>
                <a:cxn ang="0">
                  <a:pos x="52" y="40"/>
                </a:cxn>
                <a:cxn ang="0">
                  <a:pos x="52" y="32"/>
                </a:cxn>
                <a:cxn ang="0">
                  <a:pos x="58" y="16"/>
                </a:cxn>
                <a:cxn ang="0">
                  <a:pos x="52" y="8"/>
                </a:cxn>
                <a:cxn ang="0">
                  <a:pos x="45" y="8"/>
                </a:cxn>
                <a:cxn ang="0">
                  <a:pos x="26" y="0"/>
                </a:cxn>
                <a:cxn ang="0">
                  <a:pos x="13" y="8"/>
                </a:cxn>
                <a:cxn ang="0">
                  <a:pos x="13" y="8"/>
                </a:cxn>
                <a:cxn ang="0">
                  <a:pos x="6" y="8"/>
                </a:cxn>
                <a:cxn ang="0">
                  <a:pos x="13" y="8"/>
                </a:cxn>
                <a:cxn ang="0">
                  <a:pos x="6" y="8"/>
                </a:cxn>
                <a:cxn ang="0">
                  <a:pos x="6" y="16"/>
                </a:cxn>
                <a:cxn ang="0">
                  <a:pos x="6" y="16"/>
                </a:cxn>
                <a:cxn ang="0">
                  <a:pos x="0" y="40"/>
                </a:cxn>
                <a:cxn ang="0">
                  <a:pos x="13" y="56"/>
                </a:cxn>
                <a:cxn ang="0">
                  <a:pos x="13" y="48"/>
                </a:cxn>
                <a:cxn ang="0">
                  <a:pos x="13" y="40"/>
                </a:cxn>
                <a:cxn ang="0">
                  <a:pos x="19" y="48"/>
                </a:cxn>
                <a:cxn ang="0">
                  <a:pos x="19" y="32"/>
                </a:cxn>
                <a:cxn ang="0">
                  <a:pos x="26" y="32"/>
                </a:cxn>
                <a:cxn ang="0">
                  <a:pos x="45" y="24"/>
                </a:cxn>
                <a:cxn ang="0">
                  <a:pos x="52" y="40"/>
                </a:cxn>
              </a:cxnLst>
              <a:rect l="0" t="0" r="r" b="b"/>
              <a:pathLst>
                <a:path w="58" h="56">
                  <a:moveTo>
                    <a:pt x="52" y="40"/>
                  </a:moveTo>
                  <a:lnTo>
                    <a:pt x="52" y="32"/>
                  </a:lnTo>
                  <a:lnTo>
                    <a:pt x="58" y="16"/>
                  </a:lnTo>
                  <a:lnTo>
                    <a:pt x="52" y="8"/>
                  </a:lnTo>
                  <a:lnTo>
                    <a:pt x="45" y="8"/>
                  </a:lnTo>
                  <a:lnTo>
                    <a:pt x="26" y="0"/>
                  </a:lnTo>
                  <a:lnTo>
                    <a:pt x="13" y="8"/>
                  </a:lnTo>
                  <a:lnTo>
                    <a:pt x="13" y="8"/>
                  </a:lnTo>
                  <a:lnTo>
                    <a:pt x="6" y="8"/>
                  </a:lnTo>
                  <a:lnTo>
                    <a:pt x="13" y="8"/>
                  </a:lnTo>
                  <a:lnTo>
                    <a:pt x="6" y="8"/>
                  </a:lnTo>
                  <a:lnTo>
                    <a:pt x="6" y="16"/>
                  </a:lnTo>
                  <a:lnTo>
                    <a:pt x="6" y="16"/>
                  </a:lnTo>
                  <a:lnTo>
                    <a:pt x="0" y="40"/>
                  </a:lnTo>
                  <a:lnTo>
                    <a:pt x="13" y="56"/>
                  </a:lnTo>
                  <a:lnTo>
                    <a:pt x="13" y="48"/>
                  </a:lnTo>
                  <a:lnTo>
                    <a:pt x="13" y="40"/>
                  </a:lnTo>
                  <a:lnTo>
                    <a:pt x="19" y="48"/>
                  </a:lnTo>
                  <a:lnTo>
                    <a:pt x="19" y="32"/>
                  </a:lnTo>
                  <a:lnTo>
                    <a:pt x="26" y="32"/>
                  </a:lnTo>
                  <a:lnTo>
                    <a:pt x="45" y="24"/>
                  </a:lnTo>
                  <a:lnTo>
                    <a:pt x="52" y="4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57" name="Freeform 133">
              <a:extLst>
                <a:ext uri="{FF2B5EF4-FFF2-40B4-BE49-F238E27FC236}">
                  <a16:creationId xmlns:a16="http://schemas.microsoft.com/office/drawing/2014/main" id="{363D4639-F00F-AA23-36D1-F1BCB4541EB1}"/>
                </a:ext>
              </a:extLst>
            </p:cNvPr>
            <p:cNvSpPr>
              <a:spLocks/>
            </p:cNvSpPr>
            <p:nvPr/>
          </p:nvSpPr>
          <p:spPr bwMode="auto">
            <a:xfrm>
              <a:off x="2461" y="2615"/>
              <a:ext cx="26" cy="32"/>
            </a:xfrm>
            <a:custGeom>
              <a:avLst/>
              <a:gdLst/>
              <a:ahLst/>
              <a:cxnLst>
                <a:cxn ang="0">
                  <a:pos x="0" y="0"/>
                </a:cxn>
                <a:cxn ang="0">
                  <a:pos x="0" y="24"/>
                </a:cxn>
                <a:cxn ang="0">
                  <a:pos x="7" y="32"/>
                </a:cxn>
                <a:cxn ang="0">
                  <a:pos x="13" y="32"/>
                </a:cxn>
                <a:cxn ang="0">
                  <a:pos x="20" y="32"/>
                </a:cxn>
                <a:cxn ang="0">
                  <a:pos x="26" y="24"/>
                </a:cxn>
                <a:cxn ang="0">
                  <a:pos x="26" y="16"/>
                </a:cxn>
                <a:cxn ang="0">
                  <a:pos x="13" y="24"/>
                </a:cxn>
                <a:cxn ang="0">
                  <a:pos x="0" y="16"/>
                </a:cxn>
                <a:cxn ang="0">
                  <a:pos x="0" y="0"/>
                </a:cxn>
              </a:cxnLst>
              <a:rect l="0" t="0" r="r" b="b"/>
              <a:pathLst>
                <a:path w="26" h="32">
                  <a:moveTo>
                    <a:pt x="0" y="0"/>
                  </a:moveTo>
                  <a:lnTo>
                    <a:pt x="0" y="24"/>
                  </a:lnTo>
                  <a:lnTo>
                    <a:pt x="7" y="32"/>
                  </a:lnTo>
                  <a:lnTo>
                    <a:pt x="13" y="32"/>
                  </a:lnTo>
                  <a:lnTo>
                    <a:pt x="20" y="32"/>
                  </a:lnTo>
                  <a:lnTo>
                    <a:pt x="26" y="24"/>
                  </a:lnTo>
                  <a:lnTo>
                    <a:pt x="26" y="16"/>
                  </a:lnTo>
                  <a:lnTo>
                    <a:pt x="13" y="24"/>
                  </a:lnTo>
                  <a:lnTo>
                    <a:pt x="0" y="16"/>
                  </a:lnTo>
                  <a:lnTo>
                    <a:pt x="0"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58" name="Freeform 134">
              <a:extLst>
                <a:ext uri="{FF2B5EF4-FFF2-40B4-BE49-F238E27FC236}">
                  <a16:creationId xmlns:a16="http://schemas.microsoft.com/office/drawing/2014/main" id="{A27C18C6-CE75-7C87-61CA-ACBD8423B684}"/>
                </a:ext>
              </a:extLst>
            </p:cNvPr>
            <p:cNvSpPr>
              <a:spLocks/>
            </p:cNvSpPr>
            <p:nvPr/>
          </p:nvSpPr>
          <p:spPr bwMode="auto">
            <a:xfrm>
              <a:off x="2422" y="2631"/>
              <a:ext cx="97" cy="128"/>
            </a:xfrm>
            <a:custGeom>
              <a:avLst/>
              <a:gdLst/>
              <a:ahLst/>
              <a:cxnLst>
                <a:cxn ang="0">
                  <a:pos x="39" y="8"/>
                </a:cxn>
                <a:cxn ang="0">
                  <a:pos x="20" y="16"/>
                </a:cxn>
                <a:cxn ang="0">
                  <a:pos x="13" y="24"/>
                </a:cxn>
                <a:cxn ang="0">
                  <a:pos x="7" y="48"/>
                </a:cxn>
                <a:cxn ang="0">
                  <a:pos x="0" y="72"/>
                </a:cxn>
                <a:cxn ang="0">
                  <a:pos x="13" y="80"/>
                </a:cxn>
                <a:cxn ang="0">
                  <a:pos x="20" y="80"/>
                </a:cxn>
                <a:cxn ang="0">
                  <a:pos x="26" y="64"/>
                </a:cxn>
                <a:cxn ang="0">
                  <a:pos x="26" y="120"/>
                </a:cxn>
                <a:cxn ang="0">
                  <a:pos x="46" y="128"/>
                </a:cxn>
                <a:cxn ang="0">
                  <a:pos x="65" y="128"/>
                </a:cxn>
                <a:cxn ang="0">
                  <a:pos x="85" y="120"/>
                </a:cxn>
                <a:cxn ang="0">
                  <a:pos x="91" y="120"/>
                </a:cxn>
                <a:cxn ang="0">
                  <a:pos x="85" y="72"/>
                </a:cxn>
                <a:cxn ang="0">
                  <a:pos x="97" y="72"/>
                </a:cxn>
                <a:cxn ang="0">
                  <a:pos x="97" y="64"/>
                </a:cxn>
                <a:cxn ang="0">
                  <a:pos x="97" y="40"/>
                </a:cxn>
                <a:cxn ang="0">
                  <a:pos x="85" y="16"/>
                </a:cxn>
                <a:cxn ang="0">
                  <a:pos x="72" y="8"/>
                </a:cxn>
                <a:cxn ang="0">
                  <a:pos x="65" y="0"/>
                </a:cxn>
                <a:cxn ang="0">
                  <a:pos x="59" y="16"/>
                </a:cxn>
                <a:cxn ang="0">
                  <a:pos x="52" y="16"/>
                </a:cxn>
                <a:cxn ang="0">
                  <a:pos x="46" y="16"/>
                </a:cxn>
                <a:cxn ang="0">
                  <a:pos x="39" y="8"/>
                </a:cxn>
              </a:cxnLst>
              <a:rect l="0" t="0" r="r" b="b"/>
              <a:pathLst>
                <a:path w="97" h="128">
                  <a:moveTo>
                    <a:pt x="39" y="8"/>
                  </a:moveTo>
                  <a:lnTo>
                    <a:pt x="20" y="16"/>
                  </a:lnTo>
                  <a:lnTo>
                    <a:pt x="13" y="24"/>
                  </a:lnTo>
                  <a:lnTo>
                    <a:pt x="7" y="48"/>
                  </a:lnTo>
                  <a:lnTo>
                    <a:pt x="0" y="72"/>
                  </a:lnTo>
                  <a:lnTo>
                    <a:pt x="13" y="80"/>
                  </a:lnTo>
                  <a:lnTo>
                    <a:pt x="20" y="80"/>
                  </a:lnTo>
                  <a:lnTo>
                    <a:pt x="26" y="64"/>
                  </a:lnTo>
                  <a:lnTo>
                    <a:pt x="26" y="120"/>
                  </a:lnTo>
                  <a:lnTo>
                    <a:pt x="46" y="128"/>
                  </a:lnTo>
                  <a:lnTo>
                    <a:pt x="65" y="128"/>
                  </a:lnTo>
                  <a:lnTo>
                    <a:pt x="85" y="120"/>
                  </a:lnTo>
                  <a:lnTo>
                    <a:pt x="91" y="120"/>
                  </a:lnTo>
                  <a:lnTo>
                    <a:pt x="85" y="72"/>
                  </a:lnTo>
                  <a:lnTo>
                    <a:pt x="97" y="72"/>
                  </a:lnTo>
                  <a:lnTo>
                    <a:pt x="97" y="64"/>
                  </a:lnTo>
                  <a:lnTo>
                    <a:pt x="97" y="40"/>
                  </a:lnTo>
                  <a:lnTo>
                    <a:pt x="85" y="16"/>
                  </a:lnTo>
                  <a:lnTo>
                    <a:pt x="72" y="8"/>
                  </a:lnTo>
                  <a:lnTo>
                    <a:pt x="65" y="0"/>
                  </a:lnTo>
                  <a:lnTo>
                    <a:pt x="59" y="16"/>
                  </a:lnTo>
                  <a:lnTo>
                    <a:pt x="52" y="16"/>
                  </a:lnTo>
                  <a:lnTo>
                    <a:pt x="46" y="16"/>
                  </a:lnTo>
                  <a:lnTo>
                    <a:pt x="39" y="8"/>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59" name="Line 135">
              <a:extLst>
                <a:ext uri="{FF2B5EF4-FFF2-40B4-BE49-F238E27FC236}">
                  <a16:creationId xmlns:a16="http://schemas.microsoft.com/office/drawing/2014/main" id="{2A8E89A6-8CD3-210B-BEBB-1C66B344C69D}"/>
                </a:ext>
              </a:extLst>
            </p:cNvPr>
            <p:cNvSpPr>
              <a:spLocks noChangeShapeType="1"/>
            </p:cNvSpPr>
            <p:nvPr/>
          </p:nvSpPr>
          <p:spPr bwMode="auto">
            <a:xfrm flipV="1">
              <a:off x="2507" y="2679"/>
              <a:ext cx="1" cy="24"/>
            </a:xfrm>
            <a:prstGeom prst="line">
              <a:avLst/>
            </a:prstGeom>
            <a:noFill/>
            <a:ln w="9525">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60" name="Freeform 136">
              <a:extLst>
                <a:ext uri="{FF2B5EF4-FFF2-40B4-BE49-F238E27FC236}">
                  <a16:creationId xmlns:a16="http://schemas.microsoft.com/office/drawing/2014/main" id="{C9E40631-67D9-28D5-5D64-824271DAAB1C}"/>
                </a:ext>
              </a:extLst>
            </p:cNvPr>
            <p:cNvSpPr>
              <a:spLocks/>
            </p:cNvSpPr>
            <p:nvPr/>
          </p:nvSpPr>
          <p:spPr bwMode="auto">
            <a:xfrm>
              <a:off x="2429" y="2711"/>
              <a:ext cx="26" cy="64"/>
            </a:xfrm>
            <a:custGeom>
              <a:avLst/>
              <a:gdLst/>
              <a:ahLst/>
              <a:cxnLst>
                <a:cxn ang="0">
                  <a:pos x="13" y="0"/>
                </a:cxn>
                <a:cxn ang="0">
                  <a:pos x="13" y="24"/>
                </a:cxn>
                <a:cxn ang="0">
                  <a:pos x="26" y="48"/>
                </a:cxn>
                <a:cxn ang="0">
                  <a:pos x="19" y="64"/>
                </a:cxn>
                <a:cxn ang="0">
                  <a:pos x="0" y="24"/>
                </a:cxn>
                <a:cxn ang="0">
                  <a:pos x="0" y="0"/>
                </a:cxn>
                <a:cxn ang="0">
                  <a:pos x="6" y="0"/>
                </a:cxn>
                <a:cxn ang="0">
                  <a:pos x="13" y="0"/>
                </a:cxn>
              </a:cxnLst>
              <a:rect l="0" t="0" r="r" b="b"/>
              <a:pathLst>
                <a:path w="26" h="64">
                  <a:moveTo>
                    <a:pt x="13" y="0"/>
                  </a:moveTo>
                  <a:lnTo>
                    <a:pt x="13" y="24"/>
                  </a:lnTo>
                  <a:lnTo>
                    <a:pt x="26" y="48"/>
                  </a:lnTo>
                  <a:lnTo>
                    <a:pt x="19" y="64"/>
                  </a:lnTo>
                  <a:lnTo>
                    <a:pt x="0" y="24"/>
                  </a:lnTo>
                  <a:lnTo>
                    <a:pt x="0" y="0"/>
                  </a:lnTo>
                  <a:lnTo>
                    <a:pt x="6" y="0"/>
                  </a:lnTo>
                  <a:lnTo>
                    <a:pt x="13"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61" name="Freeform 137">
              <a:extLst>
                <a:ext uri="{FF2B5EF4-FFF2-40B4-BE49-F238E27FC236}">
                  <a16:creationId xmlns:a16="http://schemas.microsoft.com/office/drawing/2014/main" id="{64D281CA-B13A-63DF-2170-07AEC11B2F0C}"/>
                </a:ext>
              </a:extLst>
            </p:cNvPr>
            <p:cNvSpPr>
              <a:spLocks/>
            </p:cNvSpPr>
            <p:nvPr/>
          </p:nvSpPr>
          <p:spPr bwMode="auto">
            <a:xfrm>
              <a:off x="2507" y="2695"/>
              <a:ext cx="12" cy="72"/>
            </a:xfrm>
            <a:custGeom>
              <a:avLst/>
              <a:gdLst/>
              <a:ahLst/>
              <a:cxnLst>
                <a:cxn ang="0">
                  <a:pos x="12" y="0"/>
                </a:cxn>
                <a:cxn ang="0">
                  <a:pos x="12" y="32"/>
                </a:cxn>
                <a:cxn ang="0">
                  <a:pos x="6" y="72"/>
                </a:cxn>
                <a:cxn ang="0">
                  <a:pos x="0" y="56"/>
                </a:cxn>
                <a:cxn ang="0">
                  <a:pos x="6" y="56"/>
                </a:cxn>
                <a:cxn ang="0">
                  <a:pos x="0" y="8"/>
                </a:cxn>
                <a:cxn ang="0">
                  <a:pos x="12" y="8"/>
                </a:cxn>
                <a:cxn ang="0">
                  <a:pos x="12" y="0"/>
                </a:cxn>
              </a:cxnLst>
              <a:rect l="0" t="0" r="r" b="b"/>
              <a:pathLst>
                <a:path w="12" h="72">
                  <a:moveTo>
                    <a:pt x="12" y="0"/>
                  </a:moveTo>
                  <a:lnTo>
                    <a:pt x="12" y="32"/>
                  </a:lnTo>
                  <a:lnTo>
                    <a:pt x="6" y="72"/>
                  </a:lnTo>
                  <a:lnTo>
                    <a:pt x="0" y="56"/>
                  </a:lnTo>
                  <a:lnTo>
                    <a:pt x="6" y="56"/>
                  </a:lnTo>
                  <a:lnTo>
                    <a:pt x="0" y="8"/>
                  </a:lnTo>
                  <a:lnTo>
                    <a:pt x="12" y="8"/>
                  </a:lnTo>
                  <a:lnTo>
                    <a:pt x="12"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62" name="Freeform 138">
              <a:extLst>
                <a:ext uri="{FF2B5EF4-FFF2-40B4-BE49-F238E27FC236}">
                  <a16:creationId xmlns:a16="http://schemas.microsoft.com/office/drawing/2014/main" id="{45E03877-0396-007C-2D04-C6E6F1AAB208}"/>
                </a:ext>
              </a:extLst>
            </p:cNvPr>
            <p:cNvSpPr>
              <a:spLocks/>
            </p:cNvSpPr>
            <p:nvPr/>
          </p:nvSpPr>
          <p:spPr bwMode="auto">
            <a:xfrm>
              <a:off x="2630" y="2903"/>
              <a:ext cx="71" cy="32"/>
            </a:xfrm>
            <a:custGeom>
              <a:avLst/>
              <a:gdLst/>
              <a:ahLst/>
              <a:cxnLst>
                <a:cxn ang="0">
                  <a:pos x="6" y="8"/>
                </a:cxn>
                <a:cxn ang="0">
                  <a:pos x="0" y="16"/>
                </a:cxn>
                <a:cxn ang="0">
                  <a:pos x="0" y="24"/>
                </a:cxn>
                <a:cxn ang="0">
                  <a:pos x="13" y="24"/>
                </a:cxn>
                <a:cxn ang="0">
                  <a:pos x="19" y="32"/>
                </a:cxn>
                <a:cxn ang="0">
                  <a:pos x="32" y="24"/>
                </a:cxn>
                <a:cxn ang="0">
                  <a:pos x="39" y="24"/>
                </a:cxn>
                <a:cxn ang="0">
                  <a:pos x="45" y="24"/>
                </a:cxn>
                <a:cxn ang="0">
                  <a:pos x="52" y="24"/>
                </a:cxn>
                <a:cxn ang="0">
                  <a:pos x="65" y="24"/>
                </a:cxn>
                <a:cxn ang="0">
                  <a:pos x="71" y="16"/>
                </a:cxn>
                <a:cxn ang="0">
                  <a:pos x="65" y="8"/>
                </a:cxn>
                <a:cxn ang="0">
                  <a:pos x="58" y="8"/>
                </a:cxn>
                <a:cxn ang="0">
                  <a:pos x="52" y="0"/>
                </a:cxn>
                <a:cxn ang="0">
                  <a:pos x="45" y="0"/>
                </a:cxn>
                <a:cxn ang="0">
                  <a:pos x="39" y="0"/>
                </a:cxn>
                <a:cxn ang="0">
                  <a:pos x="26" y="0"/>
                </a:cxn>
                <a:cxn ang="0">
                  <a:pos x="19" y="0"/>
                </a:cxn>
                <a:cxn ang="0">
                  <a:pos x="13" y="8"/>
                </a:cxn>
                <a:cxn ang="0">
                  <a:pos x="6" y="8"/>
                </a:cxn>
              </a:cxnLst>
              <a:rect l="0" t="0" r="r" b="b"/>
              <a:pathLst>
                <a:path w="71" h="32">
                  <a:moveTo>
                    <a:pt x="6" y="8"/>
                  </a:moveTo>
                  <a:lnTo>
                    <a:pt x="0" y="16"/>
                  </a:lnTo>
                  <a:lnTo>
                    <a:pt x="0" y="24"/>
                  </a:lnTo>
                  <a:lnTo>
                    <a:pt x="13" y="24"/>
                  </a:lnTo>
                  <a:lnTo>
                    <a:pt x="19" y="32"/>
                  </a:lnTo>
                  <a:lnTo>
                    <a:pt x="32" y="24"/>
                  </a:lnTo>
                  <a:lnTo>
                    <a:pt x="39" y="24"/>
                  </a:lnTo>
                  <a:lnTo>
                    <a:pt x="45" y="24"/>
                  </a:lnTo>
                  <a:lnTo>
                    <a:pt x="52" y="24"/>
                  </a:lnTo>
                  <a:lnTo>
                    <a:pt x="65" y="24"/>
                  </a:lnTo>
                  <a:lnTo>
                    <a:pt x="71" y="16"/>
                  </a:lnTo>
                  <a:lnTo>
                    <a:pt x="65" y="8"/>
                  </a:lnTo>
                  <a:lnTo>
                    <a:pt x="58" y="8"/>
                  </a:lnTo>
                  <a:lnTo>
                    <a:pt x="52" y="0"/>
                  </a:lnTo>
                  <a:lnTo>
                    <a:pt x="45" y="0"/>
                  </a:lnTo>
                  <a:lnTo>
                    <a:pt x="39" y="0"/>
                  </a:lnTo>
                  <a:lnTo>
                    <a:pt x="26" y="0"/>
                  </a:lnTo>
                  <a:lnTo>
                    <a:pt x="19" y="0"/>
                  </a:lnTo>
                  <a:lnTo>
                    <a:pt x="13" y="8"/>
                  </a:lnTo>
                  <a:lnTo>
                    <a:pt x="6" y="8"/>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63" name="Freeform 139">
              <a:extLst>
                <a:ext uri="{FF2B5EF4-FFF2-40B4-BE49-F238E27FC236}">
                  <a16:creationId xmlns:a16="http://schemas.microsoft.com/office/drawing/2014/main" id="{D1E9B29B-FEBF-F0C7-A2AA-0E8030D4A79E}"/>
                </a:ext>
              </a:extLst>
            </p:cNvPr>
            <p:cNvSpPr>
              <a:spLocks/>
            </p:cNvSpPr>
            <p:nvPr/>
          </p:nvSpPr>
          <p:spPr bwMode="auto">
            <a:xfrm>
              <a:off x="2656" y="2903"/>
              <a:ext cx="13" cy="24"/>
            </a:xfrm>
            <a:custGeom>
              <a:avLst/>
              <a:gdLst/>
              <a:ahLst/>
              <a:cxnLst>
                <a:cxn ang="0">
                  <a:pos x="13" y="24"/>
                </a:cxn>
                <a:cxn ang="0">
                  <a:pos x="13" y="16"/>
                </a:cxn>
                <a:cxn ang="0">
                  <a:pos x="6" y="8"/>
                </a:cxn>
                <a:cxn ang="0">
                  <a:pos x="0" y="8"/>
                </a:cxn>
                <a:cxn ang="0">
                  <a:pos x="0" y="0"/>
                </a:cxn>
                <a:cxn ang="0">
                  <a:pos x="13" y="24"/>
                </a:cxn>
              </a:cxnLst>
              <a:rect l="0" t="0" r="r" b="b"/>
              <a:pathLst>
                <a:path w="13" h="24">
                  <a:moveTo>
                    <a:pt x="13" y="24"/>
                  </a:moveTo>
                  <a:lnTo>
                    <a:pt x="13" y="16"/>
                  </a:lnTo>
                  <a:lnTo>
                    <a:pt x="6" y="8"/>
                  </a:lnTo>
                  <a:lnTo>
                    <a:pt x="0" y="8"/>
                  </a:lnTo>
                  <a:lnTo>
                    <a:pt x="0" y="0"/>
                  </a:lnTo>
                  <a:lnTo>
                    <a:pt x="13" y="24"/>
                  </a:lnTo>
                  <a:close/>
                </a:path>
              </a:pathLst>
            </a:custGeom>
            <a:solidFill>
              <a:schemeClr val="bg2"/>
            </a:solidFill>
            <a:ln w="9525">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64" name="Freeform 140">
              <a:extLst>
                <a:ext uri="{FF2B5EF4-FFF2-40B4-BE49-F238E27FC236}">
                  <a16:creationId xmlns:a16="http://schemas.microsoft.com/office/drawing/2014/main" id="{ECB5954F-FBA1-D095-596E-A286CBF319B8}"/>
                </a:ext>
              </a:extLst>
            </p:cNvPr>
            <p:cNvSpPr>
              <a:spLocks/>
            </p:cNvSpPr>
            <p:nvPr/>
          </p:nvSpPr>
          <p:spPr bwMode="auto">
            <a:xfrm>
              <a:off x="2656" y="2903"/>
              <a:ext cx="13" cy="24"/>
            </a:xfrm>
            <a:custGeom>
              <a:avLst/>
              <a:gdLst/>
              <a:ahLst/>
              <a:cxnLst>
                <a:cxn ang="0">
                  <a:pos x="13" y="24"/>
                </a:cxn>
                <a:cxn ang="0">
                  <a:pos x="13" y="16"/>
                </a:cxn>
                <a:cxn ang="0">
                  <a:pos x="6" y="8"/>
                </a:cxn>
                <a:cxn ang="0">
                  <a:pos x="0" y="8"/>
                </a:cxn>
                <a:cxn ang="0">
                  <a:pos x="0" y="0"/>
                </a:cxn>
              </a:cxnLst>
              <a:rect l="0" t="0" r="r" b="b"/>
              <a:pathLst>
                <a:path w="13" h="24">
                  <a:moveTo>
                    <a:pt x="13" y="24"/>
                  </a:moveTo>
                  <a:lnTo>
                    <a:pt x="13" y="16"/>
                  </a:lnTo>
                  <a:lnTo>
                    <a:pt x="6" y="8"/>
                  </a:lnTo>
                  <a:lnTo>
                    <a:pt x="0" y="8"/>
                  </a:lnTo>
                  <a:lnTo>
                    <a:pt x="0" y="0"/>
                  </a:lnTo>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65" name="Freeform 141">
              <a:extLst>
                <a:ext uri="{FF2B5EF4-FFF2-40B4-BE49-F238E27FC236}">
                  <a16:creationId xmlns:a16="http://schemas.microsoft.com/office/drawing/2014/main" id="{EEBD2BA4-9713-8C4E-73B7-18FE0BB72D2E}"/>
                </a:ext>
              </a:extLst>
            </p:cNvPr>
            <p:cNvSpPr>
              <a:spLocks/>
            </p:cNvSpPr>
            <p:nvPr/>
          </p:nvSpPr>
          <p:spPr bwMode="auto">
            <a:xfrm>
              <a:off x="2623" y="2775"/>
              <a:ext cx="59" cy="136"/>
            </a:xfrm>
            <a:custGeom>
              <a:avLst/>
              <a:gdLst/>
              <a:ahLst/>
              <a:cxnLst>
                <a:cxn ang="0">
                  <a:pos x="0" y="0"/>
                </a:cxn>
                <a:cxn ang="0">
                  <a:pos x="0" y="24"/>
                </a:cxn>
                <a:cxn ang="0">
                  <a:pos x="7" y="40"/>
                </a:cxn>
                <a:cxn ang="0">
                  <a:pos x="7" y="96"/>
                </a:cxn>
                <a:cxn ang="0">
                  <a:pos x="7" y="128"/>
                </a:cxn>
                <a:cxn ang="0">
                  <a:pos x="13" y="136"/>
                </a:cxn>
                <a:cxn ang="0">
                  <a:pos x="20" y="136"/>
                </a:cxn>
                <a:cxn ang="0">
                  <a:pos x="26" y="128"/>
                </a:cxn>
                <a:cxn ang="0">
                  <a:pos x="33" y="128"/>
                </a:cxn>
                <a:cxn ang="0">
                  <a:pos x="46" y="136"/>
                </a:cxn>
                <a:cxn ang="0">
                  <a:pos x="52" y="128"/>
                </a:cxn>
                <a:cxn ang="0">
                  <a:pos x="59" y="120"/>
                </a:cxn>
                <a:cxn ang="0">
                  <a:pos x="59" y="88"/>
                </a:cxn>
                <a:cxn ang="0">
                  <a:pos x="59" y="72"/>
                </a:cxn>
                <a:cxn ang="0">
                  <a:pos x="52" y="0"/>
                </a:cxn>
                <a:cxn ang="0">
                  <a:pos x="52" y="8"/>
                </a:cxn>
                <a:cxn ang="0">
                  <a:pos x="33" y="8"/>
                </a:cxn>
                <a:cxn ang="0">
                  <a:pos x="20" y="8"/>
                </a:cxn>
                <a:cxn ang="0">
                  <a:pos x="0" y="0"/>
                </a:cxn>
              </a:cxnLst>
              <a:rect l="0" t="0" r="r" b="b"/>
              <a:pathLst>
                <a:path w="59" h="136">
                  <a:moveTo>
                    <a:pt x="0" y="0"/>
                  </a:moveTo>
                  <a:lnTo>
                    <a:pt x="0" y="24"/>
                  </a:lnTo>
                  <a:lnTo>
                    <a:pt x="7" y="40"/>
                  </a:lnTo>
                  <a:lnTo>
                    <a:pt x="7" y="96"/>
                  </a:lnTo>
                  <a:lnTo>
                    <a:pt x="7" y="128"/>
                  </a:lnTo>
                  <a:lnTo>
                    <a:pt x="13" y="136"/>
                  </a:lnTo>
                  <a:lnTo>
                    <a:pt x="20" y="136"/>
                  </a:lnTo>
                  <a:lnTo>
                    <a:pt x="26" y="128"/>
                  </a:lnTo>
                  <a:lnTo>
                    <a:pt x="33" y="128"/>
                  </a:lnTo>
                  <a:lnTo>
                    <a:pt x="46" y="136"/>
                  </a:lnTo>
                  <a:lnTo>
                    <a:pt x="52" y="128"/>
                  </a:lnTo>
                  <a:lnTo>
                    <a:pt x="59" y="120"/>
                  </a:lnTo>
                  <a:lnTo>
                    <a:pt x="59" y="88"/>
                  </a:lnTo>
                  <a:lnTo>
                    <a:pt x="59" y="72"/>
                  </a:lnTo>
                  <a:lnTo>
                    <a:pt x="52" y="0"/>
                  </a:lnTo>
                  <a:lnTo>
                    <a:pt x="52" y="8"/>
                  </a:lnTo>
                  <a:lnTo>
                    <a:pt x="33" y="8"/>
                  </a:lnTo>
                  <a:lnTo>
                    <a:pt x="20" y="8"/>
                  </a:lnTo>
                  <a:lnTo>
                    <a:pt x="0"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66" name="Freeform 142">
              <a:extLst>
                <a:ext uri="{FF2B5EF4-FFF2-40B4-BE49-F238E27FC236}">
                  <a16:creationId xmlns:a16="http://schemas.microsoft.com/office/drawing/2014/main" id="{003C3D78-1E1F-685B-DF63-7FCA1B273081}"/>
                </a:ext>
              </a:extLst>
            </p:cNvPr>
            <p:cNvSpPr>
              <a:spLocks/>
            </p:cNvSpPr>
            <p:nvPr/>
          </p:nvSpPr>
          <p:spPr bwMode="auto">
            <a:xfrm>
              <a:off x="2656" y="2815"/>
              <a:ext cx="6" cy="88"/>
            </a:xfrm>
            <a:custGeom>
              <a:avLst/>
              <a:gdLst/>
              <a:ahLst/>
              <a:cxnLst>
                <a:cxn ang="0">
                  <a:pos x="0" y="88"/>
                </a:cxn>
                <a:cxn ang="0">
                  <a:pos x="6" y="32"/>
                </a:cxn>
                <a:cxn ang="0">
                  <a:pos x="6" y="0"/>
                </a:cxn>
              </a:cxnLst>
              <a:rect l="0" t="0" r="r" b="b"/>
              <a:pathLst>
                <a:path w="6" h="88">
                  <a:moveTo>
                    <a:pt x="0" y="88"/>
                  </a:moveTo>
                  <a:lnTo>
                    <a:pt x="6" y="32"/>
                  </a:lnTo>
                  <a:lnTo>
                    <a:pt x="6" y="0"/>
                  </a:lnTo>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67" name="Freeform 143">
              <a:extLst>
                <a:ext uri="{FF2B5EF4-FFF2-40B4-BE49-F238E27FC236}">
                  <a16:creationId xmlns:a16="http://schemas.microsoft.com/office/drawing/2014/main" id="{A965E18E-1EE1-7A74-421D-35B3F1B15C06}"/>
                </a:ext>
              </a:extLst>
            </p:cNvPr>
            <p:cNvSpPr>
              <a:spLocks/>
            </p:cNvSpPr>
            <p:nvPr/>
          </p:nvSpPr>
          <p:spPr bwMode="auto">
            <a:xfrm>
              <a:off x="2630" y="2639"/>
              <a:ext cx="32" cy="48"/>
            </a:xfrm>
            <a:custGeom>
              <a:avLst/>
              <a:gdLst/>
              <a:ahLst/>
              <a:cxnLst>
                <a:cxn ang="0">
                  <a:pos x="6" y="16"/>
                </a:cxn>
                <a:cxn ang="0">
                  <a:pos x="6" y="16"/>
                </a:cxn>
                <a:cxn ang="0">
                  <a:pos x="0" y="24"/>
                </a:cxn>
                <a:cxn ang="0">
                  <a:pos x="0" y="24"/>
                </a:cxn>
                <a:cxn ang="0">
                  <a:pos x="6" y="32"/>
                </a:cxn>
                <a:cxn ang="0">
                  <a:pos x="6" y="40"/>
                </a:cxn>
                <a:cxn ang="0">
                  <a:pos x="19" y="48"/>
                </a:cxn>
                <a:cxn ang="0">
                  <a:pos x="32" y="48"/>
                </a:cxn>
                <a:cxn ang="0">
                  <a:pos x="32" y="40"/>
                </a:cxn>
                <a:cxn ang="0">
                  <a:pos x="32" y="32"/>
                </a:cxn>
                <a:cxn ang="0">
                  <a:pos x="32" y="16"/>
                </a:cxn>
                <a:cxn ang="0">
                  <a:pos x="32" y="0"/>
                </a:cxn>
                <a:cxn ang="0">
                  <a:pos x="13" y="8"/>
                </a:cxn>
                <a:cxn ang="0">
                  <a:pos x="6" y="8"/>
                </a:cxn>
                <a:cxn ang="0">
                  <a:pos x="6" y="16"/>
                </a:cxn>
              </a:cxnLst>
              <a:rect l="0" t="0" r="r" b="b"/>
              <a:pathLst>
                <a:path w="32" h="48">
                  <a:moveTo>
                    <a:pt x="6" y="16"/>
                  </a:moveTo>
                  <a:lnTo>
                    <a:pt x="6" y="16"/>
                  </a:lnTo>
                  <a:lnTo>
                    <a:pt x="0" y="24"/>
                  </a:lnTo>
                  <a:lnTo>
                    <a:pt x="0" y="24"/>
                  </a:lnTo>
                  <a:lnTo>
                    <a:pt x="6" y="32"/>
                  </a:lnTo>
                  <a:lnTo>
                    <a:pt x="6" y="40"/>
                  </a:lnTo>
                  <a:lnTo>
                    <a:pt x="19" y="48"/>
                  </a:lnTo>
                  <a:lnTo>
                    <a:pt x="32" y="48"/>
                  </a:lnTo>
                  <a:lnTo>
                    <a:pt x="32" y="40"/>
                  </a:lnTo>
                  <a:lnTo>
                    <a:pt x="32" y="32"/>
                  </a:lnTo>
                  <a:lnTo>
                    <a:pt x="32" y="16"/>
                  </a:lnTo>
                  <a:lnTo>
                    <a:pt x="32" y="0"/>
                  </a:lnTo>
                  <a:lnTo>
                    <a:pt x="13" y="8"/>
                  </a:lnTo>
                  <a:lnTo>
                    <a:pt x="6" y="8"/>
                  </a:lnTo>
                  <a:lnTo>
                    <a:pt x="6" y="16"/>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68" name="Freeform 144">
              <a:extLst>
                <a:ext uri="{FF2B5EF4-FFF2-40B4-BE49-F238E27FC236}">
                  <a16:creationId xmlns:a16="http://schemas.microsoft.com/office/drawing/2014/main" id="{FC2A6B34-AF7A-844A-F0A1-93A8F53ADDE8}"/>
                </a:ext>
              </a:extLst>
            </p:cNvPr>
            <p:cNvSpPr>
              <a:spLocks/>
            </p:cNvSpPr>
            <p:nvPr/>
          </p:nvSpPr>
          <p:spPr bwMode="auto">
            <a:xfrm>
              <a:off x="2623" y="2623"/>
              <a:ext cx="46" cy="40"/>
            </a:xfrm>
            <a:custGeom>
              <a:avLst/>
              <a:gdLst/>
              <a:ahLst/>
              <a:cxnLst>
                <a:cxn ang="0">
                  <a:pos x="39" y="32"/>
                </a:cxn>
                <a:cxn ang="0">
                  <a:pos x="46" y="24"/>
                </a:cxn>
                <a:cxn ang="0">
                  <a:pos x="46" y="16"/>
                </a:cxn>
                <a:cxn ang="0">
                  <a:pos x="39" y="8"/>
                </a:cxn>
                <a:cxn ang="0">
                  <a:pos x="33" y="0"/>
                </a:cxn>
                <a:cxn ang="0">
                  <a:pos x="20" y="0"/>
                </a:cxn>
                <a:cxn ang="0">
                  <a:pos x="13" y="0"/>
                </a:cxn>
                <a:cxn ang="0">
                  <a:pos x="7" y="8"/>
                </a:cxn>
                <a:cxn ang="0">
                  <a:pos x="7" y="0"/>
                </a:cxn>
                <a:cxn ang="0">
                  <a:pos x="7" y="8"/>
                </a:cxn>
                <a:cxn ang="0">
                  <a:pos x="0" y="8"/>
                </a:cxn>
                <a:cxn ang="0">
                  <a:pos x="7" y="8"/>
                </a:cxn>
                <a:cxn ang="0">
                  <a:pos x="0" y="16"/>
                </a:cxn>
                <a:cxn ang="0">
                  <a:pos x="0" y="32"/>
                </a:cxn>
                <a:cxn ang="0">
                  <a:pos x="7" y="40"/>
                </a:cxn>
                <a:cxn ang="0">
                  <a:pos x="7" y="40"/>
                </a:cxn>
                <a:cxn ang="0">
                  <a:pos x="13" y="32"/>
                </a:cxn>
                <a:cxn ang="0">
                  <a:pos x="13" y="32"/>
                </a:cxn>
                <a:cxn ang="0">
                  <a:pos x="13" y="24"/>
                </a:cxn>
                <a:cxn ang="0">
                  <a:pos x="20" y="24"/>
                </a:cxn>
                <a:cxn ang="0">
                  <a:pos x="39" y="16"/>
                </a:cxn>
                <a:cxn ang="0">
                  <a:pos x="39" y="32"/>
                </a:cxn>
              </a:cxnLst>
              <a:rect l="0" t="0" r="r" b="b"/>
              <a:pathLst>
                <a:path w="46" h="40">
                  <a:moveTo>
                    <a:pt x="39" y="32"/>
                  </a:moveTo>
                  <a:lnTo>
                    <a:pt x="46" y="24"/>
                  </a:lnTo>
                  <a:lnTo>
                    <a:pt x="46" y="16"/>
                  </a:lnTo>
                  <a:lnTo>
                    <a:pt x="39" y="8"/>
                  </a:lnTo>
                  <a:lnTo>
                    <a:pt x="33" y="0"/>
                  </a:lnTo>
                  <a:lnTo>
                    <a:pt x="20" y="0"/>
                  </a:lnTo>
                  <a:lnTo>
                    <a:pt x="13" y="0"/>
                  </a:lnTo>
                  <a:lnTo>
                    <a:pt x="7" y="8"/>
                  </a:lnTo>
                  <a:lnTo>
                    <a:pt x="7" y="0"/>
                  </a:lnTo>
                  <a:lnTo>
                    <a:pt x="7" y="8"/>
                  </a:lnTo>
                  <a:lnTo>
                    <a:pt x="0" y="8"/>
                  </a:lnTo>
                  <a:lnTo>
                    <a:pt x="7" y="8"/>
                  </a:lnTo>
                  <a:lnTo>
                    <a:pt x="0" y="16"/>
                  </a:lnTo>
                  <a:lnTo>
                    <a:pt x="0" y="32"/>
                  </a:lnTo>
                  <a:lnTo>
                    <a:pt x="7" y="40"/>
                  </a:lnTo>
                  <a:lnTo>
                    <a:pt x="7" y="40"/>
                  </a:lnTo>
                  <a:lnTo>
                    <a:pt x="13" y="32"/>
                  </a:lnTo>
                  <a:lnTo>
                    <a:pt x="13" y="32"/>
                  </a:lnTo>
                  <a:lnTo>
                    <a:pt x="13" y="24"/>
                  </a:lnTo>
                  <a:lnTo>
                    <a:pt x="20" y="24"/>
                  </a:lnTo>
                  <a:lnTo>
                    <a:pt x="39" y="16"/>
                  </a:lnTo>
                  <a:lnTo>
                    <a:pt x="39" y="32"/>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69" name="Freeform 145">
              <a:extLst>
                <a:ext uri="{FF2B5EF4-FFF2-40B4-BE49-F238E27FC236}">
                  <a16:creationId xmlns:a16="http://schemas.microsoft.com/office/drawing/2014/main" id="{3E6F97C6-D6B8-EE8F-0EDC-015D4BBA34F2}"/>
                </a:ext>
              </a:extLst>
            </p:cNvPr>
            <p:cNvSpPr>
              <a:spLocks/>
            </p:cNvSpPr>
            <p:nvPr/>
          </p:nvSpPr>
          <p:spPr bwMode="auto">
            <a:xfrm>
              <a:off x="2636" y="2671"/>
              <a:ext cx="20" cy="24"/>
            </a:xfrm>
            <a:custGeom>
              <a:avLst/>
              <a:gdLst/>
              <a:ahLst/>
              <a:cxnLst>
                <a:cxn ang="0">
                  <a:pos x="0" y="0"/>
                </a:cxn>
                <a:cxn ang="0">
                  <a:pos x="0" y="16"/>
                </a:cxn>
                <a:cxn ang="0">
                  <a:pos x="7" y="24"/>
                </a:cxn>
                <a:cxn ang="0">
                  <a:pos x="13" y="24"/>
                </a:cxn>
                <a:cxn ang="0">
                  <a:pos x="20" y="24"/>
                </a:cxn>
                <a:cxn ang="0">
                  <a:pos x="20" y="16"/>
                </a:cxn>
                <a:cxn ang="0">
                  <a:pos x="20" y="16"/>
                </a:cxn>
                <a:cxn ang="0">
                  <a:pos x="13" y="16"/>
                </a:cxn>
                <a:cxn ang="0">
                  <a:pos x="0" y="8"/>
                </a:cxn>
                <a:cxn ang="0">
                  <a:pos x="0" y="0"/>
                </a:cxn>
              </a:cxnLst>
              <a:rect l="0" t="0" r="r" b="b"/>
              <a:pathLst>
                <a:path w="20" h="24">
                  <a:moveTo>
                    <a:pt x="0" y="0"/>
                  </a:moveTo>
                  <a:lnTo>
                    <a:pt x="0" y="16"/>
                  </a:lnTo>
                  <a:lnTo>
                    <a:pt x="7" y="24"/>
                  </a:lnTo>
                  <a:lnTo>
                    <a:pt x="13" y="24"/>
                  </a:lnTo>
                  <a:lnTo>
                    <a:pt x="20" y="24"/>
                  </a:lnTo>
                  <a:lnTo>
                    <a:pt x="20" y="16"/>
                  </a:lnTo>
                  <a:lnTo>
                    <a:pt x="20" y="16"/>
                  </a:lnTo>
                  <a:lnTo>
                    <a:pt x="13" y="16"/>
                  </a:lnTo>
                  <a:lnTo>
                    <a:pt x="0" y="8"/>
                  </a:lnTo>
                  <a:lnTo>
                    <a:pt x="0"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70" name="Freeform 146">
              <a:extLst>
                <a:ext uri="{FF2B5EF4-FFF2-40B4-BE49-F238E27FC236}">
                  <a16:creationId xmlns:a16="http://schemas.microsoft.com/office/drawing/2014/main" id="{403470A6-CA3E-6184-9E0A-D3E208D5DABA}"/>
                </a:ext>
              </a:extLst>
            </p:cNvPr>
            <p:cNvSpPr>
              <a:spLocks/>
            </p:cNvSpPr>
            <p:nvPr/>
          </p:nvSpPr>
          <p:spPr bwMode="auto">
            <a:xfrm>
              <a:off x="2610" y="2687"/>
              <a:ext cx="78" cy="96"/>
            </a:xfrm>
            <a:custGeom>
              <a:avLst/>
              <a:gdLst/>
              <a:ahLst/>
              <a:cxnLst>
                <a:cxn ang="0">
                  <a:pos x="26" y="0"/>
                </a:cxn>
                <a:cxn ang="0">
                  <a:pos x="13" y="8"/>
                </a:cxn>
                <a:cxn ang="0">
                  <a:pos x="7" y="16"/>
                </a:cxn>
                <a:cxn ang="0">
                  <a:pos x="0" y="32"/>
                </a:cxn>
                <a:cxn ang="0">
                  <a:pos x="0" y="56"/>
                </a:cxn>
                <a:cxn ang="0">
                  <a:pos x="7" y="64"/>
                </a:cxn>
                <a:cxn ang="0">
                  <a:pos x="13" y="56"/>
                </a:cxn>
                <a:cxn ang="0">
                  <a:pos x="13" y="48"/>
                </a:cxn>
                <a:cxn ang="0">
                  <a:pos x="13" y="88"/>
                </a:cxn>
                <a:cxn ang="0">
                  <a:pos x="33" y="96"/>
                </a:cxn>
                <a:cxn ang="0">
                  <a:pos x="46" y="96"/>
                </a:cxn>
                <a:cxn ang="0">
                  <a:pos x="65" y="96"/>
                </a:cxn>
                <a:cxn ang="0">
                  <a:pos x="72" y="88"/>
                </a:cxn>
                <a:cxn ang="0">
                  <a:pos x="65" y="48"/>
                </a:cxn>
                <a:cxn ang="0">
                  <a:pos x="72" y="48"/>
                </a:cxn>
                <a:cxn ang="0">
                  <a:pos x="78" y="48"/>
                </a:cxn>
                <a:cxn ang="0">
                  <a:pos x="78" y="24"/>
                </a:cxn>
                <a:cxn ang="0">
                  <a:pos x="65" y="8"/>
                </a:cxn>
                <a:cxn ang="0">
                  <a:pos x="59" y="0"/>
                </a:cxn>
                <a:cxn ang="0">
                  <a:pos x="46" y="0"/>
                </a:cxn>
                <a:cxn ang="0">
                  <a:pos x="46" y="8"/>
                </a:cxn>
                <a:cxn ang="0">
                  <a:pos x="39" y="8"/>
                </a:cxn>
                <a:cxn ang="0">
                  <a:pos x="33" y="8"/>
                </a:cxn>
                <a:cxn ang="0">
                  <a:pos x="26" y="0"/>
                </a:cxn>
              </a:cxnLst>
              <a:rect l="0" t="0" r="r" b="b"/>
              <a:pathLst>
                <a:path w="78" h="96">
                  <a:moveTo>
                    <a:pt x="26" y="0"/>
                  </a:moveTo>
                  <a:lnTo>
                    <a:pt x="13" y="8"/>
                  </a:lnTo>
                  <a:lnTo>
                    <a:pt x="7" y="16"/>
                  </a:lnTo>
                  <a:lnTo>
                    <a:pt x="0" y="32"/>
                  </a:lnTo>
                  <a:lnTo>
                    <a:pt x="0" y="56"/>
                  </a:lnTo>
                  <a:lnTo>
                    <a:pt x="7" y="64"/>
                  </a:lnTo>
                  <a:lnTo>
                    <a:pt x="13" y="56"/>
                  </a:lnTo>
                  <a:lnTo>
                    <a:pt x="13" y="48"/>
                  </a:lnTo>
                  <a:lnTo>
                    <a:pt x="13" y="88"/>
                  </a:lnTo>
                  <a:lnTo>
                    <a:pt x="33" y="96"/>
                  </a:lnTo>
                  <a:lnTo>
                    <a:pt x="46" y="96"/>
                  </a:lnTo>
                  <a:lnTo>
                    <a:pt x="65" y="96"/>
                  </a:lnTo>
                  <a:lnTo>
                    <a:pt x="72" y="88"/>
                  </a:lnTo>
                  <a:lnTo>
                    <a:pt x="65" y="48"/>
                  </a:lnTo>
                  <a:lnTo>
                    <a:pt x="72" y="48"/>
                  </a:lnTo>
                  <a:lnTo>
                    <a:pt x="78" y="48"/>
                  </a:lnTo>
                  <a:lnTo>
                    <a:pt x="78" y="24"/>
                  </a:lnTo>
                  <a:lnTo>
                    <a:pt x="65" y="8"/>
                  </a:lnTo>
                  <a:lnTo>
                    <a:pt x="59" y="0"/>
                  </a:lnTo>
                  <a:lnTo>
                    <a:pt x="46" y="0"/>
                  </a:lnTo>
                  <a:lnTo>
                    <a:pt x="46" y="8"/>
                  </a:lnTo>
                  <a:lnTo>
                    <a:pt x="39" y="8"/>
                  </a:lnTo>
                  <a:lnTo>
                    <a:pt x="33" y="8"/>
                  </a:lnTo>
                  <a:lnTo>
                    <a:pt x="26"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71" name="Line 147">
              <a:extLst>
                <a:ext uri="{FF2B5EF4-FFF2-40B4-BE49-F238E27FC236}">
                  <a16:creationId xmlns:a16="http://schemas.microsoft.com/office/drawing/2014/main" id="{A959BCD6-2974-A2FB-3338-13E52D64207A}"/>
                </a:ext>
              </a:extLst>
            </p:cNvPr>
            <p:cNvSpPr>
              <a:spLocks noChangeShapeType="1"/>
            </p:cNvSpPr>
            <p:nvPr/>
          </p:nvSpPr>
          <p:spPr bwMode="auto">
            <a:xfrm flipV="1">
              <a:off x="2675" y="2727"/>
              <a:ext cx="1" cy="8"/>
            </a:xfrm>
            <a:prstGeom prst="line">
              <a:avLst/>
            </a:prstGeom>
            <a:noFill/>
            <a:ln w="9525">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72" name="Freeform 148">
              <a:extLst>
                <a:ext uri="{FF2B5EF4-FFF2-40B4-BE49-F238E27FC236}">
                  <a16:creationId xmlns:a16="http://schemas.microsoft.com/office/drawing/2014/main" id="{2ABBA4C6-3478-A545-51D8-56B9797B8E77}"/>
                </a:ext>
              </a:extLst>
            </p:cNvPr>
            <p:cNvSpPr>
              <a:spLocks/>
            </p:cNvSpPr>
            <p:nvPr/>
          </p:nvSpPr>
          <p:spPr bwMode="auto">
            <a:xfrm>
              <a:off x="2610" y="2743"/>
              <a:ext cx="26" cy="56"/>
            </a:xfrm>
            <a:custGeom>
              <a:avLst/>
              <a:gdLst/>
              <a:ahLst/>
              <a:cxnLst>
                <a:cxn ang="0">
                  <a:pos x="13" y="0"/>
                </a:cxn>
                <a:cxn ang="0">
                  <a:pos x="13" y="24"/>
                </a:cxn>
                <a:cxn ang="0">
                  <a:pos x="26" y="48"/>
                </a:cxn>
                <a:cxn ang="0">
                  <a:pos x="20" y="56"/>
                </a:cxn>
                <a:cxn ang="0">
                  <a:pos x="0" y="24"/>
                </a:cxn>
                <a:cxn ang="0">
                  <a:pos x="0" y="0"/>
                </a:cxn>
                <a:cxn ang="0">
                  <a:pos x="7" y="8"/>
                </a:cxn>
                <a:cxn ang="0">
                  <a:pos x="13" y="0"/>
                </a:cxn>
              </a:cxnLst>
              <a:rect l="0" t="0" r="r" b="b"/>
              <a:pathLst>
                <a:path w="26" h="56">
                  <a:moveTo>
                    <a:pt x="13" y="0"/>
                  </a:moveTo>
                  <a:lnTo>
                    <a:pt x="13" y="24"/>
                  </a:lnTo>
                  <a:lnTo>
                    <a:pt x="26" y="48"/>
                  </a:lnTo>
                  <a:lnTo>
                    <a:pt x="20" y="56"/>
                  </a:lnTo>
                  <a:lnTo>
                    <a:pt x="0" y="24"/>
                  </a:lnTo>
                  <a:lnTo>
                    <a:pt x="0" y="0"/>
                  </a:lnTo>
                  <a:lnTo>
                    <a:pt x="7" y="8"/>
                  </a:lnTo>
                  <a:lnTo>
                    <a:pt x="13"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73" name="Freeform 149">
              <a:extLst>
                <a:ext uri="{FF2B5EF4-FFF2-40B4-BE49-F238E27FC236}">
                  <a16:creationId xmlns:a16="http://schemas.microsoft.com/office/drawing/2014/main" id="{C2D19CEE-B4B2-38EB-0109-6CE58D20B6A7}"/>
                </a:ext>
              </a:extLst>
            </p:cNvPr>
            <p:cNvSpPr>
              <a:spLocks/>
            </p:cNvSpPr>
            <p:nvPr/>
          </p:nvSpPr>
          <p:spPr bwMode="auto">
            <a:xfrm>
              <a:off x="2675" y="2735"/>
              <a:ext cx="13" cy="56"/>
            </a:xfrm>
            <a:custGeom>
              <a:avLst/>
              <a:gdLst/>
              <a:ahLst/>
              <a:cxnLst>
                <a:cxn ang="0">
                  <a:pos x="13" y="0"/>
                </a:cxn>
                <a:cxn ang="0">
                  <a:pos x="13" y="24"/>
                </a:cxn>
                <a:cxn ang="0">
                  <a:pos x="0" y="56"/>
                </a:cxn>
                <a:cxn ang="0">
                  <a:pos x="0" y="48"/>
                </a:cxn>
                <a:cxn ang="0">
                  <a:pos x="7" y="40"/>
                </a:cxn>
                <a:cxn ang="0">
                  <a:pos x="0" y="0"/>
                </a:cxn>
                <a:cxn ang="0">
                  <a:pos x="7" y="0"/>
                </a:cxn>
                <a:cxn ang="0">
                  <a:pos x="13" y="0"/>
                </a:cxn>
              </a:cxnLst>
              <a:rect l="0" t="0" r="r" b="b"/>
              <a:pathLst>
                <a:path w="13" h="56">
                  <a:moveTo>
                    <a:pt x="13" y="0"/>
                  </a:moveTo>
                  <a:lnTo>
                    <a:pt x="13" y="24"/>
                  </a:lnTo>
                  <a:lnTo>
                    <a:pt x="0" y="56"/>
                  </a:lnTo>
                  <a:lnTo>
                    <a:pt x="0" y="48"/>
                  </a:lnTo>
                  <a:lnTo>
                    <a:pt x="7" y="40"/>
                  </a:lnTo>
                  <a:lnTo>
                    <a:pt x="0" y="0"/>
                  </a:lnTo>
                  <a:lnTo>
                    <a:pt x="7" y="0"/>
                  </a:lnTo>
                  <a:lnTo>
                    <a:pt x="13" y="0"/>
                  </a:lnTo>
                  <a:close/>
                </a:path>
              </a:pathLst>
            </a:custGeom>
            <a:solidFill>
              <a:schemeClr val="bg2"/>
            </a:solidFill>
            <a:ln w="9525">
              <a:solidFill>
                <a:schemeClr val="tx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grpSp>
        <p:nvGrpSpPr>
          <p:cNvPr id="12" name="Group 11">
            <a:extLst>
              <a:ext uri="{FF2B5EF4-FFF2-40B4-BE49-F238E27FC236}">
                <a16:creationId xmlns:a16="http://schemas.microsoft.com/office/drawing/2014/main" id="{3341C3DF-68D1-FDBA-79EF-49002337CA14}"/>
              </a:ext>
            </a:extLst>
          </p:cNvPr>
          <p:cNvGrpSpPr>
            <a:grpSpLocks/>
          </p:cNvGrpSpPr>
          <p:nvPr/>
        </p:nvGrpSpPr>
        <p:grpSpPr bwMode="auto">
          <a:xfrm>
            <a:off x="5714163" y="2920419"/>
            <a:ext cx="1114425" cy="1119188"/>
            <a:chOff x="3110" y="2304"/>
            <a:chExt cx="702" cy="705"/>
          </a:xfrm>
        </p:grpSpPr>
        <p:sp>
          <p:nvSpPr>
            <p:cNvPr id="15" name="Rectangle 14">
              <a:extLst>
                <a:ext uri="{FF2B5EF4-FFF2-40B4-BE49-F238E27FC236}">
                  <a16:creationId xmlns:a16="http://schemas.microsoft.com/office/drawing/2014/main" id="{4CE72107-B2F9-0B7D-5F58-0303CC4E5495}"/>
                </a:ext>
              </a:extLst>
            </p:cNvPr>
            <p:cNvSpPr>
              <a:spLocks noChangeArrowheads="1"/>
            </p:cNvSpPr>
            <p:nvPr/>
          </p:nvSpPr>
          <p:spPr bwMode="auto">
            <a:xfrm>
              <a:off x="3110" y="2304"/>
              <a:ext cx="702" cy="705"/>
            </a:xfrm>
            <a:prstGeom prst="rect">
              <a:avLst/>
            </a:prstGeom>
            <a:noFill/>
            <a:ln w="20638">
              <a:solidFill>
                <a:srgbClr val="000000"/>
              </a:solidFill>
              <a:miter lim="800000"/>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nvGrpSpPr>
            <p:cNvPr id="16" name="Group 15">
              <a:extLst>
                <a:ext uri="{FF2B5EF4-FFF2-40B4-BE49-F238E27FC236}">
                  <a16:creationId xmlns:a16="http://schemas.microsoft.com/office/drawing/2014/main" id="{BE4AD1A2-461A-662D-AB8B-A3D3D02A01DC}"/>
                </a:ext>
              </a:extLst>
            </p:cNvPr>
            <p:cNvGrpSpPr>
              <a:grpSpLocks/>
            </p:cNvGrpSpPr>
            <p:nvPr/>
          </p:nvGrpSpPr>
          <p:grpSpPr bwMode="auto">
            <a:xfrm flipH="1">
              <a:off x="3218" y="2420"/>
              <a:ext cx="431" cy="410"/>
              <a:chOff x="1632" y="1248"/>
              <a:chExt cx="2682" cy="2286"/>
            </a:xfrm>
          </p:grpSpPr>
          <p:sp>
            <p:nvSpPr>
              <p:cNvPr id="17" name="Gear">
                <a:extLst>
                  <a:ext uri="{FF2B5EF4-FFF2-40B4-BE49-F238E27FC236}">
                    <a16:creationId xmlns:a16="http://schemas.microsoft.com/office/drawing/2014/main" id="{6D9E1720-D4B2-4C96-BCF6-CBDDA9E3DD6B}"/>
                  </a:ext>
                </a:extLst>
              </p:cNvPr>
              <p:cNvSpPr>
                <a:spLocks noEditPoints="1" noChangeArrowheads="1"/>
              </p:cNvSpPr>
              <p:nvPr/>
            </p:nvSpPr>
            <p:spPr bwMode="auto">
              <a:xfrm>
                <a:off x="3119" y="1248"/>
                <a:ext cx="1195" cy="1048"/>
              </a:xfrm>
              <a:custGeom>
                <a:avLst/>
                <a:gdLst>
                  <a:gd name="T0" fmla="*/ 10800 w 21600"/>
                  <a:gd name="T1" fmla="*/ 0 h 21600"/>
                  <a:gd name="T2" fmla="*/ 21600 w 21600"/>
                  <a:gd name="T3" fmla="*/ 10800 h 21600"/>
                  <a:gd name="T4" fmla="*/ 10800 w 21600"/>
                  <a:gd name="T5" fmla="*/ 21600 h 21600"/>
                  <a:gd name="T6" fmla="*/ 0 w 21600"/>
                  <a:gd name="T7" fmla="*/ 10800 h 21600"/>
                  <a:gd name="T8" fmla="*/ 4374 w 21600"/>
                  <a:gd name="T9" fmla="*/ 3964 h 21600"/>
                  <a:gd name="T10" fmla="*/ 17841 w 21600"/>
                  <a:gd name="T11" fmla="*/ 17635 h 21600"/>
                </a:gdLst>
                <a:ahLst/>
                <a:cxnLst>
                  <a:cxn ang="0">
                    <a:pos x="T0" y="T1"/>
                  </a:cxn>
                  <a:cxn ang="0">
                    <a:pos x="T2" y="T3"/>
                  </a:cxn>
                  <a:cxn ang="0">
                    <a:pos x="T4" y="T5"/>
                  </a:cxn>
                  <a:cxn ang="0">
                    <a:pos x="T6" y="T7"/>
                  </a:cxn>
                </a:cxnLst>
                <a:rect l="T8" t="T9" r="T10" b="T11"/>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0C0C0"/>
              </a:solidFill>
              <a:ln w="9525">
                <a:miter lim="800000"/>
                <a:headEnd/>
                <a:tailEnd/>
              </a:ln>
              <a:effectLst/>
              <a:scene3d>
                <a:camera prst="legacyPerspectiveFront">
                  <a:rot lat="20099999" lon="1500000" rev="0"/>
                </a:camera>
                <a:lightRig rig="legacyFlat4" dir="b"/>
              </a:scene3d>
              <a:sp3d extrusionH="430200" prstMaterial="legacyMatte">
                <a:bevelT w="13500" h="13500" prst="angle"/>
                <a:bevelB w="13500" h="13500" prst="angle"/>
                <a:extrusionClr>
                  <a:srgbClr val="C0C0C0"/>
                </a:extrusionClr>
              </a:sp3d>
            </p:spPr>
            <p:txBody>
              <a:bodyP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8" name="AutoShape 152">
                <a:extLst>
                  <a:ext uri="{FF2B5EF4-FFF2-40B4-BE49-F238E27FC236}">
                    <a16:creationId xmlns:a16="http://schemas.microsoft.com/office/drawing/2014/main" id="{D8691235-3640-4BF8-EE58-4E0265F78685}"/>
                  </a:ext>
                </a:extLst>
              </p:cNvPr>
              <p:cNvSpPr>
                <a:spLocks noEditPoints="1" noChangeArrowheads="1"/>
              </p:cNvSpPr>
              <p:nvPr/>
            </p:nvSpPr>
            <p:spPr bwMode="auto">
              <a:xfrm>
                <a:off x="1632" y="1680"/>
                <a:ext cx="1429" cy="1253"/>
              </a:xfrm>
              <a:custGeom>
                <a:avLst/>
                <a:gdLst>
                  <a:gd name="T0" fmla="*/ 10800 w 21600"/>
                  <a:gd name="T1" fmla="*/ 0 h 21600"/>
                  <a:gd name="T2" fmla="*/ 21600 w 21600"/>
                  <a:gd name="T3" fmla="*/ 10800 h 21600"/>
                  <a:gd name="T4" fmla="*/ 10800 w 21600"/>
                  <a:gd name="T5" fmla="*/ 21600 h 21600"/>
                  <a:gd name="T6" fmla="*/ 0 w 21600"/>
                  <a:gd name="T7" fmla="*/ 10800 h 21600"/>
                  <a:gd name="T8" fmla="*/ 4374 w 21600"/>
                  <a:gd name="T9" fmla="*/ 3964 h 21600"/>
                  <a:gd name="T10" fmla="*/ 17841 w 21600"/>
                  <a:gd name="T11" fmla="*/ 17635 h 21600"/>
                </a:gdLst>
                <a:ahLst/>
                <a:cxnLst>
                  <a:cxn ang="0">
                    <a:pos x="T0" y="T1"/>
                  </a:cxn>
                  <a:cxn ang="0">
                    <a:pos x="T2" y="T3"/>
                  </a:cxn>
                  <a:cxn ang="0">
                    <a:pos x="T4" y="T5"/>
                  </a:cxn>
                  <a:cxn ang="0">
                    <a:pos x="T6" y="T7"/>
                  </a:cxn>
                </a:cxnLst>
                <a:rect l="T8" t="T9" r="T10" b="T11"/>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0C0C0"/>
              </a:solidFill>
              <a:ln w="9525">
                <a:miter lim="800000"/>
                <a:headEnd/>
                <a:tailEnd/>
              </a:ln>
              <a:effectLst/>
              <a:scene3d>
                <a:camera prst="legacyPerspectiveFront">
                  <a:rot lat="20099999" lon="1500000" rev="0"/>
                </a:camera>
                <a:lightRig rig="legacyFlat4" dir="b"/>
              </a:scene3d>
              <a:sp3d extrusionH="430200" prstMaterial="legacyMatte">
                <a:bevelT w="13500" h="13500" prst="angle"/>
                <a:bevelB w="13500" h="13500" prst="angle"/>
                <a:extrusionClr>
                  <a:srgbClr val="C0C0C0"/>
                </a:extrusionClr>
              </a:sp3d>
            </p:spPr>
            <p:txBody>
              <a:bodyP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9" name="AutoShape 153">
                <a:extLst>
                  <a:ext uri="{FF2B5EF4-FFF2-40B4-BE49-F238E27FC236}">
                    <a16:creationId xmlns:a16="http://schemas.microsoft.com/office/drawing/2014/main" id="{A19E295D-B29C-1534-824B-05567E163F08}"/>
                  </a:ext>
                </a:extLst>
              </p:cNvPr>
              <p:cNvSpPr>
                <a:spLocks noEditPoints="1" noChangeArrowheads="1"/>
              </p:cNvSpPr>
              <p:nvPr/>
            </p:nvSpPr>
            <p:spPr bwMode="auto">
              <a:xfrm>
                <a:off x="2559" y="2142"/>
                <a:ext cx="1588" cy="1392"/>
              </a:xfrm>
              <a:custGeom>
                <a:avLst/>
                <a:gdLst>
                  <a:gd name="T0" fmla="*/ 10800 w 21600"/>
                  <a:gd name="T1" fmla="*/ 0 h 21600"/>
                  <a:gd name="T2" fmla="*/ 21600 w 21600"/>
                  <a:gd name="T3" fmla="*/ 10800 h 21600"/>
                  <a:gd name="T4" fmla="*/ 10800 w 21600"/>
                  <a:gd name="T5" fmla="*/ 21600 h 21600"/>
                  <a:gd name="T6" fmla="*/ 0 w 21600"/>
                  <a:gd name="T7" fmla="*/ 10800 h 21600"/>
                  <a:gd name="T8" fmla="*/ 4374 w 21600"/>
                  <a:gd name="T9" fmla="*/ 3964 h 21600"/>
                  <a:gd name="T10" fmla="*/ 17841 w 21600"/>
                  <a:gd name="T11" fmla="*/ 17635 h 21600"/>
                </a:gdLst>
                <a:ahLst/>
                <a:cxnLst>
                  <a:cxn ang="0">
                    <a:pos x="T0" y="T1"/>
                  </a:cxn>
                  <a:cxn ang="0">
                    <a:pos x="T2" y="T3"/>
                  </a:cxn>
                  <a:cxn ang="0">
                    <a:pos x="T4" y="T5"/>
                  </a:cxn>
                  <a:cxn ang="0">
                    <a:pos x="T6" y="T7"/>
                  </a:cxn>
                </a:cxnLst>
                <a:rect l="T8" t="T9" r="T10" b="T11"/>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0C0C0"/>
              </a:solidFill>
              <a:ln w="9525">
                <a:miter lim="800000"/>
                <a:headEnd/>
                <a:tailEnd/>
              </a:ln>
              <a:effectLst/>
              <a:scene3d>
                <a:camera prst="legacyPerspectiveFront">
                  <a:rot lat="20099999" lon="1500000" rev="0"/>
                </a:camera>
                <a:lightRig rig="legacyFlat4" dir="b"/>
              </a:scene3d>
              <a:sp3d extrusionH="430200" prstMaterial="legacyMatte">
                <a:bevelT w="13500" h="13500" prst="angle"/>
                <a:bevelB w="13500" h="13500" prst="angle"/>
                <a:extrusionClr>
                  <a:srgbClr val="C0C0C0"/>
                </a:extrusionClr>
              </a:sp3d>
            </p:spPr>
            <p:txBody>
              <a:bodyP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grpSp>
      <p:sp>
        <p:nvSpPr>
          <p:cNvPr id="13" name="AutoShape 154">
            <a:extLst>
              <a:ext uri="{FF2B5EF4-FFF2-40B4-BE49-F238E27FC236}">
                <a16:creationId xmlns:a16="http://schemas.microsoft.com/office/drawing/2014/main" id="{8CFE7EB1-0871-CE9D-8F7E-03CD2E47A404}"/>
              </a:ext>
            </a:extLst>
          </p:cNvPr>
          <p:cNvSpPr>
            <a:spLocks noChangeArrowheads="1"/>
          </p:cNvSpPr>
          <p:nvPr/>
        </p:nvSpPr>
        <p:spPr bwMode="auto">
          <a:xfrm>
            <a:off x="3979542" y="5134387"/>
            <a:ext cx="625476" cy="338137"/>
          </a:xfrm>
          <a:prstGeom prst="rightArrow">
            <a:avLst>
              <a:gd name="adj1" fmla="val 50000"/>
              <a:gd name="adj2" fmla="val 41667"/>
            </a:avLst>
          </a:prstGeom>
          <a:solidFill>
            <a:schemeClr val="bg2"/>
          </a:solidFill>
          <a:ln w="9525">
            <a:solidFill>
              <a:schemeClr val="tx1"/>
            </a:solidFill>
            <a:miter lim="800000"/>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4" name="AutoShape 155">
            <a:extLst>
              <a:ext uri="{FF2B5EF4-FFF2-40B4-BE49-F238E27FC236}">
                <a16:creationId xmlns:a16="http://schemas.microsoft.com/office/drawing/2014/main" id="{2E76A134-0D52-66A6-58A0-5EC6FCE4EBD5}"/>
              </a:ext>
            </a:extLst>
          </p:cNvPr>
          <p:cNvSpPr>
            <a:spLocks noChangeArrowheads="1"/>
          </p:cNvSpPr>
          <p:nvPr/>
        </p:nvSpPr>
        <p:spPr bwMode="auto">
          <a:xfrm>
            <a:off x="7774630" y="5121287"/>
            <a:ext cx="667995" cy="316711"/>
          </a:xfrm>
          <a:prstGeom prst="rightArrow">
            <a:avLst>
              <a:gd name="adj1" fmla="val 50000"/>
              <a:gd name="adj2" fmla="val 41667"/>
            </a:avLst>
          </a:prstGeom>
          <a:solidFill>
            <a:schemeClr val="accent1"/>
          </a:solidFill>
          <a:ln w="9525">
            <a:solidFill>
              <a:srgbClr val="E4BB0C"/>
            </a:solidFill>
            <a:miter lim="800000"/>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nvGrpSpPr>
          <p:cNvPr id="148" name="Group 147">
            <a:extLst>
              <a:ext uri="{FF2B5EF4-FFF2-40B4-BE49-F238E27FC236}">
                <a16:creationId xmlns:a16="http://schemas.microsoft.com/office/drawing/2014/main" id="{BC57E46A-4023-0077-2139-96AF1A4A4081}"/>
              </a:ext>
            </a:extLst>
          </p:cNvPr>
          <p:cNvGrpSpPr/>
          <p:nvPr/>
        </p:nvGrpSpPr>
        <p:grpSpPr>
          <a:xfrm>
            <a:off x="5413556" y="4743333"/>
            <a:ext cx="1723642" cy="1118740"/>
            <a:chOff x="5572625" y="4504937"/>
            <a:chExt cx="1723642" cy="1118740"/>
          </a:xfrm>
        </p:grpSpPr>
        <p:sp>
          <p:nvSpPr>
            <p:cNvPr id="144" name="Rectangle 143">
              <a:extLst>
                <a:ext uri="{FF2B5EF4-FFF2-40B4-BE49-F238E27FC236}">
                  <a16:creationId xmlns:a16="http://schemas.microsoft.com/office/drawing/2014/main" id="{87F6100D-05D0-B9B8-AF83-6DE1524D5482}"/>
                </a:ext>
              </a:extLst>
            </p:cNvPr>
            <p:cNvSpPr/>
            <p:nvPr/>
          </p:nvSpPr>
          <p:spPr>
            <a:xfrm>
              <a:off x="5572625" y="4504937"/>
              <a:ext cx="1723642" cy="111874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146" name="Picture 145">
              <a:extLst>
                <a:ext uri="{FF2B5EF4-FFF2-40B4-BE49-F238E27FC236}">
                  <a16:creationId xmlns:a16="http://schemas.microsoft.com/office/drawing/2014/main" id="{4EB1CDEC-E085-55D2-A4FB-EE86EE55D585}"/>
                </a:ext>
              </a:extLst>
            </p:cNvPr>
            <p:cNvPicPr>
              <a:picLocks noChangeAspect="1"/>
            </p:cNvPicPr>
            <p:nvPr/>
          </p:nvPicPr>
          <p:blipFill>
            <a:blip r:embed="rId2"/>
            <a:stretch>
              <a:fillRect/>
            </a:stretch>
          </p:blipFill>
          <p:spPr>
            <a:xfrm>
              <a:off x="5680601" y="4566640"/>
              <a:ext cx="1473276" cy="1054478"/>
            </a:xfrm>
            <a:prstGeom prst="rect">
              <a:avLst/>
            </a:prstGeom>
          </p:spPr>
        </p:pic>
      </p:grpSp>
      <p:sp>
        <p:nvSpPr>
          <p:cNvPr id="147" name="Rectangle 146">
            <a:extLst>
              <a:ext uri="{FF2B5EF4-FFF2-40B4-BE49-F238E27FC236}">
                <a16:creationId xmlns:a16="http://schemas.microsoft.com/office/drawing/2014/main" id="{13E6F16A-8A88-5D98-27E3-A2719334E9C6}"/>
              </a:ext>
            </a:extLst>
          </p:cNvPr>
          <p:cNvSpPr>
            <a:spLocks noChangeArrowheads="1"/>
          </p:cNvSpPr>
          <p:nvPr/>
        </p:nvSpPr>
        <p:spPr bwMode="auto">
          <a:xfrm>
            <a:off x="5767363" y="5929325"/>
            <a:ext cx="1013099" cy="276999"/>
          </a:xfrm>
          <a:prstGeom prst="rect">
            <a:avLst/>
          </a:prstGeom>
          <a:noFill/>
          <a:ln w="9525">
            <a:noFill/>
            <a:miter lim="800000"/>
            <a:headEnd/>
            <a:tailEnd/>
          </a:ln>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TW" b="1" dirty="0">
                <a:solidFill>
                  <a:srgbClr val="000000"/>
                </a:solidFill>
                <a:latin typeface="Times" pitchFamily="18" charset="0"/>
                <a:ea typeface="新細明體" pitchFamily="18" charset="-120"/>
              </a:rPr>
              <a:t>Computer</a:t>
            </a:r>
            <a:endParaRPr lang="en-US" altLang="zh-TW" dirty="0">
              <a:solidFill>
                <a:srgbClr val="000000"/>
              </a:solidFill>
              <a:ea typeface="新細明體" pitchFamily="18" charset="-120"/>
            </a:endParaRPr>
          </a:p>
        </p:txBody>
      </p:sp>
      <p:sp>
        <p:nvSpPr>
          <p:cNvPr id="149" name="Rectangle 148">
            <a:extLst>
              <a:ext uri="{FF2B5EF4-FFF2-40B4-BE49-F238E27FC236}">
                <a16:creationId xmlns:a16="http://schemas.microsoft.com/office/drawing/2014/main" id="{9BAF54E5-451D-06BA-DD38-061973807352}"/>
              </a:ext>
            </a:extLst>
          </p:cNvPr>
          <p:cNvSpPr>
            <a:spLocks noChangeArrowheads="1"/>
          </p:cNvSpPr>
          <p:nvPr/>
        </p:nvSpPr>
        <p:spPr bwMode="auto">
          <a:xfrm>
            <a:off x="5833140" y="2096259"/>
            <a:ext cx="842218" cy="276999"/>
          </a:xfrm>
          <a:prstGeom prst="rect">
            <a:avLst/>
          </a:prstGeom>
          <a:noFill/>
          <a:ln w="9525">
            <a:noFill/>
            <a:miter lim="800000"/>
            <a:headEnd/>
            <a:tailEnd/>
          </a:ln>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TW" b="1" dirty="0">
                <a:solidFill>
                  <a:srgbClr val="000000"/>
                </a:solidFill>
                <a:latin typeface="Times" pitchFamily="18" charset="0"/>
                <a:ea typeface="新細明體" pitchFamily="18" charset="-120"/>
              </a:rPr>
              <a:t>Problem</a:t>
            </a:r>
            <a:endParaRPr lang="en-US" altLang="zh-TW" dirty="0">
              <a:solidFill>
                <a:srgbClr val="000000"/>
              </a:solidFill>
              <a:ea typeface="新細明體" pitchFamily="18" charset="-120"/>
            </a:endParaRPr>
          </a:p>
        </p:txBody>
      </p:sp>
      <p:cxnSp>
        <p:nvCxnSpPr>
          <p:cNvPr id="151" name="Straight Arrow Connector 150">
            <a:extLst>
              <a:ext uri="{FF2B5EF4-FFF2-40B4-BE49-F238E27FC236}">
                <a16:creationId xmlns:a16="http://schemas.microsoft.com/office/drawing/2014/main" id="{7EF6B6A4-9533-436E-09C1-CF17FC1BB7AE}"/>
              </a:ext>
            </a:extLst>
          </p:cNvPr>
          <p:cNvCxnSpPr>
            <a:cxnSpLocks/>
            <a:stCxn id="149" idx="2"/>
          </p:cNvCxnSpPr>
          <p:nvPr/>
        </p:nvCxnSpPr>
        <p:spPr>
          <a:xfrm>
            <a:off x="6254249" y="2373258"/>
            <a:ext cx="0" cy="55179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53" name="Straight Arrow Connector 152">
            <a:extLst>
              <a:ext uri="{FF2B5EF4-FFF2-40B4-BE49-F238E27FC236}">
                <a16:creationId xmlns:a16="http://schemas.microsoft.com/office/drawing/2014/main" id="{5BA7CB7A-6A52-7E65-B8DC-C473963BDDE0}"/>
              </a:ext>
            </a:extLst>
          </p:cNvPr>
          <p:cNvCxnSpPr>
            <a:cxnSpLocks/>
            <a:stCxn id="15" idx="2"/>
            <a:endCxn id="144" idx="0"/>
          </p:cNvCxnSpPr>
          <p:nvPr/>
        </p:nvCxnSpPr>
        <p:spPr>
          <a:xfrm>
            <a:off x="6271376" y="4039607"/>
            <a:ext cx="4001" cy="703726"/>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sp>
        <p:nvSpPr>
          <p:cNvPr id="138" name="Footer Placeholder 4">
            <a:extLst>
              <a:ext uri="{FF2B5EF4-FFF2-40B4-BE49-F238E27FC236}">
                <a16:creationId xmlns:a16="http://schemas.microsoft.com/office/drawing/2014/main" id="{50946543-3741-8EDF-389A-7C358880E5C0}"/>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1839878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DBD43-BA8F-1D27-6498-333E84E509A3}"/>
              </a:ext>
            </a:extLst>
          </p:cNvPr>
          <p:cNvSpPr>
            <a:spLocks noGrp="1"/>
          </p:cNvSpPr>
          <p:nvPr>
            <p:ph type="title"/>
          </p:nvPr>
        </p:nvSpPr>
        <p:spPr/>
        <p:txBody>
          <a:bodyPr>
            <a:normAutofit fontScale="90000"/>
          </a:bodyPr>
          <a:lstStyle/>
          <a:p>
            <a:r>
              <a:rPr lang="en-US" dirty="0"/>
              <a:t>What is algorithm?</a:t>
            </a:r>
            <a:endParaRPr lang="en-IN" dirty="0"/>
          </a:p>
        </p:txBody>
      </p:sp>
      <p:sp>
        <p:nvSpPr>
          <p:cNvPr id="3" name="Content Placeholder 2">
            <a:extLst>
              <a:ext uri="{FF2B5EF4-FFF2-40B4-BE49-F238E27FC236}">
                <a16:creationId xmlns:a16="http://schemas.microsoft.com/office/drawing/2014/main" id="{D758FEAC-EE74-1CB0-3C7A-318216251C44}"/>
              </a:ext>
            </a:extLst>
          </p:cNvPr>
          <p:cNvSpPr>
            <a:spLocks noGrp="1"/>
          </p:cNvSpPr>
          <p:nvPr>
            <p:ph idx="1"/>
          </p:nvPr>
        </p:nvSpPr>
        <p:spPr/>
        <p:txBody>
          <a:bodyPr/>
          <a:lstStyle/>
          <a:p>
            <a:pPr algn="just"/>
            <a:r>
              <a:rPr lang="en-US" dirty="0"/>
              <a:t>An </a:t>
            </a:r>
            <a:r>
              <a:rPr lang="en-US" i="1" u="sng" dirty="0"/>
              <a:t>algorithm</a:t>
            </a:r>
            <a:r>
              <a:rPr lang="en-US" dirty="0"/>
              <a:t> is a sequence of unambiguous instructions for solving a problem, i.e., for obtaining a required output for any </a:t>
            </a:r>
            <a:r>
              <a:rPr lang="en-US" dirty="0">
                <a:solidFill>
                  <a:srgbClr val="FF9933"/>
                </a:solidFill>
              </a:rPr>
              <a:t>legitimate</a:t>
            </a:r>
            <a:r>
              <a:rPr lang="en-US" dirty="0"/>
              <a:t> input in a finite amount of time.</a:t>
            </a:r>
          </a:p>
          <a:p>
            <a:pPr marL="0" indent="0" algn="just">
              <a:buNone/>
            </a:pPr>
            <a:br>
              <a:rPr lang="en-US" dirty="0"/>
            </a:br>
            <a:endParaRPr lang="en-US" dirty="0"/>
          </a:p>
          <a:p>
            <a:endParaRPr lang="en-IN" dirty="0"/>
          </a:p>
        </p:txBody>
      </p:sp>
      <p:sp>
        <p:nvSpPr>
          <p:cNvPr id="4" name="Date Placeholder 3">
            <a:extLst>
              <a:ext uri="{FF2B5EF4-FFF2-40B4-BE49-F238E27FC236}">
                <a16:creationId xmlns:a16="http://schemas.microsoft.com/office/drawing/2014/main" id="{5418C446-2C61-7D7B-AD4E-E95452DFB377}"/>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A42437C4-06DC-3484-13B3-A9EAB488F57D}"/>
              </a:ext>
            </a:extLst>
          </p:cNvPr>
          <p:cNvSpPr>
            <a:spLocks noGrp="1"/>
          </p:cNvSpPr>
          <p:nvPr>
            <p:ph type="sldNum" sz="quarter" idx="12"/>
          </p:nvPr>
        </p:nvSpPr>
        <p:spPr/>
        <p:txBody>
          <a:bodyPr/>
          <a:lstStyle/>
          <a:p>
            <a:fld id="{24BEA51C-495D-44A2-B925-9AAC4BD9F0A2}" type="slidenum">
              <a:rPr lang="en-IN" smtClean="0"/>
              <a:t>6</a:t>
            </a:fld>
            <a:endParaRPr lang="en-IN"/>
          </a:p>
        </p:txBody>
      </p:sp>
      <p:sp>
        <p:nvSpPr>
          <p:cNvPr id="7" name="Rectangle 12">
            <a:extLst>
              <a:ext uri="{FF2B5EF4-FFF2-40B4-BE49-F238E27FC236}">
                <a16:creationId xmlns:a16="http://schemas.microsoft.com/office/drawing/2014/main" id="{E5F9535D-59E3-F242-4B27-DF3608CBAC96}"/>
              </a:ext>
            </a:extLst>
          </p:cNvPr>
          <p:cNvSpPr>
            <a:spLocks noChangeArrowheads="1"/>
          </p:cNvSpPr>
          <p:nvPr/>
        </p:nvSpPr>
        <p:spPr bwMode="auto">
          <a:xfrm>
            <a:off x="5002630" y="5269468"/>
            <a:ext cx="2743200" cy="762000"/>
          </a:xfrm>
          <a:prstGeom prst="rect">
            <a:avLst/>
          </a:prstGeom>
          <a:solidFill>
            <a:schemeClr val="accent1"/>
          </a:solidFill>
          <a:ln w="12700">
            <a:solidFill>
              <a:srgbClr val="FF0000"/>
            </a:solidFill>
            <a:miter lim="800000"/>
            <a:headEnd type="none" w="sm" len="sm"/>
            <a:tailEnd type="none" w="sm" len="sm"/>
          </a:ln>
          <a:effectLst/>
        </p:spPr>
        <p:txBody>
          <a:bodyPr wrap="none" anchor="ctr"/>
          <a:lstStyle/>
          <a:p>
            <a:pPr algn="ctr"/>
            <a:r>
              <a:rPr lang="en-US" b="1" dirty="0"/>
              <a:t>“Computer” </a:t>
            </a:r>
          </a:p>
        </p:txBody>
      </p:sp>
      <p:sp>
        <p:nvSpPr>
          <p:cNvPr id="8" name="Line 13">
            <a:extLst>
              <a:ext uri="{FF2B5EF4-FFF2-40B4-BE49-F238E27FC236}">
                <a16:creationId xmlns:a16="http://schemas.microsoft.com/office/drawing/2014/main" id="{2DD128B0-33C6-B0E1-F205-ECB7FA23548B}"/>
              </a:ext>
            </a:extLst>
          </p:cNvPr>
          <p:cNvSpPr>
            <a:spLocks noChangeShapeType="1"/>
          </p:cNvSpPr>
          <p:nvPr/>
        </p:nvSpPr>
        <p:spPr bwMode="auto">
          <a:xfrm>
            <a:off x="6298030" y="3593068"/>
            <a:ext cx="0" cy="609600"/>
          </a:xfrm>
          <a:prstGeom prst="line">
            <a:avLst/>
          </a:prstGeom>
          <a:noFill/>
          <a:ln w="28575">
            <a:solidFill>
              <a:srgbClr val="FF0000"/>
            </a:solidFill>
            <a:round/>
            <a:headEnd type="none" w="sm" len="sm"/>
            <a:tailEnd type="triangle" w="med" len="med"/>
          </a:ln>
          <a:effectLst/>
        </p:spPr>
        <p:txBody>
          <a:bodyPr wrap="none" anchor="ctr"/>
          <a:lstStyle/>
          <a:p>
            <a:pPr algn="ctr"/>
            <a:endParaRPr lang="en-US" b="1"/>
          </a:p>
        </p:txBody>
      </p:sp>
      <p:sp>
        <p:nvSpPr>
          <p:cNvPr id="9" name="Line 14">
            <a:extLst>
              <a:ext uri="{FF2B5EF4-FFF2-40B4-BE49-F238E27FC236}">
                <a16:creationId xmlns:a16="http://schemas.microsoft.com/office/drawing/2014/main" id="{31502CCA-2D14-7ACE-F864-3BA225F9D94B}"/>
              </a:ext>
            </a:extLst>
          </p:cNvPr>
          <p:cNvSpPr>
            <a:spLocks noChangeShapeType="1"/>
          </p:cNvSpPr>
          <p:nvPr/>
        </p:nvSpPr>
        <p:spPr bwMode="auto">
          <a:xfrm>
            <a:off x="6298030" y="4572000"/>
            <a:ext cx="0" cy="697468"/>
          </a:xfrm>
          <a:prstGeom prst="line">
            <a:avLst/>
          </a:prstGeom>
          <a:noFill/>
          <a:ln w="28575">
            <a:solidFill>
              <a:srgbClr val="FF0000"/>
            </a:solidFill>
            <a:round/>
            <a:headEnd type="none" w="sm" len="sm"/>
            <a:tailEnd type="triangle" w="med" len="med"/>
          </a:ln>
          <a:effectLst/>
        </p:spPr>
        <p:txBody>
          <a:bodyPr wrap="none" anchor="ctr"/>
          <a:lstStyle/>
          <a:p>
            <a:pPr algn="ctr"/>
            <a:endParaRPr lang="en-US" b="1"/>
          </a:p>
        </p:txBody>
      </p:sp>
      <p:sp>
        <p:nvSpPr>
          <p:cNvPr id="10" name="Text Box 15">
            <a:extLst>
              <a:ext uri="{FF2B5EF4-FFF2-40B4-BE49-F238E27FC236}">
                <a16:creationId xmlns:a16="http://schemas.microsoft.com/office/drawing/2014/main" id="{F0E69E8E-0CEC-8676-2F14-9A6552D49874}"/>
              </a:ext>
            </a:extLst>
          </p:cNvPr>
          <p:cNvSpPr txBox="1">
            <a:spLocks noChangeArrowheads="1"/>
          </p:cNvSpPr>
          <p:nvPr/>
        </p:nvSpPr>
        <p:spPr bwMode="auto">
          <a:xfrm>
            <a:off x="5690018" y="3059668"/>
            <a:ext cx="1284287" cy="369332"/>
          </a:xfrm>
          <a:prstGeom prst="rect">
            <a:avLst/>
          </a:prstGeom>
          <a:noFill/>
          <a:ln w="12700">
            <a:noFill/>
            <a:miter lim="800000"/>
            <a:headEnd type="none" w="sm" len="sm"/>
            <a:tailEnd type="none" w="sm" len="sm"/>
          </a:ln>
          <a:effectLst/>
        </p:spPr>
        <p:txBody>
          <a:bodyPr>
            <a:spAutoFit/>
          </a:bodyPr>
          <a:lstStyle/>
          <a:p>
            <a:pPr algn="ctr"/>
            <a:r>
              <a:rPr lang="en-US" b="1" dirty="0"/>
              <a:t>Problem</a:t>
            </a:r>
          </a:p>
        </p:txBody>
      </p:sp>
      <p:sp>
        <p:nvSpPr>
          <p:cNvPr id="11" name="Text Box 16">
            <a:extLst>
              <a:ext uri="{FF2B5EF4-FFF2-40B4-BE49-F238E27FC236}">
                <a16:creationId xmlns:a16="http://schemas.microsoft.com/office/drawing/2014/main" id="{8E6FA75F-EA53-F48F-71F7-A618D03DBBC0}"/>
              </a:ext>
            </a:extLst>
          </p:cNvPr>
          <p:cNvSpPr txBox="1">
            <a:spLocks noChangeArrowheads="1"/>
          </p:cNvSpPr>
          <p:nvPr/>
        </p:nvSpPr>
        <p:spPr bwMode="auto">
          <a:xfrm>
            <a:off x="5799420" y="4202668"/>
            <a:ext cx="1139414" cy="369332"/>
          </a:xfrm>
          <a:prstGeom prst="rect">
            <a:avLst/>
          </a:prstGeom>
          <a:noFill/>
          <a:ln w="12700">
            <a:noFill/>
            <a:miter lim="800000"/>
            <a:headEnd type="none" w="sm" len="sm"/>
            <a:tailEnd type="none" w="sm" len="sm"/>
          </a:ln>
          <a:effectLst/>
        </p:spPr>
        <p:txBody>
          <a:bodyPr wrap="none">
            <a:spAutoFit/>
          </a:bodyPr>
          <a:lstStyle/>
          <a:p>
            <a:pPr algn="ctr"/>
            <a:r>
              <a:rPr lang="en-US" b="1" dirty="0"/>
              <a:t>Algorithm</a:t>
            </a:r>
          </a:p>
        </p:txBody>
      </p:sp>
      <p:sp>
        <p:nvSpPr>
          <p:cNvPr id="12" name="Text Box 17">
            <a:extLst>
              <a:ext uri="{FF2B5EF4-FFF2-40B4-BE49-F238E27FC236}">
                <a16:creationId xmlns:a16="http://schemas.microsoft.com/office/drawing/2014/main" id="{EC29E14A-7E85-5AC3-22C3-56EC6DAD2B3F}"/>
              </a:ext>
            </a:extLst>
          </p:cNvPr>
          <p:cNvSpPr txBox="1">
            <a:spLocks noChangeArrowheads="1"/>
          </p:cNvSpPr>
          <p:nvPr/>
        </p:nvSpPr>
        <p:spPr bwMode="auto">
          <a:xfrm>
            <a:off x="2630905" y="5421868"/>
            <a:ext cx="1198563" cy="369332"/>
          </a:xfrm>
          <a:prstGeom prst="rect">
            <a:avLst/>
          </a:prstGeom>
          <a:noFill/>
          <a:ln w="12700">
            <a:noFill/>
            <a:miter lim="800000"/>
            <a:headEnd type="none" w="sm" len="sm"/>
            <a:tailEnd type="none" w="sm" len="sm"/>
          </a:ln>
          <a:effectLst/>
        </p:spPr>
        <p:txBody>
          <a:bodyPr>
            <a:spAutoFit/>
          </a:bodyPr>
          <a:lstStyle/>
          <a:p>
            <a:pPr algn="ctr"/>
            <a:r>
              <a:rPr lang="en-US" b="1" dirty="0"/>
              <a:t>Input</a:t>
            </a:r>
          </a:p>
        </p:txBody>
      </p:sp>
      <p:sp>
        <p:nvSpPr>
          <p:cNvPr id="13" name="Text Box 18">
            <a:extLst>
              <a:ext uri="{FF2B5EF4-FFF2-40B4-BE49-F238E27FC236}">
                <a16:creationId xmlns:a16="http://schemas.microsoft.com/office/drawing/2014/main" id="{7362C7A7-D4AD-5065-75FA-D75E83DD48EE}"/>
              </a:ext>
            </a:extLst>
          </p:cNvPr>
          <p:cNvSpPr txBox="1">
            <a:spLocks noChangeArrowheads="1"/>
          </p:cNvSpPr>
          <p:nvPr/>
        </p:nvSpPr>
        <p:spPr bwMode="auto">
          <a:xfrm>
            <a:off x="8863263" y="5542002"/>
            <a:ext cx="1198563" cy="369332"/>
          </a:xfrm>
          <a:prstGeom prst="rect">
            <a:avLst/>
          </a:prstGeom>
          <a:noFill/>
          <a:ln w="12700">
            <a:noFill/>
            <a:miter lim="800000"/>
            <a:headEnd type="none" w="sm" len="sm"/>
            <a:tailEnd type="none" w="sm" len="sm"/>
          </a:ln>
          <a:effectLst/>
        </p:spPr>
        <p:txBody>
          <a:bodyPr>
            <a:spAutoFit/>
          </a:bodyPr>
          <a:lstStyle/>
          <a:p>
            <a:pPr algn="ctr"/>
            <a:r>
              <a:rPr lang="en-US" b="1" dirty="0"/>
              <a:t>Output</a:t>
            </a:r>
          </a:p>
        </p:txBody>
      </p:sp>
      <p:sp>
        <p:nvSpPr>
          <p:cNvPr id="14" name="Line 19">
            <a:extLst>
              <a:ext uri="{FF2B5EF4-FFF2-40B4-BE49-F238E27FC236}">
                <a16:creationId xmlns:a16="http://schemas.microsoft.com/office/drawing/2014/main" id="{E486D7D5-1DF0-0922-03CF-F5F406881386}"/>
              </a:ext>
            </a:extLst>
          </p:cNvPr>
          <p:cNvSpPr>
            <a:spLocks noChangeShapeType="1"/>
          </p:cNvSpPr>
          <p:nvPr/>
        </p:nvSpPr>
        <p:spPr bwMode="auto">
          <a:xfrm>
            <a:off x="3773905" y="5726668"/>
            <a:ext cx="1219200" cy="0"/>
          </a:xfrm>
          <a:prstGeom prst="line">
            <a:avLst/>
          </a:prstGeom>
          <a:noFill/>
          <a:ln w="28575">
            <a:solidFill>
              <a:srgbClr val="FF0000"/>
            </a:solidFill>
            <a:round/>
            <a:headEnd type="none" w="sm" len="sm"/>
            <a:tailEnd type="triangle" w="med" len="med"/>
          </a:ln>
          <a:effectLst/>
        </p:spPr>
        <p:txBody>
          <a:bodyPr wrap="none" anchor="ctr"/>
          <a:lstStyle/>
          <a:p>
            <a:pPr algn="ctr"/>
            <a:endParaRPr lang="en-US" b="1"/>
          </a:p>
        </p:txBody>
      </p:sp>
      <p:sp>
        <p:nvSpPr>
          <p:cNvPr id="15" name="Line 20">
            <a:extLst>
              <a:ext uri="{FF2B5EF4-FFF2-40B4-BE49-F238E27FC236}">
                <a16:creationId xmlns:a16="http://schemas.microsoft.com/office/drawing/2014/main" id="{66C342A6-74DF-8395-7F0B-5133F54EC783}"/>
              </a:ext>
            </a:extLst>
          </p:cNvPr>
          <p:cNvSpPr>
            <a:spLocks noChangeShapeType="1"/>
          </p:cNvSpPr>
          <p:nvPr/>
        </p:nvSpPr>
        <p:spPr bwMode="auto">
          <a:xfrm>
            <a:off x="7736305" y="5726668"/>
            <a:ext cx="1143000" cy="0"/>
          </a:xfrm>
          <a:prstGeom prst="line">
            <a:avLst/>
          </a:prstGeom>
          <a:noFill/>
          <a:ln w="28575">
            <a:solidFill>
              <a:srgbClr val="FF0000"/>
            </a:solidFill>
            <a:round/>
            <a:headEnd type="none" w="sm" len="sm"/>
            <a:tailEnd type="triangle" w="med" len="med"/>
          </a:ln>
          <a:effectLst/>
        </p:spPr>
        <p:txBody>
          <a:bodyPr wrap="none" anchor="ctr"/>
          <a:lstStyle/>
          <a:p>
            <a:pPr algn="ctr"/>
            <a:endParaRPr lang="en-US" b="1"/>
          </a:p>
        </p:txBody>
      </p:sp>
      <p:sp>
        <p:nvSpPr>
          <p:cNvPr id="16" name="Footer Placeholder 4">
            <a:extLst>
              <a:ext uri="{FF2B5EF4-FFF2-40B4-BE49-F238E27FC236}">
                <a16:creationId xmlns:a16="http://schemas.microsoft.com/office/drawing/2014/main" id="{C7D4B5BE-C57D-EF63-D587-5BB5773544E9}"/>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2810979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0F11A-E5B6-4D94-9BE6-A1D9D4370AB8}"/>
              </a:ext>
            </a:extLst>
          </p:cNvPr>
          <p:cNvSpPr>
            <a:spLocks noGrp="1"/>
          </p:cNvSpPr>
          <p:nvPr>
            <p:ph type="title"/>
          </p:nvPr>
        </p:nvSpPr>
        <p:spPr/>
        <p:txBody>
          <a:bodyPr>
            <a:normAutofit fontScale="90000"/>
          </a:bodyPr>
          <a:lstStyle/>
          <a:p>
            <a:r>
              <a:rPr lang="en-US" altLang="en-US" dirty="0"/>
              <a:t>Example: GCD of two number</a:t>
            </a:r>
            <a:endParaRPr lang="en-IN" dirty="0"/>
          </a:p>
        </p:txBody>
      </p:sp>
      <p:sp>
        <p:nvSpPr>
          <p:cNvPr id="3" name="Content Placeholder 2">
            <a:extLst>
              <a:ext uri="{FF2B5EF4-FFF2-40B4-BE49-F238E27FC236}">
                <a16:creationId xmlns:a16="http://schemas.microsoft.com/office/drawing/2014/main" id="{2C5754DA-4852-4380-8780-37CAF04E26EC}"/>
              </a:ext>
            </a:extLst>
          </p:cNvPr>
          <p:cNvSpPr>
            <a:spLocks noGrp="1"/>
          </p:cNvSpPr>
          <p:nvPr>
            <p:ph idx="1"/>
          </p:nvPr>
        </p:nvSpPr>
        <p:spPr/>
        <p:txBody>
          <a:bodyPr/>
          <a:lstStyle/>
          <a:p>
            <a:pPr>
              <a:defRPr/>
            </a:pPr>
            <a:r>
              <a:rPr lang="en-US" sz="3200" dirty="0">
                <a:latin typeface="Calibri (Body)"/>
              </a:rPr>
              <a:t>Can be solved in many methods for the same problem</a:t>
            </a:r>
          </a:p>
          <a:p>
            <a:pPr>
              <a:defRPr/>
            </a:pPr>
            <a:endParaRPr lang="en-US" sz="3200" dirty="0">
              <a:latin typeface="Calibri (Body)"/>
            </a:endParaRPr>
          </a:p>
          <a:p>
            <a:pPr>
              <a:defRPr/>
            </a:pPr>
            <a:r>
              <a:rPr lang="en-US" sz="3200" dirty="0">
                <a:latin typeface="Calibri (Body)"/>
              </a:rPr>
              <a:t>Example help us illustrate several </a:t>
            </a:r>
            <a:r>
              <a:rPr lang="en-US" sz="3200" dirty="0">
                <a:solidFill>
                  <a:srgbClr val="FF0000"/>
                </a:solidFill>
                <a:latin typeface="Calibri (Body)"/>
              </a:rPr>
              <a:t>important points </a:t>
            </a:r>
          </a:p>
          <a:p>
            <a:pPr lvl="1">
              <a:defRPr/>
            </a:pPr>
            <a:r>
              <a:rPr lang="en-US" altLang="en-US" sz="2800" dirty="0">
                <a:latin typeface="Calibri (Body)"/>
              </a:rPr>
              <a:t>Non-ambiguity </a:t>
            </a:r>
          </a:p>
          <a:p>
            <a:pPr lvl="1">
              <a:defRPr/>
            </a:pPr>
            <a:r>
              <a:rPr lang="en-US" altLang="en-US" sz="2800" dirty="0">
                <a:latin typeface="Calibri (Body)"/>
              </a:rPr>
              <a:t>Range of inputs</a:t>
            </a:r>
          </a:p>
          <a:p>
            <a:pPr lvl="1">
              <a:defRPr/>
            </a:pPr>
            <a:r>
              <a:rPr lang="en-US" altLang="en-US" sz="2800" dirty="0">
                <a:latin typeface="Calibri (Body)"/>
              </a:rPr>
              <a:t>The same algorithm can be represented in different ways</a:t>
            </a:r>
          </a:p>
          <a:p>
            <a:pPr lvl="1">
              <a:defRPr/>
            </a:pPr>
            <a:r>
              <a:rPr lang="en-US" altLang="en-US" sz="2800" dirty="0">
                <a:latin typeface="Calibri (Body)"/>
              </a:rPr>
              <a:t>Several algorithms for solving the same problem </a:t>
            </a:r>
          </a:p>
          <a:p>
            <a:pPr lvl="1">
              <a:defRPr/>
            </a:pPr>
            <a:r>
              <a:rPr lang="en-US" altLang="en-US" sz="2800" dirty="0">
                <a:latin typeface="Calibri (Body)"/>
              </a:rPr>
              <a:t>Different ideas can solve the same problem with dramatically different speed</a:t>
            </a:r>
          </a:p>
          <a:p>
            <a:endParaRPr lang="en-IN" dirty="0"/>
          </a:p>
        </p:txBody>
      </p:sp>
      <p:sp>
        <p:nvSpPr>
          <p:cNvPr id="4" name="Date Placeholder 3">
            <a:extLst>
              <a:ext uri="{FF2B5EF4-FFF2-40B4-BE49-F238E27FC236}">
                <a16:creationId xmlns:a16="http://schemas.microsoft.com/office/drawing/2014/main" id="{8DD56852-508A-411C-9035-7FBDBC7FD30B}"/>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5" name="Footer Placeholder 4">
            <a:extLst>
              <a:ext uri="{FF2B5EF4-FFF2-40B4-BE49-F238E27FC236}">
                <a16:creationId xmlns:a16="http://schemas.microsoft.com/office/drawing/2014/main" id="{6B1756E5-A21C-4A73-BF06-153ED0ECCCA4}"/>
              </a:ext>
            </a:extLst>
          </p:cNvPr>
          <p:cNvSpPr>
            <a:spLocks noGrp="1"/>
          </p:cNvSpPr>
          <p:nvPr>
            <p:ph type="ftr" sz="quarter" idx="11"/>
          </p:nvPr>
        </p:nvSpPr>
        <p:spPr/>
        <p:txBody>
          <a:bodyPr/>
          <a:lstStyle/>
          <a:p>
            <a:r>
              <a:rPr lang="en-US"/>
              <a:t>CSE 1071 Problem Solving using Computers (PSUC) - 2022</a:t>
            </a:r>
            <a:endParaRPr lang="en-IN"/>
          </a:p>
        </p:txBody>
      </p:sp>
      <p:sp>
        <p:nvSpPr>
          <p:cNvPr id="6" name="Slide Number Placeholder 5">
            <a:extLst>
              <a:ext uri="{FF2B5EF4-FFF2-40B4-BE49-F238E27FC236}">
                <a16:creationId xmlns:a16="http://schemas.microsoft.com/office/drawing/2014/main" id="{D3A5E843-44C5-4815-8EC0-AAFE52732BCC}"/>
              </a:ext>
            </a:extLst>
          </p:cNvPr>
          <p:cNvSpPr>
            <a:spLocks noGrp="1"/>
          </p:cNvSpPr>
          <p:nvPr>
            <p:ph type="sldNum" sz="quarter" idx="12"/>
          </p:nvPr>
        </p:nvSpPr>
        <p:spPr/>
        <p:txBody>
          <a:bodyPr/>
          <a:lstStyle/>
          <a:p>
            <a:fld id="{24BEA51C-495D-44A2-B925-9AAC4BD9F0A2}" type="slidenum">
              <a:rPr lang="en-IN" smtClean="0"/>
              <a:t>7</a:t>
            </a:fld>
            <a:endParaRPr lang="en-IN"/>
          </a:p>
        </p:txBody>
      </p:sp>
    </p:spTree>
    <p:extLst>
      <p:ext uri="{BB962C8B-B14F-4D97-AF65-F5344CB8AC3E}">
        <p14:creationId xmlns:p14="http://schemas.microsoft.com/office/powerpoint/2010/main" val="219121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7A569-14F8-C2CE-C6B6-769FF1DEB695}"/>
              </a:ext>
            </a:extLst>
          </p:cNvPr>
          <p:cNvSpPr>
            <a:spLocks noGrp="1"/>
          </p:cNvSpPr>
          <p:nvPr>
            <p:ph type="title"/>
          </p:nvPr>
        </p:nvSpPr>
        <p:spPr/>
        <p:txBody>
          <a:bodyPr>
            <a:normAutofit fontScale="90000"/>
          </a:bodyPr>
          <a:lstStyle/>
          <a:p>
            <a:r>
              <a:rPr lang="en-US" sz="4000" dirty="0"/>
              <a:t>Method 1: Euclid’s Algorithm</a:t>
            </a:r>
            <a:endParaRPr lang="en-IN" dirty="0"/>
          </a:p>
        </p:txBody>
      </p:sp>
      <p:sp>
        <p:nvSpPr>
          <p:cNvPr id="3" name="Content Placeholder 2">
            <a:extLst>
              <a:ext uri="{FF2B5EF4-FFF2-40B4-BE49-F238E27FC236}">
                <a16:creationId xmlns:a16="http://schemas.microsoft.com/office/drawing/2014/main" id="{FA708C65-D14D-57CF-479B-930EB1E77EA9}"/>
              </a:ext>
            </a:extLst>
          </p:cNvPr>
          <p:cNvSpPr>
            <a:spLocks noGrp="1"/>
          </p:cNvSpPr>
          <p:nvPr>
            <p:ph idx="1"/>
          </p:nvPr>
        </p:nvSpPr>
        <p:spPr/>
        <p:txBody>
          <a:bodyPr>
            <a:normAutofit lnSpcReduction="10000"/>
          </a:bodyPr>
          <a:lstStyle/>
          <a:p>
            <a:pPr>
              <a:buFont typeface="Monotype Sorts" pitchFamily="2" charset="2"/>
              <a:buNone/>
              <a:defRPr/>
            </a:pPr>
            <a:r>
              <a:rPr lang="en-US" dirty="0"/>
              <a:t>Problem: Find </a:t>
            </a:r>
            <a:r>
              <a:rPr lang="en-US" dirty="0" err="1"/>
              <a:t>gcd</a:t>
            </a:r>
            <a:r>
              <a:rPr lang="en-US" dirty="0"/>
              <a:t>(</a:t>
            </a:r>
            <a:r>
              <a:rPr lang="en-US" i="1" dirty="0" err="1"/>
              <a:t>m,n</a:t>
            </a:r>
            <a:r>
              <a:rPr lang="en-US" dirty="0"/>
              <a:t>), the greatest common divisor of two non-negative, not both zero integers </a:t>
            </a:r>
            <a:r>
              <a:rPr lang="en-US" i="1" dirty="0"/>
              <a:t>m </a:t>
            </a:r>
            <a:r>
              <a:rPr lang="en-US" dirty="0"/>
              <a:t>and </a:t>
            </a:r>
            <a:r>
              <a:rPr lang="en-US" i="1" dirty="0"/>
              <a:t>n</a:t>
            </a:r>
            <a:endParaRPr lang="en-US" dirty="0"/>
          </a:p>
          <a:p>
            <a:pPr>
              <a:buFont typeface="Monotype Sorts" pitchFamily="2" charset="2"/>
              <a:buNone/>
              <a:defRPr/>
            </a:pPr>
            <a:r>
              <a:rPr lang="en-US" dirty="0"/>
              <a:t>Examples:  </a:t>
            </a:r>
          </a:p>
          <a:p>
            <a:pPr>
              <a:buFont typeface="Monotype Sorts" pitchFamily="2" charset="2"/>
              <a:buNone/>
              <a:defRPr/>
            </a:pPr>
            <a:r>
              <a:rPr lang="en-US" dirty="0"/>
              <a:t>	</a:t>
            </a:r>
            <a:r>
              <a:rPr lang="en-US" b="1" dirty="0" err="1"/>
              <a:t>gcd</a:t>
            </a:r>
            <a:r>
              <a:rPr lang="en-US" b="1" dirty="0"/>
              <a:t>(60,24) = 12,    </a:t>
            </a:r>
            <a:r>
              <a:rPr lang="en-US" b="1" dirty="0" err="1"/>
              <a:t>gcd</a:t>
            </a:r>
            <a:r>
              <a:rPr lang="en-US" b="1" dirty="0"/>
              <a:t>(60,0) = 60,    </a:t>
            </a:r>
            <a:r>
              <a:rPr lang="en-US" b="1" dirty="0" err="1"/>
              <a:t>gcd</a:t>
            </a:r>
            <a:r>
              <a:rPr lang="en-US" b="1" dirty="0"/>
              <a:t>(0,0) = ? </a:t>
            </a:r>
          </a:p>
          <a:p>
            <a:pPr>
              <a:buFont typeface="Monotype Sorts" pitchFamily="2" charset="2"/>
              <a:buNone/>
              <a:defRPr/>
            </a:pPr>
            <a:endParaRPr lang="en-US" dirty="0"/>
          </a:p>
          <a:p>
            <a:pPr>
              <a:buFont typeface="Monotype Sorts" pitchFamily="2" charset="2"/>
              <a:buNone/>
              <a:defRPr/>
            </a:pPr>
            <a:r>
              <a:rPr lang="en-US" dirty="0"/>
              <a:t>Euclid’s algorithm is based on repeated application of equality</a:t>
            </a:r>
          </a:p>
          <a:p>
            <a:pPr algn="ctr">
              <a:buFont typeface="Monotype Sorts" pitchFamily="2" charset="2"/>
              <a:buNone/>
              <a:defRPr/>
            </a:pPr>
            <a:r>
              <a:rPr lang="en-US" b="1" dirty="0" err="1"/>
              <a:t>gcd</a:t>
            </a:r>
            <a:r>
              <a:rPr lang="en-US" b="1" dirty="0"/>
              <a:t>(</a:t>
            </a:r>
            <a:r>
              <a:rPr lang="en-US" b="1" i="1" dirty="0" err="1"/>
              <a:t>m,n</a:t>
            </a:r>
            <a:r>
              <a:rPr lang="en-US" b="1" dirty="0"/>
              <a:t>) = </a:t>
            </a:r>
            <a:r>
              <a:rPr lang="en-US" b="1" dirty="0" err="1"/>
              <a:t>gcd</a:t>
            </a:r>
            <a:r>
              <a:rPr lang="en-US" b="1" dirty="0"/>
              <a:t>(</a:t>
            </a:r>
            <a:r>
              <a:rPr lang="en-US" b="1" i="1" dirty="0"/>
              <a:t>n, m </a:t>
            </a:r>
            <a:r>
              <a:rPr lang="en-US" b="1" dirty="0"/>
              <a:t>mod </a:t>
            </a:r>
            <a:r>
              <a:rPr lang="en-US" b="1" i="1" dirty="0"/>
              <a:t>n</a:t>
            </a:r>
            <a:r>
              <a:rPr lang="en-US" b="1" dirty="0"/>
              <a:t>)</a:t>
            </a:r>
          </a:p>
          <a:p>
            <a:pPr>
              <a:buFont typeface="Monotype Sorts" pitchFamily="2" charset="2"/>
              <a:buNone/>
              <a:defRPr/>
            </a:pPr>
            <a:r>
              <a:rPr lang="en-US" dirty="0"/>
              <a:t>until the second number becomes 0, which makes the problem trivial.</a:t>
            </a:r>
          </a:p>
          <a:p>
            <a:pPr>
              <a:buFont typeface="Monotype Sorts" pitchFamily="2" charset="2"/>
              <a:buNone/>
              <a:defRPr/>
            </a:pPr>
            <a:r>
              <a:rPr lang="en-US" dirty="0"/>
              <a:t>Example: </a:t>
            </a:r>
          </a:p>
          <a:p>
            <a:pPr>
              <a:buFont typeface="Monotype Sorts" pitchFamily="2" charset="2"/>
              <a:buNone/>
              <a:defRPr/>
            </a:pPr>
            <a:r>
              <a:rPr lang="en-US" dirty="0"/>
              <a:t>		</a:t>
            </a:r>
            <a:r>
              <a:rPr lang="en-US" b="1" dirty="0" err="1"/>
              <a:t>gcd</a:t>
            </a:r>
            <a:r>
              <a:rPr lang="en-US" b="1" dirty="0"/>
              <a:t>(60,24) = </a:t>
            </a:r>
            <a:r>
              <a:rPr lang="en-US" b="1" dirty="0" err="1"/>
              <a:t>gcd</a:t>
            </a:r>
            <a:r>
              <a:rPr lang="en-US" b="1" dirty="0"/>
              <a:t>(24,12) = </a:t>
            </a:r>
            <a:r>
              <a:rPr lang="en-US" b="1" dirty="0" err="1"/>
              <a:t>gcd</a:t>
            </a:r>
            <a:r>
              <a:rPr lang="en-US" b="1" dirty="0"/>
              <a:t>(12,0) = 12</a:t>
            </a:r>
          </a:p>
        </p:txBody>
      </p:sp>
      <p:sp>
        <p:nvSpPr>
          <p:cNvPr id="4" name="Date Placeholder 3">
            <a:extLst>
              <a:ext uri="{FF2B5EF4-FFF2-40B4-BE49-F238E27FC236}">
                <a16:creationId xmlns:a16="http://schemas.microsoft.com/office/drawing/2014/main" id="{91D50BA3-AA08-1F5D-25D0-E7ACB195F103}"/>
              </a:ext>
            </a:extLst>
          </p:cNvPr>
          <p:cNvSpPr>
            <a:spLocks noGrp="1"/>
          </p:cNvSpPr>
          <p:nvPr>
            <p:ph type="dt" sz="half" idx="10"/>
          </p:nvPr>
        </p:nvSpPr>
        <p:spPr/>
        <p:txBody>
          <a:bodyPr/>
          <a:lstStyle/>
          <a:p>
            <a:fld id="{017C9B13-3C5A-4435-85E6-314EA5A3CFF7}" type="datetime1">
              <a:rPr lang="en-IN" smtClean="0"/>
              <a:t>03-01-2024</a:t>
            </a:fld>
            <a:endParaRPr lang="en-IN" dirty="0"/>
          </a:p>
        </p:txBody>
      </p:sp>
      <p:sp>
        <p:nvSpPr>
          <p:cNvPr id="6" name="Slide Number Placeholder 5">
            <a:extLst>
              <a:ext uri="{FF2B5EF4-FFF2-40B4-BE49-F238E27FC236}">
                <a16:creationId xmlns:a16="http://schemas.microsoft.com/office/drawing/2014/main" id="{6F1080CE-060E-EB64-2747-83A36B2D2360}"/>
              </a:ext>
            </a:extLst>
          </p:cNvPr>
          <p:cNvSpPr>
            <a:spLocks noGrp="1"/>
          </p:cNvSpPr>
          <p:nvPr>
            <p:ph type="sldNum" sz="quarter" idx="12"/>
          </p:nvPr>
        </p:nvSpPr>
        <p:spPr/>
        <p:txBody>
          <a:bodyPr/>
          <a:lstStyle/>
          <a:p>
            <a:fld id="{24BEA51C-495D-44A2-B925-9AAC4BD9F0A2}" type="slidenum">
              <a:rPr lang="en-IN" smtClean="0"/>
              <a:t>8</a:t>
            </a:fld>
            <a:endParaRPr lang="en-IN"/>
          </a:p>
        </p:txBody>
      </p:sp>
      <p:sp>
        <p:nvSpPr>
          <p:cNvPr id="7" name="Footer Placeholder 4">
            <a:extLst>
              <a:ext uri="{FF2B5EF4-FFF2-40B4-BE49-F238E27FC236}">
                <a16:creationId xmlns:a16="http://schemas.microsoft.com/office/drawing/2014/main" id="{C31F9173-7EA2-ACC1-1D79-3DF72A225460}"/>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2062013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D6561-394B-27B0-024F-1748ECAC6753}"/>
              </a:ext>
            </a:extLst>
          </p:cNvPr>
          <p:cNvSpPr>
            <a:spLocks noGrp="1"/>
          </p:cNvSpPr>
          <p:nvPr>
            <p:ph type="title"/>
          </p:nvPr>
        </p:nvSpPr>
        <p:spPr/>
        <p:txBody>
          <a:bodyPr>
            <a:normAutofit fontScale="90000"/>
          </a:bodyPr>
          <a:lstStyle/>
          <a:p>
            <a:r>
              <a:rPr lang="en-US" sz="4000" dirty="0"/>
              <a:t>Two descriptions of Euclid’s algorithm</a:t>
            </a:r>
            <a:endParaRPr lang="en-IN" dirty="0"/>
          </a:p>
        </p:txBody>
      </p:sp>
      <p:sp>
        <p:nvSpPr>
          <p:cNvPr id="3" name="Content Placeholder 2">
            <a:extLst>
              <a:ext uri="{FF2B5EF4-FFF2-40B4-BE49-F238E27FC236}">
                <a16:creationId xmlns:a16="http://schemas.microsoft.com/office/drawing/2014/main" id="{81F420C3-7EDF-117D-B582-340FE9B50797}"/>
              </a:ext>
            </a:extLst>
          </p:cNvPr>
          <p:cNvSpPr>
            <a:spLocks noGrp="1"/>
          </p:cNvSpPr>
          <p:nvPr>
            <p:ph idx="1"/>
          </p:nvPr>
        </p:nvSpPr>
        <p:spPr/>
        <p:txBody>
          <a:bodyPr>
            <a:normAutofit fontScale="77500" lnSpcReduction="20000"/>
          </a:bodyPr>
          <a:lstStyle/>
          <a:p>
            <a:pPr>
              <a:buFont typeface="Monotype Sorts" pitchFamily="2" charset="2"/>
              <a:buNone/>
              <a:defRPr/>
            </a:pPr>
            <a:r>
              <a:rPr lang="en-US" dirty="0"/>
              <a:t>Step 1:  If </a:t>
            </a:r>
            <a:r>
              <a:rPr lang="pt-BR" i="1" dirty="0"/>
              <a:t>n</a:t>
            </a:r>
            <a:r>
              <a:rPr lang="pt-BR" dirty="0"/>
              <a:t> = 0, return </a:t>
            </a:r>
            <a:r>
              <a:rPr lang="pt-BR" i="1" dirty="0"/>
              <a:t>m</a:t>
            </a:r>
            <a:r>
              <a:rPr lang="pt-BR" dirty="0"/>
              <a:t> and stop; </a:t>
            </a:r>
          </a:p>
          <a:p>
            <a:pPr>
              <a:buFont typeface="Monotype Sorts" pitchFamily="2" charset="2"/>
              <a:buNone/>
              <a:defRPr/>
            </a:pPr>
            <a:r>
              <a:rPr lang="pt-BR" dirty="0"/>
              <a:t>			otherwise go to Step 2</a:t>
            </a:r>
          </a:p>
          <a:p>
            <a:pPr>
              <a:buFont typeface="Monotype Sorts" pitchFamily="2" charset="2"/>
              <a:buNone/>
              <a:defRPr/>
            </a:pPr>
            <a:r>
              <a:rPr lang="en-US" dirty="0"/>
              <a:t>Step 2: </a:t>
            </a:r>
            <a:r>
              <a:rPr lang="pt-BR" dirty="0"/>
              <a:t> Divide </a:t>
            </a:r>
            <a:r>
              <a:rPr lang="pt-BR" i="1" dirty="0"/>
              <a:t>m</a:t>
            </a:r>
            <a:r>
              <a:rPr lang="pt-BR" dirty="0"/>
              <a:t> by </a:t>
            </a:r>
            <a:r>
              <a:rPr lang="pt-BR" i="1" dirty="0"/>
              <a:t>n </a:t>
            </a:r>
            <a:r>
              <a:rPr lang="pt-BR" dirty="0"/>
              <a:t>and </a:t>
            </a:r>
          </a:p>
          <a:p>
            <a:pPr>
              <a:buFont typeface="Monotype Sorts" pitchFamily="2" charset="2"/>
              <a:buNone/>
              <a:defRPr/>
            </a:pPr>
            <a:r>
              <a:rPr lang="pt-BR" dirty="0"/>
              <a:t>			assign the </a:t>
            </a:r>
            <a:r>
              <a:rPr lang="pt-BR" dirty="0" err="1"/>
              <a:t>value</a:t>
            </a:r>
            <a:r>
              <a:rPr lang="pt-BR" dirty="0"/>
              <a:t> for the remainder to</a:t>
            </a:r>
            <a:r>
              <a:rPr lang="pt-BR" i="1" dirty="0"/>
              <a:t> r</a:t>
            </a:r>
          </a:p>
          <a:p>
            <a:pPr>
              <a:buFont typeface="Monotype Sorts" pitchFamily="2" charset="2"/>
              <a:buNone/>
              <a:defRPr/>
            </a:pPr>
            <a:r>
              <a:rPr lang="en-US" dirty="0"/>
              <a:t>Step 3:  Assign the value of </a:t>
            </a:r>
            <a:r>
              <a:rPr lang="en-US" i="1" dirty="0"/>
              <a:t>n </a:t>
            </a:r>
            <a:r>
              <a:rPr lang="en-US" dirty="0"/>
              <a:t>to </a:t>
            </a:r>
            <a:r>
              <a:rPr lang="en-US" i="1" dirty="0"/>
              <a:t>m</a:t>
            </a:r>
            <a:r>
              <a:rPr lang="en-US" dirty="0"/>
              <a:t> and </a:t>
            </a:r>
          </a:p>
          <a:p>
            <a:pPr>
              <a:buFont typeface="Monotype Sorts" pitchFamily="2" charset="2"/>
              <a:buNone/>
              <a:defRPr/>
            </a:pPr>
            <a:r>
              <a:rPr lang="en-US" dirty="0"/>
              <a:t>			the value of </a:t>
            </a:r>
            <a:r>
              <a:rPr lang="en-US" i="1" dirty="0"/>
              <a:t>r</a:t>
            </a:r>
            <a:r>
              <a:rPr lang="en-US" dirty="0"/>
              <a:t> to </a:t>
            </a:r>
            <a:r>
              <a:rPr lang="en-US" i="1" dirty="0"/>
              <a:t>n.  </a:t>
            </a:r>
            <a:r>
              <a:rPr lang="en-US" dirty="0"/>
              <a:t>Go to Step 1.</a:t>
            </a:r>
            <a:br>
              <a:rPr lang="en-US" dirty="0"/>
            </a:br>
            <a:endParaRPr lang="en-US" dirty="0"/>
          </a:p>
          <a:p>
            <a:pPr>
              <a:buFont typeface="Monotype Sorts" pitchFamily="2" charset="2"/>
              <a:buNone/>
              <a:defRPr/>
            </a:pPr>
            <a:r>
              <a:rPr lang="en-US" dirty="0"/>
              <a:t>	   </a:t>
            </a:r>
          </a:p>
          <a:p>
            <a:pPr algn="ctr">
              <a:buFont typeface="Monotype Sorts" pitchFamily="2" charset="2"/>
              <a:buNone/>
              <a:defRPr/>
            </a:pPr>
            <a:r>
              <a:rPr lang="pt-BR" sz="3200" b="1" dirty="0"/>
              <a:t>while</a:t>
            </a:r>
            <a:r>
              <a:rPr lang="pt-BR" sz="3200" b="1" i="1" dirty="0"/>
              <a:t> n</a:t>
            </a:r>
            <a:r>
              <a:rPr lang="pt-BR" sz="3200" b="1" dirty="0"/>
              <a:t> ≠ 0 do</a:t>
            </a:r>
            <a:r>
              <a:rPr lang="pt-BR" sz="3200" b="1" i="1" dirty="0"/>
              <a:t>            </a:t>
            </a:r>
          </a:p>
          <a:p>
            <a:pPr algn="ctr">
              <a:buFont typeface="Monotype Sorts" pitchFamily="2" charset="2"/>
              <a:buNone/>
              <a:defRPr/>
            </a:pPr>
            <a:r>
              <a:rPr lang="pt-BR" sz="3200" b="1" i="1" dirty="0"/>
              <a:t>	r ← m </a:t>
            </a:r>
            <a:r>
              <a:rPr lang="pt-BR" sz="3200" b="1" dirty="0"/>
              <a:t>mod </a:t>
            </a:r>
            <a:r>
              <a:rPr lang="pt-BR" sz="3200" b="1" i="1" dirty="0"/>
              <a:t>n</a:t>
            </a:r>
          </a:p>
          <a:p>
            <a:pPr algn="ctr">
              <a:buFont typeface="Monotype Sorts" pitchFamily="2" charset="2"/>
              <a:buNone/>
              <a:defRPr/>
            </a:pPr>
            <a:r>
              <a:rPr lang="pt-BR" sz="3200" b="1" i="1" dirty="0"/>
              <a:t>    m← n   </a:t>
            </a:r>
          </a:p>
          <a:p>
            <a:pPr algn="ctr">
              <a:buFont typeface="Monotype Sorts" pitchFamily="2" charset="2"/>
              <a:buNone/>
              <a:defRPr/>
            </a:pPr>
            <a:r>
              <a:rPr lang="pt-BR" sz="3200" b="1" i="1" dirty="0"/>
              <a:t>    n ← r    </a:t>
            </a:r>
          </a:p>
          <a:p>
            <a:pPr algn="ctr">
              <a:buFont typeface="Monotype Sorts" pitchFamily="2" charset="2"/>
              <a:buNone/>
              <a:defRPr/>
            </a:pPr>
            <a:r>
              <a:rPr lang="pt-BR" sz="3200" b="1" dirty="0"/>
              <a:t>return</a:t>
            </a:r>
            <a:r>
              <a:rPr lang="pt-BR" sz="3200" b="1" i="1" dirty="0"/>
              <a:t> m</a:t>
            </a:r>
            <a:endParaRPr lang="en-US" sz="3200" b="1" i="1" dirty="0"/>
          </a:p>
          <a:p>
            <a:endParaRPr lang="en-IN" dirty="0"/>
          </a:p>
        </p:txBody>
      </p:sp>
      <p:sp>
        <p:nvSpPr>
          <p:cNvPr id="4" name="Date Placeholder 3">
            <a:extLst>
              <a:ext uri="{FF2B5EF4-FFF2-40B4-BE49-F238E27FC236}">
                <a16:creationId xmlns:a16="http://schemas.microsoft.com/office/drawing/2014/main" id="{61E918E6-4CE0-32A4-0625-AAA03A8F105A}"/>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8B2B0716-B125-222B-C795-A4425923F949}"/>
              </a:ext>
            </a:extLst>
          </p:cNvPr>
          <p:cNvSpPr>
            <a:spLocks noGrp="1"/>
          </p:cNvSpPr>
          <p:nvPr>
            <p:ph type="sldNum" sz="quarter" idx="12"/>
          </p:nvPr>
        </p:nvSpPr>
        <p:spPr/>
        <p:txBody>
          <a:bodyPr/>
          <a:lstStyle/>
          <a:p>
            <a:fld id="{24BEA51C-495D-44A2-B925-9AAC4BD9F0A2}" type="slidenum">
              <a:rPr lang="en-IN" smtClean="0"/>
              <a:t>9</a:t>
            </a:fld>
            <a:endParaRPr lang="en-IN"/>
          </a:p>
        </p:txBody>
      </p:sp>
      <p:sp>
        <p:nvSpPr>
          <p:cNvPr id="7" name="Footer Placeholder 4">
            <a:extLst>
              <a:ext uri="{FF2B5EF4-FFF2-40B4-BE49-F238E27FC236}">
                <a16:creationId xmlns:a16="http://schemas.microsoft.com/office/drawing/2014/main" id="{B473BB85-BBC7-F349-FBA6-E027C5F7FDCC}"/>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2230372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A644B-7385-A470-9099-3336EE390A3F}"/>
              </a:ext>
            </a:extLst>
          </p:cNvPr>
          <p:cNvSpPr>
            <a:spLocks noGrp="1"/>
          </p:cNvSpPr>
          <p:nvPr>
            <p:ph type="title"/>
          </p:nvPr>
        </p:nvSpPr>
        <p:spPr/>
        <p:txBody>
          <a:bodyPr>
            <a:normAutofit fontScale="90000"/>
          </a:bodyPr>
          <a:lstStyle/>
          <a:p>
            <a:r>
              <a:rPr lang="en-US" sz="4000" dirty="0"/>
              <a:t>Other methods for computing </a:t>
            </a:r>
            <a:r>
              <a:rPr lang="en-US" sz="4000" dirty="0" err="1"/>
              <a:t>gcd</a:t>
            </a:r>
            <a:r>
              <a:rPr lang="en-US" sz="4000" dirty="0"/>
              <a:t>(</a:t>
            </a:r>
            <a:r>
              <a:rPr lang="en-US" sz="4000" i="1" dirty="0" err="1"/>
              <a:t>m,n</a:t>
            </a:r>
            <a:r>
              <a:rPr lang="en-US" sz="4000" dirty="0"/>
              <a:t>)</a:t>
            </a:r>
            <a:endParaRPr lang="en-IN" dirty="0"/>
          </a:p>
        </p:txBody>
      </p:sp>
      <p:sp>
        <p:nvSpPr>
          <p:cNvPr id="3" name="Content Placeholder 2">
            <a:extLst>
              <a:ext uri="{FF2B5EF4-FFF2-40B4-BE49-F238E27FC236}">
                <a16:creationId xmlns:a16="http://schemas.microsoft.com/office/drawing/2014/main" id="{D2582A7A-DFF6-6ED8-41E9-861170B438A4}"/>
              </a:ext>
            </a:extLst>
          </p:cNvPr>
          <p:cNvSpPr>
            <a:spLocks noGrp="1"/>
          </p:cNvSpPr>
          <p:nvPr>
            <p:ph idx="1"/>
          </p:nvPr>
        </p:nvSpPr>
        <p:spPr/>
        <p:txBody>
          <a:bodyPr/>
          <a:lstStyle/>
          <a:p>
            <a:pPr>
              <a:buFont typeface="Monotype Sorts" pitchFamily="2" charset="2"/>
              <a:buNone/>
              <a:defRPr/>
            </a:pPr>
            <a:r>
              <a:rPr lang="en-US" sz="3200" dirty="0"/>
              <a:t>Consecutive integer checking algorithm:</a:t>
            </a:r>
          </a:p>
          <a:p>
            <a:pPr>
              <a:buFont typeface="Monotype Sorts" pitchFamily="2" charset="2"/>
              <a:buNone/>
              <a:defRPr/>
            </a:pPr>
            <a:r>
              <a:rPr lang="en-US" dirty="0"/>
              <a:t>Step 1:  Assign the value of min{</a:t>
            </a:r>
            <a:r>
              <a:rPr lang="en-US" i="1" dirty="0" err="1"/>
              <a:t>m,n</a:t>
            </a:r>
            <a:r>
              <a:rPr lang="en-US" dirty="0"/>
              <a:t>} to ‘</a:t>
            </a:r>
            <a:r>
              <a:rPr lang="en-US" i="1" dirty="0"/>
              <a:t>t’</a:t>
            </a:r>
            <a:endParaRPr lang="pt-BR" dirty="0"/>
          </a:p>
          <a:p>
            <a:pPr>
              <a:buFont typeface="Monotype Sorts" pitchFamily="2" charset="2"/>
              <a:buNone/>
              <a:defRPr/>
            </a:pPr>
            <a:r>
              <a:rPr lang="en-US" dirty="0"/>
              <a:t>Step 2:  </a:t>
            </a:r>
            <a:r>
              <a:rPr lang="pt-BR" dirty="0"/>
              <a:t>Divide ‘</a:t>
            </a:r>
            <a:r>
              <a:rPr lang="pt-BR" i="1" dirty="0"/>
              <a:t>m’</a:t>
            </a:r>
            <a:r>
              <a:rPr lang="pt-BR" dirty="0"/>
              <a:t> by ‘</a:t>
            </a:r>
            <a:r>
              <a:rPr lang="pt-BR" i="1" dirty="0"/>
              <a:t>t’.  </a:t>
            </a:r>
          </a:p>
          <a:p>
            <a:pPr>
              <a:buFont typeface="Monotype Sorts" pitchFamily="2" charset="2"/>
              <a:buNone/>
              <a:defRPr/>
            </a:pPr>
            <a:r>
              <a:rPr lang="pt-BR" i="1" dirty="0"/>
              <a:t>		</a:t>
            </a:r>
            <a:r>
              <a:rPr lang="pt-BR" dirty="0"/>
              <a:t>If the remainder is 0, go to Step 3;</a:t>
            </a:r>
            <a:br>
              <a:rPr lang="pt-BR" dirty="0"/>
            </a:br>
            <a:r>
              <a:rPr lang="pt-BR" dirty="0"/>
              <a:t>        otherwise, go to Step 4</a:t>
            </a:r>
            <a:endParaRPr lang="pt-BR" i="1" dirty="0"/>
          </a:p>
          <a:p>
            <a:pPr>
              <a:buFont typeface="Monotype Sorts" pitchFamily="2" charset="2"/>
              <a:buNone/>
              <a:defRPr/>
            </a:pPr>
            <a:r>
              <a:rPr lang="en-US" dirty="0"/>
              <a:t>Step 3:  </a:t>
            </a:r>
            <a:r>
              <a:rPr lang="pt-BR" dirty="0"/>
              <a:t>Divide ‘</a:t>
            </a:r>
            <a:r>
              <a:rPr lang="pt-BR" i="1" dirty="0"/>
              <a:t>n’</a:t>
            </a:r>
            <a:r>
              <a:rPr lang="pt-BR" dirty="0"/>
              <a:t> by ‘</a:t>
            </a:r>
            <a:r>
              <a:rPr lang="pt-BR" i="1" dirty="0"/>
              <a:t>t’.  </a:t>
            </a:r>
          </a:p>
          <a:p>
            <a:pPr>
              <a:buFont typeface="Monotype Sorts" pitchFamily="2" charset="2"/>
              <a:buNone/>
              <a:defRPr/>
            </a:pPr>
            <a:r>
              <a:rPr lang="pt-BR" i="1" dirty="0"/>
              <a:t>		</a:t>
            </a:r>
            <a:r>
              <a:rPr lang="pt-BR" dirty="0"/>
              <a:t>If the remainder is 0, return ‘</a:t>
            </a:r>
            <a:r>
              <a:rPr lang="pt-BR" i="1" dirty="0"/>
              <a:t>t’</a:t>
            </a:r>
            <a:r>
              <a:rPr lang="pt-BR" dirty="0"/>
              <a:t> and stop;</a:t>
            </a:r>
            <a:br>
              <a:rPr lang="pt-BR" dirty="0"/>
            </a:br>
            <a:r>
              <a:rPr lang="pt-BR" dirty="0"/>
              <a:t>        otherwise, go to Step 4</a:t>
            </a:r>
            <a:endParaRPr lang="pt-BR" i="1" dirty="0"/>
          </a:p>
          <a:p>
            <a:pPr>
              <a:buFont typeface="Monotype Sorts" pitchFamily="2" charset="2"/>
              <a:buNone/>
              <a:defRPr/>
            </a:pPr>
            <a:r>
              <a:rPr lang="en-US" dirty="0"/>
              <a:t>Step 4: Decrease ‘</a:t>
            </a:r>
            <a:r>
              <a:rPr lang="en-US" i="1" dirty="0"/>
              <a:t>t’ </a:t>
            </a:r>
            <a:r>
              <a:rPr lang="en-US" dirty="0"/>
              <a:t>by 1 and go to Step 2</a:t>
            </a:r>
          </a:p>
          <a:p>
            <a:endParaRPr lang="en-IN" dirty="0"/>
          </a:p>
        </p:txBody>
      </p:sp>
      <p:sp>
        <p:nvSpPr>
          <p:cNvPr id="4" name="Date Placeholder 3">
            <a:extLst>
              <a:ext uri="{FF2B5EF4-FFF2-40B4-BE49-F238E27FC236}">
                <a16:creationId xmlns:a16="http://schemas.microsoft.com/office/drawing/2014/main" id="{FEFAF368-331F-FF8A-2F8D-1D0E80856377}"/>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D2904A0F-EF5D-B47C-995D-7693B76102D2}"/>
              </a:ext>
            </a:extLst>
          </p:cNvPr>
          <p:cNvSpPr>
            <a:spLocks noGrp="1"/>
          </p:cNvSpPr>
          <p:nvPr>
            <p:ph type="sldNum" sz="quarter" idx="12"/>
          </p:nvPr>
        </p:nvSpPr>
        <p:spPr/>
        <p:txBody>
          <a:bodyPr/>
          <a:lstStyle/>
          <a:p>
            <a:fld id="{24BEA51C-495D-44A2-B925-9AAC4BD9F0A2}" type="slidenum">
              <a:rPr lang="en-IN" smtClean="0"/>
              <a:t>10</a:t>
            </a:fld>
            <a:endParaRPr lang="en-IN"/>
          </a:p>
        </p:txBody>
      </p:sp>
      <p:sp>
        <p:nvSpPr>
          <p:cNvPr id="7" name="Footer Placeholder 4">
            <a:extLst>
              <a:ext uri="{FF2B5EF4-FFF2-40B4-BE49-F238E27FC236}">
                <a16:creationId xmlns:a16="http://schemas.microsoft.com/office/drawing/2014/main" id="{7AB1A199-601E-250F-E36B-D4B5FD7DE84D}"/>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617953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421BF-9A6F-4C39-8079-968FB67F8BC2}"/>
              </a:ext>
            </a:extLst>
          </p:cNvPr>
          <p:cNvSpPr>
            <a:spLocks noGrp="1"/>
          </p:cNvSpPr>
          <p:nvPr>
            <p:ph type="title"/>
          </p:nvPr>
        </p:nvSpPr>
        <p:spPr/>
        <p:txBody>
          <a:bodyPr>
            <a:normAutofit fontScale="90000"/>
          </a:bodyPr>
          <a:lstStyle/>
          <a:p>
            <a:r>
              <a:rPr lang="en-US" dirty="0"/>
              <a:t>Middle-school procedure for computing </a:t>
            </a:r>
            <a:r>
              <a:rPr lang="en-US" dirty="0" err="1"/>
              <a:t>gcd</a:t>
            </a:r>
            <a:r>
              <a:rPr lang="en-US" i="1" dirty="0"/>
              <a:t>(m, n)</a:t>
            </a:r>
            <a:endParaRPr lang="en-IN" dirty="0"/>
          </a:p>
        </p:txBody>
      </p:sp>
      <p:sp>
        <p:nvSpPr>
          <p:cNvPr id="3" name="Content Placeholder 2">
            <a:extLst>
              <a:ext uri="{FF2B5EF4-FFF2-40B4-BE49-F238E27FC236}">
                <a16:creationId xmlns:a16="http://schemas.microsoft.com/office/drawing/2014/main" id="{EFDA75C0-78DF-4C48-A5B0-B11D94C1C416}"/>
              </a:ext>
            </a:extLst>
          </p:cNvPr>
          <p:cNvSpPr>
            <a:spLocks noGrp="1"/>
          </p:cNvSpPr>
          <p:nvPr>
            <p:ph idx="1"/>
          </p:nvPr>
        </p:nvSpPr>
        <p:spPr/>
        <p:txBody>
          <a:bodyPr/>
          <a:lstStyle/>
          <a:p>
            <a:r>
              <a:rPr lang="en-US" b="1" dirty="0"/>
              <a:t>Step 1 </a:t>
            </a:r>
            <a:r>
              <a:rPr lang="en-US" dirty="0"/>
              <a:t>Find the prime factors of </a:t>
            </a:r>
            <a:r>
              <a:rPr lang="en-US" i="1" dirty="0"/>
              <a:t>m</a:t>
            </a:r>
            <a:r>
              <a:rPr lang="en-US" dirty="0"/>
              <a:t>.</a:t>
            </a:r>
          </a:p>
          <a:p>
            <a:endParaRPr lang="en-US" dirty="0"/>
          </a:p>
          <a:p>
            <a:r>
              <a:rPr lang="en-US" b="1" dirty="0"/>
              <a:t>Step 2 </a:t>
            </a:r>
            <a:r>
              <a:rPr lang="en-US" dirty="0"/>
              <a:t>Find the prime factors of </a:t>
            </a:r>
            <a:r>
              <a:rPr lang="en-US" i="1" dirty="0"/>
              <a:t>n</a:t>
            </a:r>
            <a:r>
              <a:rPr lang="en-US" dirty="0"/>
              <a:t>.</a:t>
            </a:r>
          </a:p>
          <a:p>
            <a:endParaRPr lang="en-US" dirty="0"/>
          </a:p>
          <a:p>
            <a:r>
              <a:rPr lang="en-US" b="1" dirty="0"/>
              <a:t>Step 3 </a:t>
            </a:r>
            <a:r>
              <a:rPr lang="en-US" dirty="0"/>
              <a:t>Identify all the common factors in the two prime expansions found in Step 1 and Step 2. (If </a:t>
            </a:r>
            <a:r>
              <a:rPr lang="en-US" i="1" dirty="0"/>
              <a:t>p </a:t>
            </a:r>
            <a:r>
              <a:rPr lang="en-US" dirty="0"/>
              <a:t>is a common factor occurring </a:t>
            </a:r>
            <a:r>
              <a:rPr lang="en-US" i="1" dirty="0"/>
              <a:t>p</a:t>
            </a:r>
            <a:r>
              <a:rPr lang="en-US" i="1" baseline="-25000" dirty="0"/>
              <a:t>m</a:t>
            </a:r>
            <a:r>
              <a:rPr lang="en-US" i="1" dirty="0"/>
              <a:t> </a:t>
            </a:r>
            <a:r>
              <a:rPr lang="en-US" dirty="0"/>
              <a:t>and </a:t>
            </a:r>
            <a:r>
              <a:rPr lang="en-US" i="1" dirty="0" err="1"/>
              <a:t>p</a:t>
            </a:r>
            <a:r>
              <a:rPr lang="en-US" i="1" baseline="-25000" dirty="0" err="1"/>
              <a:t>n</a:t>
            </a:r>
            <a:r>
              <a:rPr lang="en-US" i="1" dirty="0"/>
              <a:t> </a:t>
            </a:r>
            <a:r>
              <a:rPr lang="en-US" dirty="0"/>
              <a:t>times in </a:t>
            </a:r>
            <a:r>
              <a:rPr lang="en-US" i="1" dirty="0"/>
              <a:t>m </a:t>
            </a:r>
            <a:r>
              <a:rPr lang="en-US" dirty="0"/>
              <a:t>and </a:t>
            </a:r>
            <a:r>
              <a:rPr lang="en-US" i="1" dirty="0"/>
              <a:t>n, </a:t>
            </a:r>
            <a:r>
              <a:rPr lang="en-US" dirty="0"/>
              <a:t>respectively, it should be repeated min{</a:t>
            </a:r>
            <a:r>
              <a:rPr lang="en-US" i="1" dirty="0"/>
              <a:t>p</a:t>
            </a:r>
            <a:r>
              <a:rPr lang="en-US" i="1" baseline="-25000" dirty="0"/>
              <a:t>m</a:t>
            </a:r>
            <a:r>
              <a:rPr lang="en-US" dirty="0"/>
              <a:t>, </a:t>
            </a:r>
            <a:r>
              <a:rPr lang="en-US" i="1" dirty="0" err="1"/>
              <a:t>p</a:t>
            </a:r>
            <a:r>
              <a:rPr lang="en-US" i="1" baseline="-25000" dirty="0" err="1"/>
              <a:t>n</a:t>
            </a:r>
            <a:r>
              <a:rPr lang="en-IN" dirty="0"/>
              <a:t>} times.)</a:t>
            </a:r>
          </a:p>
          <a:p>
            <a:endParaRPr lang="en-IN" dirty="0"/>
          </a:p>
          <a:p>
            <a:r>
              <a:rPr lang="en-US" b="1" dirty="0"/>
              <a:t>Step 4 </a:t>
            </a:r>
            <a:r>
              <a:rPr lang="en-US" dirty="0"/>
              <a:t>Compute the product of all the common factors and return it as the greatest common divisor of the numbers given.</a:t>
            </a:r>
            <a:endParaRPr lang="en-IN" dirty="0"/>
          </a:p>
        </p:txBody>
      </p:sp>
      <p:sp>
        <p:nvSpPr>
          <p:cNvPr id="4" name="Date Placeholder 3">
            <a:extLst>
              <a:ext uri="{FF2B5EF4-FFF2-40B4-BE49-F238E27FC236}">
                <a16:creationId xmlns:a16="http://schemas.microsoft.com/office/drawing/2014/main" id="{228FA367-A57D-4412-A792-95EEADB1F63B}"/>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5" name="Footer Placeholder 4">
            <a:extLst>
              <a:ext uri="{FF2B5EF4-FFF2-40B4-BE49-F238E27FC236}">
                <a16:creationId xmlns:a16="http://schemas.microsoft.com/office/drawing/2014/main" id="{B742223E-88AE-4013-9B09-BF9D9E5ADE2D}"/>
              </a:ext>
            </a:extLst>
          </p:cNvPr>
          <p:cNvSpPr>
            <a:spLocks noGrp="1"/>
          </p:cNvSpPr>
          <p:nvPr>
            <p:ph type="ftr" sz="quarter" idx="11"/>
          </p:nvPr>
        </p:nvSpPr>
        <p:spPr/>
        <p:txBody>
          <a:bodyPr/>
          <a:lstStyle/>
          <a:p>
            <a:r>
              <a:rPr lang="en-US"/>
              <a:t>CSE 1071 Problem Solving using Computers (PSUC) - 2022</a:t>
            </a:r>
            <a:endParaRPr lang="en-IN"/>
          </a:p>
        </p:txBody>
      </p:sp>
      <p:sp>
        <p:nvSpPr>
          <p:cNvPr id="6" name="Slide Number Placeholder 5">
            <a:extLst>
              <a:ext uri="{FF2B5EF4-FFF2-40B4-BE49-F238E27FC236}">
                <a16:creationId xmlns:a16="http://schemas.microsoft.com/office/drawing/2014/main" id="{B072BBDF-D1F4-43BD-9ED7-E9A39D9C4486}"/>
              </a:ext>
            </a:extLst>
          </p:cNvPr>
          <p:cNvSpPr>
            <a:spLocks noGrp="1"/>
          </p:cNvSpPr>
          <p:nvPr>
            <p:ph type="sldNum" sz="quarter" idx="12"/>
          </p:nvPr>
        </p:nvSpPr>
        <p:spPr/>
        <p:txBody>
          <a:bodyPr/>
          <a:lstStyle/>
          <a:p>
            <a:fld id="{24BEA51C-495D-44A2-B925-9AAC4BD9F0A2}" type="slidenum">
              <a:rPr lang="en-IN" smtClean="0"/>
              <a:t>11</a:t>
            </a:fld>
            <a:endParaRPr lang="en-IN"/>
          </a:p>
        </p:txBody>
      </p:sp>
    </p:spTree>
    <p:extLst>
      <p:ext uri="{BB962C8B-B14F-4D97-AF65-F5344CB8AC3E}">
        <p14:creationId xmlns:p14="http://schemas.microsoft.com/office/powerpoint/2010/main" val="3045694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8276E-F009-987C-20C6-CA11B7D2EEA1}"/>
              </a:ext>
            </a:extLst>
          </p:cNvPr>
          <p:cNvSpPr>
            <a:spLocks noGrp="1"/>
          </p:cNvSpPr>
          <p:nvPr>
            <p:ph type="title"/>
          </p:nvPr>
        </p:nvSpPr>
        <p:spPr/>
        <p:txBody>
          <a:bodyPr>
            <a:normAutofit fontScale="90000"/>
          </a:bodyPr>
          <a:lstStyle/>
          <a:p>
            <a:r>
              <a:rPr lang="en-IN" dirty="0"/>
              <a:t>TRY</a:t>
            </a:r>
          </a:p>
        </p:txBody>
      </p:sp>
      <p:sp>
        <p:nvSpPr>
          <p:cNvPr id="3" name="Content Placeholder 2">
            <a:extLst>
              <a:ext uri="{FF2B5EF4-FFF2-40B4-BE49-F238E27FC236}">
                <a16:creationId xmlns:a16="http://schemas.microsoft.com/office/drawing/2014/main" id="{AF8BBC03-C20A-DE26-A2ED-5CF258EB27BE}"/>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a. Find </a:t>
            </a:r>
            <a:r>
              <a:rPr lang="en-US" dirty="0" err="1"/>
              <a:t>gcd</a:t>
            </a:r>
            <a:r>
              <a:rPr lang="en-US" dirty="0"/>
              <a:t>(31415, 14142) by applying Euclid’s algorithm. </a:t>
            </a:r>
          </a:p>
          <a:p>
            <a:pPr marL="0" indent="0" algn="just">
              <a:buNone/>
            </a:pPr>
            <a:r>
              <a:rPr lang="en-US" dirty="0"/>
              <a:t>b. Estimate how many times faster it will be to find </a:t>
            </a:r>
            <a:r>
              <a:rPr lang="en-US" dirty="0" err="1"/>
              <a:t>gcd</a:t>
            </a:r>
            <a:r>
              <a:rPr lang="en-US" dirty="0"/>
              <a:t>(31415, 14142) by Euclid’s algorithm compared with the algorithm based on checking consecutive integers from min{m, n} down to </a:t>
            </a:r>
            <a:r>
              <a:rPr lang="en-US" dirty="0" err="1"/>
              <a:t>gcd</a:t>
            </a:r>
            <a:r>
              <a:rPr lang="en-US" dirty="0"/>
              <a:t>(m, n).</a:t>
            </a:r>
            <a:endParaRPr lang="en-IN" dirty="0"/>
          </a:p>
        </p:txBody>
      </p:sp>
      <p:sp>
        <p:nvSpPr>
          <p:cNvPr id="4" name="Date Placeholder 3">
            <a:extLst>
              <a:ext uri="{FF2B5EF4-FFF2-40B4-BE49-F238E27FC236}">
                <a16:creationId xmlns:a16="http://schemas.microsoft.com/office/drawing/2014/main" id="{BB7372A7-6836-7FA4-CFC4-6C629D14EEFA}"/>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36247FCF-4B4F-9EA0-AD68-05343FAD31EB}"/>
              </a:ext>
            </a:extLst>
          </p:cNvPr>
          <p:cNvSpPr>
            <a:spLocks noGrp="1"/>
          </p:cNvSpPr>
          <p:nvPr>
            <p:ph type="sldNum" sz="quarter" idx="12"/>
          </p:nvPr>
        </p:nvSpPr>
        <p:spPr/>
        <p:txBody>
          <a:bodyPr/>
          <a:lstStyle/>
          <a:p>
            <a:fld id="{24BEA51C-495D-44A2-B925-9AAC4BD9F0A2}" type="slidenum">
              <a:rPr lang="en-IN" smtClean="0"/>
              <a:t>12</a:t>
            </a:fld>
            <a:endParaRPr lang="en-IN"/>
          </a:p>
        </p:txBody>
      </p:sp>
      <p:sp>
        <p:nvSpPr>
          <p:cNvPr id="7" name="Footer Placeholder 4">
            <a:extLst>
              <a:ext uri="{FF2B5EF4-FFF2-40B4-BE49-F238E27FC236}">
                <a16:creationId xmlns:a16="http://schemas.microsoft.com/office/drawing/2014/main" id="{9443E1BF-AD41-E6E1-0FAE-C194F95A8687}"/>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2623002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A9B23-4E0C-0FD4-E90E-E6D33C74A150}"/>
              </a:ext>
            </a:extLst>
          </p:cNvPr>
          <p:cNvSpPr>
            <a:spLocks noGrp="1"/>
          </p:cNvSpPr>
          <p:nvPr>
            <p:ph type="title"/>
          </p:nvPr>
        </p:nvSpPr>
        <p:spPr/>
        <p:txBody>
          <a:bodyPr>
            <a:normAutofit fontScale="90000"/>
          </a:bodyPr>
          <a:lstStyle/>
          <a:p>
            <a:r>
              <a:rPr lang="en-US" sz="4000" dirty="0"/>
              <a:t>Some Well-known Computational Problems</a:t>
            </a:r>
            <a:endParaRPr lang="en-IN" dirty="0"/>
          </a:p>
        </p:txBody>
      </p:sp>
      <p:sp>
        <p:nvSpPr>
          <p:cNvPr id="3" name="Content Placeholder 2">
            <a:extLst>
              <a:ext uri="{FF2B5EF4-FFF2-40B4-BE49-F238E27FC236}">
                <a16:creationId xmlns:a16="http://schemas.microsoft.com/office/drawing/2014/main" id="{AEAC054D-AD90-04B2-F7C8-377FE3B0DAD8}"/>
              </a:ext>
            </a:extLst>
          </p:cNvPr>
          <p:cNvSpPr>
            <a:spLocks noGrp="1"/>
          </p:cNvSpPr>
          <p:nvPr>
            <p:ph idx="1"/>
          </p:nvPr>
        </p:nvSpPr>
        <p:spPr>
          <a:xfrm>
            <a:off x="838200" y="1269242"/>
            <a:ext cx="10994408" cy="5087108"/>
          </a:xfrm>
        </p:spPr>
        <p:txBody>
          <a:bodyPr>
            <a:normAutofit/>
          </a:bodyPr>
          <a:lstStyle/>
          <a:p>
            <a:r>
              <a:rPr lang="en-US" b="1" dirty="0">
                <a:solidFill>
                  <a:srgbClr val="3333FF"/>
                </a:solidFill>
              </a:rPr>
              <a:t>Sorting</a:t>
            </a:r>
          </a:p>
          <a:p>
            <a:r>
              <a:rPr lang="en-US" b="1" dirty="0">
                <a:solidFill>
                  <a:srgbClr val="3333FF"/>
                </a:solidFill>
              </a:rPr>
              <a:t>Searching</a:t>
            </a:r>
          </a:p>
          <a:p>
            <a:r>
              <a:rPr lang="en-US" b="1" dirty="0">
                <a:solidFill>
                  <a:srgbClr val="3333FF"/>
                </a:solidFill>
              </a:rPr>
              <a:t>Shortest paths in a graph</a:t>
            </a:r>
          </a:p>
          <a:p>
            <a:r>
              <a:rPr lang="en-US" b="1" dirty="0">
                <a:solidFill>
                  <a:srgbClr val="3333FF"/>
                </a:solidFill>
              </a:rPr>
              <a:t>Minimum spanning tree</a:t>
            </a:r>
          </a:p>
          <a:p>
            <a:r>
              <a:rPr lang="en-US" b="1" dirty="0">
                <a:solidFill>
                  <a:srgbClr val="3333FF"/>
                </a:solidFill>
              </a:rPr>
              <a:t>Traveling salesman problem</a:t>
            </a:r>
          </a:p>
          <a:p>
            <a:r>
              <a:rPr lang="en-US" b="1" dirty="0">
                <a:solidFill>
                  <a:srgbClr val="3333FF"/>
                </a:solidFill>
              </a:rPr>
              <a:t>Knapsack problem</a:t>
            </a:r>
          </a:p>
          <a:p>
            <a:r>
              <a:rPr lang="en-US" b="1" dirty="0">
                <a:solidFill>
                  <a:srgbClr val="3333FF"/>
                </a:solidFill>
              </a:rPr>
              <a:t>Towers of Hanoi</a:t>
            </a:r>
          </a:p>
          <a:p>
            <a:pPr marL="0" indent="0">
              <a:buNone/>
            </a:pPr>
            <a:endParaRPr lang="en-IN" dirty="0"/>
          </a:p>
          <a:p>
            <a:r>
              <a:rPr lang="en-US" b="1" dirty="0">
                <a:solidFill>
                  <a:srgbClr val="FF0000"/>
                </a:solidFill>
              </a:rPr>
              <a:t>Some of these problems don’t have efficient algorithms, or algorithms at all!</a:t>
            </a:r>
          </a:p>
        </p:txBody>
      </p:sp>
      <p:sp>
        <p:nvSpPr>
          <p:cNvPr id="4" name="Date Placeholder 3">
            <a:extLst>
              <a:ext uri="{FF2B5EF4-FFF2-40B4-BE49-F238E27FC236}">
                <a16:creationId xmlns:a16="http://schemas.microsoft.com/office/drawing/2014/main" id="{0A6965DB-6A4A-0231-08B0-821A43654CBC}"/>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CC23A730-D71D-5307-A720-2D38A848F502}"/>
              </a:ext>
            </a:extLst>
          </p:cNvPr>
          <p:cNvSpPr>
            <a:spLocks noGrp="1"/>
          </p:cNvSpPr>
          <p:nvPr>
            <p:ph type="sldNum" sz="quarter" idx="12"/>
          </p:nvPr>
        </p:nvSpPr>
        <p:spPr/>
        <p:txBody>
          <a:bodyPr/>
          <a:lstStyle/>
          <a:p>
            <a:fld id="{24BEA51C-495D-44A2-B925-9AAC4BD9F0A2}" type="slidenum">
              <a:rPr lang="en-IN" smtClean="0"/>
              <a:t>13</a:t>
            </a:fld>
            <a:endParaRPr lang="en-IN"/>
          </a:p>
        </p:txBody>
      </p:sp>
      <p:sp>
        <p:nvSpPr>
          <p:cNvPr id="7" name="Footer Placeholder 4">
            <a:extLst>
              <a:ext uri="{FF2B5EF4-FFF2-40B4-BE49-F238E27FC236}">
                <a16:creationId xmlns:a16="http://schemas.microsoft.com/office/drawing/2014/main" id="{2ACD7039-5118-67D6-9FF4-5856D9D05625}"/>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739958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B0076-4BF3-E81F-5D8E-432C4F72A959}"/>
              </a:ext>
            </a:extLst>
          </p:cNvPr>
          <p:cNvSpPr>
            <a:spLocks noGrp="1"/>
          </p:cNvSpPr>
          <p:nvPr>
            <p:ph type="title"/>
          </p:nvPr>
        </p:nvSpPr>
        <p:spPr/>
        <p:txBody>
          <a:bodyPr>
            <a:normAutofit fontScale="90000"/>
          </a:bodyPr>
          <a:lstStyle/>
          <a:p>
            <a:r>
              <a:rPr lang="en-US" sz="4000" dirty="0"/>
              <a:t>Fundamentals of Algorithmic Problem Solving</a:t>
            </a:r>
            <a:endParaRPr lang="en-IN" dirty="0"/>
          </a:p>
        </p:txBody>
      </p:sp>
      <p:sp>
        <p:nvSpPr>
          <p:cNvPr id="3" name="Content Placeholder 2">
            <a:extLst>
              <a:ext uri="{FF2B5EF4-FFF2-40B4-BE49-F238E27FC236}">
                <a16:creationId xmlns:a16="http://schemas.microsoft.com/office/drawing/2014/main" id="{9D6F4F9C-9018-CFF4-F764-43A016A864A9}"/>
              </a:ext>
            </a:extLst>
          </p:cNvPr>
          <p:cNvSpPr>
            <a:spLocks noGrp="1"/>
          </p:cNvSpPr>
          <p:nvPr>
            <p:ph idx="1"/>
          </p:nvPr>
        </p:nvSpPr>
        <p:spPr/>
        <p:txBody>
          <a:bodyPr/>
          <a:lstStyle/>
          <a:p>
            <a:pPr>
              <a:defRPr/>
            </a:pPr>
            <a:r>
              <a:rPr lang="en-US" dirty="0"/>
              <a:t>Algorithms are procedural solutions to problems.</a:t>
            </a:r>
          </a:p>
          <a:p>
            <a:pPr>
              <a:defRPr/>
            </a:pPr>
            <a:r>
              <a:rPr lang="en-US" dirty="0"/>
              <a:t>Steps for designing and analyzing an algorithm:</a:t>
            </a:r>
          </a:p>
          <a:p>
            <a:pPr>
              <a:defRPr/>
            </a:pPr>
            <a:r>
              <a:rPr lang="en-US" sz="2000" b="1" dirty="0"/>
              <a:t>Understand the problem: </a:t>
            </a:r>
            <a:r>
              <a:rPr lang="en-US" sz="2000" dirty="0"/>
              <a:t>An input to an algorithm specifies an instance of the problem the algorithm solves. It is very important to specify exactly the set of instances the algorithm needs to handle. (As an example, recall the variations in the set of instances for the three greatest common divisor algorithms).</a:t>
            </a:r>
          </a:p>
          <a:p>
            <a:pPr>
              <a:defRPr/>
            </a:pPr>
            <a:r>
              <a:rPr lang="en-US" sz="1800" b="1" dirty="0"/>
              <a:t>Ascertain the capabilities of a computational device: </a:t>
            </a:r>
            <a:r>
              <a:rPr lang="en-IN" sz="1800" dirty="0"/>
              <a:t>random-access machine (RAM). sequential algorithms, parallel algorithms</a:t>
            </a:r>
            <a:r>
              <a:rPr lang="en-US" sz="1800" dirty="0"/>
              <a:t>.</a:t>
            </a:r>
          </a:p>
          <a:p>
            <a:pPr>
              <a:defRPr/>
            </a:pPr>
            <a:r>
              <a:rPr lang="en-US" sz="1800" b="1" dirty="0"/>
              <a:t>Choose between exact and  approximate problem solving: </a:t>
            </a:r>
            <a:r>
              <a:rPr lang="en-US" sz="1800" dirty="0"/>
              <a:t>In the former case, an algorithm is called an exact algorithm; in the latter case, an algorithm is called </a:t>
            </a:r>
            <a:r>
              <a:rPr lang="en-IN" sz="1800" dirty="0"/>
              <a:t>an approximation algorithm</a:t>
            </a:r>
            <a:endParaRPr lang="en-US" sz="1800" dirty="0"/>
          </a:p>
          <a:p>
            <a:pPr>
              <a:defRPr/>
            </a:pPr>
            <a:r>
              <a:rPr lang="en-US" sz="1800" b="1" dirty="0"/>
              <a:t>Algorithm Design Techniques: </a:t>
            </a:r>
            <a:r>
              <a:rPr lang="en-US" sz="1800" dirty="0"/>
              <a:t>An algorithm design technique (or “strategy” or “paradigm”) is a general approach to solving problems algorithmically that is applicable to a variety of problems from different areas of computing.</a:t>
            </a:r>
          </a:p>
          <a:p>
            <a:pPr>
              <a:defRPr/>
            </a:pPr>
            <a:r>
              <a:rPr lang="en-US" sz="1800" b="1" dirty="0"/>
              <a:t>Designing an algorithm and Data Structures: </a:t>
            </a:r>
            <a:r>
              <a:rPr lang="en-US" sz="1800" dirty="0"/>
              <a:t> </a:t>
            </a:r>
            <a:r>
              <a:rPr lang="en-IN" sz="1800" dirty="0"/>
              <a:t>Algorithms + Data Structures = Programs</a:t>
            </a:r>
            <a:endParaRPr lang="en-US" sz="1800" dirty="0"/>
          </a:p>
          <a:p>
            <a:endParaRPr lang="en-IN" dirty="0"/>
          </a:p>
        </p:txBody>
      </p:sp>
      <p:sp>
        <p:nvSpPr>
          <p:cNvPr id="4" name="Date Placeholder 3">
            <a:extLst>
              <a:ext uri="{FF2B5EF4-FFF2-40B4-BE49-F238E27FC236}">
                <a16:creationId xmlns:a16="http://schemas.microsoft.com/office/drawing/2014/main" id="{1FD3316E-AC65-61EC-91F1-11903F97A077}"/>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090C63E5-2435-72AB-9083-54AC105EE0FD}"/>
              </a:ext>
            </a:extLst>
          </p:cNvPr>
          <p:cNvSpPr>
            <a:spLocks noGrp="1"/>
          </p:cNvSpPr>
          <p:nvPr>
            <p:ph type="sldNum" sz="quarter" idx="12"/>
          </p:nvPr>
        </p:nvSpPr>
        <p:spPr/>
        <p:txBody>
          <a:bodyPr/>
          <a:lstStyle/>
          <a:p>
            <a:fld id="{24BEA51C-495D-44A2-B925-9AAC4BD9F0A2}" type="slidenum">
              <a:rPr lang="en-IN" smtClean="0"/>
              <a:t>14</a:t>
            </a:fld>
            <a:endParaRPr lang="en-IN"/>
          </a:p>
        </p:txBody>
      </p:sp>
      <p:sp>
        <p:nvSpPr>
          <p:cNvPr id="7" name="Footer Placeholder 4">
            <a:extLst>
              <a:ext uri="{FF2B5EF4-FFF2-40B4-BE49-F238E27FC236}">
                <a16:creationId xmlns:a16="http://schemas.microsoft.com/office/drawing/2014/main" id="{ECD22C52-8EDA-C7D5-934B-B9B3478276CF}"/>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2991698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B9747-D23C-AB8B-228B-6AEEDAF188D8}"/>
              </a:ext>
            </a:extLst>
          </p:cNvPr>
          <p:cNvSpPr>
            <a:spLocks noGrp="1"/>
          </p:cNvSpPr>
          <p:nvPr>
            <p:ph type="title"/>
          </p:nvPr>
        </p:nvSpPr>
        <p:spPr>
          <a:xfrm>
            <a:off x="838200" y="176443"/>
            <a:ext cx="9815111" cy="562163"/>
          </a:xfrm>
        </p:spPr>
        <p:txBody>
          <a:bodyPr>
            <a:normAutofit/>
          </a:bodyPr>
          <a:lstStyle/>
          <a:p>
            <a:r>
              <a:rPr lang="en-US" sz="2400" dirty="0"/>
              <a:t>Fundamentals of Algorithmic Problem Solving</a:t>
            </a:r>
            <a:endParaRPr lang="en-IN" sz="2400" dirty="0"/>
          </a:p>
        </p:txBody>
      </p:sp>
      <p:sp>
        <p:nvSpPr>
          <p:cNvPr id="3" name="Content Placeholder 2">
            <a:extLst>
              <a:ext uri="{FF2B5EF4-FFF2-40B4-BE49-F238E27FC236}">
                <a16:creationId xmlns:a16="http://schemas.microsoft.com/office/drawing/2014/main" id="{5C6D5F9F-4739-BF63-1158-82C28A68A0F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CA885F3F-7868-A157-7DBA-F891FD2938D4}"/>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8AB3F8C6-9382-F3F7-B49E-589775F48E47}"/>
              </a:ext>
            </a:extLst>
          </p:cNvPr>
          <p:cNvSpPr>
            <a:spLocks noGrp="1"/>
          </p:cNvSpPr>
          <p:nvPr>
            <p:ph type="sldNum" sz="quarter" idx="12"/>
          </p:nvPr>
        </p:nvSpPr>
        <p:spPr/>
        <p:txBody>
          <a:bodyPr/>
          <a:lstStyle/>
          <a:p>
            <a:fld id="{24BEA51C-495D-44A2-B925-9AAC4BD9F0A2}" type="slidenum">
              <a:rPr lang="en-IN" smtClean="0"/>
              <a:t>15</a:t>
            </a:fld>
            <a:endParaRPr lang="en-IN"/>
          </a:p>
        </p:txBody>
      </p:sp>
      <p:grpSp>
        <p:nvGrpSpPr>
          <p:cNvPr id="7" name="Group 4">
            <a:extLst>
              <a:ext uri="{FF2B5EF4-FFF2-40B4-BE49-F238E27FC236}">
                <a16:creationId xmlns:a16="http://schemas.microsoft.com/office/drawing/2014/main" id="{AB0E810A-4BBE-7E60-2DC0-EE2AC7BF3ABC}"/>
              </a:ext>
            </a:extLst>
          </p:cNvPr>
          <p:cNvGrpSpPr>
            <a:grpSpLocks/>
          </p:cNvGrpSpPr>
          <p:nvPr/>
        </p:nvGrpSpPr>
        <p:grpSpPr bwMode="auto">
          <a:xfrm>
            <a:off x="3512592" y="762000"/>
            <a:ext cx="6172200" cy="5334000"/>
            <a:chOff x="3420" y="8280"/>
            <a:chExt cx="5580" cy="5942"/>
          </a:xfrm>
        </p:grpSpPr>
        <p:grpSp>
          <p:nvGrpSpPr>
            <p:cNvPr id="8" name="Group 5">
              <a:extLst>
                <a:ext uri="{FF2B5EF4-FFF2-40B4-BE49-F238E27FC236}">
                  <a16:creationId xmlns:a16="http://schemas.microsoft.com/office/drawing/2014/main" id="{FE0CF560-FB17-A228-545B-A13BC82DB82C}"/>
                </a:ext>
              </a:extLst>
            </p:cNvPr>
            <p:cNvGrpSpPr>
              <a:grpSpLocks/>
            </p:cNvGrpSpPr>
            <p:nvPr/>
          </p:nvGrpSpPr>
          <p:grpSpPr bwMode="auto">
            <a:xfrm>
              <a:off x="4140" y="8280"/>
              <a:ext cx="3600" cy="5942"/>
              <a:chOff x="4140" y="8280"/>
              <a:chExt cx="3600" cy="5942"/>
            </a:xfrm>
          </p:grpSpPr>
          <p:grpSp>
            <p:nvGrpSpPr>
              <p:cNvPr id="17" name="Group 6">
                <a:extLst>
                  <a:ext uri="{FF2B5EF4-FFF2-40B4-BE49-F238E27FC236}">
                    <a16:creationId xmlns:a16="http://schemas.microsoft.com/office/drawing/2014/main" id="{AB96B694-0221-142D-EE9A-2D09AD2F75BD}"/>
                  </a:ext>
                </a:extLst>
              </p:cNvPr>
              <p:cNvGrpSpPr>
                <a:grpSpLocks/>
              </p:cNvGrpSpPr>
              <p:nvPr/>
            </p:nvGrpSpPr>
            <p:grpSpPr bwMode="auto">
              <a:xfrm>
                <a:off x="4140" y="8280"/>
                <a:ext cx="3600" cy="5040"/>
                <a:chOff x="4140" y="8280"/>
                <a:chExt cx="3600" cy="5040"/>
              </a:xfrm>
            </p:grpSpPr>
            <p:grpSp>
              <p:nvGrpSpPr>
                <p:cNvPr id="20" name="Group 7">
                  <a:extLst>
                    <a:ext uri="{FF2B5EF4-FFF2-40B4-BE49-F238E27FC236}">
                      <a16:creationId xmlns:a16="http://schemas.microsoft.com/office/drawing/2014/main" id="{D8E6D4D0-FC7A-8B5B-7553-7C160D30A208}"/>
                    </a:ext>
                  </a:extLst>
                </p:cNvPr>
                <p:cNvGrpSpPr>
                  <a:grpSpLocks/>
                </p:cNvGrpSpPr>
                <p:nvPr/>
              </p:nvGrpSpPr>
              <p:grpSpPr bwMode="auto">
                <a:xfrm>
                  <a:off x="4140" y="8280"/>
                  <a:ext cx="3600" cy="4139"/>
                  <a:chOff x="4140" y="8280"/>
                  <a:chExt cx="3600" cy="4139"/>
                </a:xfrm>
              </p:grpSpPr>
              <p:grpSp>
                <p:nvGrpSpPr>
                  <p:cNvPr id="23" name="Group 8">
                    <a:extLst>
                      <a:ext uri="{FF2B5EF4-FFF2-40B4-BE49-F238E27FC236}">
                        <a16:creationId xmlns:a16="http://schemas.microsoft.com/office/drawing/2014/main" id="{C6F75332-A0C7-A082-948E-A7D6D66F9D4E}"/>
                      </a:ext>
                    </a:extLst>
                  </p:cNvPr>
                  <p:cNvGrpSpPr>
                    <a:grpSpLocks/>
                  </p:cNvGrpSpPr>
                  <p:nvPr/>
                </p:nvGrpSpPr>
                <p:grpSpPr bwMode="auto">
                  <a:xfrm>
                    <a:off x="4140" y="8280"/>
                    <a:ext cx="3600" cy="3241"/>
                    <a:chOff x="4140" y="8280"/>
                    <a:chExt cx="3600" cy="3241"/>
                  </a:xfrm>
                </p:grpSpPr>
                <p:grpSp>
                  <p:nvGrpSpPr>
                    <p:cNvPr id="26" name="Group 9">
                      <a:extLst>
                        <a:ext uri="{FF2B5EF4-FFF2-40B4-BE49-F238E27FC236}">
                          <a16:creationId xmlns:a16="http://schemas.microsoft.com/office/drawing/2014/main" id="{D80DE13D-CB8A-C375-B8DD-EB23698DE4B7}"/>
                        </a:ext>
                      </a:extLst>
                    </p:cNvPr>
                    <p:cNvGrpSpPr>
                      <a:grpSpLocks/>
                    </p:cNvGrpSpPr>
                    <p:nvPr/>
                  </p:nvGrpSpPr>
                  <p:grpSpPr bwMode="auto">
                    <a:xfrm>
                      <a:off x="4140" y="8280"/>
                      <a:ext cx="3600" cy="2160"/>
                      <a:chOff x="4140" y="8280"/>
                      <a:chExt cx="3600" cy="2160"/>
                    </a:xfrm>
                  </p:grpSpPr>
                  <p:sp>
                    <p:nvSpPr>
                      <p:cNvPr id="29" name="Rectangle 10">
                        <a:extLst>
                          <a:ext uri="{FF2B5EF4-FFF2-40B4-BE49-F238E27FC236}">
                            <a16:creationId xmlns:a16="http://schemas.microsoft.com/office/drawing/2014/main" id="{88ED7E51-5E0E-5A51-C1D6-4719C6837C8F}"/>
                          </a:ext>
                        </a:extLst>
                      </p:cNvPr>
                      <p:cNvSpPr>
                        <a:spLocks noChangeArrowheads="1"/>
                      </p:cNvSpPr>
                      <p:nvPr/>
                    </p:nvSpPr>
                    <p:spPr bwMode="auto">
                      <a:xfrm>
                        <a:off x="4320" y="8280"/>
                        <a:ext cx="2880" cy="539"/>
                      </a:xfrm>
                      <a:prstGeom prst="rect">
                        <a:avLst/>
                      </a:prstGeom>
                      <a:solidFill>
                        <a:srgbClr val="FFFFFF"/>
                      </a:solidFill>
                      <a:ln w="9525">
                        <a:solidFill>
                          <a:schemeClr val="tx1"/>
                        </a:solidFill>
                        <a:miter lim="800000"/>
                        <a:headEnd/>
                        <a:tailEnd/>
                      </a:ln>
                    </p:spPr>
                    <p:txBody>
                      <a:bodyPr/>
                      <a:lstStyle/>
                      <a:p>
                        <a:pPr eaLnBrk="1" hangingPunct="1"/>
                        <a:r>
                          <a:rPr lang="en-US" sz="2000" b="1">
                            <a:latin typeface="Times New Roman" pitchFamily="18" charset="0"/>
                          </a:rPr>
                          <a:t>Understand the problem</a:t>
                        </a:r>
                      </a:p>
                    </p:txBody>
                  </p:sp>
                  <p:sp>
                    <p:nvSpPr>
                      <p:cNvPr id="30" name="Rectangle 11">
                        <a:extLst>
                          <a:ext uri="{FF2B5EF4-FFF2-40B4-BE49-F238E27FC236}">
                            <a16:creationId xmlns:a16="http://schemas.microsoft.com/office/drawing/2014/main" id="{88B9518E-A000-3E6B-0D4D-FF2D9BEFCF56}"/>
                          </a:ext>
                        </a:extLst>
                      </p:cNvPr>
                      <p:cNvSpPr>
                        <a:spLocks noChangeArrowheads="1"/>
                      </p:cNvSpPr>
                      <p:nvPr/>
                    </p:nvSpPr>
                    <p:spPr bwMode="auto">
                      <a:xfrm>
                        <a:off x="4140" y="9180"/>
                        <a:ext cx="3600" cy="1260"/>
                      </a:xfrm>
                      <a:prstGeom prst="rect">
                        <a:avLst/>
                      </a:prstGeom>
                      <a:solidFill>
                        <a:srgbClr val="FFFFFF"/>
                      </a:solidFill>
                      <a:ln w="9525">
                        <a:solidFill>
                          <a:schemeClr val="tx1"/>
                        </a:solidFill>
                        <a:miter lim="800000"/>
                        <a:headEnd/>
                        <a:tailEnd/>
                      </a:ln>
                    </p:spPr>
                    <p:txBody>
                      <a:bodyPr/>
                      <a:lstStyle/>
                      <a:p>
                        <a:pPr algn="ctr" eaLnBrk="1" hangingPunct="1"/>
                        <a:r>
                          <a:rPr lang="en-US" b="1">
                            <a:latin typeface="Times New Roman" pitchFamily="18" charset="0"/>
                          </a:rPr>
                          <a:t>Decide on computational means</a:t>
                        </a:r>
                      </a:p>
                      <a:p>
                        <a:pPr algn="ctr" eaLnBrk="1" hangingPunct="1"/>
                        <a:r>
                          <a:rPr lang="en-US" b="1">
                            <a:latin typeface="Times New Roman" pitchFamily="18" charset="0"/>
                          </a:rPr>
                          <a:t>Exact vs approximate solution</a:t>
                        </a:r>
                      </a:p>
                      <a:p>
                        <a:pPr algn="ctr" eaLnBrk="1" hangingPunct="1"/>
                        <a:r>
                          <a:rPr lang="en-US" b="1">
                            <a:latin typeface="Times New Roman" pitchFamily="18" charset="0"/>
                          </a:rPr>
                          <a:t>Data structures</a:t>
                        </a:r>
                      </a:p>
                      <a:p>
                        <a:pPr algn="ctr" eaLnBrk="1" hangingPunct="1"/>
                        <a:r>
                          <a:rPr lang="en-US" b="1">
                            <a:latin typeface="Times New Roman" pitchFamily="18" charset="0"/>
                          </a:rPr>
                          <a:t>Algorithm design technique</a:t>
                        </a:r>
                      </a:p>
                    </p:txBody>
                  </p:sp>
                  <p:sp>
                    <p:nvSpPr>
                      <p:cNvPr id="31" name="Line 12">
                        <a:extLst>
                          <a:ext uri="{FF2B5EF4-FFF2-40B4-BE49-F238E27FC236}">
                            <a16:creationId xmlns:a16="http://schemas.microsoft.com/office/drawing/2014/main" id="{C625279B-4858-D7B6-0E8A-FD0A3BF54FB2}"/>
                          </a:ext>
                        </a:extLst>
                      </p:cNvPr>
                      <p:cNvSpPr>
                        <a:spLocks noChangeShapeType="1"/>
                      </p:cNvSpPr>
                      <p:nvPr/>
                    </p:nvSpPr>
                    <p:spPr bwMode="auto">
                      <a:xfrm>
                        <a:off x="5760" y="8820"/>
                        <a:ext cx="0" cy="360"/>
                      </a:xfrm>
                      <a:prstGeom prst="line">
                        <a:avLst/>
                      </a:prstGeom>
                      <a:noFill/>
                      <a:ln w="9525">
                        <a:solidFill>
                          <a:schemeClr val="tx1"/>
                        </a:solidFill>
                        <a:round/>
                        <a:headEnd/>
                        <a:tailEnd type="triangle" w="med" len="med"/>
                      </a:ln>
                    </p:spPr>
                    <p:txBody>
                      <a:bodyPr/>
                      <a:lstStyle/>
                      <a:p>
                        <a:endParaRPr lang="en-US"/>
                      </a:p>
                    </p:txBody>
                  </p:sp>
                </p:grpSp>
                <p:sp>
                  <p:nvSpPr>
                    <p:cNvPr id="27" name="Rectangle 13">
                      <a:extLst>
                        <a:ext uri="{FF2B5EF4-FFF2-40B4-BE49-F238E27FC236}">
                          <a16:creationId xmlns:a16="http://schemas.microsoft.com/office/drawing/2014/main" id="{2C2CCA0C-9D1D-CB75-CF40-4FF2AD50DD87}"/>
                        </a:ext>
                      </a:extLst>
                    </p:cNvPr>
                    <p:cNvSpPr>
                      <a:spLocks noChangeArrowheads="1"/>
                    </p:cNvSpPr>
                    <p:nvPr/>
                  </p:nvSpPr>
                  <p:spPr bwMode="auto">
                    <a:xfrm>
                      <a:off x="4680" y="10980"/>
                      <a:ext cx="2340" cy="541"/>
                    </a:xfrm>
                    <a:prstGeom prst="rect">
                      <a:avLst/>
                    </a:prstGeom>
                    <a:solidFill>
                      <a:srgbClr val="FFFFFF"/>
                    </a:solidFill>
                    <a:ln w="9525">
                      <a:solidFill>
                        <a:schemeClr val="tx1"/>
                      </a:solidFill>
                      <a:miter lim="800000"/>
                      <a:headEnd/>
                      <a:tailEnd/>
                    </a:ln>
                  </p:spPr>
                  <p:txBody>
                    <a:bodyPr/>
                    <a:lstStyle/>
                    <a:p>
                      <a:pPr eaLnBrk="1" hangingPunct="1"/>
                      <a:r>
                        <a:rPr lang="en-US" sz="2000" b="1">
                          <a:latin typeface="Times New Roman" pitchFamily="18" charset="0"/>
                        </a:rPr>
                        <a:t>Design an algorithm</a:t>
                      </a:r>
                    </a:p>
                  </p:txBody>
                </p:sp>
                <p:sp>
                  <p:nvSpPr>
                    <p:cNvPr id="28" name="Line 14">
                      <a:extLst>
                        <a:ext uri="{FF2B5EF4-FFF2-40B4-BE49-F238E27FC236}">
                          <a16:creationId xmlns:a16="http://schemas.microsoft.com/office/drawing/2014/main" id="{B1D956F3-16F3-E6E9-7EE1-AEE4573794EF}"/>
                        </a:ext>
                      </a:extLst>
                    </p:cNvPr>
                    <p:cNvSpPr>
                      <a:spLocks noChangeShapeType="1"/>
                    </p:cNvSpPr>
                    <p:nvPr/>
                  </p:nvSpPr>
                  <p:spPr bwMode="auto">
                    <a:xfrm>
                      <a:off x="5760" y="10440"/>
                      <a:ext cx="0" cy="540"/>
                    </a:xfrm>
                    <a:prstGeom prst="line">
                      <a:avLst/>
                    </a:prstGeom>
                    <a:noFill/>
                    <a:ln w="9525">
                      <a:solidFill>
                        <a:schemeClr val="tx1"/>
                      </a:solidFill>
                      <a:round/>
                      <a:headEnd/>
                      <a:tailEnd type="triangle" w="med" len="med"/>
                    </a:ln>
                  </p:spPr>
                  <p:txBody>
                    <a:bodyPr/>
                    <a:lstStyle/>
                    <a:p>
                      <a:endParaRPr lang="en-US"/>
                    </a:p>
                  </p:txBody>
                </p:sp>
              </p:grpSp>
              <p:sp>
                <p:nvSpPr>
                  <p:cNvPr id="24" name="Rectangle 15">
                    <a:extLst>
                      <a:ext uri="{FF2B5EF4-FFF2-40B4-BE49-F238E27FC236}">
                        <a16:creationId xmlns:a16="http://schemas.microsoft.com/office/drawing/2014/main" id="{CF0AEE93-A65B-5754-5CCB-1155FEEEAA99}"/>
                      </a:ext>
                    </a:extLst>
                  </p:cNvPr>
                  <p:cNvSpPr>
                    <a:spLocks noChangeArrowheads="1"/>
                  </p:cNvSpPr>
                  <p:nvPr/>
                </p:nvSpPr>
                <p:spPr bwMode="auto">
                  <a:xfrm>
                    <a:off x="4680" y="11880"/>
                    <a:ext cx="2520" cy="539"/>
                  </a:xfrm>
                  <a:prstGeom prst="rect">
                    <a:avLst/>
                  </a:prstGeom>
                  <a:solidFill>
                    <a:srgbClr val="FFFFFF"/>
                  </a:solidFill>
                  <a:ln w="9525">
                    <a:solidFill>
                      <a:schemeClr val="tx1"/>
                    </a:solidFill>
                    <a:miter lim="800000"/>
                    <a:headEnd/>
                    <a:tailEnd/>
                  </a:ln>
                </p:spPr>
                <p:txBody>
                  <a:bodyPr/>
                  <a:lstStyle/>
                  <a:p>
                    <a:pPr eaLnBrk="1" hangingPunct="1"/>
                    <a:r>
                      <a:rPr lang="en-US" sz="2000" b="1">
                        <a:latin typeface="Times New Roman" pitchFamily="18" charset="0"/>
                      </a:rPr>
                      <a:t>Prove correctness</a:t>
                    </a:r>
                  </a:p>
                </p:txBody>
              </p:sp>
              <p:sp>
                <p:nvSpPr>
                  <p:cNvPr id="25" name="Line 16">
                    <a:extLst>
                      <a:ext uri="{FF2B5EF4-FFF2-40B4-BE49-F238E27FC236}">
                        <a16:creationId xmlns:a16="http://schemas.microsoft.com/office/drawing/2014/main" id="{8E0FCE97-278D-F841-392A-1D6350C3804E}"/>
                      </a:ext>
                    </a:extLst>
                  </p:cNvPr>
                  <p:cNvSpPr>
                    <a:spLocks noChangeShapeType="1"/>
                  </p:cNvSpPr>
                  <p:nvPr/>
                </p:nvSpPr>
                <p:spPr bwMode="auto">
                  <a:xfrm>
                    <a:off x="5760" y="11520"/>
                    <a:ext cx="0" cy="360"/>
                  </a:xfrm>
                  <a:prstGeom prst="line">
                    <a:avLst/>
                  </a:prstGeom>
                  <a:noFill/>
                  <a:ln w="9525">
                    <a:solidFill>
                      <a:schemeClr val="tx1"/>
                    </a:solidFill>
                    <a:round/>
                    <a:headEnd/>
                    <a:tailEnd type="triangle" w="med" len="med"/>
                  </a:ln>
                </p:spPr>
                <p:txBody>
                  <a:bodyPr/>
                  <a:lstStyle/>
                  <a:p>
                    <a:endParaRPr lang="en-US"/>
                  </a:p>
                </p:txBody>
              </p:sp>
            </p:grpSp>
            <p:sp>
              <p:nvSpPr>
                <p:cNvPr id="21" name="Rectangle 17">
                  <a:extLst>
                    <a:ext uri="{FF2B5EF4-FFF2-40B4-BE49-F238E27FC236}">
                      <a16:creationId xmlns:a16="http://schemas.microsoft.com/office/drawing/2014/main" id="{05B40661-6BE8-E5BC-79A9-3E2A63C62EA8}"/>
                    </a:ext>
                  </a:extLst>
                </p:cNvPr>
                <p:cNvSpPr>
                  <a:spLocks noChangeArrowheads="1"/>
                </p:cNvSpPr>
                <p:nvPr/>
              </p:nvSpPr>
              <p:spPr bwMode="auto">
                <a:xfrm>
                  <a:off x="4680" y="12780"/>
                  <a:ext cx="2520" cy="540"/>
                </a:xfrm>
                <a:prstGeom prst="rect">
                  <a:avLst/>
                </a:prstGeom>
                <a:solidFill>
                  <a:srgbClr val="FFFFFF"/>
                </a:solidFill>
                <a:ln w="9525">
                  <a:solidFill>
                    <a:schemeClr val="tx1"/>
                  </a:solidFill>
                  <a:miter lim="800000"/>
                  <a:headEnd/>
                  <a:tailEnd/>
                </a:ln>
              </p:spPr>
              <p:txBody>
                <a:bodyPr/>
                <a:lstStyle/>
                <a:p>
                  <a:pPr eaLnBrk="1" hangingPunct="1"/>
                  <a:r>
                    <a:rPr lang="en-US" sz="2000" b="1">
                      <a:latin typeface="Times New Roman" pitchFamily="18" charset="0"/>
                    </a:rPr>
                    <a:t>Analyze the algorithm</a:t>
                  </a:r>
                </a:p>
              </p:txBody>
            </p:sp>
            <p:sp>
              <p:nvSpPr>
                <p:cNvPr id="22" name="Line 18">
                  <a:extLst>
                    <a:ext uri="{FF2B5EF4-FFF2-40B4-BE49-F238E27FC236}">
                      <a16:creationId xmlns:a16="http://schemas.microsoft.com/office/drawing/2014/main" id="{0B6D9B2D-D392-E704-62E2-C8EA43AB4C48}"/>
                    </a:ext>
                  </a:extLst>
                </p:cNvPr>
                <p:cNvSpPr>
                  <a:spLocks noChangeShapeType="1"/>
                </p:cNvSpPr>
                <p:nvPr/>
              </p:nvSpPr>
              <p:spPr bwMode="auto">
                <a:xfrm>
                  <a:off x="5760" y="12420"/>
                  <a:ext cx="0" cy="360"/>
                </a:xfrm>
                <a:prstGeom prst="line">
                  <a:avLst/>
                </a:prstGeom>
                <a:noFill/>
                <a:ln w="9525">
                  <a:solidFill>
                    <a:schemeClr val="tx1"/>
                  </a:solidFill>
                  <a:round/>
                  <a:headEnd/>
                  <a:tailEnd type="triangle" w="med" len="med"/>
                </a:ln>
              </p:spPr>
              <p:txBody>
                <a:bodyPr/>
                <a:lstStyle/>
                <a:p>
                  <a:endParaRPr lang="en-US"/>
                </a:p>
              </p:txBody>
            </p:sp>
          </p:grpSp>
          <p:sp>
            <p:nvSpPr>
              <p:cNvPr id="18" name="Text Box 19">
                <a:extLst>
                  <a:ext uri="{FF2B5EF4-FFF2-40B4-BE49-F238E27FC236}">
                    <a16:creationId xmlns:a16="http://schemas.microsoft.com/office/drawing/2014/main" id="{52DE5D2B-429F-B82A-6F23-2F7C9DA30287}"/>
                  </a:ext>
                </a:extLst>
              </p:cNvPr>
              <p:cNvSpPr txBox="1">
                <a:spLocks noChangeArrowheads="1"/>
              </p:cNvSpPr>
              <p:nvPr/>
            </p:nvSpPr>
            <p:spPr bwMode="auto">
              <a:xfrm>
                <a:off x="4680" y="13680"/>
                <a:ext cx="2340" cy="542"/>
              </a:xfrm>
              <a:prstGeom prst="rect">
                <a:avLst/>
              </a:prstGeom>
              <a:solidFill>
                <a:srgbClr val="FFFFFF"/>
              </a:solidFill>
              <a:ln w="9525">
                <a:solidFill>
                  <a:schemeClr val="tx1"/>
                </a:solidFill>
                <a:miter lim="800000"/>
                <a:headEnd/>
                <a:tailEnd/>
              </a:ln>
            </p:spPr>
            <p:txBody>
              <a:bodyPr/>
              <a:lstStyle/>
              <a:p>
                <a:pPr eaLnBrk="1" hangingPunct="1"/>
                <a:r>
                  <a:rPr lang="en-US" sz="2000" b="1">
                    <a:latin typeface="Times New Roman" pitchFamily="18" charset="0"/>
                  </a:rPr>
                  <a:t>Code the algorithm</a:t>
                </a:r>
              </a:p>
            </p:txBody>
          </p:sp>
          <p:sp>
            <p:nvSpPr>
              <p:cNvPr id="19" name="Line 20">
                <a:extLst>
                  <a:ext uri="{FF2B5EF4-FFF2-40B4-BE49-F238E27FC236}">
                    <a16:creationId xmlns:a16="http://schemas.microsoft.com/office/drawing/2014/main" id="{DE644C7D-7F82-7A8F-D922-552E88B24CF9}"/>
                  </a:ext>
                </a:extLst>
              </p:cNvPr>
              <p:cNvSpPr>
                <a:spLocks noChangeShapeType="1"/>
              </p:cNvSpPr>
              <p:nvPr/>
            </p:nvSpPr>
            <p:spPr bwMode="auto">
              <a:xfrm>
                <a:off x="5760" y="13320"/>
                <a:ext cx="0" cy="360"/>
              </a:xfrm>
              <a:prstGeom prst="line">
                <a:avLst/>
              </a:prstGeom>
              <a:noFill/>
              <a:ln w="9525">
                <a:solidFill>
                  <a:schemeClr val="tx1"/>
                </a:solidFill>
                <a:round/>
                <a:headEnd/>
                <a:tailEnd type="triangle" w="med" len="med"/>
              </a:ln>
            </p:spPr>
            <p:txBody>
              <a:bodyPr/>
              <a:lstStyle/>
              <a:p>
                <a:endParaRPr lang="en-US"/>
              </a:p>
            </p:txBody>
          </p:sp>
        </p:grpSp>
        <p:sp>
          <p:nvSpPr>
            <p:cNvPr id="9" name="Line 21">
              <a:extLst>
                <a:ext uri="{FF2B5EF4-FFF2-40B4-BE49-F238E27FC236}">
                  <a16:creationId xmlns:a16="http://schemas.microsoft.com/office/drawing/2014/main" id="{282AA8A9-2C73-EB4E-4D10-8753FA717ED4}"/>
                </a:ext>
              </a:extLst>
            </p:cNvPr>
            <p:cNvSpPr>
              <a:spLocks noChangeShapeType="1"/>
            </p:cNvSpPr>
            <p:nvPr/>
          </p:nvSpPr>
          <p:spPr bwMode="auto">
            <a:xfrm>
              <a:off x="7200" y="13056"/>
              <a:ext cx="1800" cy="0"/>
            </a:xfrm>
            <a:prstGeom prst="line">
              <a:avLst/>
            </a:prstGeom>
            <a:noFill/>
            <a:ln w="9525">
              <a:solidFill>
                <a:schemeClr val="tx1"/>
              </a:solidFill>
              <a:round/>
              <a:headEnd/>
              <a:tailEnd/>
            </a:ln>
          </p:spPr>
          <p:txBody>
            <a:bodyPr/>
            <a:lstStyle/>
            <a:p>
              <a:endParaRPr lang="en-US"/>
            </a:p>
          </p:txBody>
        </p:sp>
        <p:sp>
          <p:nvSpPr>
            <p:cNvPr id="10" name="Line 22">
              <a:extLst>
                <a:ext uri="{FF2B5EF4-FFF2-40B4-BE49-F238E27FC236}">
                  <a16:creationId xmlns:a16="http://schemas.microsoft.com/office/drawing/2014/main" id="{0D4390B8-36B3-6DBE-3035-8E2591EE23ED}"/>
                </a:ext>
              </a:extLst>
            </p:cNvPr>
            <p:cNvSpPr>
              <a:spLocks noChangeShapeType="1"/>
            </p:cNvSpPr>
            <p:nvPr/>
          </p:nvSpPr>
          <p:spPr bwMode="auto">
            <a:xfrm flipV="1">
              <a:off x="9000" y="10080"/>
              <a:ext cx="0" cy="3060"/>
            </a:xfrm>
            <a:prstGeom prst="line">
              <a:avLst/>
            </a:prstGeom>
            <a:noFill/>
            <a:ln w="9525">
              <a:solidFill>
                <a:schemeClr val="tx1"/>
              </a:solidFill>
              <a:round/>
              <a:headEnd/>
              <a:tailEnd/>
            </a:ln>
          </p:spPr>
          <p:txBody>
            <a:bodyPr/>
            <a:lstStyle/>
            <a:p>
              <a:endParaRPr lang="en-US"/>
            </a:p>
          </p:txBody>
        </p:sp>
        <p:sp>
          <p:nvSpPr>
            <p:cNvPr id="11" name="Line 23">
              <a:extLst>
                <a:ext uri="{FF2B5EF4-FFF2-40B4-BE49-F238E27FC236}">
                  <a16:creationId xmlns:a16="http://schemas.microsoft.com/office/drawing/2014/main" id="{AE28F444-F384-D711-8146-91CA4CDF8725}"/>
                </a:ext>
              </a:extLst>
            </p:cNvPr>
            <p:cNvSpPr>
              <a:spLocks noChangeShapeType="1"/>
            </p:cNvSpPr>
            <p:nvPr/>
          </p:nvSpPr>
          <p:spPr bwMode="auto">
            <a:xfrm flipH="1">
              <a:off x="7740" y="10080"/>
              <a:ext cx="1260" cy="0"/>
            </a:xfrm>
            <a:prstGeom prst="line">
              <a:avLst/>
            </a:prstGeom>
            <a:noFill/>
            <a:ln w="9525">
              <a:solidFill>
                <a:schemeClr val="tx1"/>
              </a:solidFill>
              <a:round/>
              <a:headEnd/>
              <a:tailEnd type="triangle" w="med" len="med"/>
            </a:ln>
          </p:spPr>
          <p:txBody>
            <a:bodyPr/>
            <a:lstStyle/>
            <a:p>
              <a:endParaRPr lang="en-US"/>
            </a:p>
          </p:txBody>
        </p:sp>
        <p:sp>
          <p:nvSpPr>
            <p:cNvPr id="12" name="Line 24">
              <a:extLst>
                <a:ext uri="{FF2B5EF4-FFF2-40B4-BE49-F238E27FC236}">
                  <a16:creationId xmlns:a16="http://schemas.microsoft.com/office/drawing/2014/main" id="{16BBA230-C6DF-3057-04E1-537FACBA871E}"/>
                </a:ext>
              </a:extLst>
            </p:cNvPr>
            <p:cNvSpPr>
              <a:spLocks noChangeShapeType="1"/>
            </p:cNvSpPr>
            <p:nvPr/>
          </p:nvSpPr>
          <p:spPr bwMode="auto">
            <a:xfrm flipH="1">
              <a:off x="7020" y="11160"/>
              <a:ext cx="1980" cy="0"/>
            </a:xfrm>
            <a:prstGeom prst="line">
              <a:avLst/>
            </a:prstGeom>
            <a:noFill/>
            <a:ln w="9525">
              <a:solidFill>
                <a:schemeClr val="tx1"/>
              </a:solidFill>
              <a:round/>
              <a:headEnd/>
              <a:tailEnd type="triangle" w="med" len="med"/>
            </a:ln>
          </p:spPr>
          <p:txBody>
            <a:bodyPr/>
            <a:lstStyle/>
            <a:p>
              <a:endParaRPr lang="en-US"/>
            </a:p>
          </p:txBody>
        </p:sp>
        <p:sp>
          <p:nvSpPr>
            <p:cNvPr id="13" name="Line 25">
              <a:extLst>
                <a:ext uri="{FF2B5EF4-FFF2-40B4-BE49-F238E27FC236}">
                  <a16:creationId xmlns:a16="http://schemas.microsoft.com/office/drawing/2014/main" id="{5283B57C-4057-591C-85A6-F36B2168E051}"/>
                </a:ext>
              </a:extLst>
            </p:cNvPr>
            <p:cNvSpPr>
              <a:spLocks noChangeShapeType="1"/>
            </p:cNvSpPr>
            <p:nvPr/>
          </p:nvSpPr>
          <p:spPr bwMode="auto">
            <a:xfrm flipH="1">
              <a:off x="3420" y="12060"/>
              <a:ext cx="1260" cy="0"/>
            </a:xfrm>
            <a:prstGeom prst="line">
              <a:avLst/>
            </a:prstGeom>
            <a:noFill/>
            <a:ln w="9525">
              <a:solidFill>
                <a:schemeClr val="tx1"/>
              </a:solidFill>
              <a:round/>
              <a:headEnd/>
              <a:tailEnd/>
            </a:ln>
          </p:spPr>
          <p:txBody>
            <a:bodyPr/>
            <a:lstStyle/>
            <a:p>
              <a:endParaRPr lang="en-US"/>
            </a:p>
          </p:txBody>
        </p:sp>
        <p:sp>
          <p:nvSpPr>
            <p:cNvPr id="14" name="Line 26">
              <a:extLst>
                <a:ext uri="{FF2B5EF4-FFF2-40B4-BE49-F238E27FC236}">
                  <a16:creationId xmlns:a16="http://schemas.microsoft.com/office/drawing/2014/main" id="{8E955FD8-4CC5-C7A3-6DC4-37AF0353F677}"/>
                </a:ext>
              </a:extLst>
            </p:cNvPr>
            <p:cNvSpPr>
              <a:spLocks noChangeShapeType="1"/>
            </p:cNvSpPr>
            <p:nvPr/>
          </p:nvSpPr>
          <p:spPr bwMode="auto">
            <a:xfrm flipV="1">
              <a:off x="3420" y="9900"/>
              <a:ext cx="0" cy="2160"/>
            </a:xfrm>
            <a:prstGeom prst="line">
              <a:avLst/>
            </a:prstGeom>
            <a:noFill/>
            <a:ln w="9525">
              <a:solidFill>
                <a:schemeClr val="tx1"/>
              </a:solidFill>
              <a:round/>
              <a:headEnd/>
              <a:tailEnd/>
            </a:ln>
          </p:spPr>
          <p:txBody>
            <a:bodyPr/>
            <a:lstStyle/>
            <a:p>
              <a:endParaRPr lang="en-US"/>
            </a:p>
          </p:txBody>
        </p:sp>
        <p:sp>
          <p:nvSpPr>
            <p:cNvPr id="15" name="Line 27">
              <a:extLst>
                <a:ext uri="{FF2B5EF4-FFF2-40B4-BE49-F238E27FC236}">
                  <a16:creationId xmlns:a16="http://schemas.microsoft.com/office/drawing/2014/main" id="{D8C570FC-5913-B5C5-364D-7D3354F8BB50}"/>
                </a:ext>
              </a:extLst>
            </p:cNvPr>
            <p:cNvSpPr>
              <a:spLocks noChangeShapeType="1"/>
            </p:cNvSpPr>
            <p:nvPr/>
          </p:nvSpPr>
          <p:spPr bwMode="auto">
            <a:xfrm>
              <a:off x="3420" y="9900"/>
              <a:ext cx="720" cy="0"/>
            </a:xfrm>
            <a:prstGeom prst="line">
              <a:avLst/>
            </a:prstGeom>
            <a:noFill/>
            <a:ln w="9525">
              <a:solidFill>
                <a:schemeClr val="tx1"/>
              </a:solidFill>
              <a:round/>
              <a:headEnd/>
              <a:tailEnd type="triangle" w="med" len="med"/>
            </a:ln>
          </p:spPr>
          <p:txBody>
            <a:bodyPr/>
            <a:lstStyle/>
            <a:p>
              <a:endParaRPr lang="en-US"/>
            </a:p>
          </p:txBody>
        </p:sp>
        <p:sp>
          <p:nvSpPr>
            <p:cNvPr id="16" name="Line 28">
              <a:extLst>
                <a:ext uri="{FF2B5EF4-FFF2-40B4-BE49-F238E27FC236}">
                  <a16:creationId xmlns:a16="http://schemas.microsoft.com/office/drawing/2014/main" id="{6C0DA906-260F-9176-0A2B-EF05D1AF54F2}"/>
                </a:ext>
              </a:extLst>
            </p:cNvPr>
            <p:cNvSpPr>
              <a:spLocks noChangeShapeType="1"/>
            </p:cNvSpPr>
            <p:nvPr/>
          </p:nvSpPr>
          <p:spPr bwMode="auto">
            <a:xfrm>
              <a:off x="3420" y="11160"/>
              <a:ext cx="1260" cy="0"/>
            </a:xfrm>
            <a:prstGeom prst="line">
              <a:avLst/>
            </a:prstGeom>
            <a:noFill/>
            <a:ln w="9525">
              <a:solidFill>
                <a:schemeClr val="tx1"/>
              </a:solidFill>
              <a:round/>
              <a:headEnd/>
              <a:tailEnd type="triangle" w="med" len="med"/>
            </a:ln>
          </p:spPr>
          <p:txBody>
            <a:bodyPr/>
            <a:lstStyle/>
            <a:p>
              <a:endParaRPr lang="en-US"/>
            </a:p>
          </p:txBody>
        </p:sp>
      </p:grpSp>
      <p:sp>
        <p:nvSpPr>
          <p:cNvPr id="32" name="Footer Placeholder 4">
            <a:extLst>
              <a:ext uri="{FF2B5EF4-FFF2-40B4-BE49-F238E27FC236}">
                <a16:creationId xmlns:a16="http://schemas.microsoft.com/office/drawing/2014/main" id="{C9D1C39D-BA8A-8DCE-BA83-ED810804F23B}"/>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4254561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E7014-6680-182F-0B9E-8F4B8F699301}"/>
              </a:ext>
            </a:extLst>
          </p:cNvPr>
          <p:cNvSpPr>
            <a:spLocks noGrp="1"/>
          </p:cNvSpPr>
          <p:nvPr>
            <p:ph type="title"/>
          </p:nvPr>
        </p:nvSpPr>
        <p:spPr/>
        <p:txBody>
          <a:bodyPr>
            <a:normAutofit fontScale="90000"/>
          </a:bodyPr>
          <a:lstStyle/>
          <a:p>
            <a:r>
              <a:rPr lang="en-IN" dirty="0"/>
              <a:t>Proving an Algorithm’s Correctness</a:t>
            </a:r>
          </a:p>
        </p:txBody>
      </p:sp>
      <p:sp>
        <p:nvSpPr>
          <p:cNvPr id="3" name="Content Placeholder 2">
            <a:extLst>
              <a:ext uri="{FF2B5EF4-FFF2-40B4-BE49-F238E27FC236}">
                <a16:creationId xmlns:a16="http://schemas.microsoft.com/office/drawing/2014/main" id="{65F94016-820C-090B-A0B7-C5D29BDCCA92}"/>
              </a:ext>
            </a:extLst>
          </p:cNvPr>
          <p:cNvSpPr>
            <a:spLocks noGrp="1"/>
          </p:cNvSpPr>
          <p:nvPr>
            <p:ph idx="1"/>
          </p:nvPr>
        </p:nvSpPr>
        <p:spPr/>
        <p:txBody>
          <a:bodyPr>
            <a:normAutofit fontScale="92500" lnSpcReduction="10000"/>
          </a:bodyPr>
          <a:lstStyle/>
          <a:p>
            <a:r>
              <a:rPr lang="en-US" b="1" dirty="0">
                <a:solidFill>
                  <a:srgbClr val="CC0000"/>
                </a:solidFill>
              </a:rPr>
              <a:t>What does it mean to understand the problem?</a:t>
            </a:r>
          </a:p>
          <a:p>
            <a:pPr lvl="1"/>
            <a:r>
              <a:rPr lang="en-US" dirty="0"/>
              <a:t>What are the problem objects?</a:t>
            </a:r>
          </a:p>
          <a:p>
            <a:pPr lvl="1"/>
            <a:r>
              <a:rPr lang="en-US" dirty="0"/>
              <a:t>What are the operations applied to the objects?</a:t>
            </a:r>
          </a:p>
          <a:p>
            <a:r>
              <a:rPr lang="en-US" b="1" dirty="0">
                <a:solidFill>
                  <a:srgbClr val="CC0000"/>
                </a:solidFill>
              </a:rPr>
              <a:t>Deciding on computational means</a:t>
            </a:r>
          </a:p>
          <a:p>
            <a:pPr lvl="1"/>
            <a:r>
              <a:rPr lang="en-US" dirty="0"/>
              <a:t>How the objects would be represented?</a:t>
            </a:r>
          </a:p>
          <a:p>
            <a:pPr lvl="1"/>
            <a:r>
              <a:rPr lang="en-US" dirty="0"/>
              <a:t>How the operations would be implemented?</a:t>
            </a:r>
          </a:p>
          <a:p>
            <a:r>
              <a:rPr lang="en-US" b="1" dirty="0">
                <a:solidFill>
                  <a:srgbClr val="CC3300"/>
                </a:solidFill>
              </a:rPr>
              <a:t>Design an algorithm</a:t>
            </a:r>
          </a:p>
          <a:p>
            <a:pPr lvl="1">
              <a:spcBef>
                <a:spcPct val="50000"/>
              </a:spcBef>
            </a:pPr>
            <a:r>
              <a:rPr lang="en-US" dirty="0"/>
              <a:t>Build a computational model of the solving process</a:t>
            </a:r>
          </a:p>
          <a:p>
            <a:pPr>
              <a:spcBef>
                <a:spcPct val="50000"/>
              </a:spcBef>
            </a:pPr>
            <a:r>
              <a:rPr lang="en-US" b="1" dirty="0">
                <a:solidFill>
                  <a:srgbClr val="CC3300"/>
                </a:solidFill>
              </a:rPr>
              <a:t>Prove correctness</a:t>
            </a:r>
          </a:p>
          <a:p>
            <a:pPr lvl="1">
              <a:lnSpc>
                <a:spcPct val="110000"/>
              </a:lnSpc>
              <a:spcBef>
                <a:spcPts val="0"/>
              </a:spcBef>
            </a:pPr>
            <a:r>
              <a:rPr lang="en-US" dirty="0"/>
              <a:t>Correct output for every legitimate input in finite time</a:t>
            </a:r>
          </a:p>
          <a:p>
            <a:pPr lvl="1">
              <a:lnSpc>
                <a:spcPct val="110000"/>
              </a:lnSpc>
              <a:spcBef>
                <a:spcPts val="0"/>
              </a:spcBef>
            </a:pPr>
            <a:r>
              <a:rPr lang="en-US" dirty="0"/>
              <a:t>Based on correct math formula</a:t>
            </a:r>
          </a:p>
          <a:p>
            <a:pPr lvl="1">
              <a:lnSpc>
                <a:spcPct val="110000"/>
              </a:lnSpc>
              <a:spcBef>
                <a:spcPts val="0"/>
              </a:spcBef>
            </a:pPr>
            <a:r>
              <a:rPr lang="en-US" dirty="0"/>
              <a:t>By induction</a:t>
            </a:r>
          </a:p>
          <a:p>
            <a:endParaRPr lang="en-IN" dirty="0"/>
          </a:p>
        </p:txBody>
      </p:sp>
      <p:sp>
        <p:nvSpPr>
          <p:cNvPr id="4" name="Date Placeholder 3">
            <a:extLst>
              <a:ext uri="{FF2B5EF4-FFF2-40B4-BE49-F238E27FC236}">
                <a16:creationId xmlns:a16="http://schemas.microsoft.com/office/drawing/2014/main" id="{30EB6819-E8BB-C972-5F44-F92F16D5738C}"/>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A7B03C70-3FB2-EB08-FE8D-F1CEE254497B}"/>
              </a:ext>
            </a:extLst>
          </p:cNvPr>
          <p:cNvSpPr>
            <a:spLocks noGrp="1"/>
          </p:cNvSpPr>
          <p:nvPr>
            <p:ph type="sldNum" sz="quarter" idx="12"/>
          </p:nvPr>
        </p:nvSpPr>
        <p:spPr/>
        <p:txBody>
          <a:bodyPr/>
          <a:lstStyle/>
          <a:p>
            <a:fld id="{24BEA51C-495D-44A2-B925-9AAC4BD9F0A2}" type="slidenum">
              <a:rPr lang="en-IN" smtClean="0"/>
              <a:t>16</a:t>
            </a:fld>
            <a:endParaRPr lang="en-IN"/>
          </a:p>
        </p:txBody>
      </p:sp>
      <p:sp>
        <p:nvSpPr>
          <p:cNvPr id="7" name="Footer Placeholder 4">
            <a:extLst>
              <a:ext uri="{FF2B5EF4-FFF2-40B4-BE49-F238E27FC236}">
                <a16:creationId xmlns:a16="http://schemas.microsoft.com/office/drawing/2014/main" id="{BC4262BF-DEE7-6003-D3FE-FE56029C58EF}"/>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300053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80B79-C8D2-B371-68FE-92117FBB8475}"/>
              </a:ext>
            </a:extLst>
          </p:cNvPr>
          <p:cNvSpPr>
            <a:spLocks noGrp="1"/>
          </p:cNvSpPr>
          <p:nvPr>
            <p:ph type="title"/>
          </p:nvPr>
        </p:nvSpPr>
        <p:spPr/>
        <p:txBody>
          <a:bodyPr>
            <a:normAutofit fontScale="90000"/>
          </a:bodyPr>
          <a:lstStyle/>
          <a:p>
            <a:r>
              <a:rPr lang="en-US" dirty="0"/>
              <a:t>Fundamentals of Algorithmic Problem Solving</a:t>
            </a:r>
            <a:endParaRPr lang="en-IN" dirty="0"/>
          </a:p>
        </p:txBody>
      </p:sp>
      <p:sp>
        <p:nvSpPr>
          <p:cNvPr id="3" name="Content Placeholder 2">
            <a:extLst>
              <a:ext uri="{FF2B5EF4-FFF2-40B4-BE49-F238E27FC236}">
                <a16:creationId xmlns:a16="http://schemas.microsoft.com/office/drawing/2014/main" id="{5EBA70B5-CDB8-A3D4-F51D-E00D5DF6A056}"/>
              </a:ext>
            </a:extLst>
          </p:cNvPr>
          <p:cNvSpPr>
            <a:spLocks noGrp="1"/>
          </p:cNvSpPr>
          <p:nvPr>
            <p:ph idx="1"/>
          </p:nvPr>
        </p:nvSpPr>
        <p:spPr/>
        <p:txBody>
          <a:bodyPr/>
          <a:lstStyle/>
          <a:p>
            <a:r>
              <a:rPr lang="en-US" b="1" dirty="0">
                <a:solidFill>
                  <a:srgbClr val="CC3300"/>
                </a:solidFill>
              </a:rPr>
              <a:t>Analyze the algorithm</a:t>
            </a:r>
          </a:p>
          <a:p>
            <a:pPr lvl="1"/>
            <a:r>
              <a:rPr lang="en-US" sz="1900" b="1" dirty="0">
                <a:solidFill>
                  <a:srgbClr val="660066"/>
                </a:solidFill>
              </a:rPr>
              <a:t>Efficiency</a:t>
            </a:r>
            <a:r>
              <a:rPr lang="en-US" sz="1900" b="1" dirty="0"/>
              <a:t>:</a:t>
            </a:r>
            <a:r>
              <a:rPr lang="en-US" sz="1900" dirty="0"/>
              <a:t>  time and space</a:t>
            </a:r>
          </a:p>
          <a:p>
            <a:pPr lvl="1">
              <a:spcBef>
                <a:spcPct val="25000"/>
              </a:spcBef>
            </a:pPr>
            <a:r>
              <a:rPr lang="en-US" sz="1900" b="1" dirty="0">
                <a:solidFill>
                  <a:srgbClr val="660066"/>
                </a:solidFill>
              </a:rPr>
              <a:t>Simplicity</a:t>
            </a:r>
          </a:p>
          <a:p>
            <a:pPr lvl="1">
              <a:spcBef>
                <a:spcPct val="25000"/>
              </a:spcBef>
            </a:pPr>
            <a:r>
              <a:rPr lang="en-US" sz="1900" b="1" dirty="0">
                <a:solidFill>
                  <a:srgbClr val="660066"/>
                </a:solidFill>
              </a:rPr>
              <a:t>Generality:</a:t>
            </a:r>
            <a:r>
              <a:rPr lang="en-US" sz="1900" dirty="0"/>
              <a:t> range of inputs, special cases</a:t>
            </a:r>
          </a:p>
          <a:p>
            <a:pPr lvl="1">
              <a:spcBef>
                <a:spcPct val="25000"/>
              </a:spcBef>
            </a:pPr>
            <a:r>
              <a:rPr lang="en-US" sz="1900" b="1" dirty="0">
                <a:solidFill>
                  <a:srgbClr val="660066"/>
                </a:solidFill>
              </a:rPr>
              <a:t>Optimality: </a:t>
            </a:r>
            <a:r>
              <a:rPr lang="en-US" sz="1900" dirty="0"/>
              <a:t>no other algorithm can do better</a:t>
            </a:r>
          </a:p>
          <a:p>
            <a:r>
              <a:rPr lang="en-US" b="1" dirty="0">
                <a:solidFill>
                  <a:srgbClr val="CC3300"/>
                </a:solidFill>
              </a:rPr>
              <a:t>Coding an Algorithm</a:t>
            </a:r>
          </a:p>
          <a:p>
            <a:pPr lvl="1"/>
            <a:r>
              <a:rPr lang="en-US" sz="1900" dirty="0"/>
              <a:t>How the objects and operations in the algorithm are represented in the chosen programming language?</a:t>
            </a:r>
          </a:p>
          <a:p>
            <a:endParaRPr lang="en-IN" dirty="0"/>
          </a:p>
        </p:txBody>
      </p:sp>
      <p:sp>
        <p:nvSpPr>
          <p:cNvPr id="4" name="Date Placeholder 3">
            <a:extLst>
              <a:ext uri="{FF2B5EF4-FFF2-40B4-BE49-F238E27FC236}">
                <a16:creationId xmlns:a16="http://schemas.microsoft.com/office/drawing/2014/main" id="{4F263FC8-A795-958A-2EB7-BB018D838577}"/>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71350D8D-54AE-50B1-EF50-372A1EDCA63F}"/>
              </a:ext>
            </a:extLst>
          </p:cNvPr>
          <p:cNvSpPr>
            <a:spLocks noGrp="1"/>
          </p:cNvSpPr>
          <p:nvPr>
            <p:ph type="sldNum" sz="quarter" idx="12"/>
          </p:nvPr>
        </p:nvSpPr>
        <p:spPr/>
        <p:txBody>
          <a:bodyPr/>
          <a:lstStyle/>
          <a:p>
            <a:fld id="{24BEA51C-495D-44A2-B925-9AAC4BD9F0A2}" type="slidenum">
              <a:rPr lang="en-IN" smtClean="0"/>
              <a:t>17</a:t>
            </a:fld>
            <a:endParaRPr lang="en-IN"/>
          </a:p>
        </p:txBody>
      </p:sp>
      <p:sp>
        <p:nvSpPr>
          <p:cNvPr id="7" name="Footer Placeholder 4">
            <a:extLst>
              <a:ext uri="{FF2B5EF4-FFF2-40B4-BE49-F238E27FC236}">
                <a16:creationId xmlns:a16="http://schemas.microsoft.com/office/drawing/2014/main" id="{2470E1C0-6C76-90AB-B0A4-172E129CAFCC}"/>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4005619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96C39-039A-C662-E977-7B00740D302C}"/>
              </a:ext>
            </a:extLst>
          </p:cNvPr>
          <p:cNvSpPr>
            <a:spLocks noGrp="1"/>
          </p:cNvSpPr>
          <p:nvPr>
            <p:ph type="title"/>
          </p:nvPr>
        </p:nvSpPr>
        <p:spPr/>
        <p:txBody>
          <a:bodyPr>
            <a:normAutofit fontScale="90000"/>
          </a:bodyPr>
          <a:lstStyle/>
          <a:p>
            <a:r>
              <a:rPr lang="en-US" sz="4000" dirty="0">
                <a:latin typeface="+mn-lt"/>
                <a:ea typeface="ＭＳ Ｐゴシック" pitchFamily="-84" charset="-128"/>
              </a:rPr>
              <a:t>Real-World Applications</a:t>
            </a:r>
            <a:endParaRPr lang="en-IN" dirty="0"/>
          </a:p>
        </p:txBody>
      </p:sp>
      <p:sp>
        <p:nvSpPr>
          <p:cNvPr id="3" name="Content Placeholder 2">
            <a:extLst>
              <a:ext uri="{FF2B5EF4-FFF2-40B4-BE49-F238E27FC236}">
                <a16:creationId xmlns:a16="http://schemas.microsoft.com/office/drawing/2014/main" id="{B92378F5-77FC-C1AA-791C-E2B49BE0E7AB}"/>
              </a:ext>
            </a:extLst>
          </p:cNvPr>
          <p:cNvSpPr>
            <a:spLocks noGrp="1"/>
          </p:cNvSpPr>
          <p:nvPr>
            <p:ph idx="1"/>
          </p:nvPr>
        </p:nvSpPr>
        <p:spPr/>
        <p:txBody>
          <a:bodyPr>
            <a:normAutofit lnSpcReduction="10000"/>
          </a:bodyPr>
          <a:lstStyle/>
          <a:p>
            <a:r>
              <a:rPr lang="en-US" dirty="0">
                <a:ea typeface="ＭＳ Ｐゴシック" pitchFamily="-84" charset="-128"/>
              </a:rPr>
              <a:t>Hardware design:  VLSI chips</a:t>
            </a:r>
          </a:p>
          <a:p>
            <a:r>
              <a:rPr lang="en-US" dirty="0">
                <a:ea typeface="ＭＳ Ｐゴシック" pitchFamily="-84" charset="-128"/>
              </a:rPr>
              <a:t>Compilers</a:t>
            </a:r>
          </a:p>
          <a:p>
            <a:r>
              <a:rPr lang="en-US" dirty="0">
                <a:ea typeface="ＭＳ Ｐゴシック" pitchFamily="-84" charset="-128"/>
              </a:rPr>
              <a:t>Computer graphics: movies, video games</a:t>
            </a:r>
          </a:p>
          <a:p>
            <a:r>
              <a:rPr lang="en-US" dirty="0">
                <a:ea typeface="ＭＳ Ｐゴシック" pitchFamily="-84" charset="-128"/>
              </a:rPr>
              <a:t>Routing messages in the Internet</a:t>
            </a:r>
          </a:p>
          <a:p>
            <a:r>
              <a:rPr lang="en-US" dirty="0">
                <a:ea typeface="ＭＳ Ｐゴシック" pitchFamily="-84" charset="-128"/>
              </a:rPr>
              <a:t>Searching the Web</a:t>
            </a:r>
          </a:p>
          <a:p>
            <a:r>
              <a:rPr lang="en-US" dirty="0">
                <a:ea typeface="ＭＳ Ｐゴシック" pitchFamily="-84" charset="-128"/>
              </a:rPr>
              <a:t>Distributed file sharing</a:t>
            </a:r>
          </a:p>
          <a:p>
            <a:r>
              <a:rPr lang="en-US" dirty="0">
                <a:ea typeface="ＭＳ Ｐゴシック" pitchFamily="-84" charset="-128"/>
              </a:rPr>
              <a:t>Computer aided design and manufacturing</a:t>
            </a:r>
          </a:p>
          <a:p>
            <a:r>
              <a:rPr lang="en-US" dirty="0">
                <a:ea typeface="ＭＳ Ｐゴシック" pitchFamily="-84" charset="-128"/>
              </a:rPr>
              <a:t>Security:  e-commerce, voting machines</a:t>
            </a:r>
          </a:p>
          <a:p>
            <a:r>
              <a:rPr lang="en-US" dirty="0">
                <a:ea typeface="ＭＳ Ｐゴシック" pitchFamily="-84" charset="-128"/>
              </a:rPr>
              <a:t>Multimedia:  CD player, DVD, MP3, JPG, HDTV</a:t>
            </a:r>
          </a:p>
          <a:p>
            <a:r>
              <a:rPr lang="en-US" dirty="0">
                <a:ea typeface="ＭＳ Ｐゴシック" pitchFamily="-84" charset="-128"/>
              </a:rPr>
              <a:t>DNA sequencing, protein folding and many more!</a:t>
            </a:r>
          </a:p>
          <a:p>
            <a:endParaRPr lang="en-US" dirty="0">
              <a:ea typeface="ＭＳ Ｐゴシック" pitchFamily="-84" charset="-128"/>
            </a:endParaRPr>
          </a:p>
          <a:p>
            <a:endParaRPr lang="en-IN" dirty="0"/>
          </a:p>
        </p:txBody>
      </p:sp>
      <p:sp>
        <p:nvSpPr>
          <p:cNvPr id="4" name="Date Placeholder 3">
            <a:extLst>
              <a:ext uri="{FF2B5EF4-FFF2-40B4-BE49-F238E27FC236}">
                <a16:creationId xmlns:a16="http://schemas.microsoft.com/office/drawing/2014/main" id="{19EA314F-A0B2-855B-547C-FFC26AE3A14B}"/>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E517E802-BBAA-D711-BD8E-54FE5DB9C227}"/>
              </a:ext>
            </a:extLst>
          </p:cNvPr>
          <p:cNvSpPr>
            <a:spLocks noGrp="1"/>
          </p:cNvSpPr>
          <p:nvPr>
            <p:ph type="sldNum" sz="quarter" idx="12"/>
          </p:nvPr>
        </p:nvSpPr>
        <p:spPr/>
        <p:txBody>
          <a:bodyPr/>
          <a:lstStyle/>
          <a:p>
            <a:fld id="{24BEA51C-495D-44A2-B925-9AAC4BD9F0A2}" type="slidenum">
              <a:rPr lang="en-IN" smtClean="0"/>
              <a:t>18</a:t>
            </a:fld>
            <a:endParaRPr lang="en-IN"/>
          </a:p>
        </p:txBody>
      </p:sp>
      <p:sp>
        <p:nvSpPr>
          <p:cNvPr id="7" name="Footer Placeholder 4">
            <a:extLst>
              <a:ext uri="{FF2B5EF4-FFF2-40B4-BE49-F238E27FC236}">
                <a16:creationId xmlns:a16="http://schemas.microsoft.com/office/drawing/2014/main" id="{094C41EC-11C9-953E-C921-58190E7157F0}"/>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774199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0DA2C-A121-8002-4EDB-767979FE3DC3}"/>
              </a:ext>
            </a:extLst>
          </p:cNvPr>
          <p:cNvSpPr>
            <a:spLocks noGrp="1"/>
          </p:cNvSpPr>
          <p:nvPr>
            <p:ph type="title"/>
          </p:nvPr>
        </p:nvSpPr>
        <p:spPr/>
        <p:txBody>
          <a:bodyPr>
            <a:normAutofit fontScale="90000"/>
          </a:bodyPr>
          <a:lstStyle/>
          <a:p>
            <a:r>
              <a:rPr lang="en-US" sz="4000" dirty="0">
                <a:latin typeface="+mn-lt"/>
                <a:ea typeface="ＭＳ Ｐゴシック" pitchFamily="-84" charset="-128"/>
              </a:rPr>
              <a:t>Some Important Problem Types</a:t>
            </a:r>
            <a:endParaRPr lang="en-IN" dirty="0"/>
          </a:p>
        </p:txBody>
      </p:sp>
      <p:sp>
        <p:nvSpPr>
          <p:cNvPr id="3" name="Content Placeholder 2">
            <a:extLst>
              <a:ext uri="{FF2B5EF4-FFF2-40B4-BE49-F238E27FC236}">
                <a16:creationId xmlns:a16="http://schemas.microsoft.com/office/drawing/2014/main" id="{41FF2BB2-5A10-0528-5E4D-ED6D42646163}"/>
              </a:ext>
            </a:extLst>
          </p:cNvPr>
          <p:cNvSpPr>
            <a:spLocks noGrp="1"/>
          </p:cNvSpPr>
          <p:nvPr>
            <p:ph idx="1"/>
          </p:nvPr>
        </p:nvSpPr>
        <p:spPr/>
        <p:txBody>
          <a:bodyPr>
            <a:normAutofit fontScale="92500" lnSpcReduction="20000"/>
          </a:bodyPr>
          <a:lstStyle/>
          <a:p>
            <a:r>
              <a:rPr lang="en-US" dirty="0">
                <a:ea typeface="ＭＳ Ｐゴシック" pitchFamily="-84" charset="-128"/>
              </a:rPr>
              <a:t>Sorting</a:t>
            </a:r>
          </a:p>
          <a:p>
            <a:pPr lvl="1"/>
            <a:r>
              <a:rPr lang="en-US" dirty="0">
                <a:ea typeface="ＭＳ Ｐゴシック" pitchFamily="-84" charset="-128"/>
              </a:rPr>
              <a:t> a set of items</a:t>
            </a:r>
          </a:p>
          <a:p>
            <a:r>
              <a:rPr lang="en-US" dirty="0">
                <a:ea typeface="ＭＳ Ｐゴシック" pitchFamily="-84" charset="-128"/>
              </a:rPr>
              <a:t>Searching</a:t>
            </a:r>
          </a:p>
          <a:p>
            <a:pPr lvl="1"/>
            <a:r>
              <a:rPr lang="en-US" dirty="0">
                <a:ea typeface="ＭＳ Ｐゴシック" pitchFamily="-84" charset="-128"/>
              </a:rPr>
              <a:t>among a set of items</a:t>
            </a:r>
          </a:p>
          <a:p>
            <a:r>
              <a:rPr lang="en-US" dirty="0">
                <a:ea typeface="ＭＳ Ｐゴシック" pitchFamily="-84" charset="-128"/>
              </a:rPr>
              <a:t>String processing</a:t>
            </a:r>
          </a:p>
          <a:p>
            <a:pPr lvl="1"/>
            <a:r>
              <a:rPr lang="en-US" dirty="0">
                <a:ea typeface="ＭＳ Ｐゴシック" pitchFamily="-84" charset="-128"/>
              </a:rPr>
              <a:t>text, bit strings, gene sequences</a:t>
            </a:r>
          </a:p>
          <a:p>
            <a:r>
              <a:rPr lang="en-US" dirty="0">
                <a:ea typeface="ＭＳ Ｐゴシック" pitchFamily="-84" charset="-128"/>
              </a:rPr>
              <a:t>Graphs</a:t>
            </a:r>
          </a:p>
          <a:p>
            <a:pPr lvl="1"/>
            <a:r>
              <a:rPr lang="en-US" dirty="0">
                <a:ea typeface="ＭＳ Ｐゴシック" pitchFamily="-84" charset="-128"/>
              </a:rPr>
              <a:t>model objects and their relationships</a:t>
            </a:r>
          </a:p>
          <a:p>
            <a:r>
              <a:rPr lang="en-US" dirty="0">
                <a:ea typeface="ＭＳ Ｐゴシック" pitchFamily="-84" charset="-128"/>
              </a:rPr>
              <a:t>Combinatorial</a:t>
            </a:r>
          </a:p>
          <a:p>
            <a:pPr lvl="1"/>
            <a:r>
              <a:rPr lang="en-US" dirty="0">
                <a:ea typeface="ＭＳ Ｐゴシック" pitchFamily="-84" charset="-128"/>
              </a:rPr>
              <a:t>find desired permutation, combination or subset</a:t>
            </a:r>
          </a:p>
          <a:p>
            <a:r>
              <a:rPr lang="en-US" dirty="0">
                <a:ea typeface="ＭＳ Ｐゴシック" pitchFamily="-84" charset="-128"/>
              </a:rPr>
              <a:t>Geometric</a:t>
            </a:r>
          </a:p>
          <a:p>
            <a:pPr lvl="1"/>
            <a:r>
              <a:rPr lang="en-US" dirty="0">
                <a:ea typeface="ＭＳ Ｐゴシック" pitchFamily="-84" charset="-128"/>
              </a:rPr>
              <a:t>graphics, imaging, robotics</a:t>
            </a:r>
          </a:p>
          <a:p>
            <a:r>
              <a:rPr lang="en-US" dirty="0">
                <a:ea typeface="ＭＳ Ｐゴシック" pitchFamily="-84" charset="-128"/>
              </a:rPr>
              <a:t>Numerical</a:t>
            </a:r>
          </a:p>
          <a:p>
            <a:pPr lvl="1"/>
            <a:r>
              <a:rPr lang="en-US" dirty="0">
                <a:ea typeface="ＭＳ Ｐゴシック" pitchFamily="-84" charset="-128"/>
              </a:rPr>
              <a:t>continuous math:  solving equations, evaluating functions</a:t>
            </a:r>
          </a:p>
          <a:p>
            <a:endParaRPr lang="en-IN" dirty="0"/>
          </a:p>
        </p:txBody>
      </p:sp>
      <p:sp>
        <p:nvSpPr>
          <p:cNvPr id="4" name="Date Placeholder 3">
            <a:extLst>
              <a:ext uri="{FF2B5EF4-FFF2-40B4-BE49-F238E27FC236}">
                <a16:creationId xmlns:a16="http://schemas.microsoft.com/office/drawing/2014/main" id="{445D2F2A-D7DB-F30D-5902-78C0C3FB5AF3}"/>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DA358BD3-288A-AB73-4BDE-4F39BB5FF22F}"/>
              </a:ext>
            </a:extLst>
          </p:cNvPr>
          <p:cNvSpPr>
            <a:spLocks noGrp="1"/>
          </p:cNvSpPr>
          <p:nvPr>
            <p:ph type="sldNum" sz="quarter" idx="12"/>
          </p:nvPr>
        </p:nvSpPr>
        <p:spPr/>
        <p:txBody>
          <a:bodyPr/>
          <a:lstStyle/>
          <a:p>
            <a:fld id="{24BEA51C-495D-44A2-B925-9AAC4BD9F0A2}" type="slidenum">
              <a:rPr lang="en-IN" smtClean="0"/>
              <a:t>19</a:t>
            </a:fld>
            <a:endParaRPr lang="en-IN"/>
          </a:p>
        </p:txBody>
      </p:sp>
      <p:sp>
        <p:nvSpPr>
          <p:cNvPr id="7" name="Footer Placeholder 4">
            <a:extLst>
              <a:ext uri="{FF2B5EF4-FFF2-40B4-BE49-F238E27FC236}">
                <a16:creationId xmlns:a16="http://schemas.microsoft.com/office/drawing/2014/main" id="{9EE6AD55-FF90-7E5B-BB73-08B7C00770A1}"/>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4176096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EDC71-60D3-A5FC-7B5C-2CD782E6AAB0}"/>
              </a:ext>
            </a:extLst>
          </p:cNvPr>
          <p:cNvSpPr>
            <a:spLocks noGrp="1"/>
          </p:cNvSpPr>
          <p:nvPr>
            <p:ph type="title"/>
          </p:nvPr>
        </p:nvSpPr>
        <p:spPr/>
        <p:txBody>
          <a:bodyPr>
            <a:normAutofit fontScale="90000"/>
          </a:bodyPr>
          <a:lstStyle/>
          <a:p>
            <a:r>
              <a:rPr lang="en-US" sz="4000" dirty="0">
                <a:latin typeface="+mn-lt"/>
              </a:rPr>
              <a:t>Algorithm  design strategies/Techniques</a:t>
            </a:r>
            <a:endParaRPr lang="en-IN" dirty="0"/>
          </a:p>
        </p:txBody>
      </p:sp>
      <p:sp>
        <p:nvSpPr>
          <p:cNvPr id="3" name="Content Placeholder 2">
            <a:extLst>
              <a:ext uri="{FF2B5EF4-FFF2-40B4-BE49-F238E27FC236}">
                <a16:creationId xmlns:a16="http://schemas.microsoft.com/office/drawing/2014/main" id="{5DEDFC86-69C1-0442-D021-7B0F58D71503}"/>
              </a:ext>
            </a:extLst>
          </p:cNvPr>
          <p:cNvSpPr>
            <a:spLocks noGrp="1"/>
          </p:cNvSpPr>
          <p:nvPr>
            <p:ph idx="1"/>
          </p:nvPr>
        </p:nvSpPr>
        <p:spPr/>
        <p:txBody>
          <a:bodyPr>
            <a:normAutofit fontScale="92500" lnSpcReduction="20000"/>
          </a:bodyPr>
          <a:lstStyle/>
          <a:p>
            <a:r>
              <a:rPr lang="en-US" dirty="0">
                <a:ea typeface="ＭＳ Ｐゴシック" pitchFamily="-84" charset="-128"/>
              </a:rPr>
              <a:t>Brute Force &amp; Exhaustive Search</a:t>
            </a:r>
          </a:p>
          <a:p>
            <a:pPr lvl="1"/>
            <a:r>
              <a:rPr lang="en-US" dirty="0">
                <a:ea typeface="ＭＳ Ｐゴシック" pitchFamily="-84" charset="-128"/>
              </a:rPr>
              <a:t>follow definition / try all possibilities</a:t>
            </a:r>
          </a:p>
          <a:p>
            <a:r>
              <a:rPr lang="en-US" dirty="0">
                <a:ea typeface="ＭＳ Ｐゴシック" pitchFamily="-84" charset="-128"/>
              </a:rPr>
              <a:t>Divide &amp; Conquer</a:t>
            </a:r>
          </a:p>
          <a:p>
            <a:pPr lvl="1"/>
            <a:r>
              <a:rPr lang="en-US" dirty="0">
                <a:ea typeface="ＭＳ Ｐゴシック" pitchFamily="-84" charset="-128"/>
              </a:rPr>
              <a:t>break problem into distinct subproblems</a:t>
            </a:r>
          </a:p>
          <a:p>
            <a:r>
              <a:rPr lang="en-US" dirty="0">
                <a:ea typeface="ＭＳ Ｐゴシック" pitchFamily="-84" charset="-128"/>
              </a:rPr>
              <a:t>Transformation</a:t>
            </a:r>
          </a:p>
          <a:p>
            <a:pPr lvl="1"/>
            <a:r>
              <a:rPr lang="en-US" dirty="0">
                <a:ea typeface="ＭＳ Ｐゴシック" pitchFamily="-84" charset="-128"/>
              </a:rPr>
              <a:t>convert problem to another one</a:t>
            </a:r>
          </a:p>
          <a:p>
            <a:r>
              <a:rPr lang="en-US" dirty="0">
                <a:ea typeface="ＭＳ Ｐゴシック" pitchFamily="-84" charset="-128"/>
              </a:rPr>
              <a:t>Dynamic Programming</a:t>
            </a:r>
          </a:p>
          <a:p>
            <a:pPr lvl="1"/>
            <a:r>
              <a:rPr lang="en-US" dirty="0">
                <a:ea typeface="ＭＳ Ｐゴシック" pitchFamily="-84" charset="-128"/>
              </a:rPr>
              <a:t>break problem into overlapping  subproblems </a:t>
            </a:r>
          </a:p>
          <a:p>
            <a:r>
              <a:rPr lang="en-US" dirty="0">
                <a:ea typeface="ＭＳ Ｐゴシック" pitchFamily="-84" charset="-128"/>
              </a:rPr>
              <a:t>Greedy</a:t>
            </a:r>
          </a:p>
          <a:p>
            <a:pPr lvl="1"/>
            <a:r>
              <a:rPr lang="en-US" dirty="0">
                <a:ea typeface="ＭＳ Ｐゴシック" pitchFamily="-84" charset="-128"/>
              </a:rPr>
              <a:t>repeatedly do what is best now</a:t>
            </a:r>
          </a:p>
          <a:p>
            <a:r>
              <a:rPr lang="en-US" dirty="0">
                <a:ea typeface="ＭＳ Ｐゴシック" pitchFamily="-84" charset="-128"/>
              </a:rPr>
              <a:t>Iterative Improvement</a:t>
            </a:r>
          </a:p>
          <a:p>
            <a:pPr lvl="1"/>
            <a:r>
              <a:rPr lang="en-US" dirty="0">
                <a:ea typeface="ＭＳ Ｐゴシック" pitchFamily="-84" charset="-128"/>
              </a:rPr>
              <a:t>repeatedly improve current solution</a:t>
            </a:r>
          </a:p>
          <a:p>
            <a:r>
              <a:rPr lang="en-US" dirty="0">
                <a:ea typeface="ＭＳ Ｐゴシック" pitchFamily="-84" charset="-128"/>
              </a:rPr>
              <a:t>Randomization</a:t>
            </a:r>
          </a:p>
          <a:p>
            <a:pPr lvl="1"/>
            <a:r>
              <a:rPr lang="en-US" dirty="0">
                <a:ea typeface="ＭＳ Ｐゴシック" pitchFamily="-84" charset="-128"/>
              </a:rPr>
              <a:t>use random numbers</a:t>
            </a:r>
          </a:p>
          <a:p>
            <a:endParaRPr lang="en-IN" dirty="0"/>
          </a:p>
        </p:txBody>
      </p:sp>
      <p:sp>
        <p:nvSpPr>
          <p:cNvPr id="4" name="Date Placeholder 3">
            <a:extLst>
              <a:ext uri="{FF2B5EF4-FFF2-40B4-BE49-F238E27FC236}">
                <a16:creationId xmlns:a16="http://schemas.microsoft.com/office/drawing/2014/main" id="{53713927-B99E-F23E-4128-397D355F4080}"/>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D55F3781-E982-6F6A-3752-EC6D34E6995C}"/>
              </a:ext>
            </a:extLst>
          </p:cNvPr>
          <p:cNvSpPr>
            <a:spLocks noGrp="1"/>
          </p:cNvSpPr>
          <p:nvPr>
            <p:ph type="sldNum" sz="quarter" idx="12"/>
          </p:nvPr>
        </p:nvSpPr>
        <p:spPr/>
        <p:txBody>
          <a:bodyPr/>
          <a:lstStyle/>
          <a:p>
            <a:fld id="{24BEA51C-495D-44A2-B925-9AAC4BD9F0A2}" type="slidenum">
              <a:rPr lang="en-IN" smtClean="0"/>
              <a:t>20</a:t>
            </a:fld>
            <a:endParaRPr lang="en-IN"/>
          </a:p>
        </p:txBody>
      </p:sp>
      <p:sp>
        <p:nvSpPr>
          <p:cNvPr id="7" name="Footer Placeholder 4">
            <a:extLst>
              <a:ext uri="{FF2B5EF4-FFF2-40B4-BE49-F238E27FC236}">
                <a16:creationId xmlns:a16="http://schemas.microsoft.com/office/drawing/2014/main" id="{0CDE3E63-1BAC-7690-2DEE-B0AD903EE8EF}"/>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108377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01D7F-B47E-3EC2-2E6A-4F7677BE01B2}"/>
              </a:ext>
            </a:extLst>
          </p:cNvPr>
          <p:cNvSpPr>
            <a:spLocks noGrp="1"/>
          </p:cNvSpPr>
          <p:nvPr>
            <p:ph type="title"/>
          </p:nvPr>
        </p:nvSpPr>
        <p:spPr>
          <a:xfrm>
            <a:off x="839788" y="457200"/>
            <a:ext cx="3932237" cy="1600200"/>
          </a:xfrm>
        </p:spPr>
        <p:txBody>
          <a:bodyPr anchor="b">
            <a:normAutofit/>
          </a:bodyPr>
          <a:lstStyle/>
          <a:p>
            <a:r>
              <a:rPr lang="en-IN" dirty="0"/>
              <a:t>Try</a:t>
            </a:r>
          </a:p>
        </p:txBody>
      </p:sp>
      <p:pic>
        <p:nvPicPr>
          <p:cNvPr id="8" name="Picture 7" descr="A screenshot of a computer program&#10;&#10;Description automatically generated">
            <a:extLst>
              <a:ext uri="{FF2B5EF4-FFF2-40B4-BE49-F238E27FC236}">
                <a16:creationId xmlns:a16="http://schemas.microsoft.com/office/drawing/2014/main" id="{4A34681C-156E-7DAC-D2F9-7DCFCD8A5E4C}"/>
              </a:ext>
            </a:extLst>
          </p:cNvPr>
          <p:cNvPicPr>
            <a:picLocks noChangeAspect="1"/>
          </p:cNvPicPr>
          <p:nvPr/>
        </p:nvPicPr>
        <p:blipFill>
          <a:blip r:embed="rId2"/>
          <a:stretch>
            <a:fillRect/>
          </a:stretch>
        </p:blipFill>
        <p:spPr>
          <a:xfrm>
            <a:off x="5306597" y="987425"/>
            <a:ext cx="5925382" cy="4873625"/>
          </a:xfrm>
          <a:prstGeom prst="rect">
            <a:avLst/>
          </a:prstGeom>
          <a:noFill/>
        </p:spPr>
      </p:pic>
      <p:sp>
        <p:nvSpPr>
          <p:cNvPr id="3" name="Content Placeholder 2">
            <a:extLst>
              <a:ext uri="{FF2B5EF4-FFF2-40B4-BE49-F238E27FC236}">
                <a16:creationId xmlns:a16="http://schemas.microsoft.com/office/drawing/2014/main" id="{2E5454FE-4331-A62F-2B89-BD0A85D11F5F}"/>
              </a:ext>
            </a:extLst>
          </p:cNvPr>
          <p:cNvSpPr>
            <a:spLocks noGrp="1"/>
          </p:cNvSpPr>
          <p:nvPr>
            <p:ph type="body" sz="half" idx="2"/>
          </p:nvPr>
        </p:nvSpPr>
        <p:spPr>
          <a:xfrm>
            <a:off x="839788" y="2057400"/>
            <a:ext cx="3932237" cy="3811588"/>
          </a:xfrm>
        </p:spPr>
        <p:txBody>
          <a:bodyPr>
            <a:normAutofit/>
          </a:bodyPr>
          <a:lstStyle/>
          <a:p>
            <a:r>
              <a:rPr lang="en-US" dirty="0"/>
              <a:t>Consider the algorithm for the sorting problem that sorts an array by counting, for each of its elements, the number of smaller elements and then uses this information to put the element in its appropriate position in the sorted array:</a:t>
            </a:r>
            <a:endParaRPr lang="en-IN" dirty="0"/>
          </a:p>
        </p:txBody>
      </p:sp>
      <p:sp>
        <p:nvSpPr>
          <p:cNvPr id="4" name="Date Placeholder 3">
            <a:extLst>
              <a:ext uri="{FF2B5EF4-FFF2-40B4-BE49-F238E27FC236}">
                <a16:creationId xmlns:a16="http://schemas.microsoft.com/office/drawing/2014/main" id="{87E97D6D-26AB-9CC0-293A-C153A6965A4C}"/>
              </a:ext>
            </a:extLst>
          </p:cNvPr>
          <p:cNvSpPr>
            <a:spLocks noGrp="1"/>
          </p:cNvSpPr>
          <p:nvPr>
            <p:ph type="dt" sz="half" idx="10"/>
          </p:nvPr>
        </p:nvSpPr>
        <p:spPr>
          <a:xfrm>
            <a:off x="838200" y="6356350"/>
            <a:ext cx="1154373" cy="365125"/>
          </a:xfrm>
        </p:spPr>
        <p:txBody>
          <a:bodyPr anchor="ctr">
            <a:normAutofit/>
          </a:bodyPr>
          <a:lstStyle/>
          <a:p>
            <a:pPr>
              <a:spcAft>
                <a:spcPts val="600"/>
              </a:spcAft>
            </a:pPr>
            <a:fld id="{017C9B13-3C5A-4435-85E6-314EA5A3CFF7}" type="datetime1">
              <a:rPr lang="en-IN" smtClean="0"/>
              <a:pPr>
                <a:spcAft>
                  <a:spcPts val="600"/>
                </a:spcAft>
              </a:pPr>
              <a:t>03-01-2024</a:t>
            </a:fld>
            <a:endParaRPr lang="en-IN"/>
          </a:p>
        </p:txBody>
      </p:sp>
      <p:sp>
        <p:nvSpPr>
          <p:cNvPr id="6" name="Slide Number Placeholder 5">
            <a:extLst>
              <a:ext uri="{FF2B5EF4-FFF2-40B4-BE49-F238E27FC236}">
                <a16:creationId xmlns:a16="http://schemas.microsoft.com/office/drawing/2014/main" id="{0BE21EEB-317C-C871-35A3-39F354CDE2D2}"/>
              </a:ext>
            </a:extLst>
          </p:cNvPr>
          <p:cNvSpPr>
            <a:spLocks noGrp="1"/>
          </p:cNvSpPr>
          <p:nvPr>
            <p:ph type="sldNum" sz="quarter" idx="12"/>
          </p:nvPr>
        </p:nvSpPr>
        <p:spPr>
          <a:xfrm>
            <a:off x="11353800" y="6356350"/>
            <a:ext cx="478808" cy="365125"/>
          </a:xfrm>
        </p:spPr>
        <p:txBody>
          <a:bodyPr anchor="ctr">
            <a:normAutofit/>
          </a:bodyPr>
          <a:lstStyle/>
          <a:p>
            <a:pPr>
              <a:spcAft>
                <a:spcPts val="600"/>
              </a:spcAft>
            </a:pPr>
            <a:fld id="{24BEA51C-495D-44A2-B925-9AAC4BD9F0A2}" type="slidenum">
              <a:rPr lang="en-IN" smtClean="0"/>
              <a:pPr>
                <a:spcAft>
                  <a:spcPts val="600"/>
                </a:spcAft>
              </a:pPr>
              <a:t>21</a:t>
            </a:fld>
            <a:endParaRPr lang="en-IN"/>
          </a:p>
        </p:txBody>
      </p:sp>
      <p:sp>
        <p:nvSpPr>
          <p:cNvPr id="10" name="TextBox 9">
            <a:extLst>
              <a:ext uri="{FF2B5EF4-FFF2-40B4-BE49-F238E27FC236}">
                <a16:creationId xmlns:a16="http://schemas.microsoft.com/office/drawing/2014/main" id="{646C7AE3-15F1-429C-C5B5-17E6BBCE3D9A}"/>
              </a:ext>
            </a:extLst>
          </p:cNvPr>
          <p:cNvSpPr txBox="1"/>
          <p:nvPr/>
        </p:nvSpPr>
        <p:spPr>
          <a:xfrm>
            <a:off x="721895" y="4361129"/>
            <a:ext cx="4989094" cy="1200329"/>
          </a:xfrm>
          <a:prstGeom prst="rect">
            <a:avLst/>
          </a:prstGeom>
          <a:noFill/>
        </p:spPr>
        <p:txBody>
          <a:bodyPr wrap="square">
            <a:spAutoFit/>
          </a:bodyPr>
          <a:lstStyle/>
          <a:p>
            <a:pPr marL="342900" indent="-342900">
              <a:buAutoNum type="alphaLcPeriod"/>
            </a:pPr>
            <a:r>
              <a:rPr lang="en-US" dirty="0"/>
              <a:t>Apply this algorithm to sorting the list 60, 35, 81, 98, 14, 47.   </a:t>
            </a:r>
          </a:p>
          <a:p>
            <a:pPr marL="342900" indent="-342900">
              <a:buAutoNum type="alphaLcPeriod"/>
            </a:pPr>
            <a:r>
              <a:rPr lang="en-US" dirty="0"/>
              <a:t>Is this algorithm stable? </a:t>
            </a:r>
          </a:p>
          <a:p>
            <a:pPr marL="342900" indent="-342900">
              <a:buAutoNum type="alphaLcPeriod"/>
            </a:pPr>
            <a:r>
              <a:rPr lang="en-US" dirty="0"/>
              <a:t>Is it in-place</a:t>
            </a:r>
            <a:endParaRPr lang="en-IN" dirty="0"/>
          </a:p>
        </p:txBody>
      </p:sp>
      <p:sp>
        <p:nvSpPr>
          <p:cNvPr id="7" name="Footer Placeholder 4">
            <a:extLst>
              <a:ext uri="{FF2B5EF4-FFF2-40B4-BE49-F238E27FC236}">
                <a16:creationId xmlns:a16="http://schemas.microsoft.com/office/drawing/2014/main" id="{FC09497B-6E6D-7B46-98E3-FAAD062041FA}"/>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579346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D5882-0051-21EA-A05D-282A3C235B88}"/>
              </a:ext>
            </a:extLst>
          </p:cNvPr>
          <p:cNvSpPr>
            <a:spLocks noGrp="1"/>
          </p:cNvSpPr>
          <p:nvPr>
            <p:ph type="title"/>
          </p:nvPr>
        </p:nvSpPr>
        <p:spPr/>
        <p:txBody>
          <a:bodyPr>
            <a:normAutofit fontScale="90000"/>
          </a:bodyPr>
          <a:lstStyle/>
          <a:p>
            <a:r>
              <a:rPr lang="en-US" sz="4000" b="1" dirty="0">
                <a:solidFill>
                  <a:schemeClr val="tx1"/>
                </a:solidFill>
                <a:latin typeface="+mn-lt"/>
              </a:rPr>
              <a:t>Fundamental data structures</a:t>
            </a:r>
            <a:endParaRPr lang="en-IN" dirty="0"/>
          </a:p>
        </p:txBody>
      </p:sp>
      <p:sp>
        <p:nvSpPr>
          <p:cNvPr id="3" name="Content Placeholder 2">
            <a:extLst>
              <a:ext uri="{FF2B5EF4-FFF2-40B4-BE49-F238E27FC236}">
                <a16:creationId xmlns:a16="http://schemas.microsoft.com/office/drawing/2014/main" id="{B5EE4A04-5221-1FFD-8ABE-8E36DEA86F22}"/>
              </a:ext>
            </a:extLst>
          </p:cNvPr>
          <p:cNvSpPr>
            <a:spLocks noGrp="1"/>
          </p:cNvSpPr>
          <p:nvPr>
            <p:ph idx="1"/>
          </p:nvPr>
        </p:nvSpPr>
        <p:spPr/>
        <p:txBody>
          <a:bodyPr/>
          <a:lstStyle/>
          <a:p>
            <a:pPr>
              <a:buFont typeface="Wingdings" pitchFamily="2" charset="2"/>
              <a:buNone/>
            </a:pPr>
            <a:r>
              <a:rPr lang="en-US" b="1" dirty="0">
                <a:solidFill>
                  <a:srgbClr val="CC3300"/>
                </a:solidFill>
              </a:rPr>
              <a:t>Linear data structures</a:t>
            </a:r>
            <a:r>
              <a:rPr lang="en-US" dirty="0"/>
              <a:t> </a:t>
            </a:r>
          </a:p>
          <a:p>
            <a:r>
              <a:rPr lang="en-US" dirty="0"/>
              <a:t>Array</a:t>
            </a:r>
          </a:p>
          <a:p>
            <a:r>
              <a:rPr lang="en-US" dirty="0"/>
              <a:t>Linked list</a:t>
            </a:r>
          </a:p>
          <a:p>
            <a:r>
              <a:rPr lang="en-US" dirty="0"/>
              <a:t>Stack</a:t>
            </a:r>
          </a:p>
          <a:p>
            <a:r>
              <a:rPr lang="en-US" dirty="0"/>
              <a:t>Queue</a:t>
            </a:r>
          </a:p>
          <a:p>
            <a:endParaRPr lang="en-IN" dirty="0"/>
          </a:p>
          <a:p>
            <a:r>
              <a:rPr lang="en-IN" dirty="0"/>
              <a:t>Operations: Search, Delete, Insert.</a:t>
            </a:r>
          </a:p>
          <a:p>
            <a:r>
              <a:rPr lang="en-IN" dirty="0"/>
              <a:t>Implementation: Static, Dynamic.</a:t>
            </a:r>
          </a:p>
        </p:txBody>
      </p:sp>
      <p:sp>
        <p:nvSpPr>
          <p:cNvPr id="4" name="Date Placeholder 3">
            <a:extLst>
              <a:ext uri="{FF2B5EF4-FFF2-40B4-BE49-F238E27FC236}">
                <a16:creationId xmlns:a16="http://schemas.microsoft.com/office/drawing/2014/main" id="{768813B1-F91C-8478-4FFE-CD09E9DE9129}"/>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852A79F1-6222-A1A2-5AFF-57C524C05CF1}"/>
              </a:ext>
            </a:extLst>
          </p:cNvPr>
          <p:cNvSpPr>
            <a:spLocks noGrp="1"/>
          </p:cNvSpPr>
          <p:nvPr>
            <p:ph type="sldNum" sz="quarter" idx="12"/>
          </p:nvPr>
        </p:nvSpPr>
        <p:spPr/>
        <p:txBody>
          <a:bodyPr/>
          <a:lstStyle/>
          <a:p>
            <a:fld id="{24BEA51C-495D-44A2-B925-9AAC4BD9F0A2}" type="slidenum">
              <a:rPr lang="en-IN" smtClean="0"/>
              <a:t>22</a:t>
            </a:fld>
            <a:endParaRPr lang="en-IN"/>
          </a:p>
        </p:txBody>
      </p:sp>
      <p:sp>
        <p:nvSpPr>
          <p:cNvPr id="7" name="Footer Placeholder 4">
            <a:extLst>
              <a:ext uri="{FF2B5EF4-FFF2-40B4-BE49-F238E27FC236}">
                <a16:creationId xmlns:a16="http://schemas.microsoft.com/office/drawing/2014/main" id="{C67059C1-77FB-21D2-D0A1-EE8196CD74E6}"/>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3525521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6763A-389C-D131-D3AB-900660984E34}"/>
              </a:ext>
            </a:extLst>
          </p:cNvPr>
          <p:cNvSpPr>
            <a:spLocks noGrp="1"/>
          </p:cNvSpPr>
          <p:nvPr>
            <p:ph type="title"/>
          </p:nvPr>
        </p:nvSpPr>
        <p:spPr/>
        <p:txBody>
          <a:bodyPr>
            <a:normAutofit fontScale="90000"/>
          </a:bodyPr>
          <a:lstStyle/>
          <a:p>
            <a:r>
              <a:rPr lang="en-US" dirty="0"/>
              <a:t>Fundamental data structures</a:t>
            </a:r>
            <a:endParaRPr lang="en-IN" dirty="0"/>
          </a:p>
        </p:txBody>
      </p:sp>
      <p:sp>
        <p:nvSpPr>
          <p:cNvPr id="3" name="Content Placeholder 2">
            <a:extLst>
              <a:ext uri="{FF2B5EF4-FFF2-40B4-BE49-F238E27FC236}">
                <a16:creationId xmlns:a16="http://schemas.microsoft.com/office/drawing/2014/main" id="{B5848D2C-CCCB-7CE8-EC39-2DD30A3C5AC6}"/>
              </a:ext>
            </a:extLst>
          </p:cNvPr>
          <p:cNvSpPr>
            <a:spLocks noGrp="1"/>
          </p:cNvSpPr>
          <p:nvPr>
            <p:ph idx="1"/>
          </p:nvPr>
        </p:nvSpPr>
        <p:spPr>
          <a:xfrm>
            <a:off x="838200" y="1269243"/>
            <a:ext cx="10994408" cy="2453860"/>
          </a:xfrm>
        </p:spPr>
        <p:txBody>
          <a:bodyPr>
            <a:normAutofit fontScale="85000" lnSpcReduction="20000"/>
          </a:bodyPr>
          <a:lstStyle/>
          <a:p>
            <a:pPr algn="just"/>
            <a:r>
              <a:rPr lang="en-US" dirty="0"/>
              <a:t>The two most important elementary data structures are the array and the linked list. </a:t>
            </a:r>
          </a:p>
          <a:p>
            <a:pPr algn="just"/>
            <a:r>
              <a:rPr lang="en-US" dirty="0"/>
              <a:t>A (one-dimensional) </a:t>
            </a:r>
            <a:r>
              <a:rPr lang="en-US" b="1" dirty="0"/>
              <a:t>array</a:t>
            </a:r>
            <a:r>
              <a:rPr lang="en-US" dirty="0"/>
              <a:t> is a sequence of n items of the same data type that are stored contiguously in computer memory and made accessible by specifying a value of the array’s </a:t>
            </a:r>
            <a:r>
              <a:rPr lang="en-US" b="1" dirty="0"/>
              <a:t>index.</a:t>
            </a:r>
          </a:p>
          <a:p>
            <a:pPr algn="just"/>
            <a:r>
              <a:rPr lang="en-US" dirty="0"/>
              <a:t>Arrays are used for implementing a variety of other data structures. Prominent among them is the </a:t>
            </a:r>
            <a:r>
              <a:rPr lang="en-US" b="1" dirty="0"/>
              <a:t>string</a:t>
            </a:r>
            <a:r>
              <a:rPr lang="en-US" dirty="0"/>
              <a:t>, a sequence of characters from an alphabet terminated by a special character indicating the string’s end. Strings composed of zeros and ones are called </a:t>
            </a:r>
            <a:r>
              <a:rPr lang="en-US" b="1" dirty="0"/>
              <a:t>binary strings or bit strings.</a:t>
            </a:r>
          </a:p>
          <a:p>
            <a:pPr algn="just"/>
            <a:endParaRPr lang="en-US" b="1" dirty="0"/>
          </a:p>
          <a:p>
            <a:pPr algn="just"/>
            <a:endParaRPr lang="en-US" b="1" dirty="0"/>
          </a:p>
          <a:p>
            <a:pPr algn="just"/>
            <a:endParaRPr lang="en-US" b="1" dirty="0"/>
          </a:p>
        </p:txBody>
      </p:sp>
      <p:sp>
        <p:nvSpPr>
          <p:cNvPr id="4" name="Date Placeholder 3">
            <a:extLst>
              <a:ext uri="{FF2B5EF4-FFF2-40B4-BE49-F238E27FC236}">
                <a16:creationId xmlns:a16="http://schemas.microsoft.com/office/drawing/2014/main" id="{9AEC634F-6ADA-138E-E21D-5139C8CC8458}"/>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1E428ED3-8908-CEEA-8224-D2E9A2DE7573}"/>
              </a:ext>
            </a:extLst>
          </p:cNvPr>
          <p:cNvSpPr>
            <a:spLocks noGrp="1"/>
          </p:cNvSpPr>
          <p:nvPr>
            <p:ph type="sldNum" sz="quarter" idx="12"/>
          </p:nvPr>
        </p:nvSpPr>
        <p:spPr/>
        <p:txBody>
          <a:bodyPr/>
          <a:lstStyle/>
          <a:p>
            <a:fld id="{24BEA51C-495D-44A2-B925-9AAC4BD9F0A2}" type="slidenum">
              <a:rPr lang="en-IN" smtClean="0"/>
              <a:t>23</a:t>
            </a:fld>
            <a:endParaRPr lang="en-IN"/>
          </a:p>
        </p:txBody>
      </p:sp>
      <p:sp>
        <p:nvSpPr>
          <p:cNvPr id="7" name="Footer Placeholder 4">
            <a:extLst>
              <a:ext uri="{FF2B5EF4-FFF2-40B4-BE49-F238E27FC236}">
                <a16:creationId xmlns:a16="http://schemas.microsoft.com/office/drawing/2014/main" id="{3D9BD0D6-D373-6D15-360D-DCEC823D2F6D}"/>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pic>
        <p:nvPicPr>
          <p:cNvPr id="8" name="Picture 7">
            <a:extLst>
              <a:ext uri="{FF2B5EF4-FFF2-40B4-BE49-F238E27FC236}">
                <a16:creationId xmlns:a16="http://schemas.microsoft.com/office/drawing/2014/main" id="{3BED231A-83A4-4705-AC4C-A8A9084BCFF6}"/>
              </a:ext>
            </a:extLst>
          </p:cNvPr>
          <p:cNvPicPr>
            <a:picLocks noChangeAspect="1"/>
          </p:cNvPicPr>
          <p:nvPr/>
        </p:nvPicPr>
        <p:blipFill>
          <a:blip r:embed="rId2"/>
          <a:stretch>
            <a:fillRect/>
          </a:stretch>
        </p:blipFill>
        <p:spPr>
          <a:xfrm>
            <a:off x="2583919" y="4170016"/>
            <a:ext cx="7024162" cy="1418741"/>
          </a:xfrm>
          <a:prstGeom prst="rect">
            <a:avLst/>
          </a:prstGeom>
        </p:spPr>
      </p:pic>
    </p:spTree>
    <p:extLst>
      <p:ext uri="{BB962C8B-B14F-4D97-AF65-F5344CB8AC3E}">
        <p14:creationId xmlns:p14="http://schemas.microsoft.com/office/powerpoint/2010/main" val="20402264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EB07F-DAAA-1888-7793-0EF483B0A1DF}"/>
              </a:ext>
            </a:extLst>
          </p:cNvPr>
          <p:cNvSpPr>
            <a:spLocks noGrp="1"/>
          </p:cNvSpPr>
          <p:nvPr>
            <p:ph type="title"/>
          </p:nvPr>
        </p:nvSpPr>
        <p:spPr/>
        <p:txBody>
          <a:bodyPr>
            <a:normAutofit fontScale="90000"/>
          </a:bodyPr>
          <a:lstStyle/>
          <a:p>
            <a:r>
              <a:rPr lang="en-US" dirty="0"/>
              <a:t>Fundamental data structures</a:t>
            </a:r>
            <a:endParaRPr lang="en-IN" dirty="0"/>
          </a:p>
        </p:txBody>
      </p:sp>
      <p:sp>
        <p:nvSpPr>
          <p:cNvPr id="3" name="Content Placeholder 2">
            <a:extLst>
              <a:ext uri="{FF2B5EF4-FFF2-40B4-BE49-F238E27FC236}">
                <a16:creationId xmlns:a16="http://schemas.microsoft.com/office/drawing/2014/main" id="{6972E757-F8B9-CC8B-BA14-5E883BD77805}"/>
              </a:ext>
            </a:extLst>
          </p:cNvPr>
          <p:cNvSpPr>
            <a:spLocks noGrp="1"/>
          </p:cNvSpPr>
          <p:nvPr>
            <p:ph idx="1"/>
          </p:nvPr>
        </p:nvSpPr>
        <p:spPr>
          <a:xfrm>
            <a:off x="838200" y="1269243"/>
            <a:ext cx="10994408" cy="1782430"/>
          </a:xfrm>
        </p:spPr>
        <p:txBody>
          <a:bodyPr>
            <a:normAutofit fontScale="70000" lnSpcReduction="20000"/>
          </a:bodyPr>
          <a:lstStyle/>
          <a:p>
            <a:pPr algn="just"/>
            <a:r>
              <a:rPr lang="en-US" dirty="0"/>
              <a:t>A </a:t>
            </a:r>
            <a:r>
              <a:rPr lang="en-US" b="1" dirty="0"/>
              <a:t>linked list </a:t>
            </a:r>
            <a:r>
              <a:rPr lang="en-US" dirty="0"/>
              <a:t>is a sequence of zero or more elements called nodes, each containing two kinds of information: some data and one or more links called </a:t>
            </a:r>
            <a:r>
              <a:rPr lang="en-US" b="1" dirty="0"/>
              <a:t>pointers</a:t>
            </a:r>
            <a:r>
              <a:rPr lang="en-US" dirty="0"/>
              <a:t> to other nodes of the linked list. </a:t>
            </a:r>
          </a:p>
          <a:p>
            <a:pPr algn="just"/>
            <a:r>
              <a:rPr lang="en-US" dirty="0"/>
              <a:t>(A special pointer called “null” is used to indicate the absence of a node’s successor.) In a </a:t>
            </a:r>
            <a:r>
              <a:rPr lang="en-US" b="1" dirty="0"/>
              <a:t>singly linked list</a:t>
            </a:r>
            <a:r>
              <a:rPr lang="en-US" dirty="0"/>
              <a:t>, each node except the last one contains a single pointer to the next element.</a:t>
            </a:r>
            <a:endParaRPr lang="en-IN" b="1" dirty="0"/>
          </a:p>
          <a:p>
            <a:pPr algn="just"/>
            <a:r>
              <a:rPr lang="en-US" dirty="0"/>
              <a:t>Another extension is the structure called the </a:t>
            </a:r>
            <a:r>
              <a:rPr lang="en-US" b="1" dirty="0"/>
              <a:t>doubly linked list</a:t>
            </a:r>
            <a:r>
              <a:rPr lang="en-US" dirty="0"/>
              <a:t>, in which every node, except the first and the last, contains pointers to both its successor and its predecessor.</a:t>
            </a:r>
          </a:p>
        </p:txBody>
      </p:sp>
      <p:sp>
        <p:nvSpPr>
          <p:cNvPr id="4" name="Date Placeholder 3">
            <a:extLst>
              <a:ext uri="{FF2B5EF4-FFF2-40B4-BE49-F238E27FC236}">
                <a16:creationId xmlns:a16="http://schemas.microsoft.com/office/drawing/2014/main" id="{4E8264E7-4FD7-2AEA-57EF-3CB8C50D8932}"/>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FFE33C5D-4D63-C0AC-B456-EE0230F41ABE}"/>
              </a:ext>
            </a:extLst>
          </p:cNvPr>
          <p:cNvSpPr>
            <a:spLocks noGrp="1"/>
          </p:cNvSpPr>
          <p:nvPr>
            <p:ph type="sldNum" sz="quarter" idx="12"/>
          </p:nvPr>
        </p:nvSpPr>
        <p:spPr/>
        <p:txBody>
          <a:bodyPr/>
          <a:lstStyle/>
          <a:p>
            <a:fld id="{24BEA51C-495D-44A2-B925-9AAC4BD9F0A2}" type="slidenum">
              <a:rPr lang="en-IN" smtClean="0"/>
              <a:t>24</a:t>
            </a:fld>
            <a:endParaRPr lang="en-IN"/>
          </a:p>
        </p:txBody>
      </p:sp>
      <p:sp>
        <p:nvSpPr>
          <p:cNvPr id="7" name="Footer Placeholder 4">
            <a:extLst>
              <a:ext uri="{FF2B5EF4-FFF2-40B4-BE49-F238E27FC236}">
                <a16:creationId xmlns:a16="http://schemas.microsoft.com/office/drawing/2014/main" id="{D06BD35F-09CF-90EB-4CF8-9FB8A6DDDF7E}"/>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pic>
        <p:nvPicPr>
          <p:cNvPr id="8" name="Content Placeholder 9">
            <a:extLst>
              <a:ext uri="{FF2B5EF4-FFF2-40B4-BE49-F238E27FC236}">
                <a16:creationId xmlns:a16="http://schemas.microsoft.com/office/drawing/2014/main" id="{C5CD0D7B-307F-41DF-85B5-07D7C33135E0}"/>
              </a:ext>
            </a:extLst>
          </p:cNvPr>
          <p:cNvPicPr>
            <a:picLocks noChangeAspect="1"/>
          </p:cNvPicPr>
          <p:nvPr/>
        </p:nvPicPr>
        <p:blipFill>
          <a:blip r:embed="rId2"/>
          <a:stretch>
            <a:fillRect/>
          </a:stretch>
        </p:blipFill>
        <p:spPr>
          <a:xfrm>
            <a:off x="1896619" y="2941931"/>
            <a:ext cx="7282265" cy="974137"/>
          </a:xfrm>
          <a:prstGeom prst="rect">
            <a:avLst/>
          </a:prstGeom>
        </p:spPr>
      </p:pic>
      <p:pic>
        <p:nvPicPr>
          <p:cNvPr id="9" name="Picture 8">
            <a:extLst>
              <a:ext uri="{FF2B5EF4-FFF2-40B4-BE49-F238E27FC236}">
                <a16:creationId xmlns:a16="http://schemas.microsoft.com/office/drawing/2014/main" id="{FEF6A166-64C9-4867-A415-DE8DEBEEF725}"/>
              </a:ext>
            </a:extLst>
          </p:cNvPr>
          <p:cNvPicPr>
            <a:picLocks noChangeAspect="1"/>
          </p:cNvPicPr>
          <p:nvPr/>
        </p:nvPicPr>
        <p:blipFill>
          <a:blip r:embed="rId3"/>
          <a:stretch>
            <a:fillRect/>
          </a:stretch>
        </p:blipFill>
        <p:spPr>
          <a:xfrm>
            <a:off x="2091723" y="3975772"/>
            <a:ext cx="3085889" cy="365124"/>
          </a:xfrm>
          <a:prstGeom prst="rect">
            <a:avLst/>
          </a:prstGeom>
        </p:spPr>
      </p:pic>
      <p:pic>
        <p:nvPicPr>
          <p:cNvPr id="10" name="Picture 9">
            <a:extLst>
              <a:ext uri="{FF2B5EF4-FFF2-40B4-BE49-F238E27FC236}">
                <a16:creationId xmlns:a16="http://schemas.microsoft.com/office/drawing/2014/main" id="{A45579F7-90DE-4F9D-8C92-0AD045F9A8EF}"/>
              </a:ext>
            </a:extLst>
          </p:cNvPr>
          <p:cNvPicPr>
            <a:picLocks noChangeAspect="1"/>
          </p:cNvPicPr>
          <p:nvPr/>
        </p:nvPicPr>
        <p:blipFill>
          <a:blip r:embed="rId4"/>
          <a:stretch>
            <a:fillRect/>
          </a:stretch>
        </p:blipFill>
        <p:spPr>
          <a:xfrm>
            <a:off x="1692770" y="4574789"/>
            <a:ext cx="8854663" cy="974137"/>
          </a:xfrm>
          <a:prstGeom prst="rect">
            <a:avLst/>
          </a:prstGeom>
        </p:spPr>
      </p:pic>
      <p:pic>
        <p:nvPicPr>
          <p:cNvPr id="11" name="Picture 10">
            <a:extLst>
              <a:ext uri="{FF2B5EF4-FFF2-40B4-BE49-F238E27FC236}">
                <a16:creationId xmlns:a16="http://schemas.microsoft.com/office/drawing/2014/main" id="{A56C7F50-F62E-469F-BBE8-E832AC1AB90C}"/>
              </a:ext>
            </a:extLst>
          </p:cNvPr>
          <p:cNvPicPr>
            <a:picLocks noChangeAspect="1"/>
          </p:cNvPicPr>
          <p:nvPr/>
        </p:nvPicPr>
        <p:blipFill>
          <a:blip r:embed="rId5"/>
          <a:stretch>
            <a:fillRect/>
          </a:stretch>
        </p:blipFill>
        <p:spPr>
          <a:xfrm>
            <a:off x="2427718" y="5652992"/>
            <a:ext cx="2749893" cy="442867"/>
          </a:xfrm>
          <a:prstGeom prst="rect">
            <a:avLst/>
          </a:prstGeom>
        </p:spPr>
      </p:pic>
    </p:spTree>
    <p:extLst>
      <p:ext uri="{BB962C8B-B14F-4D97-AF65-F5344CB8AC3E}">
        <p14:creationId xmlns:p14="http://schemas.microsoft.com/office/powerpoint/2010/main" val="4230796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CDB67-7585-4FCE-AF3F-AFBBAF0AB16F}"/>
              </a:ext>
            </a:extLst>
          </p:cNvPr>
          <p:cNvSpPr>
            <a:spLocks noGrp="1"/>
          </p:cNvSpPr>
          <p:nvPr>
            <p:ph type="title"/>
          </p:nvPr>
        </p:nvSpPr>
        <p:spPr/>
        <p:txBody>
          <a:bodyPr>
            <a:normAutofit fontScale="90000"/>
          </a:bodyPr>
          <a:lstStyle/>
          <a:p>
            <a:r>
              <a:rPr lang="en-US" dirty="0"/>
              <a:t>Stack and Queue</a:t>
            </a:r>
            <a:endParaRPr lang="en-IN" dirty="0"/>
          </a:p>
        </p:txBody>
      </p:sp>
      <p:sp>
        <p:nvSpPr>
          <p:cNvPr id="3" name="Content Placeholder 2">
            <a:extLst>
              <a:ext uri="{FF2B5EF4-FFF2-40B4-BE49-F238E27FC236}">
                <a16:creationId xmlns:a16="http://schemas.microsoft.com/office/drawing/2014/main" id="{FD677EE8-2BC8-449D-8D76-25607AB4703B}"/>
              </a:ext>
            </a:extLst>
          </p:cNvPr>
          <p:cNvSpPr>
            <a:spLocks noGrp="1"/>
          </p:cNvSpPr>
          <p:nvPr>
            <p:ph idx="1"/>
          </p:nvPr>
        </p:nvSpPr>
        <p:spPr/>
        <p:txBody>
          <a:bodyPr/>
          <a:lstStyle/>
          <a:p>
            <a:pPr algn="just"/>
            <a:r>
              <a:rPr lang="en-US" dirty="0"/>
              <a:t>A </a:t>
            </a:r>
            <a:r>
              <a:rPr lang="en-US" b="1" dirty="0"/>
              <a:t>list</a:t>
            </a:r>
            <a:r>
              <a:rPr lang="en-US" dirty="0"/>
              <a:t> is a finite sequence of data items, i.e., a collection of data items arranged in a certain linear order.</a:t>
            </a:r>
          </a:p>
          <a:p>
            <a:pPr algn="just"/>
            <a:r>
              <a:rPr lang="en-US" dirty="0"/>
              <a:t>Two special types of lists, stacks and queues, are particularly important. A </a:t>
            </a:r>
            <a:r>
              <a:rPr lang="en-US" b="1" dirty="0"/>
              <a:t>stack</a:t>
            </a:r>
            <a:r>
              <a:rPr lang="en-US" dirty="0"/>
              <a:t> is a list in which insertions and deletions can be done only at the end.</a:t>
            </a:r>
          </a:p>
          <a:p>
            <a:pPr algn="just"/>
            <a:r>
              <a:rPr lang="en-US" dirty="0"/>
              <a:t>A </a:t>
            </a:r>
            <a:r>
              <a:rPr lang="en-US" b="1" dirty="0"/>
              <a:t>queue</a:t>
            </a:r>
            <a:r>
              <a:rPr lang="en-US" dirty="0"/>
              <a:t>, on the other hand, is a list from which elements are deleted from one end of the structure, called the </a:t>
            </a:r>
            <a:r>
              <a:rPr lang="en-US" b="1" dirty="0"/>
              <a:t>front</a:t>
            </a:r>
            <a:r>
              <a:rPr lang="en-US" dirty="0"/>
              <a:t> (this operation is called dequeue), and new elements are added to the other end, called the </a:t>
            </a:r>
            <a:r>
              <a:rPr lang="en-US" b="1" dirty="0"/>
              <a:t>rear</a:t>
            </a:r>
            <a:r>
              <a:rPr lang="en-US" dirty="0"/>
              <a:t> (this operation is called enqueue).</a:t>
            </a:r>
          </a:p>
          <a:p>
            <a:pPr algn="just"/>
            <a:r>
              <a:rPr lang="en-US" dirty="0"/>
              <a:t>A </a:t>
            </a:r>
            <a:r>
              <a:rPr lang="en-US" b="1" dirty="0"/>
              <a:t>priority queue </a:t>
            </a:r>
            <a:r>
              <a:rPr lang="en-US" dirty="0"/>
              <a:t>is a collection of data items from a totally ordered universe (most often, </a:t>
            </a:r>
            <a:r>
              <a:rPr lang="en-IN" dirty="0"/>
              <a:t>integer or real numbers).</a:t>
            </a:r>
          </a:p>
          <a:p>
            <a:endParaRPr lang="en-IN" dirty="0"/>
          </a:p>
        </p:txBody>
      </p:sp>
      <p:sp>
        <p:nvSpPr>
          <p:cNvPr id="4" name="Date Placeholder 3">
            <a:extLst>
              <a:ext uri="{FF2B5EF4-FFF2-40B4-BE49-F238E27FC236}">
                <a16:creationId xmlns:a16="http://schemas.microsoft.com/office/drawing/2014/main" id="{24EED8D3-C834-4BA6-919D-559F9655AE53}"/>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5" name="Footer Placeholder 4">
            <a:extLst>
              <a:ext uri="{FF2B5EF4-FFF2-40B4-BE49-F238E27FC236}">
                <a16:creationId xmlns:a16="http://schemas.microsoft.com/office/drawing/2014/main" id="{0D8FFAA1-95B6-4704-B33C-5A76B4C24E59}"/>
              </a:ext>
            </a:extLst>
          </p:cNvPr>
          <p:cNvSpPr>
            <a:spLocks noGrp="1"/>
          </p:cNvSpPr>
          <p:nvPr>
            <p:ph type="ftr" sz="quarter" idx="11"/>
          </p:nvPr>
        </p:nvSpPr>
        <p:spPr/>
        <p:txBody>
          <a:bodyPr/>
          <a:lstStyle/>
          <a:p>
            <a:r>
              <a:rPr lang="en-US"/>
              <a:t>CSE 1071 Problem Solving using Computers (PSUC) - 2022</a:t>
            </a:r>
            <a:endParaRPr lang="en-IN"/>
          </a:p>
        </p:txBody>
      </p:sp>
      <p:sp>
        <p:nvSpPr>
          <p:cNvPr id="6" name="Slide Number Placeholder 5">
            <a:extLst>
              <a:ext uri="{FF2B5EF4-FFF2-40B4-BE49-F238E27FC236}">
                <a16:creationId xmlns:a16="http://schemas.microsoft.com/office/drawing/2014/main" id="{BA1FCE63-3BA4-454F-85D5-254F97603BAF}"/>
              </a:ext>
            </a:extLst>
          </p:cNvPr>
          <p:cNvSpPr>
            <a:spLocks noGrp="1"/>
          </p:cNvSpPr>
          <p:nvPr>
            <p:ph type="sldNum" sz="quarter" idx="12"/>
          </p:nvPr>
        </p:nvSpPr>
        <p:spPr/>
        <p:txBody>
          <a:bodyPr/>
          <a:lstStyle/>
          <a:p>
            <a:fld id="{24BEA51C-495D-44A2-B925-9AAC4BD9F0A2}" type="slidenum">
              <a:rPr lang="en-IN" smtClean="0"/>
              <a:t>25</a:t>
            </a:fld>
            <a:endParaRPr lang="en-IN"/>
          </a:p>
        </p:txBody>
      </p:sp>
    </p:spTree>
    <p:extLst>
      <p:ext uri="{BB962C8B-B14F-4D97-AF65-F5344CB8AC3E}">
        <p14:creationId xmlns:p14="http://schemas.microsoft.com/office/powerpoint/2010/main" val="977522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E232D-9A1A-DA6C-5EDC-60B00088A718}"/>
              </a:ext>
            </a:extLst>
          </p:cNvPr>
          <p:cNvSpPr>
            <a:spLocks noGrp="1"/>
          </p:cNvSpPr>
          <p:nvPr>
            <p:ph type="title"/>
          </p:nvPr>
        </p:nvSpPr>
        <p:spPr/>
        <p:txBody>
          <a:bodyPr>
            <a:normAutofit fontScale="90000"/>
          </a:bodyPr>
          <a:lstStyle/>
          <a:p>
            <a:r>
              <a:rPr lang="en-US" dirty="0">
                <a:solidFill>
                  <a:srgbClr val="CC3300"/>
                </a:solidFill>
              </a:rPr>
              <a:t>Non-linear data structures</a:t>
            </a:r>
            <a:endParaRPr lang="en-IN" dirty="0"/>
          </a:p>
        </p:txBody>
      </p:sp>
      <p:sp>
        <p:nvSpPr>
          <p:cNvPr id="3" name="Content Placeholder 2">
            <a:extLst>
              <a:ext uri="{FF2B5EF4-FFF2-40B4-BE49-F238E27FC236}">
                <a16:creationId xmlns:a16="http://schemas.microsoft.com/office/drawing/2014/main" id="{3FE72AF1-842B-0840-0834-B92D8005A2DC}"/>
              </a:ext>
            </a:extLst>
          </p:cNvPr>
          <p:cNvSpPr>
            <a:spLocks noGrp="1"/>
          </p:cNvSpPr>
          <p:nvPr>
            <p:ph idx="1"/>
          </p:nvPr>
        </p:nvSpPr>
        <p:spPr/>
        <p:txBody>
          <a:bodyPr/>
          <a:lstStyle/>
          <a:p>
            <a:r>
              <a:rPr lang="en-US" b="1" dirty="0"/>
              <a:t>Graphs</a:t>
            </a:r>
          </a:p>
          <a:p>
            <a:r>
              <a:rPr lang="en-US" b="1" dirty="0"/>
              <a:t>Trees : connected graph without cycles</a:t>
            </a:r>
          </a:p>
          <a:p>
            <a:pPr lvl="1"/>
            <a:r>
              <a:rPr lang="en-US" sz="2800" b="1" dirty="0"/>
              <a:t>Rooted trees</a:t>
            </a:r>
          </a:p>
          <a:p>
            <a:pPr lvl="2"/>
            <a:r>
              <a:rPr lang="en-US" sz="2800" b="1" dirty="0"/>
              <a:t>Ordered trees</a:t>
            </a:r>
          </a:p>
          <a:p>
            <a:pPr lvl="3"/>
            <a:r>
              <a:rPr lang="en-US" sz="2800" b="1" dirty="0"/>
              <a:t>Binary trees</a:t>
            </a:r>
            <a:r>
              <a:rPr lang="en-US" sz="2800" dirty="0"/>
              <a:t> </a:t>
            </a:r>
          </a:p>
          <a:p>
            <a:r>
              <a:rPr lang="en-US" b="1" dirty="0">
                <a:solidFill>
                  <a:srgbClr val="6600CC"/>
                </a:solidFill>
              </a:rPr>
              <a:t>Graph representation:</a:t>
            </a:r>
            <a:r>
              <a:rPr lang="en-US" b="1" dirty="0"/>
              <a:t>  adjacency lists, </a:t>
            </a:r>
          </a:p>
          <a:p>
            <a:pPr>
              <a:buNone/>
            </a:pPr>
            <a:r>
              <a:rPr lang="en-US" b="1" dirty="0"/>
              <a:t>                                      	adjacency matrix</a:t>
            </a:r>
            <a:r>
              <a:rPr lang="en-US" dirty="0"/>
              <a:t> </a:t>
            </a:r>
          </a:p>
          <a:p>
            <a:r>
              <a:rPr lang="en-US" b="1" dirty="0">
                <a:solidFill>
                  <a:srgbClr val="6600CC"/>
                </a:solidFill>
              </a:rPr>
              <a:t>Tree representation:</a:t>
            </a:r>
            <a:r>
              <a:rPr lang="en-US" b="1" dirty="0"/>
              <a:t>    graphs; binary nodes</a:t>
            </a:r>
          </a:p>
          <a:p>
            <a:endParaRPr lang="en-IN" dirty="0"/>
          </a:p>
        </p:txBody>
      </p:sp>
      <p:sp>
        <p:nvSpPr>
          <p:cNvPr id="4" name="Date Placeholder 3">
            <a:extLst>
              <a:ext uri="{FF2B5EF4-FFF2-40B4-BE49-F238E27FC236}">
                <a16:creationId xmlns:a16="http://schemas.microsoft.com/office/drawing/2014/main" id="{75E0124D-F123-4FBF-6E8A-F0E424873209}"/>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3D935446-ACFD-34C7-715B-BE7254095D53}"/>
              </a:ext>
            </a:extLst>
          </p:cNvPr>
          <p:cNvSpPr>
            <a:spLocks noGrp="1"/>
          </p:cNvSpPr>
          <p:nvPr>
            <p:ph type="sldNum" sz="quarter" idx="12"/>
          </p:nvPr>
        </p:nvSpPr>
        <p:spPr/>
        <p:txBody>
          <a:bodyPr/>
          <a:lstStyle/>
          <a:p>
            <a:fld id="{24BEA51C-495D-44A2-B925-9AAC4BD9F0A2}" type="slidenum">
              <a:rPr lang="en-IN" smtClean="0"/>
              <a:t>26</a:t>
            </a:fld>
            <a:endParaRPr lang="en-IN"/>
          </a:p>
        </p:txBody>
      </p:sp>
      <p:sp>
        <p:nvSpPr>
          <p:cNvPr id="7" name="Footer Placeholder 4">
            <a:extLst>
              <a:ext uri="{FF2B5EF4-FFF2-40B4-BE49-F238E27FC236}">
                <a16:creationId xmlns:a16="http://schemas.microsoft.com/office/drawing/2014/main" id="{EAE608C4-2519-7CCB-A45A-9F8A95D167BD}"/>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107334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78F06-A9A9-6679-DD81-17E91BD24A6F}"/>
              </a:ext>
            </a:extLst>
          </p:cNvPr>
          <p:cNvSpPr>
            <a:spLocks noGrp="1"/>
          </p:cNvSpPr>
          <p:nvPr>
            <p:ph type="title"/>
          </p:nvPr>
        </p:nvSpPr>
        <p:spPr/>
        <p:txBody>
          <a:bodyPr>
            <a:normAutofit fontScale="90000"/>
          </a:bodyPr>
          <a:lstStyle/>
          <a:p>
            <a:r>
              <a:rPr lang="en-US" dirty="0"/>
              <a:t>Graphs</a:t>
            </a:r>
            <a:endParaRPr lang="en-IN" dirty="0"/>
          </a:p>
        </p:txBody>
      </p:sp>
      <p:sp>
        <p:nvSpPr>
          <p:cNvPr id="3" name="Content Placeholder 2">
            <a:extLst>
              <a:ext uri="{FF2B5EF4-FFF2-40B4-BE49-F238E27FC236}">
                <a16:creationId xmlns:a16="http://schemas.microsoft.com/office/drawing/2014/main" id="{01701EF5-F409-26A0-E351-9750BCD7067B}"/>
              </a:ext>
            </a:extLst>
          </p:cNvPr>
          <p:cNvSpPr>
            <a:spLocks noGrp="1"/>
          </p:cNvSpPr>
          <p:nvPr>
            <p:ph idx="1"/>
          </p:nvPr>
        </p:nvSpPr>
        <p:spPr>
          <a:xfrm>
            <a:off x="359392" y="1269242"/>
            <a:ext cx="10994408" cy="4907721"/>
          </a:xfrm>
        </p:spPr>
        <p:txBody>
          <a:bodyPr/>
          <a:lstStyle/>
          <a:p>
            <a:pPr algn="just"/>
            <a:r>
              <a:rPr lang="en-US" dirty="0"/>
              <a:t>A </a:t>
            </a:r>
            <a:r>
              <a:rPr lang="en-US" b="1" dirty="0"/>
              <a:t>graph</a:t>
            </a:r>
            <a:r>
              <a:rPr lang="en-US" dirty="0"/>
              <a:t> G = (V,E) is defined by a pair of two sets: a finite nonempty set ‘V’ of items called vertices and a set ‘E’ of pairs of these items called edges.</a:t>
            </a:r>
          </a:p>
          <a:p>
            <a:pPr algn="just"/>
            <a:endParaRPr lang="en-US" dirty="0"/>
          </a:p>
          <a:p>
            <a:pPr algn="just"/>
            <a:r>
              <a:rPr lang="en-US" dirty="0"/>
              <a:t>If these pairs of vertices are unordered, i.e., a pair of vertices (u, v) is the same as the pair (v, u), we say that the vertices u and v are </a:t>
            </a:r>
            <a:r>
              <a:rPr lang="en-US" b="1" dirty="0"/>
              <a:t>adjacent</a:t>
            </a:r>
            <a:r>
              <a:rPr lang="en-US" dirty="0"/>
              <a:t> to each other and that they are connected by the undirected edge (u, v).</a:t>
            </a:r>
          </a:p>
          <a:p>
            <a:pPr algn="just"/>
            <a:endParaRPr lang="en-US" dirty="0"/>
          </a:p>
          <a:p>
            <a:pPr algn="just"/>
            <a:r>
              <a:rPr lang="en-US" dirty="0"/>
              <a:t>The vertices u and v endpoints of the edge (u, v) and say that u and v are incident to this edge; the edge (u, v) is </a:t>
            </a:r>
            <a:r>
              <a:rPr lang="en-US" b="1" dirty="0"/>
              <a:t>incident</a:t>
            </a:r>
            <a:r>
              <a:rPr lang="en-US" dirty="0"/>
              <a:t> to its endpoints u and v. A graph G is called </a:t>
            </a:r>
            <a:r>
              <a:rPr lang="en-US" b="1" dirty="0"/>
              <a:t>undirected</a:t>
            </a:r>
            <a:r>
              <a:rPr lang="en-US" dirty="0"/>
              <a:t> if every edge in it is undirected.</a:t>
            </a:r>
            <a:endParaRPr lang="en-IN" dirty="0"/>
          </a:p>
        </p:txBody>
      </p:sp>
      <p:sp>
        <p:nvSpPr>
          <p:cNvPr id="4" name="Date Placeholder 3">
            <a:extLst>
              <a:ext uri="{FF2B5EF4-FFF2-40B4-BE49-F238E27FC236}">
                <a16:creationId xmlns:a16="http://schemas.microsoft.com/office/drawing/2014/main" id="{3831EC48-3477-5110-8C3E-5CE82F166909}"/>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5DE16285-100A-E123-D0DA-CAABD6B6FE4C}"/>
              </a:ext>
            </a:extLst>
          </p:cNvPr>
          <p:cNvSpPr>
            <a:spLocks noGrp="1"/>
          </p:cNvSpPr>
          <p:nvPr>
            <p:ph type="sldNum" sz="quarter" idx="12"/>
          </p:nvPr>
        </p:nvSpPr>
        <p:spPr/>
        <p:txBody>
          <a:bodyPr/>
          <a:lstStyle/>
          <a:p>
            <a:fld id="{24BEA51C-495D-44A2-B925-9AAC4BD9F0A2}" type="slidenum">
              <a:rPr lang="en-IN" smtClean="0"/>
              <a:t>27</a:t>
            </a:fld>
            <a:endParaRPr lang="en-IN"/>
          </a:p>
        </p:txBody>
      </p:sp>
      <p:sp>
        <p:nvSpPr>
          <p:cNvPr id="7" name="Footer Placeholder 4">
            <a:extLst>
              <a:ext uri="{FF2B5EF4-FFF2-40B4-BE49-F238E27FC236}">
                <a16:creationId xmlns:a16="http://schemas.microsoft.com/office/drawing/2014/main" id="{B4E716F6-2558-153C-3223-D1153EB0E1C9}"/>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34915327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F6E78-C53B-A8E9-A018-5800F1D24438}"/>
              </a:ext>
            </a:extLst>
          </p:cNvPr>
          <p:cNvSpPr>
            <a:spLocks noGrp="1"/>
          </p:cNvSpPr>
          <p:nvPr>
            <p:ph type="title"/>
          </p:nvPr>
        </p:nvSpPr>
        <p:spPr/>
        <p:txBody>
          <a:bodyPr>
            <a:normAutofit fontScale="90000"/>
          </a:bodyPr>
          <a:lstStyle/>
          <a:p>
            <a:r>
              <a:rPr lang="en-US" dirty="0"/>
              <a:t>Graphs</a:t>
            </a:r>
            <a:endParaRPr lang="en-IN" dirty="0"/>
          </a:p>
        </p:txBody>
      </p:sp>
      <p:sp>
        <p:nvSpPr>
          <p:cNvPr id="3" name="Content Placeholder 2">
            <a:extLst>
              <a:ext uri="{FF2B5EF4-FFF2-40B4-BE49-F238E27FC236}">
                <a16:creationId xmlns:a16="http://schemas.microsoft.com/office/drawing/2014/main" id="{35A63C46-2621-9446-ED9F-97A6F55E3E56}"/>
              </a:ext>
            </a:extLst>
          </p:cNvPr>
          <p:cNvSpPr>
            <a:spLocks noGrp="1"/>
          </p:cNvSpPr>
          <p:nvPr>
            <p:ph idx="1"/>
          </p:nvPr>
        </p:nvSpPr>
        <p:spPr/>
        <p:txBody>
          <a:bodyPr/>
          <a:lstStyle/>
          <a:p>
            <a:pPr algn="just"/>
            <a:r>
              <a:rPr lang="en-US" dirty="0"/>
              <a:t>If a pair of vertices (u, v) is not the same as the pair (v, u), we say that the edge (u, v) is </a:t>
            </a:r>
            <a:r>
              <a:rPr lang="en-US" b="1" dirty="0"/>
              <a:t>directed</a:t>
            </a:r>
            <a:r>
              <a:rPr lang="en-US" dirty="0"/>
              <a:t> from the vertex u, called the edge’s tail, to the vertex v, called the edge’s </a:t>
            </a:r>
            <a:r>
              <a:rPr lang="en-US" b="1" dirty="0"/>
              <a:t>head</a:t>
            </a:r>
            <a:r>
              <a:rPr lang="en-US" dirty="0"/>
              <a:t>. We also say that the edge (u, v) leaves u and enters v. A graph whose every edge is directed is called </a:t>
            </a:r>
            <a:r>
              <a:rPr lang="en-US" b="1" dirty="0"/>
              <a:t>directed</a:t>
            </a:r>
            <a:r>
              <a:rPr lang="en-US" dirty="0"/>
              <a:t>. Directed graphs are also called </a:t>
            </a:r>
            <a:r>
              <a:rPr lang="en-US" b="1" dirty="0"/>
              <a:t>digraphs</a:t>
            </a:r>
            <a:r>
              <a:rPr lang="en-US" dirty="0"/>
              <a:t>.</a:t>
            </a:r>
            <a:endParaRPr lang="en-IN" dirty="0"/>
          </a:p>
        </p:txBody>
      </p:sp>
      <p:sp>
        <p:nvSpPr>
          <p:cNvPr id="4" name="Date Placeholder 3">
            <a:extLst>
              <a:ext uri="{FF2B5EF4-FFF2-40B4-BE49-F238E27FC236}">
                <a16:creationId xmlns:a16="http://schemas.microsoft.com/office/drawing/2014/main" id="{11E4A2F0-1381-B1E5-7F8C-77BE5ADFB8F6}"/>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9DD388DC-B5B4-FC65-F966-B8D641C1BAFF}"/>
              </a:ext>
            </a:extLst>
          </p:cNvPr>
          <p:cNvSpPr>
            <a:spLocks noGrp="1"/>
          </p:cNvSpPr>
          <p:nvPr>
            <p:ph type="sldNum" sz="quarter" idx="12"/>
          </p:nvPr>
        </p:nvSpPr>
        <p:spPr/>
        <p:txBody>
          <a:bodyPr/>
          <a:lstStyle/>
          <a:p>
            <a:fld id="{24BEA51C-495D-44A2-B925-9AAC4BD9F0A2}" type="slidenum">
              <a:rPr lang="en-IN" smtClean="0"/>
              <a:t>28</a:t>
            </a:fld>
            <a:endParaRPr lang="en-IN"/>
          </a:p>
        </p:txBody>
      </p:sp>
      <p:pic>
        <p:nvPicPr>
          <p:cNvPr id="8" name="Picture 7">
            <a:extLst>
              <a:ext uri="{FF2B5EF4-FFF2-40B4-BE49-F238E27FC236}">
                <a16:creationId xmlns:a16="http://schemas.microsoft.com/office/drawing/2014/main" id="{41FB94AE-B942-CA6C-ABD6-90FFAB4B06E7}"/>
              </a:ext>
            </a:extLst>
          </p:cNvPr>
          <p:cNvPicPr>
            <a:picLocks noChangeAspect="1"/>
          </p:cNvPicPr>
          <p:nvPr/>
        </p:nvPicPr>
        <p:blipFill>
          <a:blip r:embed="rId2"/>
          <a:stretch>
            <a:fillRect/>
          </a:stretch>
        </p:blipFill>
        <p:spPr>
          <a:xfrm>
            <a:off x="1650215" y="3276202"/>
            <a:ext cx="9450921" cy="2900761"/>
          </a:xfrm>
          <a:prstGeom prst="rect">
            <a:avLst/>
          </a:prstGeom>
        </p:spPr>
      </p:pic>
      <p:sp>
        <p:nvSpPr>
          <p:cNvPr id="10" name="TextBox 9">
            <a:extLst>
              <a:ext uri="{FF2B5EF4-FFF2-40B4-BE49-F238E27FC236}">
                <a16:creationId xmlns:a16="http://schemas.microsoft.com/office/drawing/2014/main" id="{483F3D17-620A-EEBB-A20A-670B45A3FA1B}"/>
              </a:ext>
            </a:extLst>
          </p:cNvPr>
          <p:cNvSpPr txBox="1"/>
          <p:nvPr/>
        </p:nvSpPr>
        <p:spPr>
          <a:xfrm>
            <a:off x="4652211" y="6081991"/>
            <a:ext cx="6096000" cy="369332"/>
          </a:xfrm>
          <a:prstGeom prst="rect">
            <a:avLst/>
          </a:prstGeom>
          <a:noFill/>
        </p:spPr>
        <p:txBody>
          <a:bodyPr wrap="square">
            <a:spAutoFit/>
          </a:bodyPr>
          <a:lstStyle/>
          <a:p>
            <a:r>
              <a:rPr lang="en-US" dirty="0"/>
              <a:t>(a) Undirected graph. (b) Digraph. </a:t>
            </a:r>
            <a:endParaRPr lang="en-IN" dirty="0"/>
          </a:p>
        </p:txBody>
      </p:sp>
      <p:sp>
        <p:nvSpPr>
          <p:cNvPr id="7" name="Footer Placeholder 4">
            <a:extLst>
              <a:ext uri="{FF2B5EF4-FFF2-40B4-BE49-F238E27FC236}">
                <a16:creationId xmlns:a16="http://schemas.microsoft.com/office/drawing/2014/main" id="{53C1EFCC-2450-A062-C9A1-A5AE679C44A1}"/>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27562482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2124F-4022-A13F-188E-013603131143}"/>
              </a:ext>
            </a:extLst>
          </p:cNvPr>
          <p:cNvSpPr>
            <a:spLocks noGrp="1"/>
          </p:cNvSpPr>
          <p:nvPr>
            <p:ph type="title"/>
          </p:nvPr>
        </p:nvSpPr>
        <p:spPr/>
        <p:txBody>
          <a:bodyPr>
            <a:normAutofit fontScale="90000"/>
          </a:bodyPr>
          <a:lstStyle/>
          <a:p>
            <a:r>
              <a:rPr lang="en-US" dirty="0"/>
              <a:t>Adjacency matrix and Adjacency lists </a:t>
            </a:r>
            <a:endParaRPr lang="en-IN" dirty="0"/>
          </a:p>
        </p:txBody>
      </p:sp>
      <p:pic>
        <p:nvPicPr>
          <p:cNvPr id="14" name="Content Placeholder 13">
            <a:extLst>
              <a:ext uri="{FF2B5EF4-FFF2-40B4-BE49-F238E27FC236}">
                <a16:creationId xmlns:a16="http://schemas.microsoft.com/office/drawing/2014/main" id="{2BF35026-A771-8B7F-9B9D-606AD40E55AD}"/>
              </a:ext>
            </a:extLst>
          </p:cNvPr>
          <p:cNvPicPr>
            <a:picLocks noGrp="1" noChangeAspect="1"/>
          </p:cNvPicPr>
          <p:nvPr>
            <p:ph idx="1"/>
          </p:nvPr>
        </p:nvPicPr>
        <p:blipFill>
          <a:blip r:embed="rId2"/>
          <a:stretch>
            <a:fillRect/>
          </a:stretch>
        </p:blipFill>
        <p:spPr>
          <a:xfrm>
            <a:off x="3093312" y="3574285"/>
            <a:ext cx="6050688" cy="2115549"/>
          </a:xfrm>
        </p:spPr>
      </p:pic>
      <p:sp>
        <p:nvSpPr>
          <p:cNvPr id="4" name="Date Placeholder 3">
            <a:extLst>
              <a:ext uri="{FF2B5EF4-FFF2-40B4-BE49-F238E27FC236}">
                <a16:creationId xmlns:a16="http://schemas.microsoft.com/office/drawing/2014/main" id="{76A0D3EA-B77F-311F-608A-8F13F5F35C8E}"/>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E4B8F2F7-90F7-F92A-E4F3-02F681B3262C}"/>
              </a:ext>
            </a:extLst>
          </p:cNvPr>
          <p:cNvSpPr>
            <a:spLocks noGrp="1"/>
          </p:cNvSpPr>
          <p:nvPr>
            <p:ph type="sldNum" sz="quarter" idx="12"/>
          </p:nvPr>
        </p:nvSpPr>
        <p:spPr/>
        <p:txBody>
          <a:bodyPr/>
          <a:lstStyle/>
          <a:p>
            <a:fld id="{24BEA51C-495D-44A2-B925-9AAC4BD9F0A2}" type="slidenum">
              <a:rPr lang="en-IN" smtClean="0"/>
              <a:t>29</a:t>
            </a:fld>
            <a:endParaRPr lang="en-IN"/>
          </a:p>
        </p:txBody>
      </p:sp>
      <p:pic>
        <p:nvPicPr>
          <p:cNvPr id="10" name="Picture 9">
            <a:extLst>
              <a:ext uri="{FF2B5EF4-FFF2-40B4-BE49-F238E27FC236}">
                <a16:creationId xmlns:a16="http://schemas.microsoft.com/office/drawing/2014/main" id="{0B844848-392D-ACAA-B376-9BE7B69A538D}"/>
              </a:ext>
            </a:extLst>
          </p:cNvPr>
          <p:cNvPicPr>
            <a:picLocks noChangeAspect="1"/>
          </p:cNvPicPr>
          <p:nvPr/>
        </p:nvPicPr>
        <p:blipFill>
          <a:blip r:embed="rId3"/>
          <a:stretch>
            <a:fillRect/>
          </a:stretch>
        </p:blipFill>
        <p:spPr>
          <a:xfrm>
            <a:off x="2545097" y="1322951"/>
            <a:ext cx="6227179" cy="1596712"/>
          </a:xfrm>
          <a:prstGeom prst="rect">
            <a:avLst/>
          </a:prstGeom>
        </p:spPr>
      </p:pic>
      <p:sp>
        <p:nvSpPr>
          <p:cNvPr id="12" name="TextBox 11">
            <a:extLst>
              <a:ext uri="{FF2B5EF4-FFF2-40B4-BE49-F238E27FC236}">
                <a16:creationId xmlns:a16="http://schemas.microsoft.com/office/drawing/2014/main" id="{58803C53-8E79-CDC1-4F0C-9DCB69553362}"/>
              </a:ext>
            </a:extLst>
          </p:cNvPr>
          <p:cNvSpPr txBox="1"/>
          <p:nvPr/>
        </p:nvSpPr>
        <p:spPr>
          <a:xfrm>
            <a:off x="3048000" y="2914384"/>
            <a:ext cx="6096000" cy="369332"/>
          </a:xfrm>
          <a:prstGeom prst="rect">
            <a:avLst/>
          </a:prstGeom>
          <a:noFill/>
        </p:spPr>
        <p:txBody>
          <a:bodyPr wrap="square">
            <a:spAutoFit/>
          </a:bodyPr>
          <a:lstStyle/>
          <a:p>
            <a:r>
              <a:rPr lang="en-US" dirty="0"/>
              <a:t>(a) Undirected graph.                                   (b) Digraph. </a:t>
            </a:r>
            <a:endParaRPr lang="en-IN" dirty="0"/>
          </a:p>
        </p:txBody>
      </p:sp>
      <p:sp>
        <p:nvSpPr>
          <p:cNvPr id="16" name="TextBox 15">
            <a:extLst>
              <a:ext uri="{FF2B5EF4-FFF2-40B4-BE49-F238E27FC236}">
                <a16:creationId xmlns:a16="http://schemas.microsoft.com/office/drawing/2014/main" id="{8E9EB6C4-1EF1-8288-F03F-E764BC1A276A}"/>
              </a:ext>
            </a:extLst>
          </p:cNvPr>
          <p:cNvSpPr txBox="1"/>
          <p:nvPr/>
        </p:nvSpPr>
        <p:spPr>
          <a:xfrm>
            <a:off x="3287402" y="5653760"/>
            <a:ext cx="6466197" cy="369332"/>
          </a:xfrm>
          <a:prstGeom prst="rect">
            <a:avLst/>
          </a:prstGeom>
          <a:noFill/>
        </p:spPr>
        <p:txBody>
          <a:bodyPr wrap="square">
            <a:spAutoFit/>
          </a:bodyPr>
          <a:lstStyle/>
          <a:p>
            <a:r>
              <a:rPr lang="en-US" dirty="0"/>
              <a:t>(a) Adjacency matrix      and          (b) adjacency lists of the graph</a:t>
            </a:r>
            <a:endParaRPr lang="en-IN" dirty="0"/>
          </a:p>
        </p:txBody>
      </p:sp>
      <p:sp>
        <p:nvSpPr>
          <p:cNvPr id="3" name="Footer Placeholder 4">
            <a:extLst>
              <a:ext uri="{FF2B5EF4-FFF2-40B4-BE49-F238E27FC236}">
                <a16:creationId xmlns:a16="http://schemas.microsoft.com/office/drawing/2014/main" id="{F6F3D4C7-1D6E-ADF3-605F-D1A2122F69BD}"/>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2527915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7DB10-104B-2A82-D968-F4C84345AC29}"/>
              </a:ext>
            </a:extLst>
          </p:cNvPr>
          <p:cNvSpPr>
            <a:spLocks noGrp="1"/>
          </p:cNvSpPr>
          <p:nvPr>
            <p:ph type="title"/>
          </p:nvPr>
        </p:nvSpPr>
        <p:spPr/>
        <p:txBody>
          <a:bodyPr>
            <a:normAutofit fontScale="90000"/>
          </a:bodyPr>
          <a:lstStyle/>
          <a:p>
            <a:r>
              <a:rPr lang="en-US" dirty="0"/>
              <a:t>weighted graph and Path</a:t>
            </a:r>
            <a:endParaRPr lang="en-IN" dirty="0"/>
          </a:p>
        </p:txBody>
      </p:sp>
      <p:sp>
        <p:nvSpPr>
          <p:cNvPr id="3" name="Content Placeholder 2">
            <a:extLst>
              <a:ext uri="{FF2B5EF4-FFF2-40B4-BE49-F238E27FC236}">
                <a16:creationId xmlns:a16="http://schemas.microsoft.com/office/drawing/2014/main" id="{73CD309C-124D-0CC9-AF71-B71AD6FCB392}"/>
              </a:ext>
            </a:extLst>
          </p:cNvPr>
          <p:cNvSpPr>
            <a:spLocks noGrp="1"/>
          </p:cNvSpPr>
          <p:nvPr>
            <p:ph idx="1"/>
          </p:nvPr>
        </p:nvSpPr>
        <p:spPr/>
        <p:txBody>
          <a:bodyPr/>
          <a:lstStyle/>
          <a:p>
            <a:pPr algn="just"/>
            <a:r>
              <a:rPr lang="en-US" dirty="0"/>
              <a:t>A </a:t>
            </a:r>
            <a:r>
              <a:rPr lang="en-US" b="1" dirty="0"/>
              <a:t>weighted graph </a:t>
            </a:r>
            <a:r>
              <a:rPr lang="en-US" dirty="0"/>
              <a:t>(or weighted digraph) is a graph (or digraph) with numbers assigned to its edges. These numbers are called weights or costs. </a:t>
            </a:r>
          </a:p>
          <a:p>
            <a:pPr algn="just"/>
            <a:r>
              <a:rPr lang="en-US" dirty="0"/>
              <a:t>If a weighted graph is represented by its adjacency matrix, then its element A[</a:t>
            </a:r>
            <a:r>
              <a:rPr lang="en-US" dirty="0" err="1"/>
              <a:t>i</a:t>
            </a:r>
            <a:r>
              <a:rPr lang="en-US" dirty="0"/>
              <a:t>, j ] will simply contain the weight of the edge from the </a:t>
            </a:r>
            <a:r>
              <a:rPr lang="en-US" dirty="0" err="1"/>
              <a:t>ith</a:t>
            </a:r>
            <a:r>
              <a:rPr lang="en-US" dirty="0"/>
              <a:t> to the </a:t>
            </a:r>
            <a:r>
              <a:rPr lang="en-US" dirty="0" err="1"/>
              <a:t>jth</a:t>
            </a:r>
            <a:r>
              <a:rPr lang="en-US" dirty="0"/>
              <a:t> vertex if there is such an edge and a special symbol, e.g., ∞, if there is no such edge. Such a matrix is called the </a:t>
            </a:r>
            <a:r>
              <a:rPr lang="en-US" b="1" dirty="0"/>
              <a:t>weight matrix or cost matrix.</a:t>
            </a:r>
          </a:p>
          <a:p>
            <a:pPr algn="just"/>
            <a:r>
              <a:rPr lang="en-US" dirty="0"/>
              <a:t>A </a:t>
            </a:r>
            <a:r>
              <a:rPr lang="en-US" b="1" dirty="0"/>
              <a:t>path</a:t>
            </a:r>
            <a:r>
              <a:rPr lang="en-US" dirty="0"/>
              <a:t> from vertex u to vertex v of a graph G can be defined as a sequence of adjacent (connected by an edge) vertices that starts with u and ends with v.</a:t>
            </a:r>
            <a:endParaRPr lang="en-IN" b="1" dirty="0"/>
          </a:p>
        </p:txBody>
      </p:sp>
      <p:sp>
        <p:nvSpPr>
          <p:cNvPr id="4" name="Date Placeholder 3">
            <a:extLst>
              <a:ext uri="{FF2B5EF4-FFF2-40B4-BE49-F238E27FC236}">
                <a16:creationId xmlns:a16="http://schemas.microsoft.com/office/drawing/2014/main" id="{D130C420-65F2-1EB6-C4DF-34ED57439A04}"/>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B7E8732B-74F2-2729-7ED2-89289FFBC421}"/>
              </a:ext>
            </a:extLst>
          </p:cNvPr>
          <p:cNvSpPr>
            <a:spLocks noGrp="1"/>
          </p:cNvSpPr>
          <p:nvPr>
            <p:ph type="sldNum" sz="quarter" idx="12"/>
          </p:nvPr>
        </p:nvSpPr>
        <p:spPr/>
        <p:txBody>
          <a:bodyPr/>
          <a:lstStyle/>
          <a:p>
            <a:fld id="{24BEA51C-495D-44A2-B925-9AAC4BD9F0A2}" type="slidenum">
              <a:rPr lang="en-IN" smtClean="0"/>
              <a:t>30</a:t>
            </a:fld>
            <a:endParaRPr lang="en-IN"/>
          </a:p>
        </p:txBody>
      </p:sp>
      <p:sp>
        <p:nvSpPr>
          <p:cNvPr id="7" name="Footer Placeholder 4">
            <a:extLst>
              <a:ext uri="{FF2B5EF4-FFF2-40B4-BE49-F238E27FC236}">
                <a16:creationId xmlns:a16="http://schemas.microsoft.com/office/drawing/2014/main" id="{2BA801FD-D403-9D79-61D6-AAF2239F7B5F}"/>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9665238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69D50-CBBA-C70F-34C4-68C8E45A3830}"/>
              </a:ext>
            </a:extLst>
          </p:cNvPr>
          <p:cNvSpPr>
            <a:spLocks noGrp="1"/>
          </p:cNvSpPr>
          <p:nvPr>
            <p:ph type="title"/>
          </p:nvPr>
        </p:nvSpPr>
        <p:spPr/>
        <p:txBody>
          <a:bodyPr>
            <a:normAutofit fontScale="90000"/>
          </a:bodyPr>
          <a:lstStyle/>
          <a:p>
            <a:r>
              <a:rPr lang="en-US" dirty="0"/>
              <a:t>Path</a:t>
            </a:r>
            <a:endParaRPr lang="en-IN" dirty="0"/>
          </a:p>
        </p:txBody>
      </p:sp>
      <p:sp>
        <p:nvSpPr>
          <p:cNvPr id="3" name="Content Placeholder 2">
            <a:extLst>
              <a:ext uri="{FF2B5EF4-FFF2-40B4-BE49-F238E27FC236}">
                <a16:creationId xmlns:a16="http://schemas.microsoft.com/office/drawing/2014/main" id="{DB0C2986-BEAF-1A38-0D16-330F18FA429A}"/>
              </a:ext>
            </a:extLst>
          </p:cNvPr>
          <p:cNvSpPr>
            <a:spLocks noGrp="1"/>
          </p:cNvSpPr>
          <p:nvPr>
            <p:ph idx="1"/>
          </p:nvPr>
        </p:nvSpPr>
        <p:spPr/>
        <p:txBody>
          <a:bodyPr/>
          <a:lstStyle/>
          <a:p>
            <a:r>
              <a:rPr lang="en-US" dirty="0"/>
              <a:t>If all vertices of a path are distinct, the path is said to be </a:t>
            </a:r>
            <a:r>
              <a:rPr lang="en-US" b="1" dirty="0"/>
              <a:t>simple</a:t>
            </a:r>
            <a:r>
              <a:rPr lang="en-US" dirty="0"/>
              <a:t>. The </a:t>
            </a:r>
            <a:r>
              <a:rPr lang="en-US" b="1" dirty="0"/>
              <a:t>length</a:t>
            </a:r>
            <a:r>
              <a:rPr lang="en-US" dirty="0"/>
              <a:t> of a path is the total number of vertices in the vertex sequence defining the path minus 1, which is the same as the number of edges in the path. For example, a, c, b, f is a simple path of length 3 from a to f in the graph, whereas a, c, e, c, b, f is a path (not simple) of length 5 from a to f.</a:t>
            </a:r>
            <a:endParaRPr lang="en-IN" dirty="0"/>
          </a:p>
        </p:txBody>
      </p:sp>
      <p:sp>
        <p:nvSpPr>
          <p:cNvPr id="4" name="Date Placeholder 3">
            <a:extLst>
              <a:ext uri="{FF2B5EF4-FFF2-40B4-BE49-F238E27FC236}">
                <a16:creationId xmlns:a16="http://schemas.microsoft.com/office/drawing/2014/main" id="{E8471B87-BCE3-8E9C-EC62-F14CFF67C863}"/>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725D0513-2BDB-2419-525D-F86664FF02DF}"/>
              </a:ext>
            </a:extLst>
          </p:cNvPr>
          <p:cNvSpPr>
            <a:spLocks noGrp="1"/>
          </p:cNvSpPr>
          <p:nvPr>
            <p:ph type="sldNum" sz="quarter" idx="12"/>
          </p:nvPr>
        </p:nvSpPr>
        <p:spPr/>
        <p:txBody>
          <a:bodyPr/>
          <a:lstStyle/>
          <a:p>
            <a:fld id="{24BEA51C-495D-44A2-B925-9AAC4BD9F0A2}" type="slidenum">
              <a:rPr lang="en-IN" smtClean="0"/>
              <a:t>31</a:t>
            </a:fld>
            <a:endParaRPr lang="en-IN"/>
          </a:p>
        </p:txBody>
      </p:sp>
      <p:sp>
        <p:nvSpPr>
          <p:cNvPr id="7" name="Footer Placeholder 4">
            <a:extLst>
              <a:ext uri="{FF2B5EF4-FFF2-40B4-BE49-F238E27FC236}">
                <a16:creationId xmlns:a16="http://schemas.microsoft.com/office/drawing/2014/main" id="{A6DBC08F-6988-E97F-A498-4CB3B4BBA131}"/>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pic>
        <p:nvPicPr>
          <p:cNvPr id="11" name="Picture 10">
            <a:extLst>
              <a:ext uri="{FF2B5EF4-FFF2-40B4-BE49-F238E27FC236}">
                <a16:creationId xmlns:a16="http://schemas.microsoft.com/office/drawing/2014/main" id="{8E3DBE95-8427-AE85-F604-E028B93EE7FA}"/>
              </a:ext>
            </a:extLst>
          </p:cNvPr>
          <p:cNvPicPr>
            <a:picLocks noChangeAspect="1"/>
          </p:cNvPicPr>
          <p:nvPr/>
        </p:nvPicPr>
        <p:blipFill>
          <a:blip r:embed="rId2"/>
          <a:stretch>
            <a:fillRect/>
          </a:stretch>
        </p:blipFill>
        <p:spPr>
          <a:xfrm>
            <a:off x="4642892" y="3723101"/>
            <a:ext cx="3156402" cy="2193085"/>
          </a:xfrm>
          <a:prstGeom prst="rect">
            <a:avLst/>
          </a:prstGeom>
        </p:spPr>
      </p:pic>
    </p:spTree>
    <p:extLst>
      <p:ext uri="{BB962C8B-B14F-4D97-AF65-F5344CB8AC3E}">
        <p14:creationId xmlns:p14="http://schemas.microsoft.com/office/powerpoint/2010/main" val="3663044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C5F6D-6CC6-7BD1-A78C-DEE9C06DBD38}"/>
              </a:ext>
            </a:extLst>
          </p:cNvPr>
          <p:cNvSpPr>
            <a:spLocks noGrp="1"/>
          </p:cNvSpPr>
          <p:nvPr>
            <p:ph type="title"/>
          </p:nvPr>
        </p:nvSpPr>
        <p:spPr/>
        <p:txBody>
          <a:bodyPr>
            <a:normAutofit fontScale="90000"/>
          </a:bodyPr>
          <a:lstStyle/>
          <a:p>
            <a:r>
              <a:rPr lang="en-US" dirty="0"/>
              <a:t>Graphs Example</a:t>
            </a:r>
            <a:endParaRPr lang="en-IN" dirty="0"/>
          </a:p>
        </p:txBody>
      </p:sp>
      <p:sp>
        <p:nvSpPr>
          <p:cNvPr id="4" name="Date Placeholder 3">
            <a:extLst>
              <a:ext uri="{FF2B5EF4-FFF2-40B4-BE49-F238E27FC236}">
                <a16:creationId xmlns:a16="http://schemas.microsoft.com/office/drawing/2014/main" id="{E8518CB9-EAAA-9514-EA9B-533D214CBF86}"/>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E4B65220-C81A-8884-BE44-965A9478452D}"/>
              </a:ext>
            </a:extLst>
          </p:cNvPr>
          <p:cNvSpPr>
            <a:spLocks noGrp="1"/>
          </p:cNvSpPr>
          <p:nvPr>
            <p:ph type="sldNum" sz="quarter" idx="12"/>
          </p:nvPr>
        </p:nvSpPr>
        <p:spPr/>
        <p:txBody>
          <a:bodyPr/>
          <a:lstStyle/>
          <a:p>
            <a:fld id="{24BEA51C-495D-44A2-B925-9AAC4BD9F0A2}" type="slidenum">
              <a:rPr lang="en-IN" smtClean="0"/>
              <a:t>32</a:t>
            </a:fld>
            <a:endParaRPr lang="en-IN"/>
          </a:p>
        </p:txBody>
      </p:sp>
      <p:pic>
        <p:nvPicPr>
          <p:cNvPr id="8" name="Picture 7">
            <a:extLst>
              <a:ext uri="{FF2B5EF4-FFF2-40B4-BE49-F238E27FC236}">
                <a16:creationId xmlns:a16="http://schemas.microsoft.com/office/drawing/2014/main" id="{26979DB0-A21B-0F3D-F72C-14329D864CB9}"/>
              </a:ext>
            </a:extLst>
          </p:cNvPr>
          <p:cNvPicPr>
            <a:picLocks noChangeAspect="1"/>
          </p:cNvPicPr>
          <p:nvPr/>
        </p:nvPicPr>
        <p:blipFill>
          <a:blip r:embed="rId2"/>
          <a:stretch>
            <a:fillRect/>
          </a:stretch>
        </p:blipFill>
        <p:spPr>
          <a:xfrm>
            <a:off x="6193766" y="2128666"/>
            <a:ext cx="5281764" cy="2789247"/>
          </a:xfrm>
          <a:prstGeom prst="rect">
            <a:avLst/>
          </a:prstGeom>
        </p:spPr>
      </p:pic>
      <p:sp>
        <p:nvSpPr>
          <p:cNvPr id="7" name="Footer Placeholder 4">
            <a:extLst>
              <a:ext uri="{FF2B5EF4-FFF2-40B4-BE49-F238E27FC236}">
                <a16:creationId xmlns:a16="http://schemas.microsoft.com/office/drawing/2014/main" id="{3EA8A102-FC9E-9C71-0090-96D165EF6940}"/>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pic>
        <p:nvPicPr>
          <p:cNvPr id="9" name="Content Placeholder 8">
            <a:extLst>
              <a:ext uri="{FF2B5EF4-FFF2-40B4-BE49-F238E27FC236}">
                <a16:creationId xmlns:a16="http://schemas.microsoft.com/office/drawing/2014/main" id="{A1537278-6621-1D5F-8715-634FEC662083}"/>
              </a:ext>
            </a:extLst>
          </p:cNvPr>
          <p:cNvPicPr>
            <a:picLocks noGrp="1" noChangeAspect="1"/>
          </p:cNvPicPr>
          <p:nvPr>
            <p:ph idx="1"/>
          </p:nvPr>
        </p:nvPicPr>
        <p:blipFill>
          <a:blip r:embed="rId3"/>
          <a:stretch>
            <a:fillRect/>
          </a:stretch>
        </p:blipFill>
        <p:spPr>
          <a:xfrm>
            <a:off x="968524" y="1852986"/>
            <a:ext cx="4505594" cy="1703701"/>
          </a:xfrm>
          <a:prstGeom prst="rect">
            <a:avLst/>
          </a:prstGeom>
        </p:spPr>
      </p:pic>
      <p:sp>
        <p:nvSpPr>
          <p:cNvPr id="10" name="TextBox 9">
            <a:extLst>
              <a:ext uri="{FF2B5EF4-FFF2-40B4-BE49-F238E27FC236}">
                <a16:creationId xmlns:a16="http://schemas.microsoft.com/office/drawing/2014/main" id="{7C703759-88D7-42BC-F13E-E0BB601D037E}"/>
              </a:ext>
            </a:extLst>
          </p:cNvPr>
          <p:cNvSpPr txBox="1"/>
          <p:nvPr/>
        </p:nvSpPr>
        <p:spPr>
          <a:xfrm>
            <a:off x="1210574" y="3611457"/>
            <a:ext cx="4505594" cy="276999"/>
          </a:xfrm>
          <a:prstGeom prst="rect">
            <a:avLst/>
          </a:prstGeom>
          <a:noFill/>
        </p:spPr>
        <p:txBody>
          <a:bodyPr wrap="square">
            <a:spAutoFit/>
          </a:bodyPr>
          <a:lstStyle/>
          <a:p>
            <a:r>
              <a:rPr lang="en-US" sz="1200" dirty="0"/>
              <a:t>(a) Weighted graph. (b) Its weight matrix. (c) Its adjacency lists</a:t>
            </a:r>
            <a:endParaRPr lang="en-IN" sz="1200" dirty="0"/>
          </a:p>
        </p:txBody>
      </p:sp>
    </p:spTree>
    <p:extLst>
      <p:ext uri="{BB962C8B-B14F-4D97-AF65-F5344CB8AC3E}">
        <p14:creationId xmlns:p14="http://schemas.microsoft.com/office/powerpoint/2010/main" val="39148316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73E9B-BA7C-7216-F26F-E558B871704D}"/>
              </a:ext>
            </a:extLst>
          </p:cNvPr>
          <p:cNvSpPr>
            <a:spLocks noGrp="1"/>
          </p:cNvSpPr>
          <p:nvPr>
            <p:ph type="title"/>
          </p:nvPr>
        </p:nvSpPr>
        <p:spPr/>
        <p:txBody>
          <a:bodyPr>
            <a:normAutofit fontScale="90000"/>
          </a:bodyPr>
          <a:lstStyle/>
          <a:p>
            <a:r>
              <a:rPr lang="en-US" dirty="0"/>
              <a:t>Directed path and Cycle</a:t>
            </a:r>
            <a:endParaRPr lang="en-IN" dirty="0"/>
          </a:p>
        </p:txBody>
      </p:sp>
      <p:sp>
        <p:nvSpPr>
          <p:cNvPr id="3" name="Content Placeholder 2">
            <a:extLst>
              <a:ext uri="{FF2B5EF4-FFF2-40B4-BE49-F238E27FC236}">
                <a16:creationId xmlns:a16="http://schemas.microsoft.com/office/drawing/2014/main" id="{A5301734-34AC-18FC-D48E-5336C2FDBC3C}"/>
              </a:ext>
            </a:extLst>
          </p:cNvPr>
          <p:cNvSpPr>
            <a:spLocks noGrp="1"/>
          </p:cNvSpPr>
          <p:nvPr>
            <p:ph idx="1"/>
          </p:nvPr>
        </p:nvSpPr>
        <p:spPr/>
        <p:txBody>
          <a:bodyPr/>
          <a:lstStyle/>
          <a:p>
            <a:pPr algn="just"/>
            <a:r>
              <a:rPr lang="en-US" dirty="0"/>
              <a:t>A </a:t>
            </a:r>
            <a:r>
              <a:rPr lang="en-US" b="1" dirty="0"/>
              <a:t>directed path </a:t>
            </a:r>
            <a:r>
              <a:rPr lang="en-US" dirty="0"/>
              <a:t>is a sequence of vertices in which every consecutive pair of the vertices is connected by an edge directed from the vertex listed first to the vertex listed next.</a:t>
            </a:r>
          </a:p>
          <a:p>
            <a:pPr algn="just"/>
            <a:r>
              <a:rPr lang="en-US" dirty="0"/>
              <a:t>A graph is said to be </a:t>
            </a:r>
            <a:r>
              <a:rPr lang="en-US" b="1" dirty="0"/>
              <a:t>connected</a:t>
            </a:r>
            <a:r>
              <a:rPr lang="en-US" dirty="0"/>
              <a:t> if for every pair of its vertices u and v there is a path from u to v.</a:t>
            </a:r>
          </a:p>
          <a:p>
            <a:pPr algn="just"/>
            <a:r>
              <a:rPr lang="en-US" dirty="0"/>
              <a:t>A </a:t>
            </a:r>
            <a:r>
              <a:rPr lang="en-US" b="1" dirty="0"/>
              <a:t>connected component </a:t>
            </a:r>
            <a:r>
              <a:rPr lang="en-US" dirty="0"/>
              <a:t>is a maximal (not expandable by including another vertex and an edge) connected subgraph of a given graph. </a:t>
            </a:r>
          </a:p>
          <a:p>
            <a:pPr algn="just"/>
            <a:r>
              <a:rPr lang="en-US" dirty="0"/>
              <a:t>A </a:t>
            </a:r>
            <a:r>
              <a:rPr lang="en-US" b="1" dirty="0"/>
              <a:t>cycle</a:t>
            </a:r>
            <a:r>
              <a:rPr lang="en-US" dirty="0"/>
              <a:t> is a path of a positive length that starts and ends at the same vertex and does not traverse the same edge more than once.</a:t>
            </a:r>
          </a:p>
          <a:p>
            <a:endParaRPr lang="en-IN" dirty="0"/>
          </a:p>
        </p:txBody>
      </p:sp>
      <p:sp>
        <p:nvSpPr>
          <p:cNvPr id="4" name="Date Placeholder 3">
            <a:extLst>
              <a:ext uri="{FF2B5EF4-FFF2-40B4-BE49-F238E27FC236}">
                <a16:creationId xmlns:a16="http://schemas.microsoft.com/office/drawing/2014/main" id="{97B2CE5C-3C45-D394-0019-6752F19EF533}"/>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B1C7DF25-7834-784D-84C8-8E3EE78A7928}"/>
              </a:ext>
            </a:extLst>
          </p:cNvPr>
          <p:cNvSpPr>
            <a:spLocks noGrp="1"/>
          </p:cNvSpPr>
          <p:nvPr>
            <p:ph type="sldNum" sz="quarter" idx="12"/>
          </p:nvPr>
        </p:nvSpPr>
        <p:spPr/>
        <p:txBody>
          <a:bodyPr/>
          <a:lstStyle/>
          <a:p>
            <a:fld id="{24BEA51C-495D-44A2-B925-9AAC4BD9F0A2}" type="slidenum">
              <a:rPr lang="en-IN" smtClean="0"/>
              <a:t>33</a:t>
            </a:fld>
            <a:endParaRPr lang="en-IN"/>
          </a:p>
        </p:txBody>
      </p:sp>
      <p:sp>
        <p:nvSpPr>
          <p:cNvPr id="7" name="Footer Placeholder 4">
            <a:extLst>
              <a:ext uri="{FF2B5EF4-FFF2-40B4-BE49-F238E27FC236}">
                <a16:creationId xmlns:a16="http://schemas.microsoft.com/office/drawing/2014/main" id="{903223E0-4C50-69B3-BC76-3296DCDDC556}"/>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34515662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E9799-4BEE-428F-431B-3163D7A27E2F}"/>
              </a:ext>
            </a:extLst>
          </p:cNvPr>
          <p:cNvSpPr>
            <a:spLocks noGrp="1"/>
          </p:cNvSpPr>
          <p:nvPr>
            <p:ph type="title"/>
          </p:nvPr>
        </p:nvSpPr>
        <p:spPr/>
        <p:txBody>
          <a:bodyPr>
            <a:normAutofit fontScale="90000"/>
          </a:bodyPr>
          <a:lstStyle/>
          <a:p>
            <a:r>
              <a:rPr lang="en-US" dirty="0"/>
              <a:t>Trees</a:t>
            </a:r>
            <a:endParaRPr lang="en-IN" dirty="0"/>
          </a:p>
        </p:txBody>
      </p:sp>
      <p:sp>
        <p:nvSpPr>
          <p:cNvPr id="3" name="Content Placeholder 2">
            <a:extLst>
              <a:ext uri="{FF2B5EF4-FFF2-40B4-BE49-F238E27FC236}">
                <a16:creationId xmlns:a16="http://schemas.microsoft.com/office/drawing/2014/main" id="{D66B8E9C-F2B5-A0D2-0BDB-5E3A9D73C5B3}"/>
              </a:ext>
            </a:extLst>
          </p:cNvPr>
          <p:cNvSpPr>
            <a:spLocks noGrp="1"/>
          </p:cNvSpPr>
          <p:nvPr>
            <p:ph idx="1"/>
          </p:nvPr>
        </p:nvSpPr>
        <p:spPr/>
        <p:txBody>
          <a:bodyPr/>
          <a:lstStyle/>
          <a:p>
            <a:r>
              <a:rPr lang="en-IN" sz="1800" dirty="0">
                <a:effectLst/>
                <a:latin typeface="TimesTen"/>
              </a:rPr>
              <a:t>A </a:t>
            </a:r>
            <a:r>
              <a:rPr lang="en-IN" sz="1800" b="1" dirty="0">
                <a:effectLst/>
                <a:latin typeface="TimesTen"/>
              </a:rPr>
              <a:t>tree </a:t>
            </a:r>
            <a:r>
              <a:rPr lang="en-IN" sz="1800" dirty="0">
                <a:effectLst/>
                <a:latin typeface="TimesTen"/>
              </a:rPr>
              <a:t>(more accurately, a </a:t>
            </a:r>
            <a:r>
              <a:rPr lang="en-IN" sz="1800" b="1" dirty="0">
                <a:effectLst/>
                <a:latin typeface="TimesTen"/>
              </a:rPr>
              <a:t>free tree</a:t>
            </a:r>
            <a:r>
              <a:rPr lang="en-IN" sz="1800" dirty="0">
                <a:effectLst/>
                <a:latin typeface="TimesTen"/>
              </a:rPr>
              <a:t>) is a connected acyclic graph (Figure 1.10a). A graph that has no cycles but is not necessarily connected is called a </a:t>
            </a:r>
            <a:r>
              <a:rPr lang="en-IN" sz="1800" b="1" dirty="0">
                <a:effectLst/>
                <a:latin typeface="TimesTen"/>
              </a:rPr>
              <a:t>forest.</a:t>
            </a:r>
          </a:p>
          <a:p>
            <a:endParaRPr lang="en-IN" sz="1800" b="1" dirty="0">
              <a:latin typeface="TimesTen"/>
            </a:endParaRPr>
          </a:p>
          <a:p>
            <a:endParaRPr lang="en-IN" sz="1800" b="1" dirty="0">
              <a:latin typeface="TimesTen"/>
            </a:endParaRPr>
          </a:p>
          <a:p>
            <a:endParaRPr lang="en-IN" sz="1800" b="1" dirty="0">
              <a:latin typeface="TimesTen"/>
            </a:endParaRPr>
          </a:p>
          <a:p>
            <a:endParaRPr lang="en-IN" sz="1800" b="1" dirty="0">
              <a:latin typeface="TimesTen"/>
            </a:endParaRPr>
          </a:p>
          <a:p>
            <a:pPr marL="0" indent="0">
              <a:buNone/>
            </a:pPr>
            <a:endParaRPr lang="en-IN" sz="1800" b="1" dirty="0">
              <a:latin typeface="TimesTen"/>
            </a:endParaRPr>
          </a:p>
          <a:p>
            <a:r>
              <a:rPr lang="en-IN" sz="1800" dirty="0">
                <a:effectLst/>
                <a:latin typeface="TimesTen"/>
              </a:rPr>
              <a:t>A </a:t>
            </a:r>
            <a:r>
              <a:rPr lang="en-IN" sz="1800" b="1" i="1" dirty="0">
                <a:effectLst/>
                <a:latin typeface="TimesTen"/>
              </a:rPr>
              <a:t>binary tree </a:t>
            </a:r>
            <a:r>
              <a:rPr lang="en-IN" sz="1800" dirty="0">
                <a:effectLst/>
                <a:latin typeface="TimesTen"/>
              </a:rPr>
              <a:t>can be defined as an ordered tree in which every vertex has no more than two children and each child is designated as either a </a:t>
            </a:r>
            <a:r>
              <a:rPr lang="en-IN" sz="1800" b="1" i="1" dirty="0">
                <a:effectLst/>
                <a:latin typeface="TimesTen"/>
              </a:rPr>
              <a:t>left child </a:t>
            </a:r>
            <a:r>
              <a:rPr lang="en-IN" sz="1800" dirty="0">
                <a:effectLst/>
                <a:latin typeface="TimesTen"/>
              </a:rPr>
              <a:t>or a </a:t>
            </a:r>
            <a:r>
              <a:rPr lang="en-IN" sz="1800" b="1" i="1" dirty="0">
                <a:effectLst/>
                <a:latin typeface="TimesTen"/>
              </a:rPr>
              <a:t>right child </a:t>
            </a:r>
            <a:r>
              <a:rPr lang="en-IN" sz="1800" dirty="0">
                <a:effectLst/>
                <a:latin typeface="TimesTen"/>
              </a:rPr>
              <a:t>of its parent; a binary tree may also be empty. </a:t>
            </a:r>
            <a:endParaRPr lang="en-IN" dirty="0"/>
          </a:p>
          <a:p>
            <a:endParaRPr lang="en-IN" dirty="0"/>
          </a:p>
          <a:p>
            <a:endParaRPr lang="en-IN" dirty="0"/>
          </a:p>
        </p:txBody>
      </p:sp>
      <p:sp>
        <p:nvSpPr>
          <p:cNvPr id="4" name="Date Placeholder 3">
            <a:extLst>
              <a:ext uri="{FF2B5EF4-FFF2-40B4-BE49-F238E27FC236}">
                <a16:creationId xmlns:a16="http://schemas.microsoft.com/office/drawing/2014/main" id="{BC1F16BF-D940-81C1-2036-9FD5D9ED162D}"/>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7676A9DA-BF10-0AAB-DD9F-C32571B7442B}"/>
              </a:ext>
            </a:extLst>
          </p:cNvPr>
          <p:cNvSpPr>
            <a:spLocks noGrp="1"/>
          </p:cNvSpPr>
          <p:nvPr>
            <p:ph type="sldNum" sz="quarter" idx="12"/>
          </p:nvPr>
        </p:nvSpPr>
        <p:spPr/>
        <p:txBody>
          <a:bodyPr/>
          <a:lstStyle/>
          <a:p>
            <a:fld id="{24BEA51C-495D-44A2-B925-9AAC4BD9F0A2}" type="slidenum">
              <a:rPr lang="en-IN" smtClean="0"/>
              <a:t>34</a:t>
            </a:fld>
            <a:endParaRPr lang="en-IN"/>
          </a:p>
        </p:txBody>
      </p:sp>
      <p:pic>
        <p:nvPicPr>
          <p:cNvPr id="7" name="Picture 6">
            <a:extLst>
              <a:ext uri="{FF2B5EF4-FFF2-40B4-BE49-F238E27FC236}">
                <a16:creationId xmlns:a16="http://schemas.microsoft.com/office/drawing/2014/main" id="{80C19409-2A98-D4FD-C97A-30D740527536}"/>
              </a:ext>
            </a:extLst>
          </p:cNvPr>
          <p:cNvPicPr>
            <a:picLocks noChangeAspect="1"/>
          </p:cNvPicPr>
          <p:nvPr/>
        </p:nvPicPr>
        <p:blipFill>
          <a:blip r:embed="rId2"/>
          <a:stretch>
            <a:fillRect/>
          </a:stretch>
        </p:blipFill>
        <p:spPr>
          <a:xfrm>
            <a:off x="1505033" y="1990538"/>
            <a:ext cx="4025900" cy="1879600"/>
          </a:xfrm>
          <a:prstGeom prst="rect">
            <a:avLst/>
          </a:prstGeom>
        </p:spPr>
      </p:pic>
      <p:pic>
        <p:nvPicPr>
          <p:cNvPr id="8" name="Picture 7">
            <a:extLst>
              <a:ext uri="{FF2B5EF4-FFF2-40B4-BE49-F238E27FC236}">
                <a16:creationId xmlns:a16="http://schemas.microsoft.com/office/drawing/2014/main" id="{90D8595B-3EB6-51B5-E299-C2B8C16E278B}"/>
              </a:ext>
            </a:extLst>
          </p:cNvPr>
          <p:cNvPicPr>
            <a:picLocks noChangeAspect="1"/>
          </p:cNvPicPr>
          <p:nvPr/>
        </p:nvPicPr>
        <p:blipFill>
          <a:blip r:embed="rId3"/>
          <a:stretch>
            <a:fillRect/>
          </a:stretch>
        </p:blipFill>
        <p:spPr>
          <a:xfrm>
            <a:off x="5937167" y="1990538"/>
            <a:ext cx="4749800" cy="1438462"/>
          </a:xfrm>
          <a:prstGeom prst="rect">
            <a:avLst/>
          </a:prstGeom>
        </p:spPr>
      </p:pic>
      <p:pic>
        <p:nvPicPr>
          <p:cNvPr id="9" name="Picture 8">
            <a:extLst>
              <a:ext uri="{FF2B5EF4-FFF2-40B4-BE49-F238E27FC236}">
                <a16:creationId xmlns:a16="http://schemas.microsoft.com/office/drawing/2014/main" id="{122B9DB7-46BF-534E-5C01-113BE7672CA8}"/>
              </a:ext>
            </a:extLst>
          </p:cNvPr>
          <p:cNvPicPr>
            <a:picLocks noChangeAspect="1"/>
          </p:cNvPicPr>
          <p:nvPr/>
        </p:nvPicPr>
        <p:blipFill>
          <a:blip r:embed="rId4"/>
          <a:stretch>
            <a:fillRect/>
          </a:stretch>
        </p:blipFill>
        <p:spPr>
          <a:xfrm>
            <a:off x="6948220" y="3516204"/>
            <a:ext cx="3467100" cy="279400"/>
          </a:xfrm>
          <a:prstGeom prst="rect">
            <a:avLst/>
          </a:prstGeom>
        </p:spPr>
      </p:pic>
      <p:pic>
        <p:nvPicPr>
          <p:cNvPr id="10" name="Picture 9">
            <a:extLst>
              <a:ext uri="{FF2B5EF4-FFF2-40B4-BE49-F238E27FC236}">
                <a16:creationId xmlns:a16="http://schemas.microsoft.com/office/drawing/2014/main" id="{7EAC9CAC-0C99-FDB8-FB03-D33EF0BFB379}"/>
              </a:ext>
            </a:extLst>
          </p:cNvPr>
          <p:cNvPicPr>
            <a:picLocks noChangeAspect="1"/>
          </p:cNvPicPr>
          <p:nvPr/>
        </p:nvPicPr>
        <p:blipFill>
          <a:blip r:embed="rId5"/>
          <a:stretch>
            <a:fillRect/>
          </a:stretch>
        </p:blipFill>
        <p:spPr>
          <a:xfrm>
            <a:off x="4398653" y="4331364"/>
            <a:ext cx="3873500" cy="2024986"/>
          </a:xfrm>
          <a:prstGeom prst="rect">
            <a:avLst/>
          </a:prstGeom>
        </p:spPr>
      </p:pic>
      <p:sp>
        <p:nvSpPr>
          <p:cNvPr id="11" name="Footer Placeholder 4">
            <a:extLst>
              <a:ext uri="{FF2B5EF4-FFF2-40B4-BE49-F238E27FC236}">
                <a16:creationId xmlns:a16="http://schemas.microsoft.com/office/drawing/2014/main" id="{C5E7C917-BDD6-033C-E707-6306B44B4B61}"/>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231211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35833-80E1-8CE0-0F64-0AA9509A97C7}"/>
              </a:ext>
            </a:extLst>
          </p:cNvPr>
          <p:cNvSpPr>
            <a:spLocks noGrp="1"/>
          </p:cNvSpPr>
          <p:nvPr>
            <p:ph type="title"/>
          </p:nvPr>
        </p:nvSpPr>
        <p:spPr/>
        <p:txBody>
          <a:bodyPr>
            <a:normAutofit fontScale="90000"/>
          </a:bodyPr>
          <a:lstStyle/>
          <a:p>
            <a:r>
              <a:rPr lang="en-US" dirty="0">
                <a:solidFill>
                  <a:srgbClr val="CC3300"/>
                </a:solidFill>
              </a:rPr>
              <a:t>Sets, Bags, Dictionaries</a:t>
            </a:r>
            <a:endParaRPr lang="en-IN" dirty="0"/>
          </a:p>
        </p:txBody>
      </p:sp>
      <p:sp>
        <p:nvSpPr>
          <p:cNvPr id="3" name="Content Placeholder 2">
            <a:extLst>
              <a:ext uri="{FF2B5EF4-FFF2-40B4-BE49-F238E27FC236}">
                <a16:creationId xmlns:a16="http://schemas.microsoft.com/office/drawing/2014/main" id="{5DB8E279-28FF-852F-5293-C8DF9A9464C6}"/>
              </a:ext>
            </a:extLst>
          </p:cNvPr>
          <p:cNvSpPr>
            <a:spLocks noGrp="1"/>
          </p:cNvSpPr>
          <p:nvPr>
            <p:ph idx="1"/>
          </p:nvPr>
        </p:nvSpPr>
        <p:spPr/>
        <p:txBody>
          <a:bodyPr/>
          <a:lstStyle/>
          <a:p>
            <a:pPr>
              <a:lnSpc>
                <a:spcPct val="90000"/>
              </a:lnSpc>
              <a:spcBef>
                <a:spcPct val="55000"/>
              </a:spcBef>
            </a:pPr>
            <a:r>
              <a:rPr lang="en-US" b="1" dirty="0">
                <a:solidFill>
                  <a:srgbClr val="CC3300"/>
                </a:solidFill>
                <a:latin typeface="+mj-lt"/>
              </a:rPr>
              <a:t>Set: </a:t>
            </a:r>
            <a:r>
              <a:rPr lang="en-US" b="1" dirty="0">
                <a:latin typeface="+mj-lt"/>
              </a:rPr>
              <a:t>unordered collection of distinct elements</a:t>
            </a:r>
          </a:p>
          <a:p>
            <a:pPr>
              <a:lnSpc>
                <a:spcPct val="90000"/>
              </a:lnSpc>
              <a:spcBef>
                <a:spcPct val="35000"/>
              </a:spcBef>
              <a:buFont typeface="Wingdings" pitchFamily="2" charset="2"/>
              <a:buNone/>
            </a:pPr>
            <a:r>
              <a:rPr lang="en-US" b="1" dirty="0">
                <a:solidFill>
                  <a:srgbClr val="3333FF"/>
                </a:solidFill>
                <a:latin typeface="+mj-lt"/>
              </a:rPr>
              <a:t>    </a:t>
            </a:r>
            <a:r>
              <a:rPr lang="en-US" b="1" dirty="0">
                <a:solidFill>
                  <a:srgbClr val="6600CC"/>
                </a:solidFill>
                <a:latin typeface="+mj-lt"/>
              </a:rPr>
              <a:t>Operations:</a:t>
            </a:r>
            <a:r>
              <a:rPr lang="en-US" b="1" dirty="0">
                <a:latin typeface="+mj-lt"/>
              </a:rPr>
              <a:t> membership, union, intersection</a:t>
            </a:r>
          </a:p>
          <a:p>
            <a:pPr>
              <a:lnSpc>
                <a:spcPct val="90000"/>
              </a:lnSpc>
              <a:spcBef>
                <a:spcPct val="35000"/>
              </a:spcBef>
              <a:buFont typeface="Wingdings" pitchFamily="2" charset="2"/>
              <a:buNone/>
            </a:pPr>
            <a:r>
              <a:rPr lang="en-US" b="1" dirty="0">
                <a:solidFill>
                  <a:srgbClr val="3333FF"/>
                </a:solidFill>
                <a:latin typeface="+mj-lt"/>
              </a:rPr>
              <a:t>    </a:t>
            </a:r>
            <a:r>
              <a:rPr lang="en-US" b="1" dirty="0">
                <a:solidFill>
                  <a:srgbClr val="6600CC"/>
                </a:solidFill>
                <a:latin typeface="+mj-lt"/>
              </a:rPr>
              <a:t>Representation:</a:t>
            </a:r>
            <a:r>
              <a:rPr lang="en-US" b="1" dirty="0">
                <a:latin typeface="+mj-lt"/>
              </a:rPr>
              <a:t> bit string; linear structure</a:t>
            </a:r>
          </a:p>
          <a:p>
            <a:pPr>
              <a:lnSpc>
                <a:spcPct val="90000"/>
              </a:lnSpc>
              <a:spcBef>
                <a:spcPct val="55000"/>
              </a:spcBef>
            </a:pPr>
            <a:r>
              <a:rPr lang="en-US" b="1" dirty="0">
                <a:solidFill>
                  <a:srgbClr val="CC3300"/>
                </a:solidFill>
                <a:latin typeface="+mj-lt"/>
              </a:rPr>
              <a:t>Bag</a:t>
            </a:r>
            <a:r>
              <a:rPr lang="en-US" b="1" dirty="0">
                <a:latin typeface="+mj-lt"/>
              </a:rPr>
              <a:t>: unordered collection, </a:t>
            </a:r>
          </a:p>
          <a:p>
            <a:pPr>
              <a:lnSpc>
                <a:spcPct val="90000"/>
              </a:lnSpc>
              <a:spcBef>
                <a:spcPct val="30000"/>
              </a:spcBef>
              <a:buFont typeface="Wingdings" pitchFamily="2" charset="2"/>
              <a:buNone/>
            </a:pPr>
            <a:r>
              <a:rPr lang="en-US" b="1" dirty="0">
                <a:latin typeface="+mj-lt"/>
              </a:rPr>
              <a:t>            elements may be repeated</a:t>
            </a:r>
          </a:p>
          <a:p>
            <a:pPr>
              <a:lnSpc>
                <a:spcPct val="90000"/>
              </a:lnSpc>
              <a:spcBef>
                <a:spcPct val="55000"/>
              </a:spcBef>
            </a:pPr>
            <a:r>
              <a:rPr lang="en-US" b="1" dirty="0">
                <a:solidFill>
                  <a:srgbClr val="CC3300"/>
                </a:solidFill>
                <a:latin typeface="+mj-lt"/>
              </a:rPr>
              <a:t>Dictionary</a:t>
            </a:r>
            <a:r>
              <a:rPr lang="en-US" b="1" dirty="0">
                <a:latin typeface="+mj-lt"/>
              </a:rPr>
              <a:t>: a bag with operations search, add, delete</a:t>
            </a:r>
          </a:p>
          <a:p>
            <a:endParaRPr lang="en-IN" dirty="0"/>
          </a:p>
        </p:txBody>
      </p:sp>
      <p:sp>
        <p:nvSpPr>
          <p:cNvPr id="4" name="Date Placeholder 3">
            <a:extLst>
              <a:ext uri="{FF2B5EF4-FFF2-40B4-BE49-F238E27FC236}">
                <a16:creationId xmlns:a16="http://schemas.microsoft.com/office/drawing/2014/main" id="{19F58231-CBAC-AC11-64D2-8D3DF43A0847}"/>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BF45D98B-A261-681C-78CE-146083A77B1A}"/>
              </a:ext>
            </a:extLst>
          </p:cNvPr>
          <p:cNvSpPr>
            <a:spLocks noGrp="1"/>
          </p:cNvSpPr>
          <p:nvPr>
            <p:ph type="sldNum" sz="quarter" idx="12"/>
          </p:nvPr>
        </p:nvSpPr>
        <p:spPr/>
        <p:txBody>
          <a:bodyPr/>
          <a:lstStyle/>
          <a:p>
            <a:fld id="{24BEA51C-495D-44A2-B925-9AAC4BD9F0A2}" type="slidenum">
              <a:rPr lang="en-IN" smtClean="0"/>
              <a:t>35</a:t>
            </a:fld>
            <a:endParaRPr lang="en-IN"/>
          </a:p>
        </p:txBody>
      </p:sp>
      <p:sp>
        <p:nvSpPr>
          <p:cNvPr id="7" name="Footer Placeholder 4">
            <a:extLst>
              <a:ext uri="{FF2B5EF4-FFF2-40B4-BE49-F238E27FC236}">
                <a16:creationId xmlns:a16="http://schemas.microsoft.com/office/drawing/2014/main" id="{48AA5415-3BCC-E6E2-B883-C281550F847F}"/>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301816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1789A-E387-531F-E1C9-60C462239D58}"/>
              </a:ext>
            </a:extLst>
          </p:cNvPr>
          <p:cNvSpPr>
            <a:spLocks noGrp="1"/>
          </p:cNvSpPr>
          <p:nvPr>
            <p:ph type="title"/>
          </p:nvPr>
        </p:nvSpPr>
        <p:spPr/>
        <p:txBody>
          <a:bodyPr>
            <a:normAutofit fontScale="90000"/>
          </a:bodyPr>
          <a:lstStyle/>
          <a:p>
            <a:r>
              <a:rPr lang="en-US" dirty="0">
                <a:solidFill>
                  <a:srgbClr val="CC3300"/>
                </a:solidFill>
              </a:rPr>
              <a:t>Sets, Bags, Dictionaries</a:t>
            </a:r>
            <a:endParaRPr lang="en-US" dirty="0"/>
          </a:p>
        </p:txBody>
      </p:sp>
      <p:sp>
        <p:nvSpPr>
          <p:cNvPr id="3" name="Content Placeholder 2">
            <a:extLst>
              <a:ext uri="{FF2B5EF4-FFF2-40B4-BE49-F238E27FC236}">
                <a16:creationId xmlns:a16="http://schemas.microsoft.com/office/drawing/2014/main" id="{CAA1B028-AA4C-4BE5-BFE3-480497A333FA}"/>
              </a:ext>
            </a:extLst>
          </p:cNvPr>
          <p:cNvSpPr>
            <a:spLocks noGrp="1"/>
          </p:cNvSpPr>
          <p:nvPr>
            <p:ph idx="1"/>
          </p:nvPr>
        </p:nvSpPr>
        <p:spPr/>
        <p:txBody>
          <a:bodyPr>
            <a:normAutofit fontScale="92500" lnSpcReduction="10000"/>
          </a:bodyPr>
          <a:lstStyle/>
          <a:p>
            <a:pPr algn="just"/>
            <a:r>
              <a:rPr lang="en-IN" sz="2400" dirty="0">
                <a:effectLst/>
                <a:latin typeface="Times" panose="02020603050405020304" pitchFamily="18" charset="0"/>
                <a:cs typeface="Times" panose="02020603050405020304" pitchFamily="18" charset="0"/>
              </a:rPr>
              <a:t>A </a:t>
            </a:r>
            <a:r>
              <a:rPr lang="en-IN" sz="2400" b="1" i="1" dirty="0">
                <a:effectLst/>
                <a:latin typeface="Times" panose="02020603050405020304" pitchFamily="18" charset="0"/>
                <a:cs typeface="Times" panose="02020603050405020304" pitchFamily="18" charset="0"/>
              </a:rPr>
              <a:t>set </a:t>
            </a:r>
            <a:r>
              <a:rPr lang="en-IN" sz="2400" dirty="0">
                <a:effectLst/>
                <a:latin typeface="Times" panose="02020603050405020304" pitchFamily="18" charset="0"/>
                <a:cs typeface="Times" panose="02020603050405020304" pitchFamily="18" charset="0"/>
              </a:rPr>
              <a:t>can be described as an unordered collection (possibly empty) of distinct items called </a:t>
            </a:r>
            <a:r>
              <a:rPr lang="en-IN" sz="2400" b="1" i="1" dirty="0">
                <a:effectLst/>
                <a:latin typeface="Times" panose="02020603050405020304" pitchFamily="18" charset="0"/>
                <a:cs typeface="Times" panose="02020603050405020304" pitchFamily="18" charset="0"/>
              </a:rPr>
              <a:t>elements </a:t>
            </a:r>
            <a:r>
              <a:rPr lang="en-IN" sz="2400" dirty="0">
                <a:effectLst/>
                <a:latin typeface="Times" panose="02020603050405020304" pitchFamily="18" charset="0"/>
                <a:cs typeface="Times" panose="02020603050405020304" pitchFamily="18" charset="0"/>
              </a:rPr>
              <a:t>of the set.</a:t>
            </a:r>
          </a:p>
          <a:p>
            <a:pPr algn="just"/>
            <a:endParaRPr lang="en-IN" sz="2400" dirty="0">
              <a:effectLst/>
              <a:latin typeface="Times" panose="02020603050405020304" pitchFamily="18" charset="0"/>
              <a:cs typeface="Times" panose="02020603050405020304" pitchFamily="18" charset="0"/>
            </a:endParaRPr>
          </a:p>
          <a:p>
            <a:pPr algn="just"/>
            <a:r>
              <a:rPr lang="en-IN" sz="2400" dirty="0">
                <a:effectLst/>
                <a:latin typeface="Times" panose="02020603050405020304" pitchFamily="18" charset="0"/>
                <a:cs typeface="Times" panose="02020603050405020304" pitchFamily="18" charset="0"/>
              </a:rPr>
              <a:t>A specific set is defined either by an explicit listing of its elements (e.g., S = {2, 3, 5, 7}) or by specifying a property that all the set’s elements and only they must satisfy (e.g., S = {n: n is a prime number smaller than 10}). </a:t>
            </a:r>
          </a:p>
          <a:p>
            <a:pPr algn="just"/>
            <a:endParaRPr lang="en-IN" sz="2400" dirty="0">
              <a:latin typeface="Times" panose="02020603050405020304" pitchFamily="18" charset="0"/>
              <a:cs typeface="Times" panose="02020603050405020304" pitchFamily="18" charset="0"/>
            </a:endParaRPr>
          </a:p>
          <a:p>
            <a:pPr algn="just"/>
            <a:r>
              <a:rPr lang="en-IN" sz="2400" dirty="0">
                <a:effectLst/>
                <a:latin typeface="Times" panose="02020603050405020304" pitchFamily="18" charset="0"/>
                <a:cs typeface="Times" panose="02020603050405020304" pitchFamily="18" charset="0"/>
              </a:rPr>
              <a:t> A set cannot contain identical elements; a list can. This requirement for uniqueness is sometimes circumvented by the introduction of a </a:t>
            </a:r>
            <a:r>
              <a:rPr lang="en-IN" sz="2400" b="1" i="1" dirty="0">
                <a:effectLst/>
                <a:latin typeface="Times" panose="02020603050405020304" pitchFamily="18" charset="0"/>
                <a:cs typeface="Times" panose="02020603050405020304" pitchFamily="18" charset="0"/>
              </a:rPr>
              <a:t>multiset</a:t>
            </a:r>
            <a:r>
              <a:rPr lang="en-IN" sz="2400" dirty="0">
                <a:effectLst/>
                <a:latin typeface="Times" panose="02020603050405020304" pitchFamily="18" charset="0"/>
                <a:cs typeface="Times" panose="02020603050405020304" pitchFamily="18" charset="0"/>
              </a:rPr>
              <a:t>, or </a:t>
            </a:r>
            <a:r>
              <a:rPr lang="en-IN" sz="2400" b="1" i="1" dirty="0">
                <a:effectLst/>
                <a:latin typeface="Times" panose="02020603050405020304" pitchFamily="18" charset="0"/>
                <a:cs typeface="Times" panose="02020603050405020304" pitchFamily="18" charset="0"/>
              </a:rPr>
              <a:t>bag</a:t>
            </a:r>
            <a:r>
              <a:rPr lang="en-IN" sz="2400" dirty="0">
                <a:effectLst/>
                <a:latin typeface="Times" panose="02020603050405020304" pitchFamily="18" charset="0"/>
                <a:cs typeface="Times" panose="02020603050405020304" pitchFamily="18" charset="0"/>
              </a:rPr>
              <a:t>, an unordered collection of items that are not necessarily distinct. </a:t>
            </a:r>
          </a:p>
          <a:p>
            <a:pPr algn="just"/>
            <a:endParaRPr lang="en-IN" sz="2400" dirty="0">
              <a:effectLst/>
              <a:latin typeface="Times" panose="02020603050405020304" pitchFamily="18" charset="0"/>
              <a:cs typeface="Times" panose="02020603050405020304" pitchFamily="18" charset="0"/>
            </a:endParaRPr>
          </a:p>
          <a:p>
            <a:pPr algn="just"/>
            <a:r>
              <a:rPr lang="en-IN" sz="2400" dirty="0">
                <a:latin typeface="Times" panose="02020603050405020304" pitchFamily="18" charset="0"/>
                <a:cs typeface="Times" panose="02020603050405020304" pitchFamily="18" charset="0"/>
              </a:rPr>
              <a:t>T</a:t>
            </a:r>
            <a:r>
              <a:rPr lang="en-IN" sz="2400" dirty="0">
                <a:effectLst/>
                <a:latin typeface="Times" panose="02020603050405020304" pitchFamily="18" charset="0"/>
                <a:cs typeface="Times" panose="02020603050405020304" pitchFamily="18" charset="0"/>
              </a:rPr>
              <a:t>he operations we need to perform for a set or a multiset most often are searching for a given item, adding a new item, and deleting an item from the collection. A data structure that implements these three operations is called the </a:t>
            </a:r>
            <a:r>
              <a:rPr lang="en-IN" sz="2400" b="1" i="1" dirty="0">
                <a:effectLst/>
                <a:latin typeface="Times" panose="02020603050405020304" pitchFamily="18" charset="0"/>
                <a:cs typeface="Times" panose="02020603050405020304" pitchFamily="18" charset="0"/>
              </a:rPr>
              <a:t>dictionary</a:t>
            </a:r>
            <a:r>
              <a:rPr lang="en-IN" sz="2400" dirty="0">
                <a:effectLst/>
                <a:latin typeface="Times" panose="02020603050405020304" pitchFamily="18" charset="0"/>
                <a:cs typeface="Times" panose="02020603050405020304" pitchFamily="18" charset="0"/>
              </a:rPr>
              <a:t>. </a:t>
            </a:r>
            <a:endParaRPr lang="en-IN" sz="2400" dirty="0">
              <a:latin typeface="Times" panose="02020603050405020304" pitchFamily="18" charset="0"/>
              <a:cs typeface="Times" panose="02020603050405020304" pitchFamily="18" charset="0"/>
            </a:endParaRPr>
          </a:p>
          <a:p>
            <a:endParaRPr lang="en-IN" dirty="0"/>
          </a:p>
          <a:p>
            <a:endParaRPr lang="en-IN" dirty="0"/>
          </a:p>
          <a:p>
            <a:endParaRPr lang="en-US" dirty="0"/>
          </a:p>
        </p:txBody>
      </p:sp>
      <p:sp>
        <p:nvSpPr>
          <p:cNvPr id="4" name="Date Placeholder 3">
            <a:extLst>
              <a:ext uri="{FF2B5EF4-FFF2-40B4-BE49-F238E27FC236}">
                <a16:creationId xmlns:a16="http://schemas.microsoft.com/office/drawing/2014/main" id="{75C59C03-3F99-FD03-5C8B-AEC7FC9908CB}"/>
              </a:ext>
            </a:extLst>
          </p:cNvPr>
          <p:cNvSpPr>
            <a:spLocks noGrp="1"/>
          </p:cNvSpPr>
          <p:nvPr>
            <p:ph type="dt" sz="half" idx="10"/>
          </p:nvPr>
        </p:nvSpPr>
        <p:spPr/>
        <p:txBody>
          <a:bodyPr/>
          <a:lstStyle/>
          <a:p>
            <a:fld id="{017C9B13-3C5A-4435-85E6-314EA5A3CFF7}" type="datetime1">
              <a:rPr lang="en-IN" smtClean="0"/>
              <a:t>03-01-2024</a:t>
            </a:fld>
            <a:endParaRPr lang="en-IN"/>
          </a:p>
        </p:txBody>
      </p:sp>
      <p:sp>
        <p:nvSpPr>
          <p:cNvPr id="6" name="Slide Number Placeholder 5">
            <a:extLst>
              <a:ext uri="{FF2B5EF4-FFF2-40B4-BE49-F238E27FC236}">
                <a16:creationId xmlns:a16="http://schemas.microsoft.com/office/drawing/2014/main" id="{1DE08878-FC4B-9592-A18C-407E414108C1}"/>
              </a:ext>
            </a:extLst>
          </p:cNvPr>
          <p:cNvSpPr>
            <a:spLocks noGrp="1"/>
          </p:cNvSpPr>
          <p:nvPr>
            <p:ph type="sldNum" sz="quarter" idx="12"/>
          </p:nvPr>
        </p:nvSpPr>
        <p:spPr/>
        <p:txBody>
          <a:bodyPr/>
          <a:lstStyle/>
          <a:p>
            <a:fld id="{24BEA51C-495D-44A2-B925-9AAC4BD9F0A2}" type="slidenum">
              <a:rPr lang="en-IN" smtClean="0"/>
              <a:t>36</a:t>
            </a:fld>
            <a:endParaRPr lang="en-IN"/>
          </a:p>
        </p:txBody>
      </p:sp>
      <p:sp>
        <p:nvSpPr>
          <p:cNvPr id="7" name="Footer Placeholder 4">
            <a:extLst>
              <a:ext uri="{FF2B5EF4-FFF2-40B4-BE49-F238E27FC236}">
                <a16:creationId xmlns:a16="http://schemas.microsoft.com/office/drawing/2014/main" id="{D98D9886-5E7D-EE80-CE3D-D5F706961838}"/>
              </a:ext>
            </a:extLst>
          </p:cNvPr>
          <p:cNvSpPr>
            <a:spLocks noGrp="1"/>
          </p:cNvSpPr>
          <p:nvPr>
            <p:ph type="ftr" sz="quarter" idx="11"/>
          </p:nvPr>
        </p:nvSpPr>
        <p:spPr>
          <a:xfrm>
            <a:off x="2210937" y="6356350"/>
            <a:ext cx="8775511" cy="365125"/>
          </a:xfrm>
        </p:spPr>
        <p:txBody>
          <a:bodyPr/>
          <a:lstStyle/>
          <a:p>
            <a:r>
              <a:rPr lang="en-US" dirty="0"/>
              <a:t>IT_2222 Design and Analysis of Algorithms- 2024</a:t>
            </a:r>
            <a:endParaRPr lang="en-IN" dirty="0"/>
          </a:p>
        </p:txBody>
      </p:sp>
    </p:spTree>
    <p:extLst>
      <p:ext uri="{BB962C8B-B14F-4D97-AF65-F5344CB8AC3E}">
        <p14:creationId xmlns:p14="http://schemas.microsoft.com/office/powerpoint/2010/main" val="31341983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SUC2018 Template" id="{93EF96F5-E747-46F5-91A5-49A1A8F17C25}" vid="{65C9EF66-907A-46B3-BC73-6E107B4F26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290D53ADCB50B42A4F0E76841647C8A" ma:contentTypeVersion="0" ma:contentTypeDescription="Create a new document." ma:contentTypeScope="" ma:versionID="9b196abaf0d28bbb061b69d7b56a9ed5">
  <xsd:schema xmlns:xsd="http://www.w3.org/2001/XMLSchema" xmlns:xs="http://www.w3.org/2001/XMLSchema" xmlns:p="http://schemas.microsoft.com/office/2006/metadata/properties" targetNamespace="http://schemas.microsoft.com/office/2006/metadata/properties" ma:root="true" ma:fieldsID="b764bea3eb9b1a5be8fd57fac5fb45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F8C2C17-6209-4E2C-BE9A-7D22C191DAE3}">
  <ds:schemaRefs>
    <ds:schemaRef ds:uri="http://schemas.microsoft.com/sharepoint/v3/contenttype/forms"/>
  </ds:schemaRefs>
</ds:datastoreItem>
</file>

<file path=customXml/itemProps2.xml><?xml version="1.0" encoding="utf-8"?>
<ds:datastoreItem xmlns:ds="http://schemas.openxmlformats.org/officeDocument/2006/customXml" ds:itemID="{04B33400-460A-4348-B48E-B40B955B9C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AC31D213-E2F5-4703-94FA-755C27A0C03E}">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PSUC2018 Template</Template>
  <TotalTime>723</TotalTime>
  <Words>3092</Words>
  <Application>Microsoft Office PowerPoint</Application>
  <PresentationFormat>Widescreen</PresentationFormat>
  <Paragraphs>376</Paragraphs>
  <Slides>36</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36</vt:i4>
      </vt:variant>
    </vt:vector>
  </HeadingPairs>
  <TitlesOfParts>
    <vt:vector size="49" baseType="lpstr">
      <vt:lpstr>ＭＳ Ｐゴシック</vt:lpstr>
      <vt:lpstr>新細明體</vt:lpstr>
      <vt:lpstr>Arial</vt:lpstr>
      <vt:lpstr>Arial Black</vt:lpstr>
      <vt:lpstr>Calibri</vt:lpstr>
      <vt:lpstr>Calibri (Body)</vt:lpstr>
      <vt:lpstr>Calibri Light</vt:lpstr>
      <vt:lpstr>Monotype Sorts</vt:lpstr>
      <vt:lpstr>Times</vt:lpstr>
      <vt:lpstr>Times New Roman</vt:lpstr>
      <vt:lpstr>TimesTen</vt:lpstr>
      <vt:lpstr>Wingdings</vt:lpstr>
      <vt:lpstr>Office Theme</vt:lpstr>
      <vt:lpstr>Introduction</vt:lpstr>
      <vt:lpstr>Objectives</vt:lpstr>
      <vt:lpstr>Session outcome</vt:lpstr>
      <vt:lpstr>All algorithms must satisfy the following criteria:</vt:lpstr>
      <vt:lpstr>Algorithm </vt:lpstr>
      <vt:lpstr>What is algorithm?</vt:lpstr>
      <vt:lpstr>Example: GCD of two number</vt:lpstr>
      <vt:lpstr>Method 1: Euclid’s Algorithm</vt:lpstr>
      <vt:lpstr>Two descriptions of Euclid’s algorithm</vt:lpstr>
      <vt:lpstr>Other methods for computing gcd(m,n)</vt:lpstr>
      <vt:lpstr>Middle-school procedure for computing gcd(m, n)</vt:lpstr>
      <vt:lpstr>TRY</vt:lpstr>
      <vt:lpstr>Some Well-known Computational Problems</vt:lpstr>
      <vt:lpstr>Fundamentals of Algorithmic Problem Solving</vt:lpstr>
      <vt:lpstr>Fundamentals of Algorithmic Problem Solving</vt:lpstr>
      <vt:lpstr>Proving an Algorithm’s Correctness</vt:lpstr>
      <vt:lpstr>Fundamentals of Algorithmic Problem Solving</vt:lpstr>
      <vt:lpstr>Real-World Applications</vt:lpstr>
      <vt:lpstr>Some Important Problem Types</vt:lpstr>
      <vt:lpstr>Algorithm  design strategies/Techniques</vt:lpstr>
      <vt:lpstr>Try</vt:lpstr>
      <vt:lpstr>Fundamental data structures</vt:lpstr>
      <vt:lpstr>Fundamental data structures</vt:lpstr>
      <vt:lpstr>Fundamental data structures</vt:lpstr>
      <vt:lpstr>Stack and Queue</vt:lpstr>
      <vt:lpstr>Non-linear data structures</vt:lpstr>
      <vt:lpstr>Graphs</vt:lpstr>
      <vt:lpstr>Graphs</vt:lpstr>
      <vt:lpstr>Adjacency matrix and Adjacency lists </vt:lpstr>
      <vt:lpstr>weighted graph and Path</vt:lpstr>
      <vt:lpstr>Path</vt:lpstr>
      <vt:lpstr>Graphs Example</vt:lpstr>
      <vt:lpstr>Directed path and Cycle</vt:lpstr>
      <vt:lpstr>Trees</vt:lpstr>
      <vt:lpstr>Sets, Bags, Dictionaries</vt:lpstr>
      <vt:lpstr>Sets, Bags, Dictionaries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dc:creator>
  <cp:lastModifiedBy>Raghavendra S [MAHE-MIT]</cp:lastModifiedBy>
  <cp:revision>50</cp:revision>
  <dcterms:created xsi:type="dcterms:W3CDTF">2018-07-10T10:58:03Z</dcterms:created>
  <dcterms:modified xsi:type="dcterms:W3CDTF">2024-01-03T05:21:50Z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0x010100F290D53ADCB50B42A4F0E76841647C8A</vt:lpwstr>
  </property>
</Properties>
</file>