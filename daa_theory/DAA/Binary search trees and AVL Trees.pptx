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326" r:id="rId7"/>
    <p:sldId id="261" r:id="rId8"/>
    <p:sldId id="262" r:id="rId9"/>
    <p:sldId id="327" r:id="rId10"/>
    <p:sldId id="337" r:id="rId11"/>
    <p:sldId id="263" r:id="rId12"/>
    <p:sldId id="264" r:id="rId13"/>
    <p:sldId id="265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37D7F-3109-4820-812D-C46C1AA99DDA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CCE5C-FB39-40EF-A55A-196042316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3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Maximum-&gt;right </a:t>
            </a:r>
            <a:r>
              <a:rPr lang="en-US" dirty="0" err="1"/>
              <a:t>tree,minimum</a:t>
            </a:r>
            <a:r>
              <a:rPr lang="en-US" dirty="0"/>
              <a:t>-&gt;left tree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CE5C-FB39-40EF-A55A-196042316B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7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9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6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8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1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9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0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9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5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6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1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706EB-0AB2-4140-B6D0-40EC6C39FFFE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E55DC-46A7-45B0-8E02-C3922F6A6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2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4471"/>
          </a:xfrm>
        </p:spPr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62896"/>
            <a:ext cx="9144000" cy="269490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Binary search trees</a:t>
            </a:r>
          </a:p>
          <a:p>
            <a:pPr algn="l"/>
            <a:r>
              <a:rPr lang="en-US" dirty="0"/>
              <a:t>Height Balanced Tree-AVL tree 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19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0844"/>
            <a:ext cx="10515600" cy="112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Binary Search Trees</a:t>
            </a:r>
            <a:br>
              <a:rPr lang="en-US" dirty="0"/>
            </a:br>
            <a:r>
              <a:rPr lang="en-US" b="1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0844"/>
            <a:ext cx="10515600" cy="5206119"/>
          </a:xfrm>
        </p:spPr>
        <p:txBody>
          <a:bodyPr>
            <a:normAutofit/>
          </a:bodyPr>
          <a:lstStyle/>
          <a:p>
            <a:r>
              <a:rPr lang="en-US" dirty="0"/>
              <a:t>A BST is a binary tree. it satisfies the following properties: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Every element has </a:t>
            </a:r>
            <a:r>
              <a:rPr lang="en-US" u="sng" dirty="0"/>
              <a:t>a key</a:t>
            </a:r>
            <a:r>
              <a:rPr lang="en-US" dirty="0"/>
              <a:t>, and </a:t>
            </a:r>
            <a:r>
              <a:rPr lang="en-US" u="sng" dirty="0"/>
              <a:t>no two elements have the same </a:t>
            </a:r>
            <a:r>
              <a:rPr lang="en-US" dirty="0"/>
              <a:t>key, i.e., the keys are unique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The keys in a </a:t>
            </a:r>
            <a:r>
              <a:rPr lang="en-US" u="sng" dirty="0"/>
              <a:t>nonempty left subtree </a:t>
            </a:r>
            <a:r>
              <a:rPr lang="en-US" dirty="0"/>
              <a:t>must </a:t>
            </a:r>
            <a:r>
              <a:rPr lang="en-US" u="sng" dirty="0"/>
              <a:t>be smaller </a:t>
            </a:r>
            <a:r>
              <a:rPr lang="en-US" dirty="0"/>
              <a:t>than the key in the root of the subtree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The keys in a nonempty </a:t>
            </a:r>
            <a:r>
              <a:rPr lang="en-US" u="sng" dirty="0"/>
              <a:t>right subtree </a:t>
            </a:r>
            <a:r>
              <a:rPr lang="en-US" dirty="0"/>
              <a:t>must be l</a:t>
            </a:r>
            <a:r>
              <a:rPr lang="en-US" u="sng" dirty="0"/>
              <a:t>arger</a:t>
            </a:r>
            <a:r>
              <a:rPr lang="en-US" dirty="0"/>
              <a:t> than the key in the root of the subtree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The left and right subtrees are also binary search trees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6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167" y="221803"/>
            <a:ext cx="9135467" cy="57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6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average depth of a BST is log N where N is the number of nodes.</a:t>
            </a:r>
          </a:p>
          <a:p>
            <a:r>
              <a:rPr lang="en-US" dirty="0"/>
              <a:t>So, the time complexity of any operation is 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904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Create/Insertion</a:t>
            </a:r>
          </a:p>
          <a:p>
            <a:pPr lvl="0"/>
            <a:r>
              <a:rPr lang="en-US" dirty="0"/>
              <a:t>Search(Find)</a:t>
            </a:r>
          </a:p>
          <a:p>
            <a:pPr lvl="0"/>
            <a:r>
              <a:rPr lang="en-US" dirty="0"/>
              <a:t>Find min and max</a:t>
            </a:r>
          </a:p>
          <a:p>
            <a:pPr lvl="0"/>
            <a:r>
              <a:rPr lang="en-US" dirty="0"/>
              <a:t>Delete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96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Create/insert-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Tree contains 100,20,500,10 and 30.</a:t>
            </a:r>
          </a:p>
          <a:p>
            <a:pPr marL="0" indent="0">
              <a:buNone/>
            </a:pPr>
            <a:r>
              <a:rPr lang="en-US" dirty="0"/>
              <a:t>                            100</a:t>
            </a:r>
          </a:p>
          <a:p>
            <a:pPr marL="0" indent="0">
              <a:buNone/>
            </a:pPr>
            <a:r>
              <a:rPr lang="en-US" dirty="0"/>
              <a:t>            20                         500</a:t>
            </a:r>
          </a:p>
          <a:p>
            <a:pPr marL="0" indent="0">
              <a:buNone/>
            </a:pPr>
            <a:r>
              <a:rPr lang="en-US" dirty="0"/>
              <a:t>10                     30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40 </a:t>
            </a:r>
          </a:p>
          <a:p>
            <a:pPr marL="0" indent="0">
              <a:buNone/>
            </a:pPr>
            <a:r>
              <a:rPr lang="en-US" dirty="0"/>
              <a:t>Means you have to insert it into the right part of 30.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7BF26C-368F-694C-8042-BAEEC5B3799C}"/>
              </a:ext>
            </a:extLst>
          </p:cNvPr>
          <p:cNvCxnSpPr>
            <a:cxnSpLocks/>
          </p:cNvCxnSpPr>
          <p:nvPr/>
        </p:nvCxnSpPr>
        <p:spPr>
          <a:xfrm flipH="1">
            <a:off x="2357120" y="2560320"/>
            <a:ext cx="782320" cy="345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9B0002-695E-946B-3812-9D07CF0380DD}"/>
              </a:ext>
            </a:extLst>
          </p:cNvPr>
          <p:cNvCxnSpPr>
            <a:cxnSpLocks/>
          </p:cNvCxnSpPr>
          <p:nvPr/>
        </p:nvCxnSpPr>
        <p:spPr>
          <a:xfrm flipH="1">
            <a:off x="1066800" y="3093720"/>
            <a:ext cx="782320" cy="345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D4E5B0-73ED-FE44-AEAE-1590A8AEA8F1}"/>
              </a:ext>
            </a:extLst>
          </p:cNvPr>
          <p:cNvCxnSpPr>
            <a:cxnSpLocks/>
          </p:cNvCxnSpPr>
          <p:nvPr/>
        </p:nvCxnSpPr>
        <p:spPr>
          <a:xfrm>
            <a:off x="3779520" y="2560320"/>
            <a:ext cx="56896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A2A2E4-4F80-DCF5-C454-725D8BA4083C}"/>
              </a:ext>
            </a:extLst>
          </p:cNvPr>
          <p:cNvCxnSpPr>
            <a:cxnSpLocks/>
          </p:cNvCxnSpPr>
          <p:nvPr/>
        </p:nvCxnSpPr>
        <p:spPr>
          <a:xfrm>
            <a:off x="2357120" y="3143409"/>
            <a:ext cx="56896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577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7244" y="197346"/>
            <a:ext cx="9245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 to create/insert a BST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insertBST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item, NODE root)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NODE temp, cur,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temp=(NODE)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malloc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sizeof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node));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temp→data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=item;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temp→llink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temp→rlink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=NULL;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if(root==NULL)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return temp;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=NULL;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cur=root;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while(cur!=NULL)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=cur;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cur=(item&lt;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cur→data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)?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cur→llink:cur→rlink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if(item&lt;</a:t>
            </a:r>
            <a:r>
              <a:rPr lang="en-US" dirty="0" err="1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prev→data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prev→llink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=temp;</a:t>
            </a:r>
            <a:endParaRPr lang="en-US" sz="16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else</a:t>
            </a:r>
            <a:endParaRPr lang="en-US" sz="16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prev→rlink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=temp;</a:t>
            </a:r>
            <a:endParaRPr lang="en-US" sz="16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return root;</a:t>
            </a:r>
            <a:endParaRPr lang="en-US" sz="16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6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 to insert items avoiding duplicates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while(cur!=NULL)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=cur;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if(item==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cur→data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{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(“Duplicate element\n”);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free(temp);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return root;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}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cur=(item&lt;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cur→data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)?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cur→llink:cur→rlink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	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9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b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Search</a:t>
            </a:r>
            <a:b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ECD349-068E-B978-3F41-A7CF8B319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919130"/>
            <a:ext cx="6780700" cy="30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4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EC80-2CFF-8385-E373-703B2D37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CA00A-61D6-94BB-94A2-B78C5476E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Search the element 30</a:t>
            </a:r>
          </a:p>
          <a:p>
            <a:r>
              <a:rPr lang="en-IN" dirty="0"/>
              <a:t>Search the element 50</a:t>
            </a:r>
          </a:p>
        </p:txBody>
      </p:sp>
    </p:spTree>
    <p:extLst>
      <p:ext uri="{BB962C8B-B14F-4D97-AF65-F5344CB8AC3E}">
        <p14:creationId xmlns:p14="http://schemas.microsoft.com/office/powerpoint/2010/main" val="56156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Searching/Find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Iterative version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NODE interative_searchBST(int item, NODE root)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{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while(root!=NULL &amp;&amp; item!=root→data)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	root=(item&lt;root→data)?root→llink:root→rlink);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return root;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}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 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Recursive version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 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NODE recursive_searchBST(int item, NODE root)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{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if(root==NULL||item==root→data) return root;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if(item&lt;root→data) return recursive_searchBST(item, root→llink);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return 	recursive_searchBST(item, root→rlink);</a:t>
            </a:r>
            <a:endParaRPr lang="en-US" sz="17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}</a:t>
            </a:r>
            <a:endParaRPr lang="en-US" sz="1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223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6181" y="667941"/>
            <a:ext cx="67270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 to find the maximum element in a BST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maximum_BST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(NODE root)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NODE cur;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if(root==NULL) return root;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cur=root;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while(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cur→rlink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!=NULL)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cur=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cur→rlink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return cur;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work out: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Similarly write a function to find the minimum element in a BST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8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7644" y="38959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Delete a node from the BST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Possibilities: A node to be deleted may have</a:t>
            </a: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May be a leaf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An empty left subtree and nonempty right subtree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An empty right subtree and nonempty left subtree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Nonempty left subtree and nonempty right subtree</a:t>
            </a: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61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8462F-9217-4087-8C54-42D176B4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620" y="643467"/>
            <a:ext cx="568476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5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863CF4-6AB8-EFAD-FB87-74F02B4A3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357187"/>
            <a:ext cx="806767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59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0497DC-309D-95EA-86FF-FA759A994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24" y="939573"/>
            <a:ext cx="8982075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791D5-C17B-6031-337E-413E753CF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74" y="2552019"/>
            <a:ext cx="8480577" cy="23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6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30FC9-D803-F031-191D-C3210588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5" y="643467"/>
            <a:ext cx="994832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85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F0C94-B2F1-7642-E9AA-49149723A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05" y="471487"/>
            <a:ext cx="9058275" cy="1952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0EB05F-4B20-81EE-2D2C-27A2F9B86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278" y="2424112"/>
            <a:ext cx="56007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37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B4655-308B-2CDF-5984-67A769D6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209550"/>
            <a:ext cx="11172825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49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8700B-5CD0-49B8-03A1-B0F0B00CD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554" y="874937"/>
            <a:ext cx="7372714" cy="531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13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219200"/>
            <a:ext cx="7772400" cy="1143000"/>
          </a:xfrm>
        </p:spPr>
        <p:txBody>
          <a:bodyPr/>
          <a:lstStyle/>
          <a:p>
            <a:r>
              <a:rPr lang="en-US" altLang="en-US" sz="4000"/>
              <a:t>AVL-Trees</a:t>
            </a:r>
            <a:br>
              <a:rPr lang="en-US" altLang="en-US" sz="4000"/>
            </a:br>
            <a:r>
              <a:rPr lang="en-US" altLang="en-US" sz="2800"/>
              <a:t>(Adelson-Velskii and Landis-Trees)</a:t>
            </a: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547509411"/>
      </p:ext>
    </p:extLst>
  </p:cSld>
  <p:clrMapOvr>
    <a:masterClrMapping/>
  </p:clrMapOvr>
  <p:transition spd="slow" advTm="235905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Balanced binary tree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The disadvantage of a binary search tree is that its height can be as large as N-1</a:t>
            </a:r>
          </a:p>
          <a:p>
            <a:r>
              <a:rPr lang="en-US" altLang="en-US" sz="2400" dirty="0"/>
              <a:t>This means that the time needed to perform insertion and deletion and many other operations can be O(N) in the worst case</a:t>
            </a:r>
          </a:p>
          <a:p>
            <a:r>
              <a:rPr lang="en-US" altLang="en-US" sz="2400" dirty="0"/>
              <a:t>We want a tree with small height</a:t>
            </a:r>
          </a:p>
          <a:p>
            <a:r>
              <a:rPr lang="en-US" altLang="en-US" sz="2400" dirty="0"/>
              <a:t>A binary tree with N node has height </a:t>
            </a:r>
            <a:r>
              <a:rPr lang="en-US" altLang="en-US" sz="2400" dirty="0">
                <a:solidFill>
                  <a:srgbClr val="00FF00"/>
                </a:solidFill>
              </a:rPr>
              <a:t>at least</a:t>
            </a:r>
            <a:r>
              <a:rPr lang="en-US" altLang="en-US" sz="2400" dirty="0"/>
              <a:t>  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(log N) </a:t>
            </a:r>
          </a:p>
          <a:p>
            <a:r>
              <a:rPr lang="en-US" altLang="en-US" sz="2400" dirty="0"/>
              <a:t>Thus, our goal is to keep the height of a binary search tree O(log N)</a:t>
            </a:r>
          </a:p>
          <a:p>
            <a:r>
              <a:rPr lang="en-US" altLang="en-US" sz="2400" dirty="0"/>
              <a:t>Such trees are called </a:t>
            </a:r>
            <a:r>
              <a:rPr lang="en-US" altLang="en-US" sz="2400" dirty="0">
                <a:solidFill>
                  <a:srgbClr val="00FF00"/>
                </a:solidFill>
              </a:rPr>
              <a:t>balanced</a:t>
            </a:r>
            <a:r>
              <a:rPr lang="en-US" altLang="en-US" sz="2400" dirty="0"/>
              <a:t> binary search trees.  Examples are </a:t>
            </a:r>
            <a:r>
              <a:rPr lang="en-US" altLang="en-US" sz="2400" b="1" dirty="0"/>
              <a:t>AVL tree</a:t>
            </a:r>
            <a:r>
              <a:rPr lang="en-US" altLang="en-US" sz="2400" dirty="0"/>
              <a:t>, red-black tree.</a:t>
            </a:r>
          </a:p>
        </p:txBody>
      </p:sp>
    </p:spTree>
    <p:extLst>
      <p:ext uri="{BB962C8B-B14F-4D97-AF65-F5344CB8AC3E}">
        <p14:creationId xmlns:p14="http://schemas.microsoft.com/office/powerpoint/2010/main" val="1948135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tree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altLang="en-US" dirty="0"/>
              <a:t>Height of a node</a:t>
            </a:r>
          </a:p>
          <a:p>
            <a:pPr algn="just"/>
            <a:r>
              <a:rPr lang="en-US" altLang="en-US" dirty="0"/>
              <a:t>The height of a leaf is 0.  The height of an empty tree is -1.</a:t>
            </a:r>
          </a:p>
          <a:p>
            <a:pPr algn="just"/>
            <a:r>
              <a:rPr lang="en-US" altLang="en-US" dirty="0"/>
              <a:t>The height of an internal node is the maximum height of its children plus 1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dirty="0"/>
              <a:t>    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dirty="0"/>
              <a:t>    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6918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tree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An AVL tree is a binary search tree in which</a:t>
            </a:r>
          </a:p>
          <a:p>
            <a:pPr lvl="1"/>
            <a:r>
              <a:rPr lang="en-US" altLang="en-US" dirty="0"/>
              <a:t>for </a:t>
            </a:r>
            <a:r>
              <a:rPr lang="en-US" altLang="en-US" i="1" dirty="0"/>
              <a:t>every</a:t>
            </a:r>
            <a:r>
              <a:rPr lang="en-US" altLang="en-US" dirty="0"/>
              <a:t> node in the tree, the height of the left and right subtrees differ by </a:t>
            </a:r>
            <a:r>
              <a:rPr lang="en-US" altLang="en-US" dirty="0">
                <a:solidFill>
                  <a:srgbClr val="00FF00"/>
                </a:solidFill>
              </a:rPr>
              <a:t>at most 1</a:t>
            </a:r>
            <a:r>
              <a:rPr lang="en-US" altLang="en-US" dirty="0"/>
              <a:t>.</a:t>
            </a:r>
          </a:p>
        </p:txBody>
      </p:sp>
      <p:pic>
        <p:nvPicPr>
          <p:cNvPr id="7172" name="Picture 4" descr="fig4_32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429000"/>
            <a:ext cx="7010400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Oval 6"/>
          <p:cNvSpPr>
            <a:spLocks noChangeArrowheads="1"/>
          </p:cNvSpPr>
          <p:nvPr/>
        </p:nvSpPr>
        <p:spPr bwMode="auto">
          <a:xfrm>
            <a:off x="8077200" y="3657600"/>
            <a:ext cx="304800" cy="3810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6400800" y="3505201"/>
            <a:ext cx="1676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AVL property violated here</a:t>
            </a:r>
          </a:p>
        </p:txBody>
      </p:sp>
    </p:spTree>
    <p:extLst>
      <p:ext uri="{BB962C8B-B14F-4D97-AF65-F5344CB8AC3E}">
        <p14:creationId xmlns:p14="http://schemas.microsoft.com/office/powerpoint/2010/main" val="1838307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AVL tree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7848600" cy="5181600"/>
          </a:xfrm>
        </p:spPr>
        <p:txBody>
          <a:bodyPr/>
          <a:lstStyle/>
          <a:p>
            <a:r>
              <a:rPr lang="en-US" altLang="en-US"/>
              <a:t>Let x be the root of an AVL tree of height h</a:t>
            </a:r>
          </a:p>
          <a:p>
            <a:r>
              <a:rPr lang="en-US" altLang="en-US"/>
              <a:t>Let S(h) denote the minimum number of nodes in an AVL tree of height h.</a:t>
            </a:r>
          </a:p>
          <a:p>
            <a:r>
              <a:rPr lang="en-US" altLang="en-US"/>
              <a:t>S(h)=S(h-1)+S(h-2)+1</a:t>
            </a:r>
          </a:p>
          <a:p>
            <a:r>
              <a:rPr lang="en-US" altLang="en-US">
                <a:cs typeface="Arial" panose="020B0604020202020204" pitchFamily="34" charset="0"/>
              </a:rPr>
              <a:t>Many operations (searching, insertion, deletion) on an AVL tree will take </a:t>
            </a:r>
            <a:r>
              <a:rPr lang="en-US" altLang="en-US">
                <a:solidFill>
                  <a:srgbClr val="00FF00"/>
                </a:solidFill>
                <a:cs typeface="Arial" panose="020B0604020202020204" pitchFamily="34" charset="0"/>
              </a:rPr>
              <a:t>O(log N) time</a:t>
            </a:r>
            <a:r>
              <a:rPr lang="en-US" altLang="en-US">
                <a:cs typeface="Arial" panose="020B0604020202020204" pitchFamily="34" charset="0"/>
              </a:rPr>
              <a:t>.</a:t>
            </a:r>
          </a:p>
          <a:p>
            <a:endParaRPr lang="en-US" altLang="en-US" baseline="-25000">
              <a:cs typeface="Arial" panose="020B0604020202020204" pitchFamily="34" charset="0"/>
            </a:endParaRPr>
          </a:p>
          <a:p>
            <a:pPr>
              <a:buFont typeface="Monotype Sorts" pitchFamily="2" charset="2"/>
              <a:buNone/>
            </a:pPr>
            <a:endParaRPr lang="en-US" altLang="en-US" baseline="-25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03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Rotations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When the tree structure changes (e.g., insertion or deletion), we need to transform the tree to restore the AVL tree property.</a:t>
            </a:r>
          </a:p>
          <a:p>
            <a:r>
              <a:rPr lang="en-US" altLang="en-US" sz="2400"/>
              <a:t>This is done using </a:t>
            </a:r>
            <a:r>
              <a:rPr lang="en-US" altLang="en-US" sz="2400">
                <a:solidFill>
                  <a:srgbClr val="00FF00"/>
                </a:solidFill>
              </a:rPr>
              <a:t>single rotations</a:t>
            </a:r>
            <a:r>
              <a:rPr lang="en-US" altLang="en-US" sz="2400"/>
              <a:t> or </a:t>
            </a:r>
            <a:r>
              <a:rPr lang="en-US" altLang="en-US" sz="2400">
                <a:solidFill>
                  <a:srgbClr val="00FF00"/>
                </a:solidFill>
              </a:rPr>
              <a:t>double rotations</a:t>
            </a:r>
            <a:r>
              <a:rPr lang="en-US" altLang="en-US" sz="2400"/>
              <a:t>.</a:t>
            </a:r>
          </a:p>
        </p:txBody>
      </p:sp>
      <p:sp>
        <p:nvSpPr>
          <p:cNvPr id="9220" name="Oval 5"/>
          <p:cNvSpPr>
            <a:spLocks noChangeArrowheads="1"/>
          </p:cNvSpPr>
          <p:nvPr/>
        </p:nvSpPr>
        <p:spPr bwMode="auto">
          <a:xfrm>
            <a:off x="3873500" y="4002089"/>
            <a:ext cx="635000" cy="4603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9221" name="Oval 6"/>
          <p:cNvSpPr>
            <a:spLocks noChangeArrowheads="1"/>
          </p:cNvSpPr>
          <p:nvPr/>
        </p:nvSpPr>
        <p:spPr bwMode="auto">
          <a:xfrm>
            <a:off x="2921000" y="4749801"/>
            <a:ext cx="635000" cy="4603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9222" name="AutoShape 7"/>
          <p:cNvSpPr>
            <a:spLocks noChangeArrowheads="1"/>
          </p:cNvSpPr>
          <p:nvPr/>
        </p:nvSpPr>
        <p:spPr bwMode="auto">
          <a:xfrm>
            <a:off x="2286001" y="5497513"/>
            <a:ext cx="1071563" cy="976312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9223" name="AutoShape 8"/>
          <p:cNvSpPr>
            <a:spLocks noChangeArrowheads="1"/>
          </p:cNvSpPr>
          <p:nvPr/>
        </p:nvSpPr>
        <p:spPr bwMode="auto">
          <a:xfrm>
            <a:off x="3683001" y="5381626"/>
            <a:ext cx="881063" cy="690563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9224" name="AutoShape 9"/>
          <p:cNvSpPr>
            <a:spLocks noChangeArrowheads="1"/>
          </p:cNvSpPr>
          <p:nvPr/>
        </p:nvSpPr>
        <p:spPr bwMode="auto">
          <a:xfrm>
            <a:off x="4762501" y="4692651"/>
            <a:ext cx="881063" cy="6889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9225" name="Text Box 10"/>
          <p:cNvSpPr txBox="1">
            <a:spLocks noChangeArrowheads="1"/>
          </p:cNvSpPr>
          <p:nvPr/>
        </p:nvSpPr>
        <p:spPr bwMode="auto">
          <a:xfrm>
            <a:off x="4000500" y="4059238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9226" name="Text Box 11"/>
          <p:cNvSpPr txBox="1">
            <a:spLocks noChangeArrowheads="1"/>
          </p:cNvSpPr>
          <p:nvPr/>
        </p:nvSpPr>
        <p:spPr bwMode="auto">
          <a:xfrm>
            <a:off x="2984500" y="4805363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9227" name="Text Box 12"/>
          <p:cNvSpPr txBox="1">
            <a:spLocks noChangeArrowheads="1"/>
          </p:cNvSpPr>
          <p:nvPr/>
        </p:nvSpPr>
        <p:spPr bwMode="auto">
          <a:xfrm>
            <a:off x="2540000" y="5956300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228" name="Text Box 13"/>
          <p:cNvSpPr txBox="1">
            <a:spLocks noChangeArrowheads="1"/>
          </p:cNvSpPr>
          <p:nvPr/>
        </p:nvSpPr>
        <p:spPr bwMode="auto">
          <a:xfrm>
            <a:off x="3937000" y="5610225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9229" name="Text Box 14"/>
          <p:cNvSpPr txBox="1">
            <a:spLocks noChangeArrowheads="1"/>
          </p:cNvSpPr>
          <p:nvPr/>
        </p:nvSpPr>
        <p:spPr bwMode="auto">
          <a:xfrm>
            <a:off x="5016500" y="4922838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 flipV="1">
            <a:off x="3365500" y="4403726"/>
            <a:ext cx="63500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 flipV="1">
            <a:off x="2794000" y="5210175"/>
            <a:ext cx="5715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>
            <a:off x="3492500" y="5151439"/>
            <a:ext cx="508000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8"/>
          <p:cNvSpPr>
            <a:spLocks noChangeShapeType="1"/>
          </p:cNvSpPr>
          <p:nvPr/>
        </p:nvSpPr>
        <p:spPr bwMode="auto">
          <a:xfrm>
            <a:off x="4381500" y="4403726"/>
            <a:ext cx="8255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1251" name="Group 19"/>
          <p:cNvGrpSpPr>
            <a:grpSpLocks/>
          </p:cNvGrpSpPr>
          <p:nvPr/>
        </p:nvGrpSpPr>
        <p:grpSpPr bwMode="auto">
          <a:xfrm>
            <a:off x="7315200" y="3770315"/>
            <a:ext cx="1714500" cy="577883"/>
            <a:chOff x="3792" y="1824"/>
            <a:chExt cx="1296" cy="482"/>
          </a:xfrm>
        </p:grpSpPr>
        <p:sp>
          <p:nvSpPr>
            <p:cNvPr id="9254" name="Oval 20"/>
            <p:cNvSpPr>
              <a:spLocks noChangeArrowheads="1"/>
            </p:cNvSpPr>
            <p:nvPr/>
          </p:nvSpPr>
          <p:spPr bwMode="auto">
            <a:xfrm>
              <a:off x="3792" y="1824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9255" name="Text Box 21"/>
            <p:cNvSpPr txBox="1">
              <a:spLocks noChangeArrowheads="1"/>
            </p:cNvSpPr>
            <p:nvPr/>
          </p:nvSpPr>
          <p:spPr bwMode="auto">
            <a:xfrm>
              <a:off x="3886" y="1921"/>
              <a:ext cx="1202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351254" name="Group 22"/>
          <p:cNvGrpSpPr>
            <a:grpSpLocks/>
          </p:cNvGrpSpPr>
          <p:nvPr/>
        </p:nvGrpSpPr>
        <p:grpSpPr bwMode="auto">
          <a:xfrm>
            <a:off x="7937500" y="4002088"/>
            <a:ext cx="1206500" cy="862012"/>
            <a:chOff x="4272" y="2016"/>
            <a:chExt cx="912" cy="720"/>
          </a:xfrm>
        </p:grpSpPr>
        <p:sp>
          <p:nvSpPr>
            <p:cNvPr id="9251" name="Oval 23"/>
            <p:cNvSpPr>
              <a:spLocks noChangeArrowheads="1"/>
            </p:cNvSpPr>
            <p:nvPr/>
          </p:nvSpPr>
          <p:spPr bwMode="auto">
            <a:xfrm>
              <a:off x="4704" y="2352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9252" name="Text Box 24"/>
            <p:cNvSpPr txBox="1">
              <a:spLocks noChangeArrowheads="1"/>
            </p:cNvSpPr>
            <p:nvPr/>
          </p:nvSpPr>
          <p:spPr bwMode="auto">
            <a:xfrm>
              <a:off x="4704" y="2351"/>
              <a:ext cx="480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253" name="Line 25"/>
            <p:cNvSpPr>
              <a:spLocks noChangeShapeType="1"/>
            </p:cNvSpPr>
            <p:nvPr/>
          </p:nvSpPr>
          <p:spPr bwMode="auto">
            <a:xfrm>
              <a:off x="4272" y="2016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1258" name="Group 26"/>
          <p:cNvGrpSpPr>
            <a:grpSpLocks/>
          </p:cNvGrpSpPr>
          <p:nvPr/>
        </p:nvGrpSpPr>
        <p:grpSpPr bwMode="auto">
          <a:xfrm>
            <a:off x="6540500" y="4232276"/>
            <a:ext cx="1524000" cy="1495425"/>
            <a:chOff x="3216" y="2208"/>
            <a:chExt cx="1152" cy="1248"/>
          </a:xfrm>
        </p:grpSpPr>
        <p:sp>
          <p:nvSpPr>
            <p:cNvPr id="9248" name="AutoShape 27"/>
            <p:cNvSpPr>
              <a:spLocks noChangeArrowheads="1"/>
            </p:cNvSpPr>
            <p:nvPr/>
          </p:nvSpPr>
          <p:spPr bwMode="auto">
            <a:xfrm>
              <a:off x="3216" y="2448"/>
              <a:ext cx="810" cy="100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9249" name="Text Box 28"/>
            <p:cNvSpPr txBox="1">
              <a:spLocks noChangeArrowheads="1"/>
            </p:cNvSpPr>
            <p:nvPr/>
          </p:nvSpPr>
          <p:spPr bwMode="auto">
            <a:xfrm>
              <a:off x="3553" y="2928"/>
              <a:ext cx="815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250" name="Line 29"/>
            <p:cNvSpPr>
              <a:spLocks noChangeShapeType="1"/>
            </p:cNvSpPr>
            <p:nvPr/>
          </p:nvSpPr>
          <p:spPr bwMode="auto">
            <a:xfrm flipV="1">
              <a:off x="3648" y="2208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1262" name="Group 30"/>
          <p:cNvGrpSpPr>
            <a:grpSpLocks/>
          </p:cNvGrpSpPr>
          <p:nvPr/>
        </p:nvGrpSpPr>
        <p:grpSpPr bwMode="auto">
          <a:xfrm>
            <a:off x="8128001" y="4864100"/>
            <a:ext cx="881063" cy="863600"/>
            <a:chOff x="4416" y="2736"/>
            <a:chExt cx="666" cy="720"/>
          </a:xfrm>
        </p:grpSpPr>
        <p:sp>
          <p:nvSpPr>
            <p:cNvPr id="9245" name="AutoShape 31"/>
            <p:cNvSpPr>
              <a:spLocks noChangeArrowheads="1"/>
            </p:cNvSpPr>
            <p:nvPr/>
          </p:nvSpPr>
          <p:spPr bwMode="auto">
            <a:xfrm>
              <a:off x="4416" y="288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9246" name="Text Box 32"/>
            <p:cNvSpPr txBox="1">
              <a:spLocks noChangeArrowheads="1"/>
            </p:cNvSpPr>
            <p:nvPr/>
          </p:nvSpPr>
          <p:spPr bwMode="auto">
            <a:xfrm>
              <a:off x="4560" y="3071"/>
              <a:ext cx="480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9247" name="Line 33"/>
            <p:cNvSpPr>
              <a:spLocks noChangeShapeType="1"/>
            </p:cNvSpPr>
            <p:nvPr/>
          </p:nvSpPr>
          <p:spPr bwMode="auto">
            <a:xfrm flipV="1">
              <a:off x="4752" y="273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1266" name="Group 34"/>
          <p:cNvGrpSpPr>
            <a:grpSpLocks/>
          </p:cNvGrpSpPr>
          <p:nvPr/>
        </p:nvGrpSpPr>
        <p:grpSpPr bwMode="auto">
          <a:xfrm>
            <a:off x="8953500" y="4864102"/>
            <a:ext cx="952500" cy="808071"/>
            <a:chOff x="5040" y="2736"/>
            <a:chExt cx="720" cy="674"/>
          </a:xfrm>
        </p:grpSpPr>
        <p:sp>
          <p:nvSpPr>
            <p:cNvPr id="9242" name="AutoShape 35"/>
            <p:cNvSpPr>
              <a:spLocks noChangeArrowheads="1"/>
            </p:cNvSpPr>
            <p:nvPr/>
          </p:nvSpPr>
          <p:spPr bwMode="auto">
            <a:xfrm>
              <a:off x="5094" y="2784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9243" name="Text Box 36"/>
            <p:cNvSpPr txBox="1">
              <a:spLocks noChangeArrowheads="1"/>
            </p:cNvSpPr>
            <p:nvPr/>
          </p:nvSpPr>
          <p:spPr bwMode="auto">
            <a:xfrm>
              <a:off x="5280" y="3025"/>
              <a:ext cx="480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244" name="Line 37"/>
            <p:cNvSpPr>
              <a:spLocks noChangeShapeType="1"/>
            </p:cNvSpPr>
            <p:nvPr/>
          </p:nvSpPr>
          <p:spPr bwMode="auto">
            <a:xfrm>
              <a:off x="5040" y="2736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9" name="Text Box 38"/>
          <p:cNvSpPr txBox="1">
            <a:spLocks noChangeArrowheads="1"/>
          </p:cNvSpPr>
          <p:nvPr/>
        </p:nvSpPr>
        <p:spPr bwMode="auto">
          <a:xfrm>
            <a:off x="4191000" y="6186488"/>
            <a:ext cx="190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Before Rotation</a:t>
            </a:r>
          </a:p>
        </p:txBody>
      </p:sp>
      <p:sp>
        <p:nvSpPr>
          <p:cNvPr id="351271" name="Text Box 39"/>
          <p:cNvSpPr txBox="1">
            <a:spLocks noChangeArrowheads="1"/>
          </p:cNvSpPr>
          <p:nvPr/>
        </p:nvSpPr>
        <p:spPr bwMode="auto">
          <a:xfrm>
            <a:off x="7175500" y="6127751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After Rotation</a:t>
            </a:r>
          </a:p>
        </p:txBody>
      </p:sp>
      <p:sp>
        <p:nvSpPr>
          <p:cNvPr id="9241" name="Text Box 40"/>
          <p:cNvSpPr txBox="1">
            <a:spLocks noChangeArrowheads="1"/>
          </p:cNvSpPr>
          <p:nvPr/>
        </p:nvSpPr>
        <p:spPr bwMode="auto">
          <a:xfrm>
            <a:off x="1828800" y="3581401"/>
            <a:ext cx="281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/>
              <a:t>e.g. Single Rotation</a:t>
            </a:r>
          </a:p>
        </p:txBody>
      </p:sp>
    </p:spTree>
    <p:extLst>
      <p:ext uri="{BB962C8B-B14F-4D97-AF65-F5344CB8AC3E}">
        <p14:creationId xmlns:p14="http://schemas.microsoft.com/office/powerpoint/2010/main" val="2681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7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Rotations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Since an insertion/deletion involves adding/deleting a single node, this can only increase/decrease the height of some subtree by 1</a:t>
            </a:r>
          </a:p>
          <a:p>
            <a:r>
              <a:rPr lang="en-US" altLang="en-US"/>
              <a:t>Thus, if the AVL tree property is violated at a node x, it means that the heights of left(x) and right(x) </a:t>
            </a:r>
            <a:r>
              <a:rPr lang="en-US" altLang="en-US">
                <a:solidFill>
                  <a:srgbClr val="00FF00"/>
                </a:solidFill>
              </a:rPr>
              <a:t>differ by exactly 2</a:t>
            </a:r>
            <a:r>
              <a:rPr lang="en-US" altLang="en-US"/>
              <a:t>.</a:t>
            </a:r>
          </a:p>
          <a:p>
            <a:r>
              <a:rPr lang="en-US" altLang="en-US"/>
              <a:t>Rotations will be applied to x to restore the AVL tree property.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009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First, insert the new key as a new leaf just as in ordinary binary search tree</a:t>
            </a:r>
          </a:p>
          <a:p>
            <a:r>
              <a:rPr lang="en-US" altLang="en-US" sz="2400"/>
              <a:t>Then trace the path </a:t>
            </a:r>
            <a:r>
              <a:rPr lang="en-US" altLang="en-US" sz="2400">
                <a:solidFill>
                  <a:srgbClr val="00FF00"/>
                </a:solidFill>
              </a:rPr>
              <a:t>from the new leaf towards the root</a:t>
            </a:r>
            <a:r>
              <a:rPr lang="en-US" altLang="en-US" sz="2400"/>
              <a:t>.  For each node x encountered, check if heights of left(x) and right(x) differ by at most 1.</a:t>
            </a:r>
          </a:p>
          <a:p>
            <a:r>
              <a:rPr lang="en-US" altLang="en-US" sz="2400"/>
              <a:t>If yes, proceed to parent(x).  If not, restructure by doing </a:t>
            </a:r>
            <a:r>
              <a:rPr lang="en-US" altLang="en-US" sz="2400">
                <a:solidFill>
                  <a:srgbClr val="00FF00"/>
                </a:solidFill>
              </a:rPr>
              <a:t>either a single rotation or a double rotation </a:t>
            </a:r>
          </a:p>
          <a:p>
            <a:r>
              <a:rPr lang="en-US" altLang="en-US" sz="2400"/>
              <a:t>For insertion, once we perform a rotation at a node x, we don’t need to perform any rotation at any ancestor of x.</a:t>
            </a:r>
          </a:p>
        </p:txBody>
      </p:sp>
    </p:spTree>
    <p:extLst>
      <p:ext uri="{BB962C8B-B14F-4D97-AF65-F5344CB8AC3E}">
        <p14:creationId xmlns:p14="http://schemas.microsoft.com/office/powerpoint/2010/main" val="3319617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76400"/>
            <a:ext cx="8229600" cy="4800600"/>
          </a:xfrm>
        </p:spPr>
        <p:txBody>
          <a:bodyPr/>
          <a:lstStyle/>
          <a:p>
            <a:r>
              <a:rPr lang="en-US" altLang="en-US"/>
              <a:t>Let x be the node at which left(x) and right(x) differ by more than 1</a:t>
            </a:r>
          </a:p>
          <a:p>
            <a:r>
              <a:rPr lang="en-US" altLang="en-US"/>
              <a:t>A violation may occur in four cases: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sz="2000"/>
              <a:t>1. An insertion into the left subtree of the left child of x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2. An insertion into the right subtree of the left child of x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3. An insertion into the left subtree of the right child of x.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4. An insertion into the right subtree of the right child of x.</a:t>
            </a:r>
          </a:p>
        </p:txBody>
      </p:sp>
    </p:spTree>
    <p:extLst>
      <p:ext uri="{BB962C8B-B14F-4D97-AF65-F5344CB8AC3E}">
        <p14:creationId xmlns:p14="http://schemas.microsoft.com/office/powerpoint/2010/main" val="1810760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 rotation</a:t>
            </a:r>
          </a:p>
        </p:txBody>
      </p:sp>
      <p:grpSp>
        <p:nvGrpSpPr>
          <p:cNvPr id="13315" name="Group 17"/>
          <p:cNvGrpSpPr>
            <a:grpSpLocks/>
          </p:cNvGrpSpPr>
          <p:nvPr/>
        </p:nvGrpSpPr>
        <p:grpSpPr bwMode="auto">
          <a:xfrm>
            <a:off x="2286000" y="3581400"/>
            <a:ext cx="7696200" cy="3048000"/>
            <a:chOff x="768" y="2424"/>
            <a:chExt cx="4147" cy="1560"/>
          </a:xfrm>
        </p:grpSpPr>
        <p:graphicFrame>
          <p:nvGraphicFramePr>
            <p:cNvPr id="13317" name="Object 3"/>
            <p:cNvGraphicFramePr>
              <a:graphicFrameLocks noChangeAspect="1"/>
            </p:cNvGraphicFramePr>
            <p:nvPr/>
          </p:nvGraphicFramePr>
          <p:xfrm>
            <a:off x="768" y="2424"/>
            <a:ext cx="4147" cy="1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582694" imgH="2476190" progId="Paint.Picture">
                    <p:embed/>
                  </p:oleObj>
                </mc:Choice>
                <mc:Fallback>
                  <p:oleObj name="Bitmap Image" r:id="rId2" imgW="6582694" imgH="2476190" progId="Paint.Picture">
                    <p:embed/>
                    <p:pic>
                      <p:nvPicPr>
                        <p:cNvPr id="1331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424"/>
                          <a:ext cx="4147" cy="1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8" name="Oval 5"/>
            <p:cNvSpPr>
              <a:spLocks noChangeArrowheads="1"/>
            </p:cNvSpPr>
            <p:nvPr/>
          </p:nvSpPr>
          <p:spPr bwMode="auto">
            <a:xfrm>
              <a:off x="1680" y="2616"/>
              <a:ext cx="144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3319" name="Line 10"/>
            <p:cNvSpPr>
              <a:spLocks noChangeShapeType="1"/>
            </p:cNvSpPr>
            <p:nvPr/>
          </p:nvSpPr>
          <p:spPr bwMode="auto">
            <a:xfrm flipH="1">
              <a:off x="1536" y="2760"/>
              <a:ext cx="144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Line 15"/>
            <p:cNvSpPr>
              <a:spLocks noChangeShapeType="1"/>
            </p:cNvSpPr>
            <p:nvPr/>
          </p:nvSpPr>
          <p:spPr bwMode="auto">
            <a:xfrm flipH="1">
              <a:off x="1275" y="2979"/>
              <a:ext cx="192" cy="1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6" name="Text Box 16"/>
          <p:cNvSpPr txBox="1">
            <a:spLocks noChangeArrowheads="1"/>
          </p:cNvSpPr>
          <p:nvPr/>
        </p:nvSpPr>
        <p:spPr bwMode="auto">
          <a:xfrm>
            <a:off x="2667000" y="1600200"/>
            <a:ext cx="7010400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new key is inserted in the subtree A. 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AVL-property is violated at x</a:t>
            </a:r>
          </a:p>
          <a:p>
            <a:pPr>
              <a:buClr>
                <a:schemeClr val="tx2"/>
              </a:buClr>
              <a:buFont typeface="Monotype Sorts" pitchFamily="2" charset="2"/>
              <a:buChar char="l"/>
            </a:pPr>
            <a:r>
              <a:rPr lang="en-US" altLang="en-US" sz="2400"/>
              <a:t> height of left(x) is h+2</a:t>
            </a:r>
          </a:p>
          <a:p>
            <a:pPr>
              <a:buClr>
                <a:schemeClr val="tx2"/>
              </a:buClr>
              <a:buFont typeface="Monotype Sorts" pitchFamily="2" charset="2"/>
              <a:buChar char="l"/>
            </a:pPr>
            <a:r>
              <a:rPr lang="en-US" altLang="en-US" sz="2400"/>
              <a:t> height of right(x) is h.</a:t>
            </a:r>
          </a:p>
        </p:txBody>
      </p:sp>
    </p:spTree>
    <p:extLst>
      <p:ext uri="{BB962C8B-B14F-4D97-AF65-F5344CB8AC3E}">
        <p14:creationId xmlns:p14="http://schemas.microsoft.com/office/powerpoint/2010/main" val="2152290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 rotation</a:t>
            </a:r>
          </a:p>
        </p:txBody>
      </p:sp>
      <p:sp>
        <p:nvSpPr>
          <p:cNvPr id="14339" name="Text Box 9"/>
          <p:cNvSpPr txBox="1">
            <a:spLocks noChangeArrowheads="1"/>
          </p:cNvSpPr>
          <p:nvPr/>
        </p:nvSpPr>
        <p:spPr bwMode="auto">
          <a:xfrm>
            <a:off x="4343400" y="5943601"/>
            <a:ext cx="371447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chemeClr val="hlink"/>
                </a:solidFill>
              </a:rPr>
              <a:t>Single rotation takes O(1) time.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chemeClr val="hlink"/>
                </a:solidFill>
              </a:rPr>
              <a:t>Insertion takes O(log N) time.</a:t>
            </a:r>
          </a:p>
        </p:txBody>
      </p:sp>
      <p:grpSp>
        <p:nvGrpSpPr>
          <p:cNvPr id="14340" name="Group 15"/>
          <p:cNvGrpSpPr>
            <a:grpSpLocks/>
          </p:cNvGrpSpPr>
          <p:nvPr/>
        </p:nvGrpSpPr>
        <p:grpSpPr bwMode="auto">
          <a:xfrm>
            <a:off x="2362200" y="2667000"/>
            <a:ext cx="7772400" cy="3276600"/>
            <a:chOff x="720" y="1920"/>
            <a:chExt cx="4049" cy="1734"/>
          </a:xfrm>
        </p:grpSpPr>
        <p:graphicFrame>
          <p:nvGraphicFramePr>
            <p:cNvPr id="14342" name="Object 4"/>
            <p:cNvGraphicFramePr>
              <a:graphicFrameLocks noChangeAspect="1"/>
            </p:cNvGraphicFramePr>
            <p:nvPr/>
          </p:nvGraphicFramePr>
          <p:xfrm>
            <a:off x="720" y="1920"/>
            <a:ext cx="4049" cy="1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428571" imgH="2752381" progId="Paint.Picture">
                    <p:embed/>
                  </p:oleObj>
                </mc:Choice>
                <mc:Fallback>
                  <p:oleObj name="Bitmap Image" r:id="rId2" imgW="6428571" imgH="2752381" progId="Paint.Picture">
                    <p:embed/>
                    <p:pic>
                      <p:nvPicPr>
                        <p:cNvPr id="1434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920"/>
                          <a:ext cx="4049" cy="1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3" name="Oval 6"/>
            <p:cNvSpPr>
              <a:spLocks noChangeArrowheads="1"/>
            </p:cNvSpPr>
            <p:nvPr/>
          </p:nvSpPr>
          <p:spPr bwMode="auto">
            <a:xfrm>
              <a:off x="1216" y="2200"/>
              <a:ext cx="144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4344" name="Line 11"/>
            <p:cNvSpPr>
              <a:spLocks noChangeShapeType="1"/>
            </p:cNvSpPr>
            <p:nvPr/>
          </p:nvSpPr>
          <p:spPr bwMode="auto">
            <a:xfrm>
              <a:off x="1344" y="2304"/>
              <a:ext cx="288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Line 12"/>
            <p:cNvSpPr>
              <a:spLocks noChangeShapeType="1"/>
            </p:cNvSpPr>
            <p:nvPr/>
          </p:nvSpPr>
          <p:spPr bwMode="auto">
            <a:xfrm>
              <a:off x="1728" y="2544"/>
              <a:ext cx="192" cy="1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1" name="Text Box 14"/>
          <p:cNvSpPr txBox="1">
            <a:spLocks noChangeArrowheads="1"/>
          </p:cNvSpPr>
          <p:nvPr/>
        </p:nvSpPr>
        <p:spPr bwMode="auto">
          <a:xfrm>
            <a:off x="2667000" y="1600201"/>
            <a:ext cx="70104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new key is inserted in the subtree C. 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AVL-property is violated at x.</a:t>
            </a:r>
          </a:p>
        </p:txBody>
      </p:sp>
    </p:spTree>
    <p:extLst>
      <p:ext uri="{BB962C8B-B14F-4D97-AF65-F5344CB8AC3E}">
        <p14:creationId xmlns:p14="http://schemas.microsoft.com/office/powerpoint/2010/main" val="1863349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Oval 2"/>
          <p:cNvSpPr>
            <a:spLocks noChangeArrowheads="1"/>
          </p:cNvSpPr>
          <p:nvPr/>
        </p:nvSpPr>
        <p:spPr bwMode="auto">
          <a:xfrm>
            <a:off x="4114800" y="685800"/>
            <a:ext cx="685800" cy="6492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 flipH="1">
            <a:off x="3429000" y="1219201"/>
            <a:ext cx="76200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4191000" y="685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1981200" y="1658938"/>
            <a:ext cx="2209800" cy="1541462"/>
            <a:chOff x="288" y="1045"/>
            <a:chExt cx="1392" cy="971"/>
          </a:xfrm>
        </p:grpSpPr>
        <p:sp>
          <p:nvSpPr>
            <p:cNvPr id="15432" name="Oval 6"/>
            <p:cNvSpPr>
              <a:spLocks noChangeArrowheads="1"/>
            </p:cNvSpPr>
            <p:nvPr/>
          </p:nvSpPr>
          <p:spPr bwMode="auto">
            <a:xfrm>
              <a:off x="816" y="1045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33" name="Oval 7"/>
            <p:cNvSpPr>
              <a:spLocks noChangeArrowheads="1"/>
            </p:cNvSpPr>
            <p:nvPr/>
          </p:nvSpPr>
          <p:spPr bwMode="auto">
            <a:xfrm>
              <a:off x="288" y="1607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34" name="Line 8"/>
            <p:cNvSpPr>
              <a:spLocks noChangeShapeType="1"/>
            </p:cNvSpPr>
            <p:nvPr/>
          </p:nvSpPr>
          <p:spPr bwMode="auto">
            <a:xfrm flipH="1">
              <a:off x="624" y="1454"/>
              <a:ext cx="336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Text Box 9"/>
            <p:cNvSpPr txBox="1">
              <a:spLocks noChangeArrowheads="1"/>
            </p:cNvSpPr>
            <p:nvPr/>
          </p:nvSpPr>
          <p:spPr bwMode="auto">
            <a:xfrm>
              <a:off x="912" y="109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36" name="Text Box 10"/>
            <p:cNvSpPr txBox="1">
              <a:spLocks noChangeArrowheads="1"/>
            </p:cNvSpPr>
            <p:nvPr/>
          </p:nvSpPr>
          <p:spPr bwMode="auto">
            <a:xfrm>
              <a:off x="384" y="1658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5366" name="Group 11"/>
          <p:cNvGrpSpPr>
            <a:grpSpLocks/>
          </p:cNvGrpSpPr>
          <p:nvPr/>
        </p:nvGrpSpPr>
        <p:grpSpPr bwMode="auto">
          <a:xfrm>
            <a:off x="3200400" y="2308226"/>
            <a:ext cx="1143000" cy="811213"/>
            <a:chOff x="1056" y="1454"/>
            <a:chExt cx="720" cy="511"/>
          </a:xfrm>
        </p:grpSpPr>
        <p:sp>
          <p:nvSpPr>
            <p:cNvPr id="15428" name="Line 12"/>
            <p:cNvSpPr>
              <a:spLocks noChangeShapeType="1"/>
            </p:cNvSpPr>
            <p:nvPr/>
          </p:nvSpPr>
          <p:spPr bwMode="auto">
            <a:xfrm>
              <a:off x="1056" y="1454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429" name="Group 13"/>
            <p:cNvGrpSpPr>
              <a:grpSpLocks/>
            </p:cNvGrpSpPr>
            <p:nvPr/>
          </p:nvGrpSpPr>
          <p:grpSpPr bwMode="auto">
            <a:xfrm>
              <a:off x="1152" y="1556"/>
              <a:ext cx="624" cy="409"/>
              <a:chOff x="1152" y="1556"/>
              <a:chExt cx="624" cy="409"/>
            </a:xfrm>
          </p:grpSpPr>
          <p:sp>
            <p:nvSpPr>
              <p:cNvPr id="15430" name="Oval 14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5431" name="Text Box 15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334864" name="Text Box 16"/>
          <p:cNvSpPr txBox="1">
            <a:spLocks noChangeArrowheads="1"/>
          </p:cNvSpPr>
          <p:nvPr/>
        </p:nvSpPr>
        <p:spPr bwMode="auto">
          <a:xfrm>
            <a:off x="6934200" y="3886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Insert 0.8</a:t>
            </a:r>
          </a:p>
        </p:txBody>
      </p:sp>
      <p:sp>
        <p:nvSpPr>
          <p:cNvPr id="15368" name="Text Box 17"/>
          <p:cNvSpPr txBox="1">
            <a:spLocks noChangeArrowheads="1"/>
          </p:cNvSpPr>
          <p:nvPr/>
        </p:nvSpPr>
        <p:spPr bwMode="auto">
          <a:xfrm>
            <a:off x="1828800" y="5334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AVL Tree</a:t>
            </a:r>
          </a:p>
        </p:txBody>
      </p:sp>
      <p:sp>
        <p:nvSpPr>
          <p:cNvPr id="15369" name="Oval 18"/>
          <p:cNvSpPr>
            <a:spLocks noChangeArrowheads="1"/>
          </p:cNvSpPr>
          <p:nvPr/>
        </p:nvSpPr>
        <p:spPr bwMode="auto">
          <a:xfrm>
            <a:off x="4495800" y="1676400"/>
            <a:ext cx="6858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70" name="Text Box 19"/>
          <p:cNvSpPr txBox="1">
            <a:spLocks noChangeArrowheads="1"/>
          </p:cNvSpPr>
          <p:nvPr/>
        </p:nvSpPr>
        <p:spPr bwMode="auto">
          <a:xfrm>
            <a:off x="4572000" y="167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5371" name="Line 20"/>
          <p:cNvSpPr>
            <a:spLocks noChangeShapeType="1"/>
          </p:cNvSpPr>
          <p:nvPr/>
        </p:nvSpPr>
        <p:spPr bwMode="auto">
          <a:xfrm>
            <a:off x="4648200" y="1295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Oval 22"/>
          <p:cNvSpPr>
            <a:spLocks noChangeArrowheads="1"/>
          </p:cNvSpPr>
          <p:nvPr/>
        </p:nvSpPr>
        <p:spPr bwMode="auto">
          <a:xfrm>
            <a:off x="6019800" y="3200400"/>
            <a:ext cx="685800" cy="6492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73" name="Text Box 23"/>
          <p:cNvSpPr txBox="1">
            <a:spLocks noChangeArrowheads="1"/>
          </p:cNvSpPr>
          <p:nvPr/>
        </p:nvSpPr>
        <p:spPr bwMode="auto">
          <a:xfrm>
            <a:off x="6096000" y="32766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0.8</a:t>
            </a:r>
          </a:p>
        </p:txBody>
      </p:sp>
      <p:grpSp>
        <p:nvGrpSpPr>
          <p:cNvPr id="15374" name="Group 24"/>
          <p:cNvGrpSpPr>
            <a:grpSpLocks/>
          </p:cNvGrpSpPr>
          <p:nvPr/>
        </p:nvGrpSpPr>
        <p:grpSpPr bwMode="auto">
          <a:xfrm>
            <a:off x="6400800" y="457200"/>
            <a:ext cx="3657600" cy="2514600"/>
            <a:chOff x="192" y="2256"/>
            <a:chExt cx="2304" cy="1584"/>
          </a:xfrm>
        </p:grpSpPr>
        <p:sp>
          <p:nvSpPr>
            <p:cNvPr id="15414" name="Oval 25"/>
            <p:cNvSpPr>
              <a:spLocks noChangeArrowheads="1"/>
            </p:cNvSpPr>
            <p:nvPr/>
          </p:nvSpPr>
          <p:spPr bwMode="auto">
            <a:xfrm>
              <a:off x="1536" y="2256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5" name="Oval 26"/>
            <p:cNvSpPr>
              <a:spLocks noChangeArrowheads="1"/>
            </p:cNvSpPr>
            <p:nvPr/>
          </p:nvSpPr>
          <p:spPr bwMode="auto">
            <a:xfrm>
              <a:off x="720" y="2869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6" name="Oval 27"/>
            <p:cNvSpPr>
              <a:spLocks noChangeArrowheads="1"/>
            </p:cNvSpPr>
            <p:nvPr/>
          </p:nvSpPr>
          <p:spPr bwMode="auto">
            <a:xfrm>
              <a:off x="192" y="3431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7" name="Oval 28"/>
            <p:cNvSpPr>
              <a:spLocks noChangeArrowheads="1"/>
            </p:cNvSpPr>
            <p:nvPr/>
          </p:nvSpPr>
          <p:spPr bwMode="auto">
            <a:xfrm>
              <a:off x="1056" y="3380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8" name="Oval 29"/>
            <p:cNvSpPr>
              <a:spLocks noChangeArrowheads="1"/>
            </p:cNvSpPr>
            <p:nvPr/>
          </p:nvSpPr>
          <p:spPr bwMode="auto">
            <a:xfrm>
              <a:off x="1920" y="2736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9" name="Line 30"/>
            <p:cNvSpPr>
              <a:spLocks noChangeShapeType="1"/>
            </p:cNvSpPr>
            <p:nvPr/>
          </p:nvSpPr>
          <p:spPr bwMode="auto">
            <a:xfrm flipH="1">
              <a:off x="1104" y="2592"/>
              <a:ext cx="480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Line 31"/>
            <p:cNvSpPr>
              <a:spLocks noChangeShapeType="1"/>
            </p:cNvSpPr>
            <p:nvPr/>
          </p:nvSpPr>
          <p:spPr bwMode="auto">
            <a:xfrm>
              <a:off x="1776" y="2665"/>
              <a:ext cx="192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32"/>
            <p:cNvSpPr>
              <a:spLocks noChangeShapeType="1"/>
            </p:cNvSpPr>
            <p:nvPr/>
          </p:nvSpPr>
          <p:spPr bwMode="auto">
            <a:xfrm flipH="1">
              <a:off x="528" y="3278"/>
              <a:ext cx="336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33"/>
            <p:cNvSpPr>
              <a:spLocks noChangeShapeType="1"/>
            </p:cNvSpPr>
            <p:nvPr/>
          </p:nvSpPr>
          <p:spPr bwMode="auto">
            <a:xfrm>
              <a:off x="960" y="3278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Text Box 34"/>
            <p:cNvSpPr txBox="1">
              <a:spLocks noChangeArrowheads="1"/>
            </p:cNvSpPr>
            <p:nvPr/>
          </p:nvSpPr>
          <p:spPr bwMode="auto">
            <a:xfrm>
              <a:off x="1584" y="225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424" name="Text Box 35"/>
            <p:cNvSpPr txBox="1">
              <a:spLocks noChangeArrowheads="1"/>
            </p:cNvSpPr>
            <p:nvPr/>
          </p:nvSpPr>
          <p:spPr bwMode="auto">
            <a:xfrm>
              <a:off x="816" y="292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25" name="Text Box 36"/>
            <p:cNvSpPr txBox="1">
              <a:spLocks noChangeArrowheads="1"/>
            </p:cNvSpPr>
            <p:nvPr/>
          </p:nvSpPr>
          <p:spPr bwMode="auto">
            <a:xfrm>
              <a:off x="288" y="348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426" name="Text Box 37"/>
            <p:cNvSpPr txBox="1">
              <a:spLocks noChangeArrowheads="1"/>
            </p:cNvSpPr>
            <p:nvPr/>
          </p:nvSpPr>
          <p:spPr bwMode="auto">
            <a:xfrm>
              <a:off x="1104" y="3456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427" name="Text Box 38"/>
            <p:cNvSpPr txBox="1">
              <a:spLocks noChangeArrowheads="1"/>
            </p:cNvSpPr>
            <p:nvPr/>
          </p:nvSpPr>
          <p:spPr bwMode="auto">
            <a:xfrm>
              <a:off x="1968" y="2832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8</a:t>
              </a:r>
            </a:p>
          </p:txBody>
        </p:sp>
      </p:grpSp>
      <p:sp>
        <p:nvSpPr>
          <p:cNvPr id="15375" name="Line 39"/>
          <p:cNvSpPr>
            <a:spLocks noChangeShapeType="1"/>
          </p:cNvSpPr>
          <p:nvPr/>
        </p:nvSpPr>
        <p:spPr bwMode="auto">
          <a:xfrm flipH="1">
            <a:off x="6400800" y="2971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Rectangle 41"/>
          <p:cNvSpPr>
            <a:spLocks noChangeArrowheads="1"/>
          </p:cNvSpPr>
          <p:nvPr/>
        </p:nvSpPr>
        <p:spPr bwMode="auto">
          <a:xfrm>
            <a:off x="8458200" y="228600"/>
            <a:ext cx="1828800" cy="838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77" name="Text Box 42"/>
          <p:cNvSpPr txBox="1">
            <a:spLocks noChangeArrowheads="1"/>
          </p:cNvSpPr>
          <p:nvPr/>
        </p:nvSpPr>
        <p:spPr bwMode="auto">
          <a:xfrm>
            <a:off x="9296400" y="381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5378" name="Rectangle 43"/>
          <p:cNvSpPr>
            <a:spLocks noChangeArrowheads="1"/>
          </p:cNvSpPr>
          <p:nvPr/>
        </p:nvSpPr>
        <p:spPr bwMode="auto">
          <a:xfrm>
            <a:off x="6858000" y="1295400"/>
            <a:ext cx="1828800" cy="838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79" name="Text Box 44"/>
          <p:cNvSpPr txBox="1">
            <a:spLocks noChangeArrowheads="1"/>
          </p:cNvSpPr>
          <p:nvPr/>
        </p:nvSpPr>
        <p:spPr bwMode="auto">
          <a:xfrm>
            <a:off x="8077200" y="1371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5380" name="Rectangle 45"/>
          <p:cNvSpPr>
            <a:spLocks noChangeArrowheads="1"/>
          </p:cNvSpPr>
          <p:nvPr/>
        </p:nvSpPr>
        <p:spPr bwMode="auto">
          <a:xfrm>
            <a:off x="5943600" y="2286000"/>
            <a:ext cx="1752600" cy="1676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81" name="Text Box 46"/>
          <p:cNvSpPr txBox="1">
            <a:spLocks noChangeArrowheads="1"/>
          </p:cNvSpPr>
          <p:nvPr/>
        </p:nvSpPr>
        <p:spPr bwMode="auto">
          <a:xfrm>
            <a:off x="7086600" y="2971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5382" name="Rectangle 47"/>
          <p:cNvSpPr>
            <a:spLocks noChangeArrowheads="1"/>
          </p:cNvSpPr>
          <p:nvPr/>
        </p:nvSpPr>
        <p:spPr bwMode="auto">
          <a:xfrm>
            <a:off x="7924800" y="2133600"/>
            <a:ext cx="1752600" cy="1676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83" name="Text Box 48"/>
          <p:cNvSpPr txBox="1">
            <a:spLocks noChangeArrowheads="1"/>
          </p:cNvSpPr>
          <p:nvPr/>
        </p:nvSpPr>
        <p:spPr bwMode="auto">
          <a:xfrm>
            <a:off x="8839200" y="2438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5384" name="Rectangle 49"/>
          <p:cNvSpPr>
            <a:spLocks noChangeArrowheads="1"/>
          </p:cNvSpPr>
          <p:nvPr/>
        </p:nvSpPr>
        <p:spPr bwMode="auto">
          <a:xfrm>
            <a:off x="8991600" y="1143000"/>
            <a:ext cx="1524000" cy="838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5385" name="Text Box 50"/>
          <p:cNvSpPr txBox="1">
            <a:spLocks noChangeArrowheads="1"/>
          </p:cNvSpPr>
          <p:nvPr/>
        </p:nvSpPr>
        <p:spPr bwMode="auto">
          <a:xfrm>
            <a:off x="10058400" y="1295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grpSp>
        <p:nvGrpSpPr>
          <p:cNvPr id="334899" name="Group 51"/>
          <p:cNvGrpSpPr>
            <a:grpSpLocks/>
          </p:cNvGrpSpPr>
          <p:nvPr/>
        </p:nvGrpSpPr>
        <p:grpSpPr bwMode="auto">
          <a:xfrm>
            <a:off x="2895600" y="4114800"/>
            <a:ext cx="2057400" cy="609600"/>
            <a:chOff x="3792" y="1824"/>
            <a:chExt cx="1296" cy="384"/>
          </a:xfrm>
        </p:grpSpPr>
        <p:sp>
          <p:nvSpPr>
            <p:cNvPr id="15412" name="Oval 52"/>
            <p:cNvSpPr>
              <a:spLocks noChangeArrowheads="1"/>
            </p:cNvSpPr>
            <p:nvPr/>
          </p:nvSpPr>
          <p:spPr bwMode="auto">
            <a:xfrm>
              <a:off x="3792" y="1824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3" name="Text Box 53"/>
            <p:cNvSpPr txBox="1">
              <a:spLocks noChangeArrowheads="1"/>
            </p:cNvSpPr>
            <p:nvPr/>
          </p:nvSpPr>
          <p:spPr bwMode="auto">
            <a:xfrm>
              <a:off x="3888" y="1920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334902" name="Group 54"/>
          <p:cNvGrpSpPr>
            <a:grpSpLocks/>
          </p:cNvGrpSpPr>
          <p:nvPr/>
        </p:nvGrpSpPr>
        <p:grpSpPr bwMode="auto">
          <a:xfrm>
            <a:off x="3505200" y="4648200"/>
            <a:ext cx="1447800" cy="1143000"/>
            <a:chOff x="4272" y="2016"/>
            <a:chExt cx="912" cy="720"/>
          </a:xfrm>
        </p:grpSpPr>
        <p:sp>
          <p:nvSpPr>
            <p:cNvPr id="15409" name="Oval 55"/>
            <p:cNvSpPr>
              <a:spLocks noChangeArrowheads="1"/>
            </p:cNvSpPr>
            <p:nvPr/>
          </p:nvSpPr>
          <p:spPr bwMode="auto">
            <a:xfrm>
              <a:off x="4704" y="2352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5410" name="Text Box 56"/>
            <p:cNvSpPr txBox="1">
              <a:spLocks noChangeArrowheads="1"/>
            </p:cNvSpPr>
            <p:nvPr/>
          </p:nvSpPr>
          <p:spPr bwMode="auto">
            <a:xfrm>
              <a:off x="4704" y="235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411" name="Line 57"/>
            <p:cNvSpPr>
              <a:spLocks noChangeShapeType="1"/>
            </p:cNvSpPr>
            <p:nvPr/>
          </p:nvSpPr>
          <p:spPr bwMode="auto">
            <a:xfrm>
              <a:off x="4272" y="2016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4906" name="Group 58"/>
          <p:cNvGrpSpPr>
            <a:grpSpLocks/>
          </p:cNvGrpSpPr>
          <p:nvPr/>
        </p:nvGrpSpPr>
        <p:grpSpPr bwMode="auto">
          <a:xfrm>
            <a:off x="1524000" y="4724400"/>
            <a:ext cx="2209800" cy="2133600"/>
            <a:chOff x="0" y="2976"/>
            <a:chExt cx="1392" cy="1344"/>
          </a:xfrm>
        </p:grpSpPr>
        <p:grpSp>
          <p:nvGrpSpPr>
            <p:cNvPr id="15402" name="Group 59"/>
            <p:cNvGrpSpPr>
              <a:grpSpLocks/>
            </p:cNvGrpSpPr>
            <p:nvPr/>
          </p:nvGrpSpPr>
          <p:grpSpPr bwMode="auto">
            <a:xfrm>
              <a:off x="0" y="3349"/>
              <a:ext cx="1392" cy="971"/>
              <a:chOff x="288" y="1045"/>
              <a:chExt cx="1392" cy="971"/>
            </a:xfrm>
          </p:grpSpPr>
          <p:sp>
            <p:nvSpPr>
              <p:cNvPr id="15404" name="Oval 60"/>
              <p:cNvSpPr>
                <a:spLocks noChangeArrowheads="1"/>
              </p:cNvSpPr>
              <p:nvPr/>
            </p:nvSpPr>
            <p:spPr bwMode="auto">
              <a:xfrm>
                <a:off x="816" y="1045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5405" name="Oval 61"/>
              <p:cNvSpPr>
                <a:spLocks noChangeArrowheads="1"/>
              </p:cNvSpPr>
              <p:nvPr/>
            </p:nvSpPr>
            <p:spPr bwMode="auto">
              <a:xfrm>
                <a:off x="288" y="1607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5406" name="Line 62"/>
              <p:cNvSpPr>
                <a:spLocks noChangeShapeType="1"/>
              </p:cNvSpPr>
              <p:nvPr/>
            </p:nvSpPr>
            <p:spPr bwMode="auto">
              <a:xfrm flipH="1">
                <a:off x="624" y="1454"/>
                <a:ext cx="336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7" name="Text Box 63"/>
              <p:cNvSpPr txBox="1">
                <a:spLocks noChangeArrowheads="1"/>
              </p:cNvSpPr>
              <p:nvPr/>
            </p:nvSpPr>
            <p:spPr bwMode="auto">
              <a:xfrm>
                <a:off x="912" y="109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408" name="Text Box 64"/>
              <p:cNvSpPr txBox="1">
                <a:spLocks noChangeArrowheads="1"/>
              </p:cNvSpPr>
              <p:nvPr/>
            </p:nvSpPr>
            <p:spPr bwMode="auto">
              <a:xfrm>
                <a:off x="384" y="165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0.8</a:t>
                </a:r>
              </a:p>
            </p:txBody>
          </p:sp>
        </p:grpSp>
        <p:sp>
          <p:nvSpPr>
            <p:cNvPr id="15403" name="Line 65"/>
            <p:cNvSpPr>
              <a:spLocks noChangeShapeType="1"/>
            </p:cNvSpPr>
            <p:nvPr/>
          </p:nvSpPr>
          <p:spPr bwMode="auto">
            <a:xfrm flipH="1">
              <a:off x="768" y="2976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4914" name="Group 66"/>
          <p:cNvGrpSpPr>
            <a:grpSpLocks/>
          </p:cNvGrpSpPr>
          <p:nvPr/>
        </p:nvGrpSpPr>
        <p:grpSpPr bwMode="auto">
          <a:xfrm>
            <a:off x="3657600" y="5715000"/>
            <a:ext cx="990600" cy="877888"/>
            <a:chOff x="1344" y="3600"/>
            <a:chExt cx="624" cy="553"/>
          </a:xfrm>
        </p:grpSpPr>
        <p:grpSp>
          <p:nvGrpSpPr>
            <p:cNvPr id="15398" name="Group 67"/>
            <p:cNvGrpSpPr>
              <a:grpSpLocks/>
            </p:cNvGrpSpPr>
            <p:nvPr/>
          </p:nvGrpSpPr>
          <p:grpSpPr bwMode="auto">
            <a:xfrm>
              <a:off x="1344" y="3744"/>
              <a:ext cx="624" cy="409"/>
              <a:chOff x="1152" y="1556"/>
              <a:chExt cx="624" cy="409"/>
            </a:xfrm>
          </p:grpSpPr>
          <p:sp>
            <p:nvSpPr>
              <p:cNvPr id="15400" name="Oval 68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5401" name="Text Box 69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15399" name="Line 70"/>
            <p:cNvSpPr>
              <a:spLocks noChangeShapeType="1"/>
            </p:cNvSpPr>
            <p:nvPr/>
          </p:nvSpPr>
          <p:spPr bwMode="auto">
            <a:xfrm flipH="1">
              <a:off x="1632" y="360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4919" name="Group 71"/>
          <p:cNvGrpSpPr>
            <a:grpSpLocks/>
          </p:cNvGrpSpPr>
          <p:nvPr/>
        </p:nvGrpSpPr>
        <p:grpSpPr bwMode="auto">
          <a:xfrm>
            <a:off x="4876800" y="5715001"/>
            <a:ext cx="1143000" cy="811213"/>
            <a:chOff x="1056" y="1454"/>
            <a:chExt cx="720" cy="511"/>
          </a:xfrm>
        </p:grpSpPr>
        <p:sp>
          <p:nvSpPr>
            <p:cNvPr id="15394" name="Line 72"/>
            <p:cNvSpPr>
              <a:spLocks noChangeShapeType="1"/>
            </p:cNvSpPr>
            <p:nvPr/>
          </p:nvSpPr>
          <p:spPr bwMode="auto">
            <a:xfrm>
              <a:off x="1056" y="1454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95" name="Group 73"/>
            <p:cNvGrpSpPr>
              <a:grpSpLocks/>
            </p:cNvGrpSpPr>
            <p:nvPr/>
          </p:nvGrpSpPr>
          <p:grpSpPr bwMode="auto">
            <a:xfrm>
              <a:off x="1152" y="1556"/>
              <a:ext cx="624" cy="409"/>
              <a:chOff x="1152" y="1556"/>
              <a:chExt cx="624" cy="409"/>
            </a:xfrm>
          </p:grpSpPr>
          <p:sp>
            <p:nvSpPr>
              <p:cNvPr id="15396" name="Oval 74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5397" name="Text Box 75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</p:grpSp>
      <p:sp>
        <p:nvSpPr>
          <p:cNvPr id="334924" name="Text Box 76"/>
          <p:cNvSpPr txBox="1">
            <a:spLocks noChangeArrowheads="1"/>
          </p:cNvSpPr>
          <p:nvPr/>
        </p:nvSpPr>
        <p:spPr bwMode="auto">
          <a:xfrm>
            <a:off x="5867400" y="57912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After rotation</a:t>
            </a:r>
          </a:p>
        </p:txBody>
      </p:sp>
      <p:sp>
        <p:nvSpPr>
          <p:cNvPr id="15392" name="Line 77"/>
          <p:cNvSpPr>
            <a:spLocks noChangeShapeType="1"/>
          </p:cNvSpPr>
          <p:nvPr/>
        </p:nvSpPr>
        <p:spPr bwMode="auto">
          <a:xfrm>
            <a:off x="5410200" y="1219200"/>
            <a:ext cx="9906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3" name="Line 78"/>
          <p:cNvSpPr>
            <a:spLocks noChangeShapeType="1"/>
          </p:cNvSpPr>
          <p:nvPr/>
        </p:nvSpPr>
        <p:spPr bwMode="auto">
          <a:xfrm flipH="1">
            <a:off x="4876800" y="4114800"/>
            <a:ext cx="762000" cy="5334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64" grpId="0" autoUpdateAnimBg="0"/>
      <p:bldP spid="33492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Double rotation</a:t>
            </a: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2743200" y="1371601"/>
            <a:ext cx="701040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new key is inserted in the subtree B1 or B2. 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AVL-property is violated at x.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x-y-z forms a zig-zag shape</a:t>
            </a:r>
          </a:p>
        </p:txBody>
      </p:sp>
      <p:grpSp>
        <p:nvGrpSpPr>
          <p:cNvPr id="16388" name="Group 14"/>
          <p:cNvGrpSpPr>
            <a:grpSpLocks/>
          </p:cNvGrpSpPr>
          <p:nvPr/>
        </p:nvGrpSpPr>
        <p:grpSpPr bwMode="auto">
          <a:xfrm>
            <a:off x="2590800" y="3200400"/>
            <a:ext cx="7467600" cy="3276600"/>
            <a:chOff x="720" y="2274"/>
            <a:chExt cx="4265" cy="1710"/>
          </a:xfrm>
        </p:grpSpPr>
        <p:graphicFrame>
          <p:nvGraphicFramePr>
            <p:cNvPr id="16390" name="Object 3"/>
            <p:cNvGraphicFramePr>
              <a:graphicFrameLocks noChangeAspect="1"/>
            </p:cNvGraphicFramePr>
            <p:nvPr/>
          </p:nvGraphicFramePr>
          <p:xfrm>
            <a:off x="720" y="2274"/>
            <a:ext cx="4265" cy="1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771429" imgH="2715004" progId="Paint.Picture">
                    <p:embed/>
                  </p:oleObj>
                </mc:Choice>
                <mc:Fallback>
                  <p:oleObj name="Bitmap Image" r:id="rId2" imgW="6771429" imgH="2715004" progId="Paint.Picture">
                    <p:embed/>
                    <p:pic>
                      <p:nvPicPr>
                        <p:cNvPr id="1639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274"/>
                          <a:ext cx="4265" cy="17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1552" y="2506"/>
              <a:ext cx="144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6392" name="Line 9"/>
            <p:cNvSpPr>
              <a:spLocks noChangeShapeType="1"/>
            </p:cNvSpPr>
            <p:nvPr/>
          </p:nvSpPr>
          <p:spPr bwMode="auto">
            <a:xfrm flipH="1">
              <a:off x="1440" y="2610"/>
              <a:ext cx="144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Line 10"/>
            <p:cNvSpPr>
              <a:spLocks noChangeShapeType="1"/>
            </p:cNvSpPr>
            <p:nvPr/>
          </p:nvSpPr>
          <p:spPr bwMode="auto">
            <a:xfrm>
              <a:off x="1440" y="2898"/>
              <a:ext cx="48" cy="9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89" name="Text Box 13"/>
          <p:cNvSpPr txBox="1">
            <a:spLocks noChangeArrowheads="1"/>
          </p:cNvSpPr>
          <p:nvPr/>
        </p:nvSpPr>
        <p:spPr bwMode="auto">
          <a:xfrm>
            <a:off x="4572001" y="6461125"/>
            <a:ext cx="31886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/>
              <a:t>also called left-right rotate </a:t>
            </a:r>
          </a:p>
        </p:txBody>
      </p:sp>
    </p:spTree>
    <p:extLst>
      <p:ext uri="{BB962C8B-B14F-4D97-AF65-F5344CB8AC3E}">
        <p14:creationId xmlns:p14="http://schemas.microsoft.com/office/powerpoint/2010/main" val="2734403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Double rotation</a:t>
            </a:r>
          </a:p>
        </p:txBody>
      </p:sp>
      <p:grpSp>
        <p:nvGrpSpPr>
          <p:cNvPr id="17411" name="Group 15"/>
          <p:cNvGrpSpPr>
            <a:grpSpLocks/>
          </p:cNvGrpSpPr>
          <p:nvPr/>
        </p:nvGrpSpPr>
        <p:grpSpPr bwMode="auto">
          <a:xfrm>
            <a:off x="2209800" y="2667000"/>
            <a:ext cx="7696200" cy="3219450"/>
            <a:chOff x="672" y="1872"/>
            <a:chExt cx="4345" cy="1740"/>
          </a:xfrm>
        </p:grpSpPr>
        <p:graphicFrame>
          <p:nvGraphicFramePr>
            <p:cNvPr id="17414" name="Object 4"/>
            <p:cNvGraphicFramePr>
              <a:graphicFrameLocks noChangeAspect="1"/>
            </p:cNvGraphicFramePr>
            <p:nvPr/>
          </p:nvGraphicFramePr>
          <p:xfrm>
            <a:off x="672" y="1872"/>
            <a:ext cx="4345" cy="1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897063" imgH="2762636" progId="Paint.Picture">
                    <p:embed/>
                  </p:oleObj>
                </mc:Choice>
                <mc:Fallback>
                  <p:oleObj name="Bitmap Image" r:id="rId2" imgW="6897063" imgH="2762636" progId="Paint.Picture">
                    <p:embed/>
                    <p:pic>
                      <p:nvPicPr>
                        <p:cNvPr id="1741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872"/>
                          <a:ext cx="4345" cy="17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Oval 5"/>
            <p:cNvSpPr>
              <a:spLocks noChangeArrowheads="1"/>
            </p:cNvSpPr>
            <p:nvPr/>
          </p:nvSpPr>
          <p:spPr bwMode="auto">
            <a:xfrm>
              <a:off x="1248" y="2136"/>
              <a:ext cx="144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7416" name="Line 11"/>
            <p:cNvSpPr>
              <a:spLocks noChangeShapeType="1"/>
            </p:cNvSpPr>
            <p:nvPr/>
          </p:nvSpPr>
          <p:spPr bwMode="auto">
            <a:xfrm>
              <a:off x="1392" y="2220"/>
              <a:ext cx="288" cy="1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Line 12"/>
            <p:cNvSpPr>
              <a:spLocks noChangeShapeType="1"/>
            </p:cNvSpPr>
            <p:nvPr/>
          </p:nvSpPr>
          <p:spPr bwMode="auto">
            <a:xfrm flipH="1">
              <a:off x="1536" y="2508"/>
              <a:ext cx="144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2" name="Text Box 13"/>
          <p:cNvSpPr txBox="1">
            <a:spLocks noChangeArrowheads="1"/>
          </p:cNvSpPr>
          <p:nvPr/>
        </p:nvSpPr>
        <p:spPr bwMode="auto">
          <a:xfrm>
            <a:off x="2667000" y="1600201"/>
            <a:ext cx="70104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new key is inserted in the subtree B1 or B2. </a:t>
            </a:r>
          </a:p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400"/>
              <a:t>The AVL-property is violated at x.</a:t>
            </a:r>
          </a:p>
        </p:txBody>
      </p:sp>
      <p:sp>
        <p:nvSpPr>
          <p:cNvPr id="17413" name="Text Box 14"/>
          <p:cNvSpPr txBox="1">
            <a:spLocks noChangeArrowheads="1"/>
          </p:cNvSpPr>
          <p:nvPr/>
        </p:nvSpPr>
        <p:spPr bwMode="auto">
          <a:xfrm>
            <a:off x="4267201" y="5867400"/>
            <a:ext cx="31886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/>
              <a:t>also called right-left rotate </a:t>
            </a:r>
          </a:p>
        </p:txBody>
      </p:sp>
    </p:spTree>
    <p:extLst>
      <p:ext uri="{BB962C8B-B14F-4D97-AF65-F5344CB8AC3E}">
        <p14:creationId xmlns:p14="http://schemas.microsoft.com/office/powerpoint/2010/main" val="2532034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2"/>
          <p:cNvSpPr>
            <a:spLocks noChangeArrowheads="1"/>
          </p:cNvSpPr>
          <p:nvPr/>
        </p:nvSpPr>
        <p:spPr bwMode="auto">
          <a:xfrm>
            <a:off x="4114800" y="685800"/>
            <a:ext cx="685800" cy="6492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 flipH="1">
            <a:off x="3429000" y="1219201"/>
            <a:ext cx="76200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191000" y="685801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grpSp>
        <p:nvGrpSpPr>
          <p:cNvPr id="18437" name="Group 5"/>
          <p:cNvGrpSpPr>
            <a:grpSpLocks/>
          </p:cNvGrpSpPr>
          <p:nvPr/>
        </p:nvGrpSpPr>
        <p:grpSpPr bwMode="auto">
          <a:xfrm>
            <a:off x="1981200" y="1658938"/>
            <a:ext cx="2209800" cy="1541462"/>
            <a:chOff x="288" y="1045"/>
            <a:chExt cx="1392" cy="971"/>
          </a:xfrm>
        </p:grpSpPr>
        <p:sp>
          <p:nvSpPr>
            <p:cNvPr id="18507" name="Oval 6"/>
            <p:cNvSpPr>
              <a:spLocks noChangeArrowheads="1"/>
            </p:cNvSpPr>
            <p:nvPr/>
          </p:nvSpPr>
          <p:spPr bwMode="auto">
            <a:xfrm>
              <a:off x="816" y="1045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508" name="Oval 7"/>
            <p:cNvSpPr>
              <a:spLocks noChangeArrowheads="1"/>
            </p:cNvSpPr>
            <p:nvPr/>
          </p:nvSpPr>
          <p:spPr bwMode="auto">
            <a:xfrm>
              <a:off x="288" y="1607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509" name="Line 8"/>
            <p:cNvSpPr>
              <a:spLocks noChangeShapeType="1"/>
            </p:cNvSpPr>
            <p:nvPr/>
          </p:nvSpPr>
          <p:spPr bwMode="auto">
            <a:xfrm flipH="1">
              <a:off x="624" y="1454"/>
              <a:ext cx="336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Text Box 9"/>
            <p:cNvSpPr txBox="1">
              <a:spLocks noChangeArrowheads="1"/>
            </p:cNvSpPr>
            <p:nvPr/>
          </p:nvSpPr>
          <p:spPr bwMode="auto">
            <a:xfrm>
              <a:off x="912" y="109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11" name="Text Box 10"/>
            <p:cNvSpPr txBox="1">
              <a:spLocks noChangeArrowheads="1"/>
            </p:cNvSpPr>
            <p:nvPr/>
          </p:nvSpPr>
          <p:spPr bwMode="auto">
            <a:xfrm>
              <a:off x="384" y="1658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8438" name="Group 11"/>
          <p:cNvGrpSpPr>
            <a:grpSpLocks/>
          </p:cNvGrpSpPr>
          <p:nvPr/>
        </p:nvGrpSpPr>
        <p:grpSpPr bwMode="auto">
          <a:xfrm>
            <a:off x="3200400" y="2308226"/>
            <a:ext cx="1143000" cy="811213"/>
            <a:chOff x="1056" y="1454"/>
            <a:chExt cx="720" cy="511"/>
          </a:xfrm>
        </p:grpSpPr>
        <p:sp>
          <p:nvSpPr>
            <p:cNvPr id="18503" name="Line 12"/>
            <p:cNvSpPr>
              <a:spLocks noChangeShapeType="1"/>
            </p:cNvSpPr>
            <p:nvPr/>
          </p:nvSpPr>
          <p:spPr bwMode="auto">
            <a:xfrm>
              <a:off x="1056" y="1454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04" name="Group 13"/>
            <p:cNvGrpSpPr>
              <a:grpSpLocks/>
            </p:cNvGrpSpPr>
            <p:nvPr/>
          </p:nvGrpSpPr>
          <p:grpSpPr bwMode="auto">
            <a:xfrm>
              <a:off x="1152" y="1556"/>
              <a:ext cx="624" cy="409"/>
              <a:chOff x="1152" y="1556"/>
              <a:chExt cx="624" cy="409"/>
            </a:xfrm>
          </p:grpSpPr>
          <p:sp>
            <p:nvSpPr>
              <p:cNvPr id="18505" name="Oval 14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506" name="Text Box 15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336912" name="Text Box 16"/>
          <p:cNvSpPr txBox="1">
            <a:spLocks noChangeArrowheads="1"/>
          </p:cNvSpPr>
          <p:nvPr/>
        </p:nvSpPr>
        <p:spPr bwMode="auto">
          <a:xfrm>
            <a:off x="6934200" y="3886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Insert 3.5</a:t>
            </a:r>
          </a:p>
        </p:txBody>
      </p:sp>
      <p:sp>
        <p:nvSpPr>
          <p:cNvPr id="18440" name="Text Box 17"/>
          <p:cNvSpPr txBox="1">
            <a:spLocks noChangeArrowheads="1"/>
          </p:cNvSpPr>
          <p:nvPr/>
        </p:nvSpPr>
        <p:spPr bwMode="auto">
          <a:xfrm>
            <a:off x="1905000" y="685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AVL Tree</a:t>
            </a:r>
          </a:p>
        </p:txBody>
      </p:sp>
      <p:sp>
        <p:nvSpPr>
          <p:cNvPr id="18441" name="Oval 18"/>
          <p:cNvSpPr>
            <a:spLocks noChangeArrowheads="1"/>
          </p:cNvSpPr>
          <p:nvPr/>
        </p:nvSpPr>
        <p:spPr bwMode="auto">
          <a:xfrm>
            <a:off x="4495800" y="1676400"/>
            <a:ext cx="6858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8442" name="Text Box 19"/>
          <p:cNvSpPr txBox="1">
            <a:spLocks noChangeArrowheads="1"/>
          </p:cNvSpPr>
          <p:nvPr/>
        </p:nvSpPr>
        <p:spPr bwMode="auto">
          <a:xfrm>
            <a:off x="4572000" y="167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8443" name="Line 20"/>
          <p:cNvSpPr>
            <a:spLocks noChangeShapeType="1"/>
          </p:cNvSpPr>
          <p:nvPr/>
        </p:nvSpPr>
        <p:spPr bwMode="auto">
          <a:xfrm>
            <a:off x="4648200" y="1295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6917" name="Group 21"/>
          <p:cNvGrpSpPr>
            <a:grpSpLocks/>
          </p:cNvGrpSpPr>
          <p:nvPr/>
        </p:nvGrpSpPr>
        <p:grpSpPr bwMode="auto">
          <a:xfrm>
            <a:off x="6400800" y="457200"/>
            <a:ext cx="3657600" cy="3316288"/>
            <a:chOff x="3072" y="288"/>
            <a:chExt cx="2304" cy="2089"/>
          </a:xfrm>
        </p:grpSpPr>
        <p:sp>
          <p:nvSpPr>
            <p:cNvPr id="18485" name="Oval 22"/>
            <p:cNvSpPr>
              <a:spLocks noChangeArrowheads="1"/>
            </p:cNvSpPr>
            <p:nvPr/>
          </p:nvSpPr>
          <p:spPr bwMode="auto">
            <a:xfrm>
              <a:off x="3696" y="1968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86" name="Text Box 23"/>
            <p:cNvSpPr txBox="1">
              <a:spLocks noChangeArrowheads="1"/>
            </p:cNvSpPr>
            <p:nvPr/>
          </p:nvSpPr>
          <p:spPr bwMode="auto">
            <a:xfrm>
              <a:off x="3744" y="201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3.5</a:t>
              </a:r>
            </a:p>
          </p:txBody>
        </p:sp>
        <p:grpSp>
          <p:nvGrpSpPr>
            <p:cNvPr id="18487" name="Group 24"/>
            <p:cNvGrpSpPr>
              <a:grpSpLocks/>
            </p:cNvGrpSpPr>
            <p:nvPr/>
          </p:nvGrpSpPr>
          <p:grpSpPr bwMode="auto">
            <a:xfrm>
              <a:off x="3072" y="288"/>
              <a:ext cx="2304" cy="1584"/>
              <a:chOff x="192" y="2256"/>
              <a:chExt cx="2304" cy="1584"/>
            </a:xfrm>
          </p:grpSpPr>
          <p:sp>
            <p:nvSpPr>
              <p:cNvPr id="18489" name="Oval 25"/>
              <p:cNvSpPr>
                <a:spLocks noChangeArrowheads="1"/>
              </p:cNvSpPr>
              <p:nvPr/>
            </p:nvSpPr>
            <p:spPr bwMode="auto">
              <a:xfrm>
                <a:off x="1536" y="22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90" name="Oval 26"/>
              <p:cNvSpPr>
                <a:spLocks noChangeArrowheads="1"/>
              </p:cNvSpPr>
              <p:nvPr/>
            </p:nvSpPr>
            <p:spPr bwMode="auto">
              <a:xfrm>
                <a:off x="720" y="2869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91" name="Oval 27"/>
              <p:cNvSpPr>
                <a:spLocks noChangeArrowheads="1"/>
              </p:cNvSpPr>
              <p:nvPr/>
            </p:nvSpPr>
            <p:spPr bwMode="auto">
              <a:xfrm>
                <a:off x="192" y="3431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92" name="Oval 28"/>
              <p:cNvSpPr>
                <a:spLocks noChangeArrowheads="1"/>
              </p:cNvSpPr>
              <p:nvPr/>
            </p:nvSpPr>
            <p:spPr bwMode="auto">
              <a:xfrm>
                <a:off x="1056" y="3380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93" name="Oval 29"/>
              <p:cNvSpPr>
                <a:spLocks noChangeArrowheads="1"/>
              </p:cNvSpPr>
              <p:nvPr/>
            </p:nvSpPr>
            <p:spPr bwMode="auto">
              <a:xfrm>
                <a:off x="1920" y="273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94" name="Line 30"/>
              <p:cNvSpPr>
                <a:spLocks noChangeShapeType="1"/>
              </p:cNvSpPr>
              <p:nvPr/>
            </p:nvSpPr>
            <p:spPr bwMode="auto">
              <a:xfrm flipH="1">
                <a:off x="1104" y="2592"/>
                <a:ext cx="480" cy="3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Line 31"/>
              <p:cNvSpPr>
                <a:spLocks noChangeShapeType="1"/>
              </p:cNvSpPr>
              <p:nvPr/>
            </p:nvSpPr>
            <p:spPr bwMode="auto">
              <a:xfrm>
                <a:off x="1776" y="2665"/>
                <a:ext cx="192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Line 32"/>
              <p:cNvSpPr>
                <a:spLocks noChangeShapeType="1"/>
              </p:cNvSpPr>
              <p:nvPr/>
            </p:nvSpPr>
            <p:spPr bwMode="auto">
              <a:xfrm flipH="1">
                <a:off x="528" y="3278"/>
                <a:ext cx="336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7" name="Line 33"/>
              <p:cNvSpPr>
                <a:spLocks noChangeShapeType="1"/>
              </p:cNvSpPr>
              <p:nvPr/>
            </p:nvSpPr>
            <p:spPr bwMode="auto">
              <a:xfrm>
                <a:off x="960" y="3278"/>
                <a:ext cx="240" cy="1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8" name="Text Box 34"/>
              <p:cNvSpPr txBox="1">
                <a:spLocks noChangeArrowheads="1"/>
              </p:cNvSpPr>
              <p:nvPr/>
            </p:nvSpPr>
            <p:spPr bwMode="auto">
              <a:xfrm>
                <a:off x="1584" y="225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499" name="Text Box 35"/>
              <p:cNvSpPr txBox="1">
                <a:spLocks noChangeArrowheads="1"/>
              </p:cNvSpPr>
              <p:nvPr/>
            </p:nvSpPr>
            <p:spPr bwMode="auto">
              <a:xfrm>
                <a:off x="816" y="2920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500" name="Text Box 36"/>
              <p:cNvSpPr txBox="1">
                <a:spLocks noChangeArrowheads="1"/>
              </p:cNvSpPr>
              <p:nvPr/>
            </p:nvSpPr>
            <p:spPr bwMode="auto">
              <a:xfrm>
                <a:off x="288" y="3482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50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3456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8502" name="Text Box 38"/>
              <p:cNvSpPr txBox="1">
                <a:spLocks noChangeArrowheads="1"/>
              </p:cNvSpPr>
              <p:nvPr/>
            </p:nvSpPr>
            <p:spPr bwMode="auto">
              <a:xfrm>
                <a:off x="1968" y="2832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sp>
          <p:nvSpPr>
            <p:cNvPr id="18488" name="Line 39"/>
            <p:cNvSpPr>
              <a:spLocks noChangeShapeType="1"/>
            </p:cNvSpPr>
            <p:nvPr/>
          </p:nvSpPr>
          <p:spPr bwMode="auto">
            <a:xfrm flipH="1">
              <a:off x="3936" y="182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6936" name="Group 40"/>
          <p:cNvGrpSpPr>
            <a:grpSpLocks/>
          </p:cNvGrpSpPr>
          <p:nvPr/>
        </p:nvGrpSpPr>
        <p:grpSpPr bwMode="auto">
          <a:xfrm>
            <a:off x="2895600" y="4114800"/>
            <a:ext cx="2057400" cy="609600"/>
            <a:chOff x="3792" y="1824"/>
            <a:chExt cx="1296" cy="384"/>
          </a:xfrm>
        </p:grpSpPr>
        <p:sp>
          <p:nvSpPr>
            <p:cNvPr id="18483" name="Oval 41"/>
            <p:cNvSpPr>
              <a:spLocks noChangeArrowheads="1"/>
            </p:cNvSpPr>
            <p:nvPr/>
          </p:nvSpPr>
          <p:spPr bwMode="auto">
            <a:xfrm>
              <a:off x="3792" y="1824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84" name="Text Box 42"/>
            <p:cNvSpPr txBox="1">
              <a:spLocks noChangeArrowheads="1"/>
            </p:cNvSpPr>
            <p:nvPr/>
          </p:nvSpPr>
          <p:spPr bwMode="auto">
            <a:xfrm>
              <a:off x="3888" y="1920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336939" name="Group 43"/>
          <p:cNvGrpSpPr>
            <a:grpSpLocks/>
          </p:cNvGrpSpPr>
          <p:nvPr/>
        </p:nvGrpSpPr>
        <p:grpSpPr bwMode="auto">
          <a:xfrm>
            <a:off x="3505200" y="4648200"/>
            <a:ext cx="1447800" cy="1143000"/>
            <a:chOff x="4272" y="2016"/>
            <a:chExt cx="912" cy="720"/>
          </a:xfrm>
        </p:grpSpPr>
        <p:sp>
          <p:nvSpPr>
            <p:cNvPr id="18480" name="Oval 44"/>
            <p:cNvSpPr>
              <a:spLocks noChangeArrowheads="1"/>
            </p:cNvSpPr>
            <p:nvPr/>
          </p:nvSpPr>
          <p:spPr bwMode="auto">
            <a:xfrm>
              <a:off x="4704" y="2352"/>
              <a:ext cx="48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81" name="Text Box 45"/>
            <p:cNvSpPr txBox="1">
              <a:spLocks noChangeArrowheads="1"/>
            </p:cNvSpPr>
            <p:nvPr/>
          </p:nvSpPr>
          <p:spPr bwMode="auto">
            <a:xfrm>
              <a:off x="4704" y="235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82" name="Line 46"/>
            <p:cNvSpPr>
              <a:spLocks noChangeShapeType="1"/>
            </p:cNvSpPr>
            <p:nvPr/>
          </p:nvSpPr>
          <p:spPr bwMode="auto">
            <a:xfrm>
              <a:off x="4272" y="2016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47" name="Oval 48"/>
          <p:cNvSpPr>
            <a:spLocks noChangeArrowheads="1"/>
          </p:cNvSpPr>
          <p:nvPr/>
        </p:nvSpPr>
        <p:spPr bwMode="auto">
          <a:xfrm>
            <a:off x="1524000" y="6208714"/>
            <a:ext cx="685800" cy="6492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8448" name="Line 49"/>
          <p:cNvSpPr>
            <a:spLocks noChangeShapeType="1"/>
          </p:cNvSpPr>
          <p:nvPr/>
        </p:nvSpPr>
        <p:spPr bwMode="auto">
          <a:xfrm flipH="1">
            <a:off x="2057400" y="5965825"/>
            <a:ext cx="533400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Text Box 50"/>
          <p:cNvSpPr txBox="1">
            <a:spLocks noChangeArrowheads="1"/>
          </p:cNvSpPr>
          <p:nvPr/>
        </p:nvSpPr>
        <p:spPr bwMode="auto">
          <a:xfrm>
            <a:off x="1676400" y="6289676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336947" name="Group 51"/>
          <p:cNvGrpSpPr>
            <a:grpSpLocks/>
          </p:cNvGrpSpPr>
          <p:nvPr/>
        </p:nvGrpSpPr>
        <p:grpSpPr bwMode="auto">
          <a:xfrm>
            <a:off x="2362200" y="4724401"/>
            <a:ext cx="1371600" cy="1241425"/>
            <a:chOff x="528" y="2976"/>
            <a:chExt cx="864" cy="782"/>
          </a:xfrm>
        </p:grpSpPr>
        <p:sp>
          <p:nvSpPr>
            <p:cNvPr id="18477" name="Oval 52"/>
            <p:cNvSpPr>
              <a:spLocks noChangeArrowheads="1"/>
            </p:cNvSpPr>
            <p:nvPr/>
          </p:nvSpPr>
          <p:spPr bwMode="auto">
            <a:xfrm>
              <a:off x="528" y="3349"/>
              <a:ext cx="432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78" name="Text Box 53"/>
            <p:cNvSpPr txBox="1">
              <a:spLocks noChangeArrowheads="1"/>
            </p:cNvSpPr>
            <p:nvPr/>
          </p:nvSpPr>
          <p:spPr bwMode="auto">
            <a:xfrm>
              <a:off x="624" y="340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79" name="Line 54"/>
            <p:cNvSpPr>
              <a:spLocks noChangeShapeType="1"/>
            </p:cNvSpPr>
            <p:nvPr/>
          </p:nvSpPr>
          <p:spPr bwMode="auto">
            <a:xfrm flipH="1">
              <a:off x="768" y="2976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6951" name="Group 55"/>
          <p:cNvGrpSpPr>
            <a:grpSpLocks/>
          </p:cNvGrpSpPr>
          <p:nvPr/>
        </p:nvGrpSpPr>
        <p:grpSpPr bwMode="auto">
          <a:xfrm>
            <a:off x="2971800" y="5867401"/>
            <a:ext cx="1143000" cy="811213"/>
            <a:chOff x="1056" y="1454"/>
            <a:chExt cx="720" cy="511"/>
          </a:xfrm>
        </p:grpSpPr>
        <p:sp>
          <p:nvSpPr>
            <p:cNvPr id="18473" name="Line 56"/>
            <p:cNvSpPr>
              <a:spLocks noChangeShapeType="1"/>
            </p:cNvSpPr>
            <p:nvPr/>
          </p:nvSpPr>
          <p:spPr bwMode="auto">
            <a:xfrm>
              <a:off x="1056" y="1454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74" name="Group 57"/>
            <p:cNvGrpSpPr>
              <a:grpSpLocks/>
            </p:cNvGrpSpPr>
            <p:nvPr/>
          </p:nvGrpSpPr>
          <p:grpSpPr bwMode="auto">
            <a:xfrm>
              <a:off x="1152" y="1556"/>
              <a:ext cx="624" cy="409"/>
              <a:chOff x="1152" y="1556"/>
              <a:chExt cx="624" cy="409"/>
            </a:xfrm>
          </p:grpSpPr>
          <p:sp>
            <p:nvSpPr>
              <p:cNvPr id="18475" name="Oval 58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76" name="Text Box 59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3.5</a:t>
                </a:r>
              </a:p>
            </p:txBody>
          </p:sp>
        </p:grpSp>
      </p:grpSp>
      <p:sp>
        <p:nvSpPr>
          <p:cNvPr id="336956" name="Text Box 60"/>
          <p:cNvSpPr txBox="1">
            <a:spLocks noChangeArrowheads="1"/>
          </p:cNvSpPr>
          <p:nvPr/>
        </p:nvSpPr>
        <p:spPr bwMode="auto">
          <a:xfrm>
            <a:off x="5867400" y="60198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After Rotation</a:t>
            </a:r>
          </a:p>
        </p:txBody>
      </p:sp>
      <p:grpSp>
        <p:nvGrpSpPr>
          <p:cNvPr id="336957" name="Group 61"/>
          <p:cNvGrpSpPr>
            <a:grpSpLocks/>
          </p:cNvGrpSpPr>
          <p:nvPr/>
        </p:nvGrpSpPr>
        <p:grpSpPr bwMode="auto">
          <a:xfrm>
            <a:off x="5638800" y="228600"/>
            <a:ext cx="5029200" cy="3657600"/>
            <a:chOff x="2592" y="144"/>
            <a:chExt cx="3168" cy="2304"/>
          </a:xfrm>
        </p:grpSpPr>
        <p:sp>
          <p:nvSpPr>
            <p:cNvPr id="18461" name="Rectangle 62"/>
            <p:cNvSpPr>
              <a:spLocks noChangeArrowheads="1"/>
            </p:cNvSpPr>
            <p:nvPr/>
          </p:nvSpPr>
          <p:spPr bwMode="auto">
            <a:xfrm>
              <a:off x="4176" y="144"/>
              <a:ext cx="1152" cy="528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62" name="Text Box 63"/>
            <p:cNvSpPr txBox="1">
              <a:spLocks noChangeArrowheads="1"/>
            </p:cNvSpPr>
            <p:nvPr/>
          </p:nvSpPr>
          <p:spPr bwMode="auto">
            <a:xfrm>
              <a:off x="4896" y="2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8463" name="Rectangle 64"/>
            <p:cNvSpPr>
              <a:spLocks noChangeArrowheads="1"/>
            </p:cNvSpPr>
            <p:nvPr/>
          </p:nvSpPr>
          <p:spPr bwMode="auto">
            <a:xfrm>
              <a:off x="3072" y="768"/>
              <a:ext cx="1152" cy="528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64" name="Text Box 65"/>
            <p:cNvSpPr txBox="1">
              <a:spLocks noChangeArrowheads="1"/>
            </p:cNvSpPr>
            <p:nvPr/>
          </p:nvSpPr>
          <p:spPr bwMode="auto">
            <a:xfrm>
              <a:off x="3360" y="7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465" name="Rectangle 66"/>
            <p:cNvSpPr>
              <a:spLocks noChangeArrowheads="1"/>
            </p:cNvSpPr>
            <p:nvPr/>
          </p:nvSpPr>
          <p:spPr bwMode="auto">
            <a:xfrm>
              <a:off x="2592" y="1344"/>
              <a:ext cx="1152" cy="528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66" name="Text Box 67"/>
            <p:cNvSpPr txBox="1">
              <a:spLocks noChangeArrowheads="1"/>
            </p:cNvSpPr>
            <p:nvPr/>
          </p:nvSpPr>
          <p:spPr bwMode="auto">
            <a:xfrm>
              <a:off x="2736" y="148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67" name="Rectangle 68"/>
            <p:cNvSpPr>
              <a:spLocks noChangeArrowheads="1"/>
            </p:cNvSpPr>
            <p:nvPr/>
          </p:nvSpPr>
          <p:spPr bwMode="auto">
            <a:xfrm>
              <a:off x="3840" y="1392"/>
              <a:ext cx="1008" cy="432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68" name="Text Box 69"/>
            <p:cNvSpPr txBox="1">
              <a:spLocks noChangeArrowheads="1"/>
            </p:cNvSpPr>
            <p:nvPr/>
          </p:nvSpPr>
          <p:spPr bwMode="auto">
            <a:xfrm>
              <a:off x="4464" y="148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8469" name="Rectangle 70"/>
            <p:cNvSpPr>
              <a:spLocks noChangeArrowheads="1"/>
            </p:cNvSpPr>
            <p:nvPr/>
          </p:nvSpPr>
          <p:spPr bwMode="auto">
            <a:xfrm>
              <a:off x="3312" y="1920"/>
              <a:ext cx="960" cy="528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70" name="Text Box 71"/>
            <p:cNvSpPr txBox="1">
              <a:spLocks noChangeArrowheads="1"/>
            </p:cNvSpPr>
            <p:nvPr/>
          </p:nvSpPr>
          <p:spPr bwMode="auto">
            <a:xfrm>
              <a:off x="3312" y="201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71" name="Rectangle 72"/>
            <p:cNvSpPr>
              <a:spLocks noChangeArrowheads="1"/>
            </p:cNvSpPr>
            <p:nvPr/>
          </p:nvSpPr>
          <p:spPr bwMode="auto">
            <a:xfrm>
              <a:off x="4800" y="720"/>
              <a:ext cx="960" cy="528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chemeClr val="tx2"/>
                </a:buClr>
                <a:buFont typeface="Monotype Sorts" pitchFamily="2" charset="2"/>
                <a:buChar char="l"/>
              </a:pPr>
              <a:endParaRPr lang="en-US" altLang="en-US" sz="2000"/>
            </a:p>
          </p:txBody>
        </p:sp>
        <p:sp>
          <p:nvSpPr>
            <p:cNvPr id="18472" name="Text Box 73"/>
            <p:cNvSpPr txBox="1">
              <a:spLocks noChangeArrowheads="1"/>
            </p:cNvSpPr>
            <p:nvPr/>
          </p:nvSpPr>
          <p:spPr bwMode="auto">
            <a:xfrm>
              <a:off x="5376" y="6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36970" name="Group 74"/>
          <p:cNvGrpSpPr>
            <a:grpSpLocks/>
          </p:cNvGrpSpPr>
          <p:nvPr/>
        </p:nvGrpSpPr>
        <p:grpSpPr bwMode="auto">
          <a:xfrm>
            <a:off x="4724400" y="5791201"/>
            <a:ext cx="1143000" cy="811213"/>
            <a:chOff x="1056" y="1454"/>
            <a:chExt cx="720" cy="511"/>
          </a:xfrm>
        </p:grpSpPr>
        <p:sp>
          <p:nvSpPr>
            <p:cNvPr id="18457" name="Line 75"/>
            <p:cNvSpPr>
              <a:spLocks noChangeShapeType="1"/>
            </p:cNvSpPr>
            <p:nvPr/>
          </p:nvSpPr>
          <p:spPr bwMode="auto">
            <a:xfrm>
              <a:off x="1056" y="1454"/>
              <a:ext cx="24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58" name="Group 76"/>
            <p:cNvGrpSpPr>
              <a:grpSpLocks/>
            </p:cNvGrpSpPr>
            <p:nvPr/>
          </p:nvGrpSpPr>
          <p:grpSpPr bwMode="auto">
            <a:xfrm>
              <a:off x="1152" y="1556"/>
              <a:ext cx="624" cy="409"/>
              <a:chOff x="1152" y="1556"/>
              <a:chExt cx="624" cy="409"/>
            </a:xfrm>
          </p:grpSpPr>
          <p:sp>
            <p:nvSpPr>
              <p:cNvPr id="18459" name="Oval 77"/>
              <p:cNvSpPr>
                <a:spLocks noChangeArrowheads="1"/>
              </p:cNvSpPr>
              <p:nvPr/>
            </p:nvSpPr>
            <p:spPr bwMode="auto">
              <a:xfrm>
                <a:off x="1152" y="155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8460" name="Text Box 78"/>
              <p:cNvSpPr txBox="1">
                <a:spLocks noChangeArrowheads="1"/>
              </p:cNvSpPr>
              <p:nvPr/>
            </p:nvSpPr>
            <p:spPr bwMode="auto">
              <a:xfrm>
                <a:off x="1200" y="1632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</p:grpSp>
      <p:sp>
        <p:nvSpPr>
          <p:cNvPr id="18455" name="Line 79"/>
          <p:cNvSpPr>
            <a:spLocks noChangeShapeType="1"/>
          </p:cNvSpPr>
          <p:nvPr/>
        </p:nvSpPr>
        <p:spPr bwMode="auto">
          <a:xfrm flipV="1">
            <a:off x="5257800" y="914400"/>
            <a:ext cx="1066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80"/>
          <p:cNvSpPr>
            <a:spLocks noChangeShapeType="1"/>
          </p:cNvSpPr>
          <p:nvPr/>
        </p:nvSpPr>
        <p:spPr bwMode="auto">
          <a:xfrm flipH="1">
            <a:off x="5181600" y="3886200"/>
            <a:ext cx="990600" cy="762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12" grpId="0" autoUpdateAnimBg="0"/>
      <p:bldP spid="33695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Extended Example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133600" y="19812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Insert 3,2,1,4,5,6,7, 16,15,14</a:t>
            </a:r>
          </a:p>
        </p:txBody>
      </p:sp>
      <p:grpSp>
        <p:nvGrpSpPr>
          <p:cNvPr id="342020" name="Group 4"/>
          <p:cNvGrpSpPr>
            <a:grpSpLocks/>
          </p:cNvGrpSpPr>
          <p:nvPr/>
        </p:nvGrpSpPr>
        <p:grpSpPr bwMode="auto">
          <a:xfrm>
            <a:off x="2514600" y="2819401"/>
            <a:ext cx="1600200" cy="1281113"/>
            <a:chOff x="624" y="1776"/>
            <a:chExt cx="1008" cy="807"/>
          </a:xfrm>
        </p:grpSpPr>
        <p:grpSp>
          <p:nvGrpSpPr>
            <p:cNvPr id="19544" name="Group 5"/>
            <p:cNvGrpSpPr>
              <a:grpSpLocks/>
            </p:cNvGrpSpPr>
            <p:nvPr/>
          </p:nvGrpSpPr>
          <p:grpSpPr bwMode="auto">
            <a:xfrm>
              <a:off x="720" y="1776"/>
              <a:ext cx="912" cy="409"/>
              <a:chOff x="720" y="1776"/>
              <a:chExt cx="912" cy="409"/>
            </a:xfrm>
          </p:grpSpPr>
          <p:sp>
            <p:nvSpPr>
              <p:cNvPr id="19546" name="Oval 6"/>
              <p:cNvSpPr>
                <a:spLocks noChangeArrowheads="1"/>
              </p:cNvSpPr>
              <p:nvPr/>
            </p:nvSpPr>
            <p:spPr bwMode="auto">
              <a:xfrm>
                <a:off x="720" y="1776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9547" name="Text Box 7"/>
              <p:cNvSpPr txBox="1">
                <a:spLocks noChangeArrowheads="1"/>
              </p:cNvSpPr>
              <p:nvPr/>
            </p:nvSpPr>
            <p:spPr bwMode="auto">
              <a:xfrm>
                <a:off x="864" y="1872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9545" name="Text Box 8"/>
            <p:cNvSpPr txBox="1">
              <a:spLocks noChangeArrowheads="1"/>
            </p:cNvSpPr>
            <p:nvPr/>
          </p:nvSpPr>
          <p:spPr bwMode="auto">
            <a:xfrm>
              <a:off x="624" y="23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</a:t>
              </a:r>
            </a:p>
          </p:txBody>
        </p:sp>
      </p:grpSp>
      <p:grpSp>
        <p:nvGrpSpPr>
          <p:cNvPr id="342025" name="Group 9"/>
          <p:cNvGrpSpPr>
            <a:grpSpLocks/>
          </p:cNvGrpSpPr>
          <p:nvPr/>
        </p:nvGrpSpPr>
        <p:grpSpPr bwMode="auto">
          <a:xfrm>
            <a:off x="3810000" y="2667001"/>
            <a:ext cx="2209800" cy="1966913"/>
            <a:chOff x="1440" y="1680"/>
            <a:chExt cx="1392" cy="1239"/>
          </a:xfrm>
        </p:grpSpPr>
        <p:grpSp>
          <p:nvGrpSpPr>
            <p:cNvPr id="19537" name="Group 10"/>
            <p:cNvGrpSpPr>
              <a:grpSpLocks/>
            </p:cNvGrpSpPr>
            <p:nvPr/>
          </p:nvGrpSpPr>
          <p:grpSpPr bwMode="auto">
            <a:xfrm>
              <a:off x="1440" y="1680"/>
              <a:ext cx="1392" cy="971"/>
              <a:chOff x="288" y="1045"/>
              <a:chExt cx="1392" cy="971"/>
            </a:xfrm>
          </p:grpSpPr>
          <p:sp>
            <p:nvSpPr>
              <p:cNvPr id="19539" name="Oval 11"/>
              <p:cNvSpPr>
                <a:spLocks noChangeArrowheads="1"/>
              </p:cNvSpPr>
              <p:nvPr/>
            </p:nvSpPr>
            <p:spPr bwMode="auto">
              <a:xfrm>
                <a:off x="816" y="1045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9540" name="Oval 12"/>
              <p:cNvSpPr>
                <a:spLocks noChangeArrowheads="1"/>
              </p:cNvSpPr>
              <p:nvPr/>
            </p:nvSpPr>
            <p:spPr bwMode="auto">
              <a:xfrm>
                <a:off x="288" y="1607"/>
                <a:ext cx="432" cy="4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19541" name="Line 13"/>
              <p:cNvSpPr>
                <a:spLocks noChangeShapeType="1"/>
              </p:cNvSpPr>
              <p:nvPr/>
            </p:nvSpPr>
            <p:spPr bwMode="auto">
              <a:xfrm flipH="1">
                <a:off x="624" y="1454"/>
                <a:ext cx="336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2" name="Text Box 14"/>
              <p:cNvSpPr txBox="1">
                <a:spLocks noChangeArrowheads="1"/>
              </p:cNvSpPr>
              <p:nvPr/>
            </p:nvSpPr>
            <p:spPr bwMode="auto">
              <a:xfrm>
                <a:off x="912" y="109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9543" name="Text Box 15"/>
              <p:cNvSpPr txBox="1">
                <a:spLocks noChangeArrowheads="1"/>
              </p:cNvSpPr>
              <p:nvPr/>
            </p:nvSpPr>
            <p:spPr bwMode="auto">
              <a:xfrm>
                <a:off x="384" y="165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9538" name="Text Box 16"/>
            <p:cNvSpPr txBox="1">
              <a:spLocks noChangeArrowheads="1"/>
            </p:cNvSpPr>
            <p:nvPr/>
          </p:nvSpPr>
          <p:spPr bwMode="auto">
            <a:xfrm>
              <a:off x="1536" y="268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2</a:t>
              </a:r>
            </a:p>
          </p:txBody>
        </p:sp>
      </p:grpSp>
      <p:grpSp>
        <p:nvGrpSpPr>
          <p:cNvPr id="342033" name="Group 17"/>
          <p:cNvGrpSpPr>
            <a:grpSpLocks/>
          </p:cNvGrpSpPr>
          <p:nvPr/>
        </p:nvGrpSpPr>
        <p:grpSpPr bwMode="auto">
          <a:xfrm>
            <a:off x="5334000" y="2514601"/>
            <a:ext cx="2819400" cy="3109913"/>
            <a:chOff x="2400" y="1584"/>
            <a:chExt cx="1776" cy="1959"/>
          </a:xfrm>
        </p:grpSpPr>
        <p:grpSp>
          <p:nvGrpSpPr>
            <p:cNvPr id="19525" name="Group 18"/>
            <p:cNvGrpSpPr>
              <a:grpSpLocks/>
            </p:cNvGrpSpPr>
            <p:nvPr/>
          </p:nvGrpSpPr>
          <p:grpSpPr bwMode="auto">
            <a:xfrm>
              <a:off x="2400" y="1584"/>
              <a:ext cx="1776" cy="1694"/>
              <a:chOff x="2400" y="1584"/>
              <a:chExt cx="1776" cy="1694"/>
            </a:xfrm>
          </p:grpSpPr>
          <p:grpSp>
            <p:nvGrpSpPr>
              <p:cNvPr id="19527" name="Group 19"/>
              <p:cNvGrpSpPr>
                <a:grpSpLocks/>
              </p:cNvGrpSpPr>
              <p:nvPr/>
            </p:nvGrpSpPr>
            <p:grpSpPr bwMode="auto">
              <a:xfrm>
                <a:off x="2784" y="1584"/>
                <a:ext cx="1392" cy="971"/>
                <a:chOff x="288" y="1045"/>
                <a:chExt cx="1392" cy="971"/>
              </a:xfrm>
            </p:grpSpPr>
            <p:sp>
              <p:nvSpPr>
                <p:cNvPr id="19532" name="Oval 20"/>
                <p:cNvSpPr>
                  <a:spLocks noChangeArrowheads="1"/>
                </p:cNvSpPr>
                <p:nvPr/>
              </p:nvSpPr>
              <p:spPr bwMode="auto">
                <a:xfrm>
                  <a:off x="816" y="1045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33" name="Oval 21"/>
                <p:cNvSpPr>
                  <a:spLocks noChangeArrowheads="1"/>
                </p:cNvSpPr>
                <p:nvPr/>
              </p:nvSpPr>
              <p:spPr bwMode="auto">
                <a:xfrm>
                  <a:off x="288" y="1607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34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624" y="1454"/>
                  <a:ext cx="336" cy="1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912" y="1096"/>
                  <a:ext cx="76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953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84" y="1658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19528" name="Group 25"/>
              <p:cNvGrpSpPr>
                <a:grpSpLocks/>
              </p:cNvGrpSpPr>
              <p:nvPr/>
            </p:nvGrpSpPr>
            <p:grpSpPr bwMode="auto">
              <a:xfrm>
                <a:off x="2400" y="2496"/>
                <a:ext cx="864" cy="782"/>
                <a:chOff x="528" y="2976"/>
                <a:chExt cx="864" cy="782"/>
              </a:xfrm>
            </p:grpSpPr>
            <p:sp>
              <p:nvSpPr>
                <p:cNvPr id="19529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349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3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24" y="3400"/>
                  <a:ext cx="76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9531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768" y="2976"/>
                  <a:ext cx="24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526" name="Text Box 29"/>
            <p:cNvSpPr txBox="1">
              <a:spLocks noChangeArrowheads="1"/>
            </p:cNvSpPr>
            <p:nvPr/>
          </p:nvSpPr>
          <p:spPr bwMode="auto">
            <a:xfrm>
              <a:off x="2448" y="331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3</a:t>
              </a:r>
            </a:p>
          </p:txBody>
        </p:sp>
      </p:grpSp>
      <p:grpSp>
        <p:nvGrpSpPr>
          <p:cNvPr id="342046" name="Group 30"/>
          <p:cNvGrpSpPr>
            <a:grpSpLocks/>
          </p:cNvGrpSpPr>
          <p:nvPr/>
        </p:nvGrpSpPr>
        <p:grpSpPr bwMode="auto">
          <a:xfrm>
            <a:off x="7620000" y="2590801"/>
            <a:ext cx="2362200" cy="1662113"/>
            <a:chOff x="3840" y="1632"/>
            <a:chExt cx="1488" cy="1047"/>
          </a:xfrm>
        </p:grpSpPr>
        <p:grpSp>
          <p:nvGrpSpPr>
            <p:cNvPr id="19513" name="Group 31"/>
            <p:cNvGrpSpPr>
              <a:grpSpLocks/>
            </p:cNvGrpSpPr>
            <p:nvPr/>
          </p:nvGrpSpPr>
          <p:grpSpPr bwMode="auto">
            <a:xfrm>
              <a:off x="3840" y="1632"/>
              <a:ext cx="1488" cy="971"/>
              <a:chOff x="3840" y="1632"/>
              <a:chExt cx="1488" cy="971"/>
            </a:xfrm>
          </p:grpSpPr>
          <p:grpSp>
            <p:nvGrpSpPr>
              <p:cNvPr id="19515" name="Group 32"/>
              <p:cNvGrpSpPr>
                <a:grpSpLocks/>
              </p:cNvGrpSpPr>
              <p:nvPr/>
            </p:nvGrpSpPr>
            <p:grpSpPr bwMode="auto">
              <a:xfrm>
                <a:off x="3840" y="1632"/>
                <a:ext cx="1392" cy="971"/>
                <a:chOff x="288" y="1045"/>
                <a:chExt cx="1392" cy="971"/>
              </a:xfrm>
            </p:grpSpPr>
            <p:sp>
              <p:nvSpPr>
                <p:cNvPr id="19520" name="Oval 33"/>
                <p:cNvSpPr>
                  <a:spLocks noChangeArrowheads="1"/>
                </p:cNvSpPr>
                <p:nvPr/>
              </p:nvSpPr>
              <p:spPr bwMode="auto">
                <a:xfrm>
                  <a:off x="816" y="1045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21" name="Oval 34"/>
                <p:cNvSpPr>
                  <a:spLocks noChangeArrowheads="1"/>
                </p:cNvSpPr>
                <p:nvPr/>
              </p:nvSpPr>
              <p:spPr bwMode="auto">
                <a:xfrm>
                  <a:off x="288" y="1607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22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624" y="1454"/>
                  <a:ext cx="336" cy="1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3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912" y="1096"/>
                  <a:ext cx="76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9524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84" y="1658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19516" name="Group 38"/>
              <p:cNvGrpSpPr>
                <a:grpSpLocks/>
              </p:cNvGrpSpPr>
              <p:nvPr/>
            </p:nvGrpSpPr>
            <p:grpSpPr bwMode="auto">
              <a:xfrm>
                <a:off x="4656" y="2016"/>
                <a:ext cx="672" cy="576"/>
                <a:chOff x="4272" y="2016"/>
                <a:chExt cx="912" cy="720"/>
              </a:xfrm>
            </p:grpSpPr>
            <p:sp>
              <p:nvSpPr>
                <p:cNvPr id="19517" name="Oval 39"/>
                <p:cNvSpPr>
                  <a:spLocks noChangeArrowheads="1"/>
                </p:cNvSpPr>
                <p:nvPr/>
              </p:nvSpPr>
              <p:spPr bwMode="auto">
                <a:xfrm>
                  <a:off x="4704" y="2352"/>
                  <a:ext cx="480" cy="38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51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704" y="2352"/>
                  <a:ext cx="480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4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9519" name="Line 41"/>
                <p:cNvSpPr>
                  <a:spLocks noChangeShapeType="1"/>
                </p:cNvSpPr>
                <p:nvPr/>
              </p:nvSpPr>
              <p:spPr bwMode="auto">
                <a:xfrm>
                  <a:off x="4272" y="2016"/>
                  <a:ext cx="624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514" name="Text Box 42"/>
            <p:cNvSpPr txBox="1">
              <a:spLocks noChangeArrowheads="1"/>
            </p:cNvSpPr>
            <p:nvPr/>
          </p:nvSpPr>
          <p:spPr bwMode="auto">
            <a:xfrm>
              <a:off x="4320" y="244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4</a:t>
              </a:r>
            </a:p>
          </p:txBody>
        </p:sp>
      </p:grpSp>
      <p:grpSp>
        <p:nvGrpSpPr>
          <p:cNvPr id="342059" name="Group 43"/>
          <p:cNvGrpSpPr>
            <a:grpSpLocks/>
          </p:cNvGrpSpPr>
          <p:nvPr/>
        </p:nvGrpSpPr>
        <p:grpSpPr bwMode="auto">
          <a:xfrm>
            <a:off x="2057400" y="4572000"/>
            <a:ext cx="3429000" cy="2286000"/>
            <a:chOff x="336" y="2880"/>
            <a:chExt cx="2160" cy="1440"/>
          </a:xfrm>
        </p:grpSpPr>
        <p:grpSp>
          <p:nvGrpSpPr>
            <p:cNvPr id="19495" name="Group 44"/>
            <p:cNvGrpSpPr>
              <a:grpSpLocks/>
            </p:cNvGrpSpPr>
            <p:nvPr/>
          </p:nvGrpSpPr>
          <p:grpSpPr bwMode="auto">
            <a:xfrm>
              <a:off x="336" y="2880"/>
              <a:ext cx="2160" cy="1440"/>
              <a:chOff x="240" y="2880"/>
              <a:chExt cx="2160" cy="1440"/>
            </a:xfrm>
          </p:grpSpPr>
          <p:grpSp>
            <p:nvGrpSpPr>
              <p:cNvPr id="19497" name="Group 45"/>
              <p:cNvGrpSpPr>
                <a:grpSpLocks/>
              </p:cNvGrpSpPr>
              <p:nvPr/>
            </p:nvGrpSpPr>
            <p:grpSpPr bwMode="auto">
              <a:xfrm>
                <a:off x="240" y="2880"/>
                <a:ext cx="1488" cy="971"/>
                <a:chOff x="3840" y="1632"/>
                <a:chExt cx="1488" cy="971"/>
              </a:xfrm>
            </p:grpSpPr>
            <p:grpSp>
              <p:nvGrpSpPr>
                <p:cNvPr id="19503" name="Group 46"/>
                <p:cNvGrpSpPr>
                  <a:grpSpLocks/>
                </p:cNvGrpSpPr>
                <p:nvPr/>
              </p:nvGrpSpPr>
              <p:grpSpPr bwMode="auto">
                <a:xfrm>
                  <a:off x="3840" y="1632"/>
                  <a:ext cx="1392" cy="971"/>
                  <a:chOff x="288" y="1045"/>
                  <a:chExt cx="1392" cy="971"/>
                </a:xfrm>
              </p:grpSpPr>
              <p:sp>
                <p:nvSpPr>
                  <p:cNvPr id="19508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045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19509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607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19510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24" y="1454"/>
                    <a:ext cx="336" cy="1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11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2" y="1096"/>
                    <a:ext cx="76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9512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" y="1658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9504" name="Group 52"/>
                <p:cNvGrpSpPr>
                  <a:grpSpLocks/>
                </p:cNvGrpSpPr>
                <p:nvPr/>
              </p:nvGrpSpPr>
              <p:grpSpPr bwMode="auto">
                <a:xfrm>
                  <a:off x="4656" y="2016"/>
                  <a:ext cx="672" cy="576"/>
                  <a:chOff x="4272" y="2016"/>
                  <a:chExt cx="912" cy="720"/>
                </a:xfrm>
              </p:grpSpPr>
              <p:sp>
                <p:nvSpPr>
                  <p:cNvPr id="19505" name="Oval 53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2352"/>
                    <a:ext cx="480" cy="38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19506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352"/>
                    <a:ext cx="48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400">
                        <a:latin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9507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272" y="2016"/>
                    <a:ext cx="624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498" name="Group 56"/>
              <p:cNvGrpSpPr>
                <a:grpSpLocks/>
              </p:cNvGrpSpPr>
              <p:nvPr/>
            </p:nvGrpSpPr>
            <p:grpSpPr bwMode="auto">
              <a:xfrm>
                <a:off x="1680" y="3809"/>
                <a:ext cx="720" cy="511"/>
                <a:chOff x="1056" y="1454"/>
                <a:chExt cx="720" cy="511"/>
              </a:xfrm>
            </p:grpSpPr>
            <p:sp>
              <p:nvSpPr>
                <p:cNvPr id="19499" name="Line 57"/>
                <p:cNvSpPr>
                  <a:spLocks noChangeShapeType="1"/>
                </p:cNvSpPr>
                <p:nvPr/>
              </p:nvSpPr>
              <p:spPr bwMode="auto">
                <a:xfrm>
                  <a:off x="1056" y="1454"/>
                  <a:ext cx="240" cy="1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500" name="Group 58"/>
                <p:cNvGrpSpPr>
                  <a:grpSpLocks/>
                </p:cNvGrpSpPr>
                <p:nvPr/>
              </p:nvGrpSpPr>
              <p:grpSpPr bwMode="auto">
                <a:xfrm>
                  <a:off x="1152" y="1556"/>
                  <a:ext cx="624" cy="409"/>
                  <a:chOff x="1152" y="1556"/>
                  <a:chExt cx="624" cy="409"/>
                </a:xfrm>
              </p:grpSpPr>
              <p:sp>
                <p:nvSpPr>
                  <p:cNvPr id="19501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556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19502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632"/>
                    <a:ext cx="5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4</a:t>
                    </a:r>
                  </a:p>
                </p:txBody>
              </p:sp>
            </p:grpSp>
          </p:grpSp>
        </p:grpSp>
        <p:sp>
          <p:nvSpPr>
            <p:cNvPr id="19496" name="Text Box 61"/>
            <p:cNvSpPr txBox="1">
              <a:spLocks noChangeArrowheads="1"/>
            </p:cNvSpPr>
            <p:nvPr/>
          </p:nvSpPr>
          <p:spPr bwMode="auto">
            <a:xfrm>
              <a:off x="816" y="379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5</a:t>
              </a:r>
            </a:p>
          </p:txBody>
        </p:sp>
      </p:grpSp>
      <p:grpSp>
        <p:nvGrpSpPr>
          <p:cNvPr id="342078" name="Group 62"/>
          <p:cNvGrpSpPr>
            <a:grpSpLocks/>
          </p:cNvGrpSpPr>
          <p:nvPr/>
        </p:nvGrpSpPr>
        <p:grpSpPr bwMode="auto">
          <a:xfrm>
            <a:off x="6781800" y="4648200"/>
            <a:ext cx="3581400" cy="2209800"/>
            <a:chOff x="3312" y="2928"/>
            <a:chExt cx="2256" cy="1392"/>
          </a:xfrm>
        </p:grpSpPr>
        <p:grpSp>
          <p:nvGrpSpPr>
            <p:cNvPr id="19472" name="Group 63"/>
            <p:cNvGrpSpPr>
              <a:grpSpLocks/>
            </p:cNvGrpSpPr>
            <p:nvPr/>
          </p:nvGrpSpPr>
          <p:grpSpPr bwMode="auto">
            <a:xfrm>
              <a:off x="3312" y="2928"/>
              <a:ext cx="2256" cy="1392"/>
              <a:chOff x="3312" y="2928"/>
              <a:chExt cx="2256" cy="1392"/>
            </a:xfrm>
          </p:grpSpPr>
          <p:grpSp>
            <p:nvGrpSpPr>
              <p:cNvPr id="19474" name="Group 64"/>
              <p:cNvGrpSpPr>
                <a:grpSpLocks/>
              </p:cNvGrpSpPr>
              <p:nvPr/>
            </p:nvGrpSpPr>
            <p:grpSpPr bwMode="auto">
              <a:xfrm>
                <a:off x="3312" y="2928"/>
                <a:ext cx="1824" cy="1104"/>
                <a:chOff x="240" y="2880"/>
                <a:chExt cx="2160" cy="1440"/>
              </a:xfrm>
            </p:grpSpPr>
            <p:grpSp>
              <p:nvGrpSpPr>
                <p:cNvPr id="19479" name="Group 65"/>
                <p:cNvGrpSpPr>
                  <a:grpSpLocks/>
                </p:cNvGrpSpPr>
                <p:nvPr/>
              </p:nvGrpSpPr>
              <p:grpSpPr bwMode="auto">
                <a:xfrm>
                  <a:off x="240" y="2880"/>
                  <a:ext cx="1489" cy="1028"/>
                  <a:chOff x="3840" y="1632"/>
                  <a:chExt cx="1489" cy="1028"/>
                </a:xfrm>
              </p:grpSpPr>
              <p:grpSp>
                <p:nvGrpSpPr>
                  <p:cNvPr id="19485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3840" y="1632"/>
                    <a:ext cx="1391" cy="971"/>
                    <a:chOff x="288" y="1045"/>
                    <a:chExt cx="1391" cy="971"/>
                  </a:xfrm>
                </p:grpSpPr>
                <p:sp>
                  <p:nvSpPr>
                    <p:cNvPr id="19490" name="Oval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1045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19491" name="Oval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1607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19492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24" y="1454"/>
                      <a:ext cx="336" cy="15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93" name="Text Box 7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12" y="1096"/>
                      <a:ext cx="767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19494" name="Text Box 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4" y="1658"/>
                      <a:ext cx="480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19486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4656" y="2016"/>
                    <a:ext cx="673" cy="644"/>
                    <a:chOff x="4272" y="2016"/>
                    <a:chExt cx="913" cy="805"/>
                  </a:xfrm>
                </p:grpSpPr>
                <p:sp>
                  <p:nvSpPr>
                    <p:cNvPr id="19487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4" y="2352"/>
                      <a:ext cx="480" cy="38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19488" name="Text Box 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351"/>
                      <a:ext cx="481" cy="4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19489" name="Line 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72" y="2016"/>
                      <a:ext cx="624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9480" name="Group 76"/>
                <p:cNvGrpSpPr>
                  <a:grpSpLocks/>
                </p:cNvGrpSpPr>
                <p:nvPr/>
              </p:nvGrpSpPr>
              <p:grpSpPr bwMode="auto">
                <a:xfrm>
                  <a:off x="1680" y="3809"/>
                  <a:ext cx="720" cy="511"/>
                  <a:chOff x="1056" y="1454"/>
                  <a:chExt cx="720" cy="511"/>
                </a:xfrm>
              </p:grpSpPr>
              <p:sp>
                <p:nvSpPr>
                  <p:cNvPr id="19481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9482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19483" name="Oval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19484" name="Text Box 8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1"/>
                      <a:ext cx="576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4</a:t>
                      </a:r>
                    </a:p>
                  </p:txBody>
                </p:sp>
              </p:grpSp>
            </p:grpSp>
          </p:grpSp>
          <p:grpSp>
            <p:nvGrpSpPr>
              <p:cNvPr id="19475" name="Group 81"/>
              <p:cNvGrpSpPr>
                <a:grpSpLocks/>
              </p:cNvGrpSpPr>
              <p:nvPr/>
            </p:nvGrpSpPr>
            <p:grpSpPr bwMode="auto">
              <a:xfrm>
                <a:off x="4992" y="3808"/>
                <a:ext cx="576" cy="512"/>
                <a:chOff x="4272" y="2016"/>
                <a:chExt cx="912" cy="768"/>
              </a:xfrm>
            </p:grpSpPr>
            <p:sp>
              <p:nvSpPr>
                <p:cNvPr id="19476" name="Oval 82"/>
                <p:cNvSpPr>
                  <a:spLocks noChangeArrowheads="1"/>
                </p:cNvSpPr>
                <p:nvPr/>
              </p:nvSpPr>
              <p:spPr bwMode="auto">
                <a:xfrm>
                  <a:off x="4704" y="2352"/>
                  <a:ext cx="480" cy="38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19477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704" y="2352"/>
                  <a:ext cx="480" cy="4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4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19478" name="Line 84"/>
                <p:cNvSpPr>
                  <a:spLocks noChangeShapeType="1"/>
                </p:cNvSpPr>
                <p:nvPr/>
              </p:nvSpPr>
              <p:spPr bwMode="auto">
                <a:xfrm>
                  <a:off x="4272" y="2016"/>
                  <a:ext cx="624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473" name="Text Box 85"/>
            <p:cNvSpPr txBox="1">
              <a:spLocks noChangeArrowheads="1"/>
            </p:cNvSpPr>
            <p:nvPr/>
          </p:nvSpPr>
          <p:spPr bwMode="auto">
            <a:xfrm>
              <a:off x="3696" y="379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6</a:t>
              </a:r>
            </a:p>
          </p:txBody>
        </p:sp>
      </p:grpSp>
      <p:sp>
        <p:nvSpPr>
          <p:cNvPr id="19466" name="Line 86"/>
          <p:cNvSpPr>
            <a:spLocks noChangeShapeType="1"/>
          </p:cNvSpPr>
          <p:nvPr/>
        </p:nvSpPr>
        <p:spPr bwMode="auto">
          <a:xfrm>
            <a:off x="7696200" y="2590800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87"/>
          <p:cNvSpPr>
            <a:spLocks noChangeShapeType="1"/>
          </p:cNvSpPr>
          <p:nvPr/>
        </p:nvSpPr>
        <p:spPr bwMode="auto">
          <a:xfrm>
            <a:off x="9144000" y="5486400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Text Box 88"/>
          <p:cNvSpPr txBox="1">
            <a:spLocks noChangeArrowheads="1"/>
          </p:cNvSpPr>
          <p:nvPr/>
        </p:nvSpPr>
        <p:spPr bwMode="auto">
          <a:xfrm>
            <a:off x="7162801" y="2057401"/>
            <a:ext cx="1808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Single rotation</a:t>
            </a:r>
          </a:p>
        </p:txBody>
      </p:sp>
      <p:sp>
        <p:nvSpPr>
          <p:cNvPr id="19469" name="Text Box 89"/>
          <p:cNvSpPr txBox="1">
            <a:spLocks noChangeArrowheads="1"/>
          </p:cNvSpPr>
          <p:nvPr/>
        </p:nvSpPr>
        <p:spPr bwMode="auto">
          <a:xfrm>
            <a:off x="8631238" y="4953001"/>
            <a:ext cx="1808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Single rotation</a:t>
            </a:r>
          </a:p>
        </p:txBody>
      </p:sp>
      <p:sp>
        <p:nvSpPr>
          <p:cNvPr id="19470" name="Oval 90"/>
          <p:cNvSpPr>
            <a:spLocks noChangeArrowheads="1"/>
          </p:cNvSpPr>
          <p:nvPr/>
        </p:nvSpPr>
        <p:spPr bwMode="auto">
          <a:xfrm>
            <a:off x="6781800" y="2514600"/>
            <a:ext cx="609600" cy="6096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19471" name="Oval 91"/>
          <p:cNvSpPr>
            <a:spLocks noChangeArrowheads="1"/>
          </p:cNvSpPr>
          <p:nvPr/>
        </p:nvSpPr>
        <p:spPr bwMode="auto">
          <a:xfrm>
            <a:off x="8305800" y="5410200"/>
            <a:ext cx="4572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05216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042" name="Group 2"/>
          <p:cNvGrpSpPr>
            <a:grpSpLocks/>
          </p:cNvGrpSpPr>
          <p:nvPr/>
        </p:nvGrpSpPr>
        <p:grpSpPr bwMode="auto">
          <a:xfrm>
            <a:off x="1828800" y="304801"/>
            <a:ext cx="2971800" cy="2195513"/>
            <a:chOff x="192" y="192"/>
            <a:chExt cx="1872" cy="1383"/>
          </a:xfrm>
        </p:grpSpPr>
        <p:grpSp>
          <p:nvGrpSpPr>
            <p:cNvPr id="20615" name="Group 3"/>
            <p:cNvGrpSpPr>
              <a:grpSpLocks/>
            </p:cNvGrpSpPr>
            <p:nvPr/>
          </p:nvGrpSpPr>
          <p:grpSpPr bwMode="auto">
            <a:xfrm>
              <a:off x="192" y="192"/>
              <a:ext cx="1824" cy="1186"/>
              <a:chOff x="192" y="192"/>
              <a:chExt cx="1824" cy="1186"/>
            </a:xfrm>
          </p:grpSpPr>
          <p:grpSp>
            <p:nvGrpSpPr>
              <p:cNvPr id="20617" name="Group 4"/>
              <p:cNvGrpSpPr>
                <a:grpSpLocks/>
              </p:cNvGrpSpPr>
              <p:nvPr/>
            </p:nvGrpSpPr>
            <p:grpSpPr bwMode="auto">
              <a:xfrm>
                <a:off x="192" y="192"/>
                <a:ext cx="1824" cy="1104"/>
                <a:chOff x="240" y="2880"/>
                <a:chExt cx="2160" cy="1440"/>
              </a:xfrm>
            </p:grpSpPr>
            <p:grpSp>
              <p:nvGrpSpPr>
                <p:cNvPr id="20622" name="Group 5"/>
                <p:cNvGrpSpPr>
                  <a:grpSpLocks/>
                </p:cNvGrpSpPr>
                <p:nvPr/>
              </p:nvGrpSpPr>
              <p:grpSpPr bwMode="auto">
                <a:xfrm>
                  <a:off x="240" y="2880"/>
                  <a:ext cx="1489" cy="1028"/>
                  <a:chOff x="3840" y="1632"/>
                  <a:chExt cx="1489" cy="1028"/>
                </a:xfrm>
              </p:grpSpPr>
              <p:grpSp>
                <p:nvGrpSpPr>
                  <p:cNvPr id="20628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3840" y="1632"/>
                    <a:ext cx="1391" cy="971"/>
                    <a:chOff x="288" y="1045"/>
                    <a:chExt cx="1391" cy="971"/>
                  </a:xfrm>
                </p:grpSpPr>
                <p:sp>
                  <p:nvSpPr>
                    <p:cNvPr id="20633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1045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634" name="Oval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1607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635" name="Line 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24" y="1454"/>
                      <a:ext cx="336" cy="15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36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12" y="1096"/>
                      <a:ext cx="767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0637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4" y="1658"/>
                      <a:ext cx="480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20629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4656" y="2016"/>
                    <a:ext cx="673" cy="644"/>
                    <a:chOff x="4272" y="2016"/>
                    <a:chExt cx="913" cy="805"/>
                  </a:xfrm>
                </p:grpSpPr>
                <p:sp>
                  <p:nvSpPr>
                    <p:cNvPr id="20630" name="Oval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4" y="2352"/>
                      <a:ext cx="480" cy="38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631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351"/>
                      <a:ext cx="481" cy="4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</a:rPr>
                        <a:t>4</a:t>
                      </a:r>
                    </a:p>
                  </p:txBody>
                </p:sp>
                <p:sp>
                  <p:nvSpPr>
                    <p:cNvPr id="20632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72" y="2016"/>
                      <a:ext cx="624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0623" name="Group 16"/>
                <p:cNvGrpSpPr>
                  <a:grpSpLocks/>
                </p:cNvGrpSpPr>
                <p:nvPr/>
              </p:nvGrpSpPr>
              <p:grpSpPr bwMode="auto">
                <a:xfrm>
                  <a:off x="1680" y="3809"/>
                  <a:ext cx="720" cy="511"/>
                  <a:chOff x="1056" y="1454"/>
                  <a:chExt cx="720" cy="511"/>
                </a:xfrm>
              </p:grpSpPr>
              <p:sp>
                <p:nvSpPr>
                  <p:cNvPr id="20624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0625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0626" name="Oval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627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1"/>
                      <a:ext cx="576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5</a:t>
                      </a:r>
                    </a:p>
                  </p:txBody>
                </p:sp>
              </p:grpSp>
            </p:grpSp>
          </p:grpSp>
          <p:grpSp>
            <p:nvGrpSpPr>
              <p:cNvPr id="20618" name="Group 21"/>
              <p:cNvGrpSpPr>
                <a:grpSpLocks/>
              </p:cNvGrpSpPr>
              <p:nvPr/>
            </p:nvGrpSpPr>
            <p:grpSpPr bwMode="auto">
              <a:xfrm>
                <a:off x="720" y="864"/>
                <a:ext cx="432" cy="514"/>
                <a:chOff x="0" y="3758"/>
                <a:chExt cx="672" cy="562"/>
              </a:xfrm>
            </p:grpSpPr>
            <p:sp>
              <p:nvSpPr>
                <p:cNvPr id="20619" name="Oval 22"/>
                <p:cNvSpPr>
                  <a:spLocks noChangeArrowheads="1"/>
                </p:cNvSpPr>
                <p:nvPr/>
              </p:nvSpPr>
              <p:spPr bwMode="auto">
                <a:xfrm>
                  <a:off x="0" y="3911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0620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36" y="3758"/>
                  <a:ext cx="336" cy="1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21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96" y="3962"/>
                  <a:ext cx="48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sp>
          <p:nvSpPr>
            <p:cNvPr id="20616" name="Text Box 25"/>
            <p:cNvSpPr txBox="1">
              <a:spLocks noChangeArrowheads="1"/>
            </p:cNvSpPr>
            <p:nvPr/>
          </p:nvSpPr>
          <p:spPr bwMode="auto">
            <a:xfrm>
              <a:off x="1344" y="1344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7</a:t>
              </a:r>
            </a:p>
          </p:txBody>
        </p:sp>
      </p:grpSp>
      <p:grpSp>
        <p:nvGrpSpPr>
          <p:cNvPr id="343066" name="Group 26"/>
          <p:cNvGrpSpPr>
            <a:grpSpLocks/>
          </p:cNvGrpSpPr>
          <p:nvPr/>
        </p:nvGrpSpPr>
        <p:grpSpPr bwMode="auto">
          <a:xfrm>
            <a:off x="5105400" y="152400"/>
            <a:ext cx="3200400" cy="2459038"/>
            <a:chOff x="2256" y="96"/>
            <a:chExt cx="2016" cy="1549"/>
          </a:xfrm>
        </p:grpSpPr>
        <p:grpSp>
          <p:nvGrpSpPr>
            <p:cNvPr id="20587" name="Group 27"/>
            <p:cNvGrpSpPr>
              <a:grpSpLocks/>
            </p:cNvGrpSpPr>
            <p:nvPr/>
          </p:nvGrpSpPr>
          <p:grpSpPr bwMode="auto">
            <a:xfrm>
              <a:off x="2256" y="96"/>
              <a:ext cx="2016" cy="1549"/>
              <a:chOff x="2256" y="96"/>
              <a:chExt cx="2016" cy="1549"/>
            </a:xfrm>
          </p:grpSpPr>
          <p:grpSp>
            <p:nvGrpSpPr>
              <p:cNvPr id="20589" name="Group 28"/>
              <p:cNvGrpSpPr>
                <a:grpSpLocks/>
              </p:cNvGrpSpPr>
              <p:nvPr/>
            </p:nvGrpSpPr>
            <p:grpSpPr bwMode="auto">
              <a:xfrm>
                <a:off x="3840" y="1152"/>
                <a:ext cx="432" cy="493"/>
                <a:chOff x="4272" y="2016"/>
                <a:chExt cx="912" cy="819"/>
              </a:xfrm>
            </p:grpSpPr>
            <p:sp>
              <p:nvSpPr>
                <p:cNvPr id="20612" name="Oval 29"/>
                <p:cNvSpPr>
                  <a:spLocks noChangeArrowheads="1"/>
                </p:cNvSpPr>
                <p:nvPr/>
              </p:nvSpPr>
              <p:spPr bwMode="auto">
                <a:xfrm>
                  <a:off x="4704" y="2352"/>
                  <a:ext cx="480" cy="38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061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705" y="2352"/>
                  <a:ext cx="479" cy="4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400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20614" name="Line 31"/>
                <p:cNvSpPr>
                  <a:spLocks noChangeShapeType="1"/>
                </p:cNvSpPr>
                <p:nvPr/>
              </p:nvSpPr>
              <p:spPr bwMode="auto">
                <a:xfrm>
                  <a:off x="4272" y="2016"/>
                  <a:ext cx="624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590" name="Group 32"/>
              <p:cNvGrpSpPr>
                <a:grpSpLocks/>
              </p:cNvGrpSpPr>
              <p:nvPr/>
            </p:nvGrpSpPr>
            <p:grpSpPr bwMode="auto">
              <a:xfrm>
                <a:off x="2256" y="96"/>
                <a:ext cx="1824" cy="1186"/>
                <a:chOff x="192" y="192"/>
                <a:chExt cx="1824" cy="1186"/>
              </a:xfrm>
            </p:grpSpPr>
            <p:grpSp>
              <p:nvGrpSpPr>
                <p:cNvPr id="20591" name="Group 33"/>
                <p:cNvGrpSpPr>
                  <a:grpSpLocks/>
                </p:cNvGrpSpPr>
                <p:nvPr/>
              </p:nvGrpSpPr>
              <p:grpSpPr bwMode="auto">
                <a:xfrm>
                  <a:off x="192" y="192"/>
                  <a:ext cx="1824" cy="1104"/>
                  <a:chOff x="240" y="2880"/>
                  <a:chExt cx="2160" cy="1440"/>
                </a:xfrm>
              </p:grpSpPr>
              <p:grpSp>
                <p:nvGrpSpPr>
                  <p:cNvPr id="20596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240" y="2880"/>
                    <a:ext cx="1489" cy="1028"/>
                    <a:chOff x="3840" y="1632"/>
                    <a:chExt cx="1489" cy="1028"/>
                  </a:xfrm>
                </p:grpSpPr>
                <p:grpSp>
                  <p:nvGrpSpPr>
                    <p:cNvPr id="20602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40" y="1632"/>
                      <a:ext cx="1391" cy="971"/>
                      <a:chOff x="288" y="1045"/>
                      <a:chExt cx="1391" cy="971"/>
                    </a:xfrm>
                  </p:grpSpPr>
                  <p:sp>
                    <p:nvSpPr>
                      <p:cNvPr id="20607" name="Oval 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045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608" name="Oval 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1607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609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1454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610" name="Text Box 3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12" y="1096"/>
                        <a:ext cx="767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20611" name="Text Box 4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84" y="1658"/>
                        <a:ext cx="480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</p:grpSp>
                <p:grpSp>
                  <p:nvGrpSpPr>
                    <p:cNvPr id="20603" name="Group 4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56" y="2016"/>
                      <a:ext cx="673" cy="644"/>
                      <a:chOff x="4272" y="2016"/>
                      <a:chExt cx="913" cy="805"/>
                    </a:xfrm>
                  </p:grpSpPr>
                  <p:sp>
                    <p:nvSpPr>
                      <p:cNvPr id="20604" name="Oval 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2"/>
                        <a:ext cx="480" cy="38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605" name="Text Box 4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1"/>
                        <a:ext cx="481" cy="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2400">
                            <a:latin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0606" name="Line 4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272" y="2016"/>
                        <a:ext cx="624" cy="3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0597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1680" y="3809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0598" name="Line 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0599" name="Group 4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0600" name="Oval 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601" name="Text Box 4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1"/>
                        <a:ext cx="576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</p:grpSp>
              </p:grpSp>
            </p:grpSp>
            <p:grpSp>
              <p:nvGrpSpPr>
                <p:cNvPr id="20592" name="Group 50"/>
                <p:cNvGrpSpPr>
                  <a:grpSpLocks/>
                </p:cNvGrpSpPr>
                <p:nvPr/>
              </p:nvGrpSpPr>
              <p:grpSpPr bwMode="auto">
                <a:xfrm>
                  <a:off x="720" y="864"/>
                  <a:ext cx="432" cy="514"/>
                  <a:chOff x="0" y="3758"/>
                  <a:chExt cx="672" cy="562"/>
                </a:xfrm>
              </p:grpSpPr>
              <p:sp>
                <p:nvSpPr>
                  <p:cNvPr id="20593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911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0594" name="Line 5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" y="3758"/>
                    <a:ext cx="336" cy="1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95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" y="3962"/>
                    <a:ext cx="480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3</a:t>
                    </a:r>
                  </a:p>
                </p:txBody>
              </p:sp>
            </p:grpSp>
          </p:grpSp>
        </p:grpSp>
        <p:sp>
          <p:nvSpPr>
            <p:cNvPr id="20588" name="Text Box 54"/>
            <p:cNvSpPr txBox="1">
              <a:spLocks noChangeArrowheads="1"/>
            </p:cNvSpPr>
            <p:nvPr/>
          </p:nvSpPr>
          <p:spPr bwMode="auto">
            <a:xfrm>
              <a:off x="2976" y="124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8</a:t>
              </a:r>
            </a:p>
          </p:txBody>
        </p:sp>
      </p:grpSp>
      <p:grpSp>
        <p:nvGrpSpPr>
          <p:cNvPr id="343095" name="Group 55"/>
          <p:cNvGrpSpPr>
            <a:grpSpLocks/>
          </p:cNvGrpSpPr>
          <p:nvPr/>
        </p:nvGrpSpPr>
        <p:grpSpPr bwMode="auto">
          <a:xfrm>
            <a:off x="1524000" y="2590801"/>
            <a:ext cx="3352800" cy="2424113"/>
            <a:chOff x="0" y="1632"/>
            <a:chExt cx="2112" cy="1527"/>
          </a:xfrm>
        </p:grpSpPr>
        <p:grpSp>
          <p:nvGrpSpPr>
            <p:cNvPr id="20559" name="Group 56"/>
            <p:cNvGrpSpPr>
              <a:grpSpLocks/>
            </p:cNvGrpSpPr>
            <p:nvPr/>
          </p:nvGrpSpPr>
          <p:grpSpPr bwMode="auto">
            <a:xfrm>
              <a:off x="0" y="1632"/>
              <a:ext cx="2112" cy="1234"/>
              <a:chOff x="0" y="1632"/>
              <a:chExt cx="2112" cy="1234"/>
            </a:xfrm>
          </p:grpSpPr>
          <p:grpSp>
            <p:nvGrpSpPr>
              <p:cNvPr id="20561" name="Group 57"/>
              <p:cNvGrpSpPr>
                <a:grpSpLocks/>
              </p:cNvGrpSpPr>
              <p:nvPr/>
            </p:nvGrpSpPr>
            <p:grpSpPr bwMode="auto">
              <a:xfrm>
                <a:off x="288" y="1632"/>
                <a:ext cx="1824" cy="1104"/>
                <a:chOff x="240" y="2880"/>
                <a:chExt cx="2160" cy="1440"/>
              </a:xfrm>
            </p:grpSpPr>
            <p:grpSp>
              <p:nvGrpSpPr>
                <p:cNvPr id="20571" name="Group 58"/>
                <p:cNvGrpSpPr>
                  <a:grpSpLocks/>
                </p:cNvGrpSpPr>
                <p:nvPr/>
              </p:nvGrpSpPr>
              <p:grpSpPr bwMode="auto">
                <a:xfrm>
                  <a:off x="240" y="2880"/>
                  <a:ext cx="1489" cy="1028"/>
                  <a:chOff x="3840" y="1632"/>
                  <a:chExt cx="1489" cy="1028"/>
                </a:xfrm>
              </p:grpSpPr>
              <p:grpSp>
                <p:nvGrpSpPr>
                  <p:cNvPr id="20577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3840" y="1632"/>
                    <a:ext cx="1391" cy="971"/>
                    <a:chOff x="288" y="1045"/>
                    <a:chExt cx="1391" cy="971"/>
                  </a:xfrm>
                </p:grpSpPr>
                <p:sp>
                  <p:nvSpPr>
                    <p:cNvPr id="20582" name="Oval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1045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83" name="Oval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1607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84" name="Line 6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24" y="1454"/>
                      <a:ext cx="336" cy="15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85" name="Text Box 6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12" y="1096"/>
                      <a:ext cx="767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4</a:t>
                      </a:r>
                    </a:p>
                  </p:txBody>
                </p:sp>
                <p:sp>
                  <p:nvSpPr>
                    <p:cNvPr id="20586" name="Text Box 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4" y="1658"/>
                      <a:ext cx="480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20578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4656" y="2016"/>
                    <a:ext cx="673" cy="644"/>
                    <a:chOff x="4272" y="2016"/>
                    <a:chExt cx="913" cy="805"/>
                  </a:xfrm>
                </p:grpSpPr>
                <p:sp>
                  <p:nvSpPr>
                    <p:cNvPr id="20579" name="Oval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4" y="2352"/>
                      <a:ext cx="480" cy="38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80" name="Text Box 6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351"/>
                      <a:ext cx="481" cy="4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2400">
                          <a:latin typeface="Times New Roman" panose="02020603050405020304" pitchFamily="18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2058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72" y="2016"/>
                      <a:ext cx="624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0572" name="Group 69"/>
                <p:cNvGrpSpPr>
                  <a:grpSpLocks/>
                </p:cNvGrpSpPr>
                <p:nvPr/>
              </p:nvGrpSpPr>
              <p:grpSpPr bwMode="auto">
                <a:xfrm>
                  <a:off x="1680" y="3809"/>
                  <a:ext cx="720" cy="511"/>
                  <a:chOff x="1056" y="1454"/>
                  <a:chExt cx="720" cy="511"/>
                </a:xfrm>
              </p:grpSpPr>
              <p:sp>
                <p:nvSpPr>
                  <p:cNvPr id="20573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0574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0575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76" name="Text Box 7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1"/>
                      <a:ext cx="576" cy="3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6</a:t>
                      </a:r>
                    </a:p>
                  </p:txBody>
                </p:sp>
              </p:grpSp>
            </p:grpSp>
          </p:grpSp>
          <p:grpSp>
            <p:nvGrpSpPr>
              <p:cNvPr id="20562" name="Group 74"/>
              <p:cNvGrpSpPr>
                <a:grpSpLocks/>
              </p:cNvGrpSpPr>
              <p:nvPr/>
            </p:nvGrpSpPr>
            <p:grpSpPr bwMode="auto">
              <a:xfrm>
                <a:off x="0" y="2352"/>
                <a:ext cx="432" cy="514"/>
                <a:chOff x="0" y="3758"/>
                <a:chExt cx="672" cy="562"/>
              </a:xfrm>
            </p:grpSpPr>
            <p:sp>
              <p:nvSpPr>
                <p:cNvPr id="20568" name="Oval 75"/>
                <p:cNvSpPr>
                  <a:spLocks noChangeArrowheads="1"/>
                </p:cNvSpPr>
                <p:nvPr/>
              </p:nvSpPr>
              <p:spPr bwMode="auto">
                <a:xfrm>
                  <a:off x="0" y="3911"/>
                  <a:ext cx="432" cy="409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0569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336" y="3758"/>
                  <a:ext cx="336" cy="1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70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96" y="3962"/>
                  <a:ext cx="48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20563" name="Group 78"/>
              <p:cNvGrpSpPr>
                <a:grpSpLocks/>
              </p:cNvGrpSpPr>
              <p:nvPr/>
            </p:nvGrpSpPr>
            <p:grpSpPr bwMode="auto">
              <a:xfrm>
                <a:off x="576" y="2352"/>
                <a:ext cx="720" cy="511"/>
                <a:chOff x="1056" y="1454"/>
                <a:chExt cx="720" cy="511"/>
              </a:xfrm>
            </p:grpSpPr>
            <p:sp>
              <p:nvSpPr>
                <p:cNvPr id="20564" name="Line 79"/>
                <p:cNvSpPr>
                  <a:spLocks noChangeShapeType="1"/>
                </p:cNvSpPr>
                <p:nvPr/>
              </p:nvSpPr>
              <p:spPr bwMode="auto">
                <a:xfrm>
                  <a:off x="1056" y="1454"/>
                  <a:ext cx="240" cy="1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0565" name="Group 80"/>
                <p:cNvGrpSpPr>
                  <a:grpSpLocks/>
                </p:cNvGrpSpPr>
                <p:nvPr/>
              </p:nvGrpSpPr>
              <p:grpSpPr bwMode="auto">
                <a:xfrm>
                  <a:off x="1152" y="1556"/>
                  <a:ext cx="624" cy="409"/>
                  <a:chOff x="1152" y="1556"/>
                  <a:chExt cx="624" cy="409"/>
                </a:xfrm>
              </p:grpSpPr>
              <p:sp>
                <p:nvSpPr>
                  <p:cNvPr id="20566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556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0567" name="Text Box 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632"/>
                    <a:ext cx="5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3</a:t>
                    </a:r>
                  </a:p>
                </p:txBody>
              </p:sp>
            </p:grpSp>
          </p:grpSp>
        </p:grpSp>
        <p:sp>
          <p:nvSpPr>
            <p:cNvPr id="20560" name="Text Box 83"/>
            <p:cNvSpPr txBox="1">
              <a:spLocks noChangeArrowheads="1"/>
            </p:cNvSpPr>
            <p:nvPr/>
          </p:nvSpPr>
          <p:spPr bwMode="auto">
            <a:xfrm>
              <a:off x="720" y="292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9</a:t>
              </a:r>
            </a:p>
          </p:txBody>
        </p:sp>
      </p:grpSp>
      <p:grpSp>
        <p:nvGrpSpPr>
          <p:cNvPr id="343124" name="Group 84"/>
          <p:cNvGrpSpPr>
            <a:grpSpLocks/>
          </p:cNvGrpSpPr>
          <p:nvPr/>
        </p:nvGrpSpPr>
        <p:grpSpPr bwMode="auto">
          <a:xfrm>
            <a:off x="6248400" y="2590801"/>
            <a:ext cx="3962400" cy="2563813"/>
            <a:chOff x="2976" y="1632"/>
            <a:chExt cx="2496" cy="1615"/>
          </a:xfrm>
        </p:grpSpPr>
        <p:grpSp>
          <p:nvGrpSpPr>
            <p:cNvPr id="20525" name="Group 85"/>
            <p:cNvGrpSpPr>
              <a:grpSpLocks/>
            </p:cNvGrpSpPr>
            <p:nvPr/>
          </p:nvGrpSpPr>
          <p:grpSpPr bwMode="auto">
            <a:xfrm>
              <a:off x="2976" y="1632"/>
              <a:ext cx="2496" cy="1615"/>
              <a:chOff x="2400" y="1776"/>
              <a:chExt cx="2496" cy="1615"/>
            </a:xfrm>
          </p:grpSpPr>
          <p:grpSp>
            <p:nvGrpSpPr>
              <p:cNvPr id="20527" name="Group 86"/>
              <p:cNvGrpSpPr>
                <a:grpSpLocks/>
              </p:cNvGrpSpPr>
              <p:nvPr/>
            </p:nvGrpSpPr>
            <p:grpSpPr bwMode="auto">
              <a:xfrm>
                <a:off x="2400" y="1776"/>
                <a:ext cx="2112" cy="1234"/>
                <a:chOff x="0" y="1632"/>
                <a:chExt cx="2112" cy="1234"/>
              </a:xfrm>
            </p:grpSpPr>
            <p:grpSp>
              <p:nvGrpSpPr>
                <p:cNvPr id="20533" name="Group 87"/>
                <p:cNvGrpSpPr>
                  <a:grpSpLocks/>
                </p:cNvGrpSpPr>
                <p:nvPr/>
              </p:nvGrpSpPr>
              <p:grpSpPr bwMode="auto">
                <a:xfrm>
                  <a:off x="288" y="1632"/>
                  <a:ext cx="1824" cy="1104"/>
                  <a:chOff x="240" y="2880"/>
                  <a:chExt cx="2160" cy="1440"/>
                </a:xfrm>
              </p:grpSpPr>
              <p:grpSp>
                <p:nvGrpSpPr>
                  <p:cNvPr id="20543" name="Group 88"/>
                  <p:cNvGrpSpPr>
                    <a:grpSpLocks/>
                  </p:cNvGrpSpPr>
                  <p:nvPr/>
                </p:nvGrpSpPr>
                <p:grpSpPr bwMode="auto">
                  <a:xfrm>
                    <a:off x="240" y="2880"/>
                    <a:ext cx="1489" cy="1028"/>
                    <a:chOff x="3840" y="1632"/>
                    <a:chExt cx="1489" cy="1028"/>
                  </a:xfrm>
                </p:grpSpPr>
                <p:grpSp>
                  <p:nvGrpSpPr>
                    <p:cNvPr id="20549" name="Group 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40" y="1632"/>
                      <a:ext cx="1391" cy="971"/>
                      <a:chOff x="288" y="1045"/>
                      <a:chExt cx="1391" cy="971"/>
                    </a:xfrm>
                  </p:grpSpPr>
                  <p:sp>
                    <p:nvSpPr>
                      <p:cNvPr id="20554" name="Oval 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045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55" name="Oval 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1607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56" name="Line 9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1454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557" name="Text Box 9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12" y="1096"/>
                        <a:ext cx="767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0558" name="Text Box 9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84" y="1658"/>
                        <a:ext cx="480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grpSp>
                  <p:nvGrpSpPr>
                    <p:cNvPr id="20550" name="Group 9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56" y="2016"/>
                      <a:ext cx="673" cy="644"/>
                      <a:chOff x="4272" y="2016"/>
                      <a:chExt cx="913" cy="805"/>
                    </a:xfrm>
                  </p:grpSpPr>
                  <p:sp>
                    <p:nvSpPr>
                      <p:cNvPr id="20551" name="Oval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2"/>
                        <a:ext cx="480" cy="38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52" name="Text Box 9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1"/>
                        <a:ext cx="481" cy="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2400">
                            <a:latin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0553" name="Line 9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272" y="2016"/>
                        <a:ext cx="624" cy="3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0544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1680" y="3809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0545" name="Line 1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0546" name="Group 1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0547" name="Oval 10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48" name="Text Box 10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1"/>
                        <a:ext cx="576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</p:grpSp>
              </p:grpSp>
            </p:grpSp>
            <p:grpSp>
              <p:nvGrpSpPr>
                <p:cNvPr id="20534" name="Group 104"/>
                <p:cNvGrpSpPr>
                  <a:grpSpLocks/>
                </p:cNvGrpSpPr>
                <p:nvPr/>
              </p:nvGrpSpPr>
              <p:grpSpPr bwMode="auto">
                <a:xfrm>
                  <a:off x="0" y="2352"/>
                  <a:ext cx="432" cy="514"/>
                  <a:chOff x="0" y="3758"/>
                  <a:chExt cx="672" cy="562"/>
                </a:xfrm>
              </p:grpSpPr>
              <p:sp>
                <p:nvSpPr>
                  <p:cNvPr id="20540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911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0541" name="Line 1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" y="3758"/>
                    <a:ext cx="336" cy="1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42" name="Text Box 1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" y="3962"/>
                    <a:ext cx="480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20535" name="Group 108"/>
                <p:cNvGrpSpPr>
                  <a:grpSpLocks/>
                </p:cNvGrpSpPr>
                <p:nvPr/>
              </p:nvGrpSpPr>
              <p:grpSpPr bwMode="auto">
                <a:xfrm>
                  <a:off x="576" y="2352"/>
                  <a:ext cx="720" cy="511"/>
                  <a:chOff x="1056" y="1454"/>
                  <a:chExt cx="720" cy="511"/>
                </a:xfrm>
              </p:grpSpPr>
              <p:sp>
                <p:nvSpPr>
                  <p:cNvPr id="20536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0537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0538" name="Oval 1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39" name="Text Box 1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2"/>
                      <a:ext cx="576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3</a:t>
                      </a:r>
                    </a:p>
                  </p:txBody>
                </p:sp>
              </p:grpSp>
            </p:grpSp>
          </p:grpSp>
          <p:grpSp>
            <p:nvGrpSpPr>
              <p:cNvPr id="20528" name="Group 113"/>
              <p:cNvGrpSpPr>
                <a:grpSpLocks/>
              </p:cNvGrpSpPr>
              <p:nvPr/>
            </p:nvGrpSpPr>
            <p:grpSpPr bwMode="auto">
              <a:xfrm>
                <a:off x="4176" y="2880"/>
                <a:ext cx="720" cy="511"/>
                <a:chOff x="1056" y="1454"/>
                <a:chExt cx="720" cy="511"/>
              </a:xfrm>
            </p:grpSpPr>
            <p:sp>
              <p:nvSpPr>
                <p:cNvPr id="20529" name="Line 114"/>
                <p:cNvSpPr>
                  <a:spLocks noChangeShapeType="1"/>
                </p:cNvSpPr>
                <p:nvPr/>
              </p:nvSpPr>
              <p:spPr bwMode="auto">
                <a:xfrm>
                  <a:off x="1056" y="1454"/>
                  <a:ext cx="240" cy="1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0530" name="Group 115"/>
                <p:cNvGrpSpPr>
                  <a:grpSpLocks/>
                </p:cNvGrpSpPr>
                <p:nvPr/>
              </p:nvGrpSpPr>
              <p:grpSpPr bwMode="auto">
                <a:xfrm>
                  <a:off x="1152" y="1556"/>
                  <a:ext cx="624" cy="409"/>
                  <a:chOff x="1152" y="1556"/>
                  <a:chExt cx="624" cy="409"/>
                </a:xfrm>
              </p:grpSpPr>
              <p:sp>
                <p:nvSpPr>
                  <p:cNvPr id="20531" name="Oval 116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556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0532" name="Text Box 1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632"/>
                    <a:ext cx="5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7</a:t>
                    </a:r>
                  </a:p>
                </p:txBody>
              </p:sp>
            </p:grpSp>
          </p:grpSp>
        </p:grpSp>
        <p:sp>
          <p:nvSpPr>
            <p:cNvPr id="20526" name="Text Box 118"/>
            <p:cNvSpPr txBox="1">
              <a:spLocks noChangeArrowheads="1"/>
            </p:cNvSpPr>
            <p:nvPr/>
          </p:nvSpPr>
          <p:spPr bwMode="auto">
            <a:xfrm>
              <a:off x="3984" y="2880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10</a:t>
              </a:r>
            </a:p>
          </p:txBody>
        </p:sp>
      </p:grpSp>
      <p:grpSp>
        <p:nvGrpSpPr>
          <p:cNvPr id="343159" name="Group 119"/>
          <p:cNvGrpSpPr>
            <a:grpSpLocks/>
          </p:cNvGrpSpPr>
          <p:nvPr/>
        </p:nvGrpSpPr>
        <p:grpSpPr bwMode="auto">
          <a:xfrm>
            <a:off x="3886200" y="4114800"/>
            <a:ext cx="3581400" cy="2438400"/>
            <a:chOff x="1488" y="2592"/>
            <a:chExt cx="2256" cy="1536"/>
          </a:xfrm>
        </p:grpSpPr>
        <p:grpSp>
          <p:nvGrpSpPr>
            <p:cNvPr id="20493" name="Group 120"/>
            <p:cNvGrpSpPr>
              <a:grpSpLocks/>
            </p:cNvGrpSpPr>
            <p:nvPr/>
          </p:nvGrpSpPr>
          <p:grpSpPr bwMode="auto">
            <a:xfrm>
              <a:off x="1488" y="2592"/>
              <a:ext cx="2112" cy="1536"/>
              <a:chOff x="1488" y="2592"/>
              <a:chExt cx="2112" cy="1536"/>
            </a:xfrm>
          </p:grpSpPr>
          <p:grpSp>
            <p:nvGrpSpPr>
              <p:cNvPr id="20495" name="Group 121"/>
              <p:cNvGrpSpPr>
                <a:grpSpLocks/>
              </p:cNvGrpSpPr>
              <p:nvPr/>
            </p:nvGrpSpPr>
            <p:grpSpPr bwMode="auto">
              <a:xfrm>
                <a:off x="1488" y="2592"/>
                <a:ext cx="2112" cy="1234"/>
                <a:chOff x="0" y="1632"/>
                <a:chExt cx="2112" cy="1234"/>
              </a:xfrm>
            </p:grpSpPr>
            <p:grpSp>
              <p:nvGrpSpPr>
                <p:cNvPr id="20499" name="Group 122"/>
                <p:cNvGrpSpPr>
                  <a:grpSpLocks/>
                </p:cNvGrpSpPr>
                <p:nvPr/>
              </p:nvGrpSpPr>
              <p:grpSpPr bwMode="auto">
                <a:xfrm>
                  <a:off x="288" y="1632"/>
                  <a:ext cx="1824" cy="1104"/>
                  <a:chOff x="240" y="2880"/>
                  <a:chExt cx="2160" cy="1440"/>
                </a:xfrm>
              </p:grpSpPr>
              <p:grpSp>
                <p:nvGrpSpPr>
                  <p:cNvPr id="20509" name="Group 123"/>
                  <p:cNvGrpSpPr>
                    <a:grpSpLocks/>
                  </p:cNvGrpSpPr>
                  <p:nvPr/>
                </p:nvGrpSpPr>
                <p:grpSpPr bwMode="auto">
                  <a:xfrm>
                    <a:off x="240" y="2880"/>
                    <a:ext cx="1489" cy="1028"/>
                    <a:chOff x="3840" y="1632"/>
                    <a:chExt cx="1489" cy="1028"/>
                  </a:xfrm>
                </p:grpSpPr>
                <p:grpSp>
                  <p:nvGrpSpPr>
                    <p:cNvPr id="20515" name="Group 1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40" y="1632"/>
                      <a:ext cx="1391" cy="971"/>
                      <a:chOff x="288" y="1045"/>
                      <a:chExt cx="1391" cy="971"/>
                    </a:xfrm>
                  </p:grpSpPr>
                  <p:sp>
                    <p:nvSpPr>
                      <p:cNvPr id="20520" name="Oval 1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045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21" name="Oval 1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1607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22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1454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523" name="Text Box 12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12" y="1096"/>
                        <a:ext cx="767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0524" name="Text Box 12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84" y="1658"/>
                        <a:ext cx="480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grpSp>
                  <p:nvGrpSpPr>
                    <p:cNvPr id="20516" name="Group 1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56" y="2016"/>
                      <a:ext cx="673" cy="644"/>
                      <a:chOff x="4272" y="2016"/>
                      <a:chExt cx="913" cy="805"/>
                    </a:xfrm>
                  </p:grpSpPr>
                  <p:sp>
                    <p:nvSpPr>
                      <p:cNvPr id="20517" name="Oval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2"/>
                        <a:ext cx="480" cy="38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18" name="Text Box 13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704" y="2351"/>
                        <a:ext cx="481" cy="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2400">
                            <a:latin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0519" name="Line 1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272" y="2016"/>
                        <a:ext cx="624" cy="3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0510" name="Group 134"/>
                  <p:cNvGrpSpPr>
                    <a:grpSpLocks/>
                  </p:cNvGrpSpPr>
                  <p:nvPr/>
                </p:nvGrpSpPr>
                <p:grpSpPr bwMode="auto">
                  <a:xfrm>
                    <a:off x="1680" y="3809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0511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0512" name="Group 13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0513" name="Oval 1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0514" name="Text Box 13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1"/>
                        <a:ext cx="576" cy="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</p:grpSp>
              </p:grpSp>
            </p:grpSp>
            <p:grpSp>
              <p:nvGrpSpPr>
                <p:cNvPr id="20500" name="Group 139"/>
                <p:cNvGrpSpPr>
                  <a:grpSpLocks/>
                </p:cNvGrpSpPr>
                <p:nvPr/>
              </p:nvGrpSpPr>
              <p:grpSpPr bwMode="auto">
                <a:xfrm>
                  <a:off x="0" y="2352"/>
                  <a:ext cx="432" cy="514"/>
                  <a:chOff x="0" y="3758"/>
                  <a:chExt cx="672" cy="562"/>
                </a:xfrm>
              </p:grpSpPr>
              <p:sp>
                <p:nvSpPr>
                  <p:cNvPr id="20506" name="Oval 14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911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0507" name="Line 1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" y="3758"/>
                    <a:ext cx="336" cy="1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08" name="Text Box 1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" y="3962"/>
                    <a:ext cx="480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20501" name="Group 143"/>
                <p:cNvGrpSpPr>
                  <a:grpSpLocks/>
                </p:cNvGrpSpPr>
                <p:nvPr/>
              </p:nvGrpSpPr>
              <p:grpSpPr bwMode="auto">
                <a:xfrm>
                  <a:off x="576" y="2352"/>
                  <a:ext cx="720" cy="511"/>
                  <a:chOff x="1056" y="1454"/>
                  <a:chExt cx="720" cy="511"/>
                </a:xfrm>
              </p:grpSpPr>
              <p:sp>
                <p:nvSpPr>
                  <p:cNvPr id="20502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0503" name="Group 145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0504" name="Oval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0505" name="Text Box 14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2"/>
                      <a:ext cx="576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3</a:t>
                      </a:r>
                    </a:p>
                  </p:txBody>
                </p:sp>
              </p:grpSp>
            </p:grpSp>
          </p:grpSp>
          <p:sp>
            <p:nvSpPr>
              <p:cNvPr id="20496" name="Oval 148"/>
              <p:cNvSpPr>
                <a:spLocks noChangeArrowheads="1"/>
              </p:cNvSpPr>
              <p:nvPr/>
            </p:nvSpPr>
            <p:spPr bwMode="auto">
              <a:xfrm>
                <a:off x="2544" y="3840"/>
                <a:ext cx="336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20497" name="Text Box 149"/>
              <p:cNvSpPr txBox="1">
                <a:spLocks noChangeArrowheads="1"/>
              </p:cNvSpPr>
              <p:nvPr/>
            </p:nvSpPr>
            <p:spPr bwMode="auto">
              <a:xfrm>
                <a:off x="2640" y="3840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0498" name="Line 150"/>
              <p:cNvSpPr>
                <a:spLocks noChangeShapeType="1"/>
              </p:cNvSpPr>
              <p:nvPr/>
            </p:nvSpPr>
            <p:spPr bwMode="auto">
              <a:xfrm flipH="1">
                <a:off x="2736" y="3312"/>
                <a:ext cx="144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494" name="Text Box 151"/>
            <p:cNvSpPr txBox="1">
              <a:spLocks noChangeArrowheads="1"/>
            </p:cNvSpPr>
            <p:nvPr/>
          </p:nvSpPr>
          <p:spPr bwMode="auto">
            <a:xfrm>
              <a:off x="3024" y="3840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11</a:t>
              </a:r>
            </a:p>
          </p:txBody>
        </p:sp>
      </p:grpSp>
      <p:sp>
        <p:nvSpPr>
          <p:cNvPr id="20487" name="Line 152"/>
          <p:cNvSpPr>
            <a:spLocks noChangeShapeType="1"/>
          </p:cNvSpPr>
          <p:nvPr/>
        </p:nvSpPr>
        <p:spPr bwMode="auto">
          <a:xfrm>
            <a:off x="7620000" y="990600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Text Box 153"/>
          <p:cNvSpPr txBox="1">
            <a:spLocks noChangeArrowheads="1"/>
          </p:cNvSpPr>
          <p:nvPr/>
        </p:nvSpPr>
        <p:spPr bwMode="auto">
          <a:xfrm>
            <a:off x="7086601" y="457201"/>
            <a:ext cx="1808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Single rotation</a:t>
            </a:r>
          </a:p>
        </p:txBody>
      </p:sp>
      <p:sp>
        <p:nvSpPr>
          <p:cNvPr id="20489" name="Line 154"/>
          <p:cNvSpPr>
            <a:spLocks noChangeShapeType="1"/>
          </p:cNvSpPr>
          <p:nvPr/>
        </p:nvSpPr>
        <p:spPr bwMode="auto">
          <a:xfrm>
            <a:off x="9240838" y="3657600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Text Box 155"/>
          <p:cNvSpPr txBox="1">
            <a:spLocks noChangeArrowheads="1"/>
          </p:cNvSpPr>
          <p:nvPr/>
        </p:nvSpPr>
        <p:spPr bwMode="auto">
          <a:xfrm>
            <a:off x="8707438" y="3124201"/>
            <a:ext cx="1808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Single rotation</a:t>
            </a:r>
          </a:p>
        </p:txBody>
      </p:sp>
      <p:sp>
        <p:nvSpPr>
          <p:cNvPr id="20491" name="Oval 156"/>
          <p:cNvSpPr>
            <a:spLocks noChangeArrowheads="1"/>
          </p:cNvSpPr>
          <p:nvPr/>
        </p:nvSpPr>
        <p:spPr bwMode="auto">
          <a:xfrm>
            <a:off x="5867400" y="152400"/>
            <a:ext cx="5334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  <p:sp>
        <p:nvSpPr>
          <p:cNvPr id="20492" name="Oval 157"/>
          <p:cNvSpPr>
            <a:spLocks noChangeArrowheads="1"/>
          </p:cNvSpPr>
          <p:nvPr/>
        </p:nvSpPr>
        <p:spPr bwMode="auto">
          <a:xfrm>
            <a:off x="8153400" y="3352800"/>
            <a:ext cx="5334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82487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3657600" y="685801"/>
            <a:ext cx="4191000" cy="2652713"/>
            <a:chOff x="480" y="432"/>
            <a:chExt cx="2640" cy="1671"/>
          </a:xfrm>
        </p:grpSpPr>
        <p:grpSp>
          <p:nvGrpSpPr>
            <p:cNvPr id="21595" name="Group 3"/>
            <p:cNvGrpSpPr>
              <a:grpSpLocks/>
            </p:cNvGrpSpPr>
            <p:nvPr/>
          </p:nvGrpSpPr>
          <p:grpSpPr bwMode="auto">
            <a:xfrm>
              <a:off x="480" y="432"/>
              <a:ext cx="2640" cy="1536"/>
              <a:chOff x="480" y="432"/>
              <a:chExt cx="2640" cy="1536"/>
            </a:xfrm>
          </p:grpSpPr>
          <p:grpSp>
            <p:nvGrpSpPr>
              <p:cNvPr id="21597" name="Group 4"/>
              <p:cNvGrpSpPr>
                <a:grpSpLocks/>
              </p:cNvGrpSpPr>
              <p:nvPr/>
            </p:nvGrpSpPr>
            <p:grpSpPr bwMode="auto">
              <a:xfrm>
                <a:off x="480" y="432"/>
                <a:ext cx="2112" cy="1536"/>
                <a:chOff x="1488" y="2592"/>
                <a:chExt cx="2112" cy="1536"/>
              </a:xfrm>
            </p:grpSpPr>
            <p:grpSp>
              <p:nvGrpSpPr>
                <p:cNvPr id="21603" name="Group 5"/>
                <p:cNvGrpSpPr>
                  <a:grpSpLocks/>
                </p:cNvGrpSpPr>
                <p:nvPr/>
              </p:nvGrpSpPr>
              <p:grpSpPr bwMode="auto">
                <a:xfrm>
                  <a:off x="1488" y="2592"/>
                  <a:ext cx="2112" cy="1234"/>
                  <a:chOff x="0" y="1632"/>
                  <a:chExt cx="2112" cy="1234"/>
                </a:xfrm>
              </p:grpSpPr>
              <p:grpSp>
                <p:nvGrpSpPr>
                  <p:cNvPr id="21607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88" y="1632"/>
                    <a:ext cx="1824" cy="1104"/>
                    <a:chOff x="240" y="2880"/>
                    <a:chExt cx="2160" cy="1440"/>
                  </a:xfrm>
                </p:grpSpPr>
                <p:grpSp>
                  <p:nvGrpSpPr>
                    <p:cNvPr id="21617" name="Group 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880"/>
                      <a:ext cx="1489" cy="1028"/>
                      <a:chOff x="3840" y="1632"/>
                      <a:chExt cx="1489" cy="1028"/>
                    </a:xfrm>
                  </p:grpSpPr>
                  <p:grpSp>
                    <p:nvGrpSpPr>
                      <p:cNvPr id="21623" name="Group 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40" y="1632"/>
                        <a:ext cx="1391" cy="971"/>
                        <a:chOff x="288" y="1045"/>
                        <a:chExt cx="1391" cy="971"/>
                      </a:xfrm>
                    </p:grpSpPr>
                    <p:sp>
                      <p:nvSpPr>
                        <p:cNvPr id="21628" name="Oval 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816" y="1045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629" name="Oval 1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" y="1607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630" name="Line 1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624" y="1454"/>
                          <a:ext cx="336" cy="153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 type="triangle" w="med" len="med"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1631" name="Text Box 1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912" y="1096"/>
                          <a:ext cx="767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4</a:t>
                          </a:r>
                        </a:p>
                      </p:txBody>
                    </p:sp>
                    <p:sp>
                      <p:nvSpPr>
                        <p:cNvPr id="21632" name="Text Box 1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4" y="1658"/>
                          <a:ext cx="48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2</a:t>
                          </a:r>
                        </a:p>
                      </p:txBody>
                    </p:sp>
                  </p:grpSp>
                  <p:grpSp>
                    <p:nvGrpSpPr>
                      <p:cNvPr id="21624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656" y="2016"/>
                        <a:ext cx="673" cy="644"/>
                        <a:chOff x="4272" y="2016"/>
                        <a:chExt cx="913" cy="805"/>
                      </a:xfrm>
                    </p:grpSpPr>
                    <p:sp>
                      <p:nvSpPr>
                        <p:cNvPr id="21625" name="Oval 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704" y="2352"/>
                          <a:ext cx="480" cy="384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626" name="Text Box 1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704" y="2351"/>
                          <a:ext cx="481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2400">
                              <a:latin typeface="Times New Roman" panose="02020603050405020304" pitchFamily="18" charset="0"/>
                            </a:rPr>
                            <a:t>6</a:t>
                          </a:r>
                        </a:p>
                      </p:txBody>
                    </p:sp>
                    <p:sp>
                      <p:nvSpPr>
                        <p:cNvPr id="21627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272" y="2016"/>
                          <a:ext cx="624" cy="33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1618" name="Group 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80" y="3809"/>
                      <a:ext cx="720" cy="511"/>
                      <a:chOff x="1056" y="1454"/>
                      <a:chExt cx="720" cy="511"/>
                    </a:xfrm>
                  </p:grpSpPr>
                  <p:sp>
                    <p:nvSpPr>
                      <p:cNvPr id="21619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56" y="1454"/>
                        <a:ext cx="240" cy="10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1620" name="Group 2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56"/>
                        <a:ext cx="624" cy="409"/>
                        <a:chOff x="1152" y="1556"/>
                        <a:chExt cx="624" cy="409"/>
                      </a:xfrm>
                    </p:grpSpPr>
                    <p:sp>
                      <p:nvSpPr>
                        <p:cNvPr id="21621" name="Oval 2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52" y="1556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622" name="Text Box 2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1631"/>
                          <a:ext cx="57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7</a:t>
                          </a:r>
                        </a:p>
                      </p:txBody>
                    </p:sp>
                  </p:grpSp>
                </p:grpSp>
              </p:grpSp>
              <p:grpSp>
                <p:nvGrpSpPr>
                  <p:cNvPr id="21608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0" y="2352"/>
                    <a:ext cx="432" cy="514"/>
                    <a:chOff x="0" y="3758"/>
                    <a:chExt cx="672" cy="562"/>
                  </a:xfrm>
                </p:grpSpPr>
                <p:sp>
                  <p:nvSpPr>
                    <p:cNvPr id="21614" name="Oval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3911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1615" name="Line 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" y="3758"/>
                      <a:ext cx="336" cy="15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616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6" y="3962"/>
                      <a:ext cx="480" cy="25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21609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576" y="2352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1610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1611" name="Group 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1612" name="Oval 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1613" name="Text Box 3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2"/>
                        <a:ext cx="576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</p:grpSp>
              </p:grpSp>
            </p:grpSp>
            <p:sp>
              <p:nvSpPr>
                <p:cNvPr id="21604" name="Oval 32"/>
                <p:cNvSpPr>
                  <a:spLocks noChangeArrowheads="1"/>
                </p:cNvSpPr>
                <p:nvPr/>
              </p:nvSpPr>
              <p:spPr bwMode="auto">
                <a:xfrm>
                  <a:off x="2544" y="3840"/>
                  <a:ext cx="336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160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640" y="3840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21606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2736" y="3312"/>
                  <a:ext cx="144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98" name="Group 35"/>
              <p:cNvGrpSpPr>
                <a:grpSpLocks/>
              </p:cNvGrpSpPr>
              <p:nvPr/>
            </p:nvGrpSpPr>
            <p:grpSpPr bwMode="auto">
              <a:xfrm>
                <a:off x="2400" y="1440"/>
                <a:ext cx="720" cy="511"/>
                <a:chOff x="1056" y="1454"/>
                <a:chExt cx="720" cy="511"/>
              </a:xfrm>
            </p:grpSpPr>
            <p:sp>
              <p:nvSpPr>
                <p:cNvPr id="21599" name="Line 36"/>
                <p:cNvSpPr>
                  <a:spLocks noChangeShapeType="1"/>
                </p:cNvSpPr>
                <p:nvPr/>
              </p:nvSpPr>
              <p:spPr bwMode="auto">
                <a:xfrm>
                  <a:off x="1056" y="1454"/>
                  <a:ext cx="240" cy="1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1600" name="Group 37"/>
                <p:cNvGrpSpPr>
                  <a:grpSpLocks/>
                </p:cNvGrpSpPr>
                <p:nvPr/>
              </p:nvGrpSpPr>
              <p:grpSpPr bwMode="auto">
                <a:xfrm>
                  <a:off x="1152" y="1556"/>
                  <a:ext cx="624" cy="409"/>
                  <a:chOff x="1152" y="1556"/>
                  <a:chExt cx="624" cy="409"/>
                </a:xfrm>
              </p:grpSpPr>
              <p:sp>
                <p:nvSpPr>
                  <p:cNvPr id="21601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556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1602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632"/>
                    <a:ext cx="5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16</a:t>
                    </a:r>
                  </a:p>
                </p:txBody>
              </p:sp>
            </p:grpSp>
          </p:grpSp>
        </p:grpSp>
        <p:sp>
          <p:nvSpPr>
            <p:cNvPr id="21596" name="Text Box 40"/>
            <p:cNvSpPr txBox="1">
              <a:spLocks noChangeArrowheads="1"/>
            </p:cNvSpPr>
            <p:nvPr/>
          </p:nvSpPr>
          <p:spPr bwMode="auto">
            <a:xfrm>
              <a:off x="1872" y="187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12</a:t>
              </a:r>
            </a:p>
          </p:txBody>
        </p:sp>
      </p:grpSp>
      <p:grpSp>
        <p:nvGrpSpPr>
          <p:cNvPr id="344105" name="Group 41"/>
          <p:cNvGrpSpPr>
            <a:grpSpLocks/>
          </p:cNvGrpSpPr>
          <p:nvPr/>
        </p:nvGrpSpPr>
        <p:grpSpPr bwMode="auto">
          <a:xfrm>
            <a:off x="1828800" y="3527426"/>
            <a:ext cx="4191000" cy="3025775"/>
            <a:chOff x="3120" y="432"/>
            <a:chExt cx="2640" cy="1906"/>
          </a:xfrm>
        </p:grpSpPr>
        <p:grpSp>
          <p:nvGrpSpPr>
            <p:cNvPr id="21553" name="Group 42"/>
            <p:cNvGrpSpPr>
              <a:grpSpLocks/>
            </p:cNvGrpSpPr>
            <p:nvPr/>
          </p:nvGrpSpPr>
          <p:grpSpPr bwMode="auto">
            <a:xfrm>
              <a:off x="3120" y="432"/>
              <a:ext cx="2640" cy="1906"/>
              <a:chOff x="3120" y="432"/>
              <a:chExt cx="2640" cy="1906"/>
            </a:xfrm>
          </p:grpSpPr>
          <p:grpSp>
            <p:nvGrpSpPr>
              <p:cNvPr id="21555" name="Group 43"/>
              <p:cNvGrpSpPr>
                <a:grpSpLocks/>
              </p:cNvGrpSpPr>
              <p:nvPr/>
            </p:nvGrpSpPr>
            <p:grpSpPr bwMode="auto">
              <a:xfrm>
                <a:off x="3120" y="432"/>
                <a:ext cx="2640" cy="1536"/>
                <a:chOff x="480" y="432"/>
                <a:chExt cx="2640" cy="1536"/>
              </a:xfrm>
            </p:grpSpPr>
            <p:grpSp>
              <p:nvGrpSpPr>
                <p:cNvPr id="21559" name="Group 44"/>
                <p:cNvGrpSpPr>
                  <a:grpSpLocks/>
                </p:cNvGrpSpPr>
                <p:nvPr/>
              </p:nvGrpSpPr>
              <p:grpSpPr bwMode="auto">
                <a:xfrm>
                  <a:off x="480" y="432"/>
                  <a:ext cx="2112" cy="1536"/>
                  <a:chOff x="1488" y="2592"/>
                  <a:chExt cx="2112" cy="1536"/>
                </a:xfrm>
              </p:grpSpPr>
              <p:grpSp>
                <p:nvGrpSpPr>
                  <p:cNvPr id="21565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1488" y="2592"/>
                    <a:ext cx="2112" cy="1234"/>
                    <a:chOff x="0" y="1632"/>
                    <a:chExt cx="2112" cy="1234"/>
                  </a:xfrm>
                </p:grpSpPr>
                <p:grpSp>
                  <p:nvGrpSpPr>
                    <p:cNvPr id="21569" name="Group 4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1632"/>
                      <a:ext cx="1824" cy="1104"/>
                      <a:chOff x="240" y="2880"/>
                      <a:chExt cx="2160" cy="1440"/>
                    </a:xfrm>
                  </p:grpSpPr>
                  <p:grpSp>
                    <p:nvGrpSpPr>
                      <p:cNvPr id="21579" name="Group 4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40" y="2880"/>
                        <a:ext cx="1489" cy="1028"/>
                        <a:chOff x="3840" y="1632"/>
                        <a:chExt cx="1489" cy="1028"/>
                      </a:xfrm>
                    </p:grpSpPr>
                    <p:grpSp>
                      <p:nvGrpSpPr>
                        <p:cNvPr id="21585" name="Group 4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840" y="1632"/>
                          <a:ext cx="1391" cy="971"/>
                          <a:chOff x="288" y="1045"/>
                          <a:chExt cx="1391" cy="971"/>
                        </a:xfrm>
                      </p:grpSpPr>
                      <p:sp>
                        <p:nvSpPr>
                          <p:cNvPr id="21590" name="Oval 4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16" y="1045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1591" name="Oval 5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8" y="1607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1592" name="Line 5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624" y="1454"/>
                            <a:ext cx="336" cy="153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 type="triangle" w="med" len="med"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1593" name="Text Box 5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912" y="1096"/>
                            <a:ext cx="767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4</a:t>
                            </a:r>
                          </a:p>
                        </p:txBody>
                      </p:sp>
                      <p:sp>
                        <p:nvSpPr>
                          <p:cNvPr id="21594" name="Text Box 53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84" y="1658"/>
                            <a:ext cx="480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grpSp>
                      <p:nvGrpSpPr>
                        <p:cNvPr id="21586" name="Group 5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656" y="2016"/>
                          <a:ext cx="673" cy="644"/>
                          <a:chOff x="4272" y="2016"/>
                          <a:chExt cx="913" cy="805"/>
                        </a:xfrm>
                      </p:grpSpPr>
                      <p:sp>
                        <p:nvSpPr>
                          <p:cNvPr id="21587" name="Oval 5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4" y="2352"/>
                            <a:ext cx="480" cy="384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1588" name="Text Box 56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4" y="2351"/>
                            <a:ext cx="481" cy="4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2400">
                                <a:latin typeface="Times New Roman" panose="02020603050405020304" pitchFamily="18" charset="0"/>
                              </a:rPr>
                              <a:t>6</a:t>
                            </a:r>
                          </a:p>
                        </p:txBody>
                      </p:sp>
                      <p:sp>
                        <p:nvSpPr>
                          <p:cNvPr id="21589" name="Line 5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272" y="2016"/>
                            <a:ext cx="624" cy="33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21580" name="Group 5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80" y="3809"/>
                        <a:ext cx="720" cy="511"/>
                        <a:chOff x="1056" y="1454"/>
                        <a:chExt cx="720" cy="511"/>
                      </a:xfrm>
                    </p:grpSpPr>
                    <p:sp>
                      <p:nvSpPr>
                        <p:cNvPr id="21581" name="Line 5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56" y="1454"/>
                          <a:ext cx="240" cy="10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 type="triangle" w="med" len="med"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21582" name="Group 6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52" y="1556"/>
                          <a:ext cx="624" cy="409"/>
                          <a:chOff x="1152" y="1556"/>
                          <a:chExt cx="624" cy="409"/>
                        </a:xfrm>
                      </p:grpSpPr>
                      <p:sp>
                        <p:nvSpPr>
                          <p:cNvPr id="21583" name="Oval 6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152" y="1556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1584" name="Text Box 6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200" y="1631"/>
                            <a:ext cx="57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7</a:t>
                            </a: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1570" name="Group 6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2352"/>
                      <a:ext cx="432" cy="514"/>
                      <a:chOff x="0" y="3758"/>
                      <a:chExt cx="672" cy="562"/>
                    </a:xfrm>
                  </p:grpSpPr>
                  <p:sp>
                    <p:nvSpPr>
                      <p:cNvPr id="21576" name="Oval 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911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1577" name="Line 65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3758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578" name="Text Box 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6" y="3962"/>
                        <a:ext cx="480" cy="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</p:grpSp>
                <p:grpSp>
                  <p:nvGrpSpPr>
                    <p:cNvPr id="21571" name="Group 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6" y="2352"/>
                      <a:ext cx="720" cy="511"/>
                      <a:chOff x="1056" y="1454"/>
                      <a:chExt cx="720" cy="511"/>
                    </a:xfrm>
                  </p:grpSpPr>
                  <p:sp>
                    <p:nvSpPr>
                      <p:cNvPr id="21572" name="Line 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56" y="1454"/>
                        <a:ext cx="240" cy="10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1573" name="Group 6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56"/>
                        <a:ext cx="624" cy="409"/>
                        <a:chOff x="1152" y="1556"/>
                        <a:chExt cx="624" cy="409"/>
                      </a:xfrm>
                    </p:grpSpPr>
                    <p:sp>
                      <p:nvSpPr>
                        <p:cNvPr id="21574" name="Oval 7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52" y="1556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575" name="Text Box 7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1632"/>
                          <a:ext cx="576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3</a:t>
                          </a:r>
                        </a:p>
                      </p:txBody>
                    </p:sp>
                  </p:grpSp>
                </p:grpSp>
              </p:grpSp>
              <p:sp>
                <p:nvSpPr>
                  <p:cNvPr id="21566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2544" y="3840"/>
                    <a:ext cx="336" cy="28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1567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40" y="3840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5</a:t>
                    </a:r>
                  </a:p>
                </p:txBody>
              </p:sp>
              <p:sp>
                <p:nvSpPr>
                  <p:cNvPr id="21568" name="Line 7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36" y="3312"/>
                    <a:ext cx="144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560" name="Group 75"/>
                <p:cNvGrpSpPr>
                  <a:grpSpLocks/>
                </p:cNvGrpSpPr>
                <p:nvPr/>
              </p:nvGrpSpPr>
              <p:grpSpPr bwMode="auto">
                <a:xfrm>
                  <a:off x="2400" y="1440"/>
                  <a:ext cx="720" cy="511"/>
                  <a:chOff x="1056" y="1454"/>
                  <a:chExt cx="720" cy="511"/>
                </a:xfrm>
              </p:grpSpPr>
              <p:sp>
                <p:nvSpPr>
                  <p:cNvPr id="21561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156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1563" name="Oval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1564" name="Text Box 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2"/>
                      <a:ext cx="576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16</a:t>
                      </a:r>
                    </a:p>
                  </p:txBody>
                </p:sp>
              </p:grpSp>
            </p:grpSp>
          </p:grpSp>
          <p:sp>
            <p:nvSpPr>
              <p:cNvPr id="21556" name="Oval 80"/>
              <p:cNvSpPr>
                <a:spLocks noChangeArrowheads="1"/>
              </p:cNvSpPr>
              <p:nvPr/>
            </p:nvSpPr>
            <p:spPr bwMode="auto">
              <a:xfrm>
                <a:off x="4752" y="2064"/>
                <a:ext cx="288" cy="27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sp>
            <p:nvSpPr>
              <p:cNvPr id="21557" name="Line 81"/>
              <p:cNvSpPr>
                <a:spLocks noChangeShapeType="1"/>
              </p:cNvSpPr>
              <p:nvPr/>
            </p:nvSpPr>
            <p:spPr bwMode="auto">
              <a:xfrm flipH="1">
                <a:off x="4944" y="1920"/>
                <a:ext cx="336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8" name="Text Box 82"/>
              <p:cNvSpPr txBox="1">
                <a:spLocks noChangeArrowheads="1"/>
              </p:cNvSpPr>
              <p:nvPr/>
            </p:nvSpPr>
            <p:spPr bwMode="auto">
              <a:xfrm>
                <a:off x="4704" y="2064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15</a:t>
                </a:r>
              </a:p>
            </p:txBody>
          </p:sp>
        </p:grpSp>
        <p:sp>
          <p:nvSpPr>
            <p:cNvPr id="21554" name="Text Box 83"/>
            <p:cNvSpPr txBox="1">
              <a:spLocks noChangeArrowheads="1"/>
            </p:cNvSpPr>
            <p:nvPr/>
          </p:nvSpPr>
          <p:spPr bwMode="auto">
            <a:xfrm>
              <a:off x="3744" y="196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13</a:t>
              </a:r>
            </a:p>
          </p:txBody>
        </p:sp>
      </p:grpSp>
      <p:grpSp>
        <p:nvGrpSpPr>
          <p:cNvPr id="344148" name="Group 84"/>
          <p:cNvGrpSpPr>
            <a:grpSpLocks/>
          </p:cNvGrpSpPr>
          <p:nvPr/>
        </p:nvGrpSpPr>
        <p:grpSpPr bwMode="auto">
          <a:xfrm>
            <a:off x="6400800" y="3900488"/>
            <a:ext cx="4191000" cy="2576512"/>
            <a:chOff x="384" y="2160"/>
            <a:chExt cx="2640" cy="1623"/>
          </a:xfrm>
        </p:grpSpPr>
        <p:grpSp>
          <p:nvGrpSpPr>
            <p:cNvPr id="21512" name="Group 85"/>
            <p:cNvGrpSpPr>
              <a:grpSpLocks/>
            </p:cNvGrpSpPr>
            <p:nvPr/>
          </p:nvGrpSpPr>
          <p:grpSpPr bwMode="auto">
            <a:xfrm>
              <a:off x="384" y="2160"/>
              <a:ext cx="2640" cy="1618"/>
              <a:chOff x="864" y="2112"/>
              <a:chExt cx="2640" cy="1618"/>
            </a:xfrm>
          </p:grpSpPr>
          <p:sp>
            <p:nvSpPr>
              <p:cNvPr id="21514" name="Line 86"/>
              <p:cNvSpPr>
                <a:spLocks noChangeShapeType="1"/>
              </p:cNvSpPr>
              <p:nvPr/>
            </p:nvSpPr>
            <p:spPr bwMode="auto">
              <a:xfrm flipH="1">
                <a:off x="2208" y="2832"/>
                <a:ext cx="4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515" name="Group 87"/>
              <p:cNvGrpSpPr>
                <a:grpSpLocks/>
              </p:cNvGrpSpPr>
              <p:nvPr/>
            </p:nvGrpSpPr>
            <p:grpSpPr bwMode="auto">
              <a:xfrm>
                <a:off x="864" y="2112"/>
                <a:ext cx="2640" cy="1618"/>
                <a:chOff x="864" y="2112"/>
                <a:chExt cx="2640" cy="1618"/>
              </a:xfrm>
            </p:grpSpPr>
            <p:grpSp>
              <p:nvGrpSpPr>
                <p:cNvPr id="21516" name="Group 88"/>
                <p:cNvGrpSpPr>
                  <a:grpSpLocks/>
                </p:cNvGrpSpPr>
                <p:nvPr/>
              </p:nvGrpSpPr>
              <p:grpSpPr bwMode="auto">
                <a:xfrm>
                  <a:off x="864" y="2112"/>
                  <a:ext cx="2112" cy="1234"/>
                  <a:chOff x="0" y="1632"/>
                  <a:chExt cx="2112" cy="1234"/>
                </a:xfrm>
              </p:grpSpPr>
              <p:grpSp>
                <p:nvGrpSpPr>
                  <p:cNvPr id="21527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288" y="1632"/>
                    <a:ext cx="1824" cy="1104"/>
                    <a:chOff x="240" y="2880"/>
                    <a:chExt cx="2160" cy="1440"/>
                  </a:xfrm>
                </p:grpSpPr>
                <p:grpSp>
                  <p:nvGrpSpPr>
                    <p:cNvPr id="21537" name="Group 9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880"/>
                      <a:ext cx="1489" cy="1028"/>
                      <a:chOff x="3840" y="1632"/>
                      <a:chExt cx="1489" cy="1028"/>
                    </a:xfrm>
                  </p:grpSpPr>
                  <p:grpSp>
                    <p:nvGrpSpPr>
                      <p:cNvPr id="21543" name="Group 9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40" y="1632"/>
                        <a:ext cx="1391" cy="971"/>
                        <a:chOff x="288" y="1045"/>
                        <a:chExt cx="1391" cy="971"/>
                      </a:xfrm>
                    </p:grpSpPr>
                    <p:sp>
                      <p:nvSpPr>
                        <p:cNvPr id="21548" name="Oval 9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816" y="1045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549" name="Oval 9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" y="1607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550" name="Line 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624" y="1454"/>
                          <a:ext cx="336" cy="153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 type="triangle" w="med" len="med"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1551" name="Text Box 9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912" y="1096"/>
                          <a:ext cx="767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4</a:t>
                          </a:r>
                        </a:p>
                      </p:txBody>
                    </p:sp>
                    <p:sp>
                      <p:nvSpPr>
                        <p:cNvPr id="21552" name="Text Box 9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4" y="1658"/>
                          <a:ext cx="48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2</a:t>
                          </a:r>
                        </a:p>
                      </p:txBody>
                    </p:sp>
                  </p:grpSp>
                  <p:grpSp>
                    <p:nvGrpSpPr>
                      <p:cNvPr id="21544" name="Group 9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656" y="2016"/>
                        <a:ext cx="673" cy="644"/>
                        <a:chOff x="4272" y="2016"/>
                        <a:chExt cx="913" cy="805"/>
                      </a:xfrm>
                    </p:grpSpPr>
                    <p:sp>
                      <p:nvSpPr>
                        <p:cNvPr id="21545" name="Oval 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704" y="2352"/>
                          <a:ext cx="480" cy="384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546" name="Text Box 9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704" y="2351"/>
                          <a:ext cx="481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2400">
                              <a:latin typeface="Times New Roman" panose="02020603050405020304" pitchFamily="18" charset="0"/>
                            </a:rPr>
                            <a:t>6</a:t>
                          </a:r>
                        </a:p>
                      </p:txBody>
                    </p:sp>
                    <p:sp>
                      <p:nvSpPr>
                        <p:cNvPr id="21547" name="Line 10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272" y="2016"/>
                          <a:ext cx="624" cy="33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1538" name="Group 1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80" y="3809"/>
                      <a:ext cx="720" cy="511"/>
                      <a:chOff x="1056" y="1454"/>
                      <a:chExt cx="720" cy="511"/>
                    </a:xfrm>
                  </p:grpSpPr>
                  <p:sp>
                    <p:nvSpPr>
                      <p:cNvPr id="21539" name="Line 1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56" y="1454"/>
                        <a:ext cx="240" cy="10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1540" name="Group 10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56"/>
                        <a:ext cx="624" cy="409"/>
                        <a:chOff x="1152" y="1556"/>
                        <a:chExt cx="624" cy="409"/>
                      </a:xfrm>
                    </p:grpSpPr>
                    <p:sp>
                      <p:nvSpPr>
                        <p:cNvPr id="21541" name="Oval 1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52" y="1556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1542" name="Text Box 10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1631"/>
                          <a:ext cx="57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15</a:t>
                          </a:r>
                        </a:p>
                      </p:txBody>
                    </p:sp>
                  </p:grpSp>
                </p:grpSp>
              </p:grpSp>
              <p:grpSp>
                <p:nvGrpSpPr>
                  <p:cNvPr id="21528" name="Group 106"/>
                  <p:cNvGrpSpPr>
                    <a:grpSpLocks/>
                  </p:cNvGrpSpPr>
                  <p:nvPr/>
                </p:nvGrpSpPr>
                <p:grpSpPr bwMode="auto">
                  <a:xfrm>
                    <a:off x="0" y="2352"/>
                    <a:ext cx="432" cy="514"/>
                    <a:chOff x="0" y="3758"/>
                    <a:chExt cx="672" cy="562"/>
                  </a:xfrm>
                </p:grpSpPr>
                <p:sp>
                  <p:nvSpPr>
                    <p:cNvPr id="21534" name="Oval 1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3911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1535" name="Line 10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" y="3758"/>
                      <a:ext cx="336" cy="15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536" name="Text Box 10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6" y="3962"/>
                      <a:ext cx="480" cy="25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21529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576" y="2352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1530" name="Line 1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1531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1532" name="Oval 1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1533" name="Text Box 1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2"/>
                        <a:ext cx="576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</p:grpSp>
              </p:grpSp>
            </p:grpSp>
            <p:sp>
              <p:nvSpPr>
                <p:cNvPr id="21517" name="Oval 115"/>
                <p:cNvSpPr>
                  <a:spLocks noChangeArrowheads="1"/>
                </p:cNvSpPr>
                <p:nvPr/>
              </p:nvSpPr>
              <p:spPr bwMode="auto">
                <a:xfrm>
                  <a:off x="2064" y="3072"/>
                  <a:ext cx="336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1518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2112" y="3072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grpSp>
              <p:nvGrpSpPr>
                <p:cNvPr id="21519" name="Group 117"/>
                <p:cNvGrpSpPr>
                  <a:grpSpLocks/>
                </p:cNvGrpSpPr>
                <p:nvPr/>
              </p:nvGrpSpPr>
              <p:grpSpPr bwMode="auto">
                <a:xfrm>
                  <a:off x="2784" y="3120"/>
                  <a:ext cx="720" cy="511"/>
                  <a:chOff x="1056" y="1454"/>
                  <a:chExt cx="720" cy="511"/>
                </a:xfrm>
              </p:grpSpPr>
              <p:sp>
                <p:nvSpPr>
                  <p:cNvPr id="21523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1454"/>
                    <a:ext cx="240" cy="1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1524" name="Group 119"/>
                  <p:cNvGrpSpPr>
                    <a:grpSpLocks/>
                  </p:cNvGrpSpPr>
                  <p:nvPr/>
                </p:nvGrpSpPr>
                <p:grpSpPr bwMode="auto">
                  <a:xfrm>
                    <a:off x="1152" y="1556"/>
                    <a:ext cx="624" cy="409"/>
                    <a:chOff x="1152" y="1556"/>
                    <a:chExt cx="624" cy="409"/>
                  </a:xfrm>
                </p:grpSpPr>
                <p:sp>
                  <p:nvSpPr>
                    <p:cNvPr id="21525" name="Oval 1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1526" name="Text Box 1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2"/>
                      <a:ext cx="576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16</a:t>
                      </a:r>
                    </a:p>
                  </p:txBody>
                </p:sp>
              </p:grpSp>
            </p:grpSp>
            <p:sp>
              <p:nvSpPr>
                <p:cNvPr id="21520" name="Oval 122"/>
                <p:cNvSpPr>
                  <a:spLocks noChangeArrowheads="1"/>
                </p:cNvSpPr>
                <p:nvPr/>
              </p:nvSpPr>
              <p:spPr bwMode="auto">
                <a:xfrm>
                  <a:off x="2400" y="3456"/>
                  <a:ext cx="288" cy="27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>
                      <a:schemeClr val="tx2"/>
                    </a:buClr>
                    <a:buFont typeface="Monotype Sorts" pitchFamily="2" charset="2"/>
                    <a:buChar char="l"/>
                  </a:pPr>
                  <a:endParaRPr lang="en-US" altLang="en-US" sz="2000"/>
                </a:p>
              </p:txBody>
            </p:sp>
            <p:sp>
              <p:nvSpPr>
                <p:cNvPr id="21521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2448" y="3456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Char char="*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1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65000"/>
                    <a:buFont typeface="Monotype Sort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Monotype Sorts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21522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544" y="3216"/>
                  <a:ext cx="48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1513" name="Text Box 125"/>
            <p:cNvSpPr txBox="1">
              <a:spLocks noChangeArrowheads="1"/>
            </p:cNvSpPr>
            <p:nvPr/>
          </p:nvSpPr>
          <p:spPr bwMode="auto">
            <a:xfrm>
              <a:off x="1008" y="355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14</a:t>
              </a:r>
            </a:p>
          </p:txBody>
        </p:sp>
      </p:grpSp>
      <p:sp>
        <p:nvSpPr>
          <p:cNvPr id="21509" name="Line 126"/>
          <p:cNvSpPr>
            <a:spLocks noChangeShapeType="1"/>
          </p:cNvSpPr>
          <p:nvPr/>
        </p:nvSpPr>
        <p:spPr bwMode="auto">
          <a:xfrm>
            <a:off x="5332413" y="4343400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Text Box 127"/>
          <p:cNvSpPr txBox="1">
            <a:spLocks noChangeArrowheads="1"/>
          </p:cNvSpPr>
          <p:nvPr/>
        </p:nvSpPr>
        <p:spPr bwMode="auto">
          <a:xfrm>
            <a:off x="4799014" y="3810001"/>
            <a:ext cx="190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Double rotation</a:t>
            </a:r>
          </a:p>
        </p:txBody>
      </p:sp>
      <p:sp>
        <p:nvSpPr>
          <p:cNvPr id="21511" name="Oval 128"/>
          <p:cNvSpPr>
            <a:spLocks noChangeArrowheads="1"/>
          </p:cNvSpPr>
          <p:nvPr/>
        </p:nvSpPr>
        <p:spPr bwMode="auto">
          <a:xfrm>
            <a:off x="4343400" y="4822825"/>
            <a:ext cx="5334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67741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090" name="Group 2"/>
          <p:cNvGrpSpPr>
            <a:grpSpLocks/>
          </p:cNvGrpSpPr>
          <p:nvPr/>
        </p:nvGrpSpPr>
        <p:grpSpPr bwMode="auto">
          <a:xfrm>
            <a:off x="6477000" y="1474788"/>
            <a:ext cx="4191000" cy="3262312"/>
            <a:chOff x="3120" y="192"/>
            <a:chExt cx="2640" cy="2055"/>
          </a:xfrm>
        </p:grpSpPr>
        <p:grpSp>
          <p:nvGrpSpPr>
            <p:cNvPr id="22582" name="Group 3"/>
            <p:cNvGrpSpPr>
              <a:grpSpLocks/>
            </p:cNvGrpSpPr>
            <p:nvPr/>
          </p:nvGrpSpPr>
          <p:grpSpPr bwMode="auto">
            <a:xfrm>
              <a:off x="3120" y="192"/>
              <a:ext cx="2640" cy="1810"/>
              <a:chOff x="3120" y="192"/>
              <a:chExt cx="2640" cy="1810"/>
            </a:xfrm>
          </p:grpSpPr>
          <p:sp>
            <p:nvSpPr>
              <p:cNvPr id="22584" name="Oval 4"/>
              <p:cNvSpPr>
                <a:spLocks noChangeArrowheads="1"/>
              </p:cNvSpPr>
              <p:nvPr/>
            </p:nvSpPr>
            <p:spPr bwMode="auto">
              <a:xfrm>
                <a:off x="5040" y="1584"/>
                <a:ext cx="288" cy="27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Char char="*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1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Monotype Sort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>
                    <a:schemeClr val="tx2"/>
                  </a:buClr>
                  <a:buFont typeface="Monotype Sorts" pitchFamily="2" charset="2"/>
                  <a:buChar char="l"/>
                </a:pPr>
                <a:endParaRPr lang="en-US" altLang="en-US" sz="2000"/>
              </a:p>
            </p:txBody>
          </p:sp>
          <p:grpSp>
            <p:nvGrpSpPr>
              <p:cNvPr id="22585" name="Group 5"/>
              <p:cNvGrpSpPr>
                <a:grpSpLocks/>
              </p:cNvGrpSpPr>
              <p:nvPr/>
            </p:nvGrpSpPr>
            <p:grpSpPr bwMode="auto">
              <a:xfrm>
                <a:off x="3120" y="192"/>
                <a:ext cx="2640" cy="1810"/>
                <a:chOff x="3120" y="192"/>
                <a:chExt cx="2640" cy="1810"/>
              </a:xfrm>
            </p:grpSpPr>
            <p:grpSp>
              <p:nvGrpSpPr>
                <p:cNvPr id="22586" name="Group 6"/>
                <p:cNvGrpSpPr>
                  <a:grpSpLocks/>
                </p:cNvGrpSpPr>
                <p:nvPr/>
              </p:nvGrpSpPr>
              <p:grpSpPr bwMode="auto">
                <a:xfrm>
                  <a:off x="3840" y="1440"/>
                  <a:ext cx="672" cy="562"/>
                  <a:chOff x="0" y="3758"/>
                  <a:chExt cx="672" cy="562"/>
                </a:xfrm>
              </p:grpSpPr>
              <p:sp>
                <p:nvSpPr>
                  <p:cNvPr id="22624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911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2625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" y="3758"/>
                    <a:ext cx="336" cy="1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26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" y="3962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5</a:t>
                    </a:r>
                  </a:p>
                </p:txBody>
              </p:sp>
            </p:grpSp>
            <p:grpSp>
              <p:nvGrpSpPr>
                <p:cNvPr id="22587" name="Group 10"/>
                <p:cNvGrpSpPr>
                  <a:grpSpLocks/>
                </p:cNvGrpSpPr>
                <p:nvPr/>
              </p:nvGrpSpPr>
              <p:grpSpPr bwMode="auto">
                <a:xfrm>
                  <a:off x="3120" y="192"/>
                  <a:ext cx="2640" cy="1625"/>
                  <a:chOff x="3120" y="192"/>
                  <a:chExt cx="2640" cy="1625"/>
                </a:xfrm>
              </p:grpSpPr>
              <p:sp>
                <p:nvSpPr>
                  <p:cNvPr id="22588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4" y="912"/>
                    <a:ext cx="48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589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120" y="192"/>
                    <a:ext cx="2112" cy="1234"/>
                    <a:chOff x="0" y="1632"/>
                    <a:chExt cx="2112" cy="1234"/>
                  </a:xfrm>
                </p:grpSpPr>
                <p:grpSp>
                  <p:nvGrpSpPr>
                    <p:cNvPr id="22598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1632"/>
                      <a:ext cx="1824" cy="1104"/>
                      <a:chOff x="240" y="2880"/>
                      <a:chExt cx="2160" cy="1440"/>
                    </a:xfrm>
                  </p:grpSpPr>
                  <p:grpSp>
                    <p:nvGrpSpPr>
                      <p:cNvPr id="22608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40" y="2880"/>
                        <a:ext cx="1489" cy="971"/>
                        <a:chOff x="3840" y="1632"/>
                        <a:chExt cx="1489" cy="971"/>
                      </a:xfrm>
                    </p:grpSpPr>
                    <p:grpSp>
                      <p:nvGrpSpPr>
                        <p:cNvPr id="22614" name="Group 1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840" y="1632"/>
                          <a:ext cx="1391" cy="971"/>
                          <a:chOff x="288" y="1045"/>
                          <a:chExt cx="1391" cy="971"/>
                        </a:xfrm>
                      </p:grpSpPr>
                      <p:sp>
                        <p:nvSpPr>
                          <p:cNvPr id="22619" name="Oval 1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16" y="1045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620" name="Oval 1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8" y="1607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621" name="Line 1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624" y="1454"/>
                            <a:ext cx="336" cy="153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 type="triangle" w="med" len="med"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2622" name="Text Box 19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912" y="1096"/>
                            <a:ext cx="767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4</a:t>
                            </a:r>
                          </a:p>
                        </p:txBody>
                      </p:sp>
                      <p:sp>
                        <p:nvSpPr>
                          <p:cNvPr id="22623" name="Text Box 20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84" y="1658"/>
                            <a:ext cx="480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grpSp>
                      <p:nvGrpSpPr>
                        <p:cNvPr id="22615" name="Group 2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656" y="2016"/>
                          <a:ext cx="673" cy="576"/>
                          <a:chOff x="4272" y="2016"/>
                          <a:chExt cx="913" cy="720"/>
                        </a:xfrm>
                      </p:grpSpPr>
                      <p:sp>
                        <p:nvSpPr>
                          <p:cNvPr id="22616" name="Oval 2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4" y="2352"/>
                            <a:ext cx="480" cy="384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617" name="Text Box 23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3" y="2351"/>
                            <a:ext cx="482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7</a:t>
                            </a:r>
                          </a:p>
                        </p:txBody>
                      </p:sp>
                      <p:sp>
                        <p:nvSpPr>
                          <p:cNvPr id="22618" name="Line 2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272" y="2016"/>
                            <a:ext cx="624" cy="33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22609" name="Group 2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80" y="3809"/>
                        <a:ext cx="720" cy="511"/>
                        <a:chOff x="1056" y="1454"/>
                        <a:chExt cx="720" cy="511"/>
                      </a:xfrm>
                    </p:grpSpPr>
                    <p:sp>
                      <p:nvSpPr>
                        <p:cNvPr id="22610" name="Line 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56" y="1454"/>
                          <a:ext cx="240" cy="10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 type="triangle" w="med" len="med"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22611" name="Group 2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52" y="1556"/>
                          <a:ext cx="624" cy="409"/>
                          <a:chOff x="1152" y="1556"/>
                          <a:chExt cx="624" cy="409"/>
                        </a:xfrm>
                      </p:grpSpPr>
                      <p:sp>
                        <p:nvSpPr>
                          <p:cNvPr id="22612" name="Oval 2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152" y="1556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613" name="Text Box 29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200" y="1631"/>
                            <a:ext cx="57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15</a:t>
                            </a: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2599" name="Group 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2352"/>
                      <a:ext cx="432" cy="514"/>
                      <a:chOff x="0" y="3758"/>
                      <a:chExt cx="672" cy="562"/>
                    </a:xfrm>
                  </p:grpSpPr>
                  <p:sp>
                    <p:nvSpPr>
                      <p:cNvPr id="22605" name="Oval 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911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2606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3758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07" name="Text Box 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6" y="3962"/>
                        <a:ext cx="480" cy="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</p:grpSp>
                <p:grpSp>
                  <p:nvGrpSpPr>
                    <p:cNvPr id="22600" name="Group 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6" y="2352"/>
                      <a:ext cx="720" cy="511"/>
                      <a:chOff x="1056" y="1454"/>
                      <a:chExt cx="720" cy="511"/>
                    </a:xfrm>
                  </p:grpSpPr>
                  <p:sp>
                    <p:nvSpPr>
                      <p:cNvPr id="22601" name="Line 3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56" y="1454"/>
                        <a:ext cx="240" cy="10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602" name="Group 3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56"/>
                        <a:ext cx="624" cy="409"/>
                        <a:chOff x="1152" y="1556"/>
                        <a:chExt cx="624" cy="409"/>
                      </a:xfrm>
                    </p:grpSpPr>
                    <p:sp>
                      <p:nvSpPr>
                        <p:cNvPr id="22603" name="Oval 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52" y="1556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2604" name="Text Box 3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1632"/>
                          <a:ext cx="576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3</a:t>
                          </a:r>
                        </a:p>
                      </p:txBody>
                    </p:sp>
                  </p:grpSp>
                </p:grpSp>
              </p:grpSp>
              <p:sp>
                <p:nvSpPr>
                  <p:cNvPr id="22590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1152"/>
                    <a:ext cx="336" cy="28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2591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8" y="1152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6</a:t>
                    </a:r>
                  </a:p>
                </p:txBody>
              </p:sp>
              <p:grpSp>
                <p:nvGrpSpPr>
                  <p:cNvPr id="22592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5424" y="1536"/>
                    <a:ext cx="336" cy="281"/>
                    <a:chOff x="1152" y="1556"/>
                    <a:chExt cx="624" cy="424"/>
                  </a:xfrm>
                </p:grpSpPr>
                <p:sp>
                  <p:nvSpPr>
                    <p:cNvPr id="22596" name="Oval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556"/>
                      <a:ext cx="432" cy="409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buClr>
                          <a:schemeClr val="tx2"/>
                        </a:buClr>
                        <a:buFont typeface="Monotype Sorts" pitchFamily="2" charset="2"/>
                        <a:buChar char="l"/>
                      </a:pPr>
                      <a:endParaRPr lang="en-US" altLang="en-US" sz="2000"/>
                    </a:p>
                  </p:txBody>
                </p:sp>
                <p:sp>
                  <p:nvSpPr>
                    <p:cNvPr id="22597" name="Text Box 4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0" y="1631"/>
                      <a:ext cx="576" cy="3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Monotype Sorts" pitchFamily="2" charset="2"/>
                        <a:buChar char="*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buChar char="1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Monotype Sort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Monotype Sort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</a:rPr>
                        <a:t>16</a:t>
                      </a:r>
                    </a:p>
                  </p:txBody>
                </p:sp>
              </p:grpSp>
              <p:sp>
                <p:nvSpPr>
                  <p:cNvPr id="22593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88" y="1584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22594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104"/>
                    <a:ext cx="432" cy="4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595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5040" y="1248"/>
                    <a:ext cx="96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22583" name="Text Box 47"/>
            <p:cNvSpPr txBox="1">
              <a:spLocks noChangeArrowheads="1"/>
            </p:cNvSpPr>
            <p:nvPr/>
          </p:nvSpPr>
          <p:spPr bwMode="auto">
            <a:xfrm>
              <a:off x="4272" y="2016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16</a:t>
              </a:r>
            </a:p>
          </p:txBody>
        </p:sp>
      </p:grpSp>
      <p:grpSp>
        <p:nvGrpSpPr>
          <p:cNvPr id="22531" name="Group 48"/>
          <p:cNvGrpSpPr>
            <a:grpSpLocks/>
          </p:cNvGrpSpPr>
          <p:nvPr/>
        </p:nvGrpSpPr>
        <p:grpSpPr bwMode="auto">
          <a:xfrm>
            <a:off x="1905000" y="1550988"/>
            <a:ext cx="4191000" cy="3325812"/>
            <a:chOff x="240" y="240"/>
            <a:chExt cx="2640" cy="2095"/>
          </a:xfrm>
        </p:grpSpPr>
        <p:grpSp>
          <p:nvGrpSpPr>
            <p:cNvPr id="22535" name="Group 49"/>
            <p:cNvGrpSpPr>
              <a:grpSpLocks/>
            </p:cNvGrpSpPr>
            <p:nvPr/>
          </p:nvGrpSpPr>
          <p:grpSpPr bwMode="auto">
            <a:xfrm>
              <a:off x="240" y="240"/>
              <a:ext cx="2640" cy="2095"/>
              <a:chOff x="816" y="240"/>
              <a:chExt cx="2640" cy="2095"/>
            </a:xfrm>
          </p:grpSpPr>
          <p:grpSp>
            <p:nvGrpSpPr>
              <p:cNvPr id="22537" name="Group 50"/>
              <p:cNvGrpSpPr>
                <a:grpSpLocks/>
              </p:cNvGrpSpPr>
              <p:nvPr/>
            </p:nvGrpSpPr>
            <p:grpSpPr bwMode="auto">
              <a:xfrm>
                <a:off x="816" y="240"/>
                <a:ext cx="2640" cy="1618"/>
                <a:chOff x="864" y="2112"/>
                <a:chExt cx="2640" cy="1618"/>
              </a:xfrm>
            </p:grpSpPr>
            <p:sp>
              <p:nvSpPr>
                <p:cNvPr id="22543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2208" y="2832"/>
                  <a:ext cx="48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544" name="Group 52"/>
                <p:cNvGrpSpPr>
                  <a:grpSpLocks/>
                </p:cNvGrpSpPr>
                <p:nvPr/>
              </p:nvGrpSpPr>
              <p:grpSpPr bwMode="auto">
                <a:xfrm>
                  <a:off x="864" y="2112"/>
                  <a:ext cx="2640" cy="1618"/>
                  <a:chOff x="864" y="2112"/>
                  <a:chExt cx="2640" cy="1618"/>
                </a:xfrm>
              </p:grpSpPr>
              <p:grpSp>
                <p:nvGrpSpPr>
                  <p:cNvPr id="22545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64" y="2112"/>
                    <a:ext cx="2112" cy="1234"/>
                    <a:chOff x="0" y="1632"/>
                    <a:chExt cx="2112" cy="1234"/>
                  </a:xfrm>
                </p:grpSpPr>
                <p:grpSp>
                  <p:nvGrpSpPr>
                    <p:cNvPr id="22556" name="Group 5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1632"/>
                      <a:ext cx="1824" cy="1104"/>
                      <a:chOff x="240" y="2880"/>
                      <a:chExt cx="2160" cy="1440"/>
                    </a:xfrm>
                  </p:grpSpPr>
                  <p:grpSp>
                    <p:nvGrpSpPr>
                      <p:cNvPr id="22566" name="Group 5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40" y="2880"/>
                        <a:ext cx="1489" cy="1028"/>
                        <a:chOff x="3840" y="1632"/>
                        <a:chExt cx="1489" cy="1028"/>
                      </a:xfrm>
                    </p:grpSpPr>
                    <p:grpSp>
                      <p:nvGrpSpPr>
                        <p:cNvPr id="22572" name="Group 5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840" y="1632"/>
                          <a:ext cx="1391" cy="971"/>
                          <a:chOff x="288" y="1045"/>
                          <a:chExt cx="1391" cy="971"/>
                        </a:xfrm>
                      </p:grpSpPr>
                      <p:sp>
                        <p:nvSpPr>
                          <p:cNvPr id="22577" name="Oval 5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16" y="1045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578" name="Oval 5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8" y="1607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579" name="Line 5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624" y="1454"/>
                            <a:ext cx="336" cy="153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 type="triangle" w="med" len="med"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2580" name="Text Box 60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912" y="1096"/>
                            <a:ext cx="767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4</a:t>
                            </a:r>
                          </a:p>
                        </p:txBody>
                      </p:sp>
                      <p:sp>
                        <p:nvSpPr>
                          <p:cNvPr id="22581" name="Text Box 61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84" y="1658"/>
                            <a:ext cx="480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grpSp>
                      <p:nvGrpSpPr>
                        <p:cNvPr id="22573" name="Group 6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656" y="2016"/>
                          <a:ext cx="673" cy="644"/>
                          <a:chOff x="4272" y="2016"/>
                          <a:chExt cx="913" cy="805"/>
                        </a:xfrm>
                      </p:grpSpPr>
                      <p:sp>
                        <p:nvSpPr>
                          <p:cNvPr id="22574" name="Oval 6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4" y="2352"/>
                            <a:ext cx="480" cy="384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575" name="Text Box 64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704" y="2351"/>
                            <a:ext cx="481" cy="4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2400">
                                <a:latin typeface="Times New Roman" panose="02020603050405020304" pitchFamily="18" charset="0"/>
                              </a:rPr>
                              <a:t>6</a:t>
                            </a:r>
                          </a:p>
                        </p:txBody>
                      </p:sp>
                      <p:sp>
                        <p:nvSpPr>
                          <p:cNvPr id="22576" name="Line 6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272" y="2016"/>
                            <a:ext cx="624" cy="33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22567" name="Group 6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80" y="3809"/>
                        <a:ext cx="720" cy="511"/>
                        <a:chOff x="1056" y="1454"/>
                        <a:chExt cx="720" cy="511"/>
                      </a:xfrm>
                    </p:grpSpPr>
                    <p:sp>
                      <p:nvSpPr>
                        <p:cNvPr id="22568" name="Line 6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56" y="1454"/>
                          <a:ext cx="240" cy="10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 type="triangle" w="med" len="med"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22569" name="Group 6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52" y="1556"/>
                          <a:ext cx="624" cy="409"/>
                          <a:chOff x="1152" y="1556"/>
                          <a:chExt cx="624" cy="409"/>
                        </a:xfrm>
                      </p:grpSpPr>
                      <p:sp>
                        <p:nvSpPr>
                          <p:cNvPr id="22570" name="Oval 6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152" y="1556"/>
                            <a:ext cx="432" cy="409"/>
                          </a:xfrm>
                          <a:prstGeom prst="ellips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>
                              <a:buClr>
                                <a:schemeClr val="tx2"/>
                              </a:buClr>
                              <a:buFont typeface="Monotype Sorts" pitchFamily="2" charset="2"/>
                              <a:buChar char="l"/>
                            </a:pPr>
                            <a:endParaRPr lang="en-US" altLang="en-US" sz="2000"/>
                          </a:p>
                        </p:txBody>
                      </p:sp>
                      <p:sp>
                        <p:nvSpPr>
                          <p:cNvPr id="22571" name="Text Box 70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200" y="1631"/>
                            <a:ext cx="576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75000"/>
                              <a:buFont typeface="Monotype Sorts" pitchFamily="2" charset="2"/>
                              <a:buChar char="*"/>
                              <a:defRPr sz="28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4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Wingdings" panose="05000000000000000000" pitchFamily="2" charset="2"/>
                              <a:buChar char="1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Clr>
                                <a:schemeClr val="tx2"/>
                              </a:buClr>
                              <a:buSzPct val="65000"/>
                              <a:buFont typeface="Monotype Sorts" pitchFamily="2" charset="2"/>
                              <a:buChar char="l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folHlink"/>
                              </a:buClr>
                              <a:buSzPct val="80000"/>
                              <a:buFont typeface="Monotype Sorts" pitchFamily="2" charset="2"/>
                              <a:buChar char="n"/>
                              <a:defRPr sz="200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lang="en-US" altLang="en-US" sz="1800">
                                <a:latin typeface="Times New Roman" panose="02020603050405020304" pitchFamily="18" charset="0"/>
                              </a:rPr>
                              <a:t>15</a:t>
                            </a: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2557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2352"/>
                      <a:ext cx="432" cy="514"/>
                      <a:chOff x="0" y="3758"/>
                      <a:chExt cx="672" cy="562"/>
                    </a:xfrm>
                  </p:grpSpPr>
                  <p:sp>
                    <p:nvSpPr>
                      <p:cNvPr id="22563" name="Oval 7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911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2564" name="Line 7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3758"/>
                        <a:ext cx="336" cy="15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565" name="Text Box 7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6" y="3962"/>
                        <a:ext cx="480" cy="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</p:grpSp>
                <p:grpSp>
                  <p:nvGrpSpPr>
                    <p:cNvPr id="22558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6" y="2352"/>
                      <a:ext cx="720" cy="511"/>
                      <a:chOff x="1056" y="1454"/>
                      <a:chExt cx="720" cy="511"/>
                    </a:xfrm>
                  </p:grpSpPr>
                  <p:sp>
                    <p:nvSpPr>
                      <p:cNvPr id="22559" name="Line 7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56" y="1454"/>
                        <a:ext cx="240" cy="10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560" name="Group 7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56"/>
                        <a:ext cx="624" cy="409"/>
                        <a:chOff x="1152" y="1556"/>
                        <a:chExt cx="624" cy="409"/>
                      </a:xfrm>
                    </p:grpSpPr>
                    <p:sp>
                      <p:nvSpPr>
                        <p:cNvPr id="22561" name="Oval 7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52" y="1556"/>
                          <a:ext cx="432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>
                            <a:buClr>
                              <a:schemeClr val="tx2"/>
                            </a:buClr>
                            <a:buFont typeface="Monotype Sorts" pitchFamily="2" charset="2"/>
                            <a:buChar char="l"/>
                          </a:pPr>
                          <a:endParaRPr lang="en-US" altLang="en-US" sz="2000"/>
                        </a:p>
                      </p:txBody>
                    </p:sp>
                    <p:sp>
                      <p:nvSpPr>
                        <p:cNvPr id="22562" name="Text Box 7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1632"/>
                          <a:ext cx="576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75000"/>
                            <a:buFont typeface="Monotype Sorts" pitchFamily="2" charset="2"/>
                            <a:buChar char="*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Wingdings" panose="05000000000000000000" pitchFamily="2" charset="2"/>
                            <a:buChar char="1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65000"/>
                            <a:buFont typeface="Monotype Sorts" pitchFamily="2" charset="2"/>
                            <a:buChar char="l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80000"/>
                            <a:buFont typeface="Monotype Sorts" pitchFamily="2" charset="2"/>
                            <a:buChar char="n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en-US" sz="1800">
                              <a:latin typeface="Times New Roman" panose="02020603050405020304" pitchFamily="18" charset="0"/>
                            </a:rPr>
                            <a:t>3</a:t>
                          </a:r>
                        </a:p>
                      </p:txBody>
                    </p:sp>
                  </p:grpSp>
                </p:grpSp>
              </p:grpSp>
              <p:sp>
                <p:nvSpPr>
                  <p:cNvPr id="22546" name="Oval 80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3072"/>
                    <a:ext cx="336" cy="28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2547" name="Text Box 8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2" y="3072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5</a:t>
                    </a:r>
                  </a:p>
                </p:txBody>
              </p:sp>
              <p:grpSp>
                <p:nvGrpSpPr>
                  <p:cNvPr id="22548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2784" y="3120"/>
                    <a:ext cx="720" cy="511"/>
                    <a:chOff x="1056" y="1454"/>
                    <a:chExt cx="720" cy="511"/>
                  </a:xfrm>
                </p:grpSpPr>
                <p:sp>
                  <p:nvSpPr>
                    <p:cNvPr id="22552" name="Line 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1454"/>
                      <a:ext cx="240" cy="10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553" name="Group 8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56"/>
                      <a:ext cx="624" cy="409"/>
                      <a:chOff x="1152" y="1556"/>
                      <a:chExt cx="624" cy="409"/>
                    </a:xfrm>
                  </p:grpSpPr>
                  <p:sp>
                    <p:nvSpPr>
                      <p:cNvPr id="22554" name="Oval 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1556"/>
                        <a:ext cx="432" cy="409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>
                          <a:buClr>
                            <a:schemeClr val="tx2"/>
                          </a:buClr>
                          <a:buFont typeface="Monotype Sorts" pitchFamily="2" charset="2"/>
                          <a:buChar char="l"/>
                        </a:pPr>
                        <a:endParaRPr lang="en-US" altLang="en-US" sz="2000"/>
                      </a:p>
                    </p:txBody>
                  </p:sp>
                  <p:sp>
                    <p:nvSpPr>
                      <p:cNvPr id="22555" name="Text Box 8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1632"/>
                        <a:ext cx="576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75000"/>
                          <a:buFont typeface="Monotype Sorts" pitchFamily="2" charset="2"/>
                          <a:buChar char="*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Wingdings" panose="05000000000000000000" pitchFamily="2" charset="2"/>
                          <a:buChar char="1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2"/>
                          </a:buClr>
                          <a:buSzPct val="65000"/>
                          <a:buFont typeface="Monotype Sorts" pitchFamily="2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80000"/>
                          <a:buFont typeface="Monotype Sorts" pitchFamily="2" charset="2"/>
                          <a:buChar char="n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en-US" sz="1800">
                            <a:latin typeface="Times New Roman" panose="02020603050405020304" pitchFamily="18" charset="0"/>
                          </a:rPr>
                          <a:t>16</a:t>
                        </a:r>
                      </a:p>
                    </p:txBody>
                  </p:sp>
                </p:grpSp>
              </p:grpSp>
              <p:sp>
                <p:nvSpPr>
                  <p:cNvPr id="22549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3456"/>
                    <a:ext cx="288" cy="27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2550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8" y="3456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22551" name="Line 8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44" y="3216"/>
                    <a:ext cx="48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2538" name="Group 90"/>
              <p:cNvGrpSpPr>
                <a:grpSpLocks/>
              </p:cNvGrpSpPr>
              <p:nvPr/>
            </p:nvGrpSpPr>
            <p:grpSpPr bwMode="auto">
              <a:xfrm>
                <a:off x="2544" y="1824"/>
                <a:ext cx="720" cy="511"/>
                <a:chOff x="1056" y="1454"/>
                <a:chExt cx="720" cy="511"/>
              </a:xfrm>
            </p:grpSpPr>
            <p:sp>
              <p:nvSpPr>
                <p:cNvPr id="22539" name="Line 91"/>
                <p:cNvSpPr>
                  <a:spLocks noChangeShapeType="1"/>
                </p:cNvSpPr>
                <p:nvPr/>
              </p:nvSpPr>
              <p:spPr bwMode="auto">
                <a:xfrm>
                  <a:off x="1056" y="1454"/>
                  <a:ext cx="240" cy="1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540" name="Group 92"/>
                <p:cNvGrpSpPr>
                  <a:grpSpLocks/>
                </p:cNvGrpSpPr>
                <p:nvPr/>
              </p:nvGrpSpPr>
              <p:grpSpPr bwMode="auto">
                <a:xfrm>
                  <a:off x="1152" y="1556"/>
                  <a:ext cx="624" cy="409"/>
                  <a:chOff x="1152" y="1556"/>
                  <a:chExt cx="624" cy="409"/>
                </a:xfrm>
              </p:grpSpPr>
              <p:sp>
                <p:nvSpPr>
                  <p:cNvPr id="22541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556"/>
                    <a:ext cx="432" cy="409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buClr>
                        <a:schemeClr val="tx2"/>
                      </a:buClr>
                      <a:buFont typeface="Monotype Sorts" pitchFamily="2" charset="2"/>
                      <a:buChar char="l"/>
                    </a:pPr>
                    <a:endParaRPr lang="en-US" altLang="en-US" sz="2000"/>
                  </a:p>
                </p:txBody>
              </p:sp>
              <p:sp>
                <p:nvSpPr>
                  <p:cNvPr id="22542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632"/>
                    <a:ext cx="5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Monotype Sorts" pitchFamily="2" charset="2"/>
                      <a:buChar char="*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1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Monotype Sort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Monotype Sort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Times New Roman" panose="02020603050405020304" pitchFamily="18" charset="0"/>
                      </a:rPr>
                      <a:t>14</a:t>
                    </a:r>
                  </a:p>
                </p:txBody>
              </p:sp>
            </p:grpSp>
          </p:grpSp>
        </p:grpSp>
        <p:sp>
          <p:nvSpPr>
            <p:cNvPr id="22536" name="Text Box 95"/>
            <p:cNvSpPr txBox="1">
              <a:spLocks noChangeArrowheads="1"/>
            </p:cNvSpPr>
            <p:nvPr/>
          </p:nvSpPr>
          <p:spPr bwMode="auto">
            <a:xfrm>
              <a:off x="864" y="1728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*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1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Monotype Sort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Fig 15</a:t>
              </a:r>
            </a:p>
          </p:txBody>
        </p:sp>
      </p:grpSp>
      <p:sp>
        <p:nvSpPr>
          <p:cNvPr id="22532" name="Line 98"/>
          <p:cNvSpPr>
            <a:spLocks noChangeShapeType="1"/>
          </p:cNvSpPr>
          <p:nvPr/>
        </p:nvSpPr>
        <p:spPr bwMode="auto">
          <a:xfrm>
            <a:off x="5410200" y="2236788"/>
            <a:ext cx="685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3" name="Text Box 99"/>
          <p:cNvSpPr txBox="1">
            <a:spLocks noChangeArrowheads="1"/>
          </p:cNvSpPr>
          <p:nvPr/>
        </p:nvSpPr>
        <p:spPr bwMode="auto">
          <a:xfrm>
            <a:off x="4876800" y="1703389"/>
            <a:ext cx="1906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Double rotation</a:t>
            </a:r>
          </a:p>
        </p:txBody>
      </p:sp>
      <p:sp>
        <p:nvSpPr>
          <p:cNvPr id="22534" name="Oval 143"/>
          <p:cNvSpPr>
            <a:spLocks noChangeArrowheads="1"/>
          </p:cNvSpPr>
          <p:nvPr/>
        </p:nvSpPr>
        <p:spPr bwMode="auto">
          <a:xfrm>
            <a:off x="3886200" y="2312988"/>
            <a:ext cx="457200" cy="4572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1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Char char="l"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3099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1597</Words>
  <Application>Microsoft Office PowerPoint</Application>
  <PresentationFormat>Widescreen</PresentationFormat>
  <Paragraphs>353</Paragraphs>
  <Slides>39</Slides>
  <Notes>1</Notes>
  <HiddenSlides>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Monotype Sorts</vt:lpstr>
      <vt:lpstr>Symbol</vt:lpstr>
      <vt:lpstr>Times New Roman</vt:lpstr>
      <vt:lpstr>Office Theme</vt:lpstr>
      <vt:lpstr>Bitmap Image</vt:lpstr>
      <vt:lpstr>Trees</vt:lpstr>
      <vt:lpstr>Binary Search Trees   </vt:lpstr>
      <vt:lpstr>PowerPoint Presentation</vt:lpstr>
      <vt:lpstr>PowerPoint Presentation</vt:lpstr>
      <vt:lpstr>Operations </vt:lpstr>
      <vt:lpstr>Create/insert- example</vt:lpstr>
      <vt:lpstr>PowerPoint Presentation</vt:lpstr>
      <vt:lpstr>PowerPoint Presentation</vt:lpstr>
      <vt:lpstr>  Search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AVL-Trees (Adelson-Velskii and Landis-Trees)</vt:lpstr>
      <vt:lpstr>Balanced binary tree</vt:lpstr>
      <vt:lpstr>AVL tree</vt:lpstr>
      <vt:lpstr>AVL tree</vt:lpstr>
      <vt:lpstr>AVL tree</vt:lpstr>
      <vt:lpstr>Rotations</vt:lpstr>
      <vt:lpstr>Rotations</vt:lpstr>
      <vt:lpstr>Insertion</vt:lpstr>
      <vt:lpstr>Insertion </vt:lpstr>
      <vt:lpstr>Single rotation</vt:lpstr>
      <vt:lpstr>Single rotation</vt:lpstr>
      <vt:lpstr>PowerPoint Presentation</vt:lpstr>
      <vt:lpstr>Double rotation</vt:lpstr>
      <vt:lpstr>Double rotation</vt:lpstr>
      <vt:lpstr>PowerPoint Presentation</vt:lpstr>
      <vt:lpstr>An Extended Example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user</dc:creator>
  <cp:lastModifiedBy>Ramyashree [MAHE-MIT]</cp:lastModifiedBy>
  <cp:revision>29</cp:revision>
  <dcterms:created xsi:type="dcterms:W3CDTF">2021-06-04T13:17:20Z</dcterms:created>
  <dcterms:modified xsi:type="dcterms:W3CDTF">2024-02-16T05:51:42Z</dcterms:modified>
</cp:coreProperties>
</file>