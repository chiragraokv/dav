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7EBA-F284-0A07-F5E8-751267744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20D8B8-DF8D-B2C4-CADF-B0F2D2EDE1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509080-D23B-E711-DF8C-F534539049DF}"/>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5" name="Footer Placeholder 4">
            <a:extLst>
              <a:ext uri="{FF2B5EF4-FFF2-40B4-BE49-F238E27FC236}">
                <a16:creationId xmlns:a16="http://schemas.microsoft.com/office/drawing/2014/main" id="{D10351A7-6F6B-A183-5D93-C184BF0AF1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D701-56CB-AF7B-C9DA-14FC3C9F44B6}"/>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646696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E961-5078-A8CD-E21C-133A6ABD84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7D1205-7C53-5B4F-A5E1-ADE425638A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A98D7-3C0A-78C2-2001-8BF404743EC7}"/>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5" name="Footer Placeholder 4">
            <a:extLst>
              <a:ext uri="{FF2B5EF4-FFF2-40B4-BE49-F238E27FC236}">
                <a16:creationId xmlns:a16="http://schemas.microsoft.com/office/drawing/2014/main" id="{CCC427C4-8A91-2ACF-4E55-978420FDEA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3385A-EBF9-2C25-7DBC-DC062205C12C}"/>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3882002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FA570-08E3-3C43-4789-C3FB081B47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1305E8-4D38-C570-A246-BBAAE2369E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935541-C543-F1C7-4FC3-3090DB32D257}"/>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5" name="Footer Placeholder 4">
            <a:extLst>
              <a:ext uri="{FF2B5EF4-FFF2-40B4-BE49-F238E27FC236}">
                <a16:creationId xmlns:a16="http://schemas.microsoft.com/office/drawing/2014/main" id="{18B5FFD1-F431-9CDE-F237-5C02E992F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E1AF4D-AF5F-6F9B-2CB0-41D01EF5CF76}"/>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3103707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6C48-07AF-8E5D-3FFD-7C50C71574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FB54CD-BC74-8538-1954-0C3739D857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D756BD-F6CC-2A82-CEAD-DFD26992B4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66F401-EB1B-C52B-4FE3-081D2FD5AEEA}"/>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6" name="Footer Placeholder 5">
            <a:extLst>
              <a:ext uri="{FF2B5EF4-FFF2-40B4-BE49-F238E27FC236}">
                <a16:creationId xmlns:a16="http://schemas.microsoft.com/office/drawing/2014/main" id="{9FE9BF98-90A5-F0AF-05A2-83A87B58CE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2F749E-C34D-BE1E-45DB-E6C3D08D2DB7}"/>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388410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4BC9-312A-194D-1F49-22D8295130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4841E5-F6F5-BC95-875C-DAE5FB0267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BDCC91-96A7-4480-E6FC-EB85C7CCAA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D965F3-1CF9-6AF1-52F0-FFC31964CC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14D237-83BF-94FE-FE20-B54F7578B0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89D4D9-1D6B-2C67-C556-29FD76AE37FD}"/>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8" name="Footer Placeholder 7">
            <a:extLst>
              <a:ext uri="{FF2B5EF4-FFF2-40B4-BE49-F238E27FC236}">
                <a16:creationId xmlns:a16="http://schemas.microsoft.com/office/drawing/2014/main" id="{932942BF-5431-99C2-5406-491331208C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772FE8-91A3-EAB1-4CC0-AC9197E92516}"/>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787249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47BBF-AA4E-44FD-D181-96A2D9E115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028406-94D5-7EBD-0BA0-4CEBF9291F62}"/>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4" name="Footer Placeholder 3">
            <a:extLst>
              <a:ext uri="{FF2B5EF4-FFF2-40B4-BE49-F238E27FC236}">
                <a16:creationId xmlns:a16="http://schemas.microsoft.com/office/drawing/2014/main" id="{1E8B7B2A-69D7-3ABA-FD00-E58053F545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1296C6-7881-D8E6-775E-709E497BC399}"/>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3364365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AE5B79-04E8-E78F-1292-693CF4B98018}"/>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3" name="Footer Placeholder 2">
            <a:extLst>
              <a:ext uri="{FF2B5EF4-FFF2-40B4-BE49-F238E27FC236}">
                <a16:creationId xmlns:a16="http://schemas.microsoft.com/office/drawing/2014/main" id="{4B98F28C-4148-0940-5630-417AA1003F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21417-C44A-CE7F-5085-303C7E11D4C2}"/>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353118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5B75D-7447-B0EA-632A-DF2B1AB559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DBF70F-201B-CB0D-21B1-BC5E180D34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386C30-6AA1-6C05-F0A1-1740A5C320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78796-9B65-D827-03A7-E51F5C6AF59A}"/>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6" name="Footer Placeholder 5">
            <a:extLst>
              <a:ext uri="{FF2B5EF4-FFF2-40B4-BE49-F238E27FC236}">
                <a16:creationId xmlns:a16="http://schemas.microsoft.com/office/drawing/2014/main" id="{E202F636-8E36-A56A-4D25-6ABFAE702A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6C234E-B3B5-9479-3065-23BC9BA187A7}"/>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2535178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24744-3B2F-5AF7-0B37-E2BB8C119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B912D5-21B3-0AC7-FD1D-AD6B5F1273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15C70C-085C-67B9-64AF-8D1B108D0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D4415-73E8-BD2D-096C-6F9BA4BD3A35}"/>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6" name="Footer Placeholder 5">
            <a:extLst>
              <a:ext uri="{FF2B5EF4-FFF2-40B4-BE49-F238E27FC236}">
                <a16:creationId xmlns:a16="http://schemas.microsoft.com/office/drawing/2014/main" id="{4451CD59-54C7-8AE0-86AC-7C3BEE9468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48443C-607E-59C0-2212-3BF76F711625}"/>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2524544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645B-9F56-4295-553D-6C20DF91BF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E94489-036B-EDC7-D8DB-24DEBC62E5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6EAA6-8616-79EF-8721-C4544745A434}"/>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5" name="Footer Placeholder 4">
            <a:extLst>
              <a:ext uri="{FF2B5EF4-FFF2-40B4-BE49-F238E27FC236}">
                <a16:creationId xmlns:a16="http://schemas.microsoft.com/office/drawing/2014/main" id="{4AA23AF1-78CA-B606-D1A7-17BDC8D9D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90776-BBA0-5113-E0FD-3F817CAFAE5B}"/>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2336917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7B15C5-4074-EFE1-7770-8682E31741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B90C74-38D5-C671-79B8-8A56217ED2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8FF569-22DF-09E2-568E-FDD78E707A2C}"/>
              </a:ext>
            </a:extLst>
          </p:cNvPr>
          <p:cNvSpPr>
            <a:spLocks noGrp="1"/>
          </p:cNvSpPr>
          <p:nvPr>
            <p:ph type="dt" sz="half" idx="10"/>
          </p:nvPr>
        </p:nvSpPr>
        <p:spPr/>
        <p:txBody>
          <a:bodyPr/>
          <a:lstStyle/>
          <a:p>
            <a:fld id="{744BC039-904C-4FB1-892E-6991108D8BC7}" type="datetimeFigureOut">
              <a:rPr lang="en-US" smtClean="0"/>
              <a:t>1/19/2026</a:t>
            </a:fld>
            <a:endParaRPr lang="en-US"/>
          </a:p>
        </p:txBody>
      </p:sp>
      <p:sp>
        <p:nvSpPr>
          <p:cNvPr id="5" name="Footer Placeholder 4">
            <a:extLst>
              <a:ext uri="{FF2B5EF4-FFF2-40B4-BE49-F238E27FC236}">
                <a16:creationId xmlns:a16="http://schemas.microsoft.com/office/drawing/2014/main" id="{A0190FB8-5D50-CE78-175D-FE1E50BC2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C18F2-DC48-F41F-D124-49071D61C914}"/>
              </a:ext>
            </a:extLst>
          </p:cNvPr>
          <p:cNvSpPr>
            <a:spLocks noGrp="1"/>
          </p:cNvSpPr>
          <p:nvPr>
            <p:ph type="sldNum" sz="quarter" idx="12"/>
          </p:nvPr>
        </p:nvSpPr>
        <p:spPr/>
        <p:txBody>
          <a:bodyPr/>
          <a:lstStyle/>
          <a:p>
            <a:fld id="{7A8DD940-C325-4948-8DA0-646830F569FF}" type="slidenum">
              <a:rPr lang="en-US" smtClean="0"/>
              <a:t>‹#›</a:t>
            </a:fld>
            <a:endParaRPr lang="en-US"/>
          </a:p>
        </p:txBody>
      </p:sp>
    </p:spTree>
    <p:extLst>
      <p:ext uri="{BB962C8B-B14F-4D97-AF65-F5344CB8AC3E}">
        <p14:creationId xmlns:p14="http://schemas.microsoft.com/office/powerpoint/2010/main" val="1825772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0E619A-A283-537A-B770-F6DC701980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7747FA-6A65-B65E-9FB1-E0B91D2491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558E85-DB91-4548-8C26-FFA5C22EF0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BC039-904C-4FB1-892E-6991108D8BC7}" type="datetimeFigureOut">
              <a:rPr lang="en-US" smtClean="0"/>
              <a:t>1/19/2026</a:t>
            </a:fld>
            <a:endParaRPr lang="en-US"/>
          </a:p>
        </p:txBody>
      </p:sp>
      <p:sp>
        <p:nvSpPr>
          <p:cNvPr id="5" name="Footer Placeholder 4">
            <a:extLst>
              <a:ext uri="{FF2B5EF4-FFF2-40B4-BE49-F238E27FC236}">
                <a16:creationId xmlns:a16="http://schemas.microsoft.com/office/drawing/2014/main" id="{AB34B453-92F6-2BC9-F1B9-DD03FFD6C4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26EE01-91CE-AC60-C0D6-D9FE6700E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8DD940-C325-4948-8DA0-646830F569FF}" type="slidenum">
              <a:rPr lang="en-US" smtClean="0"/>
              <a:t>‹#›</a:t>
            </a:fld>
            <a:endParaRPr lang="en-US"/>
          </a:p>
        </p:txBody>
      </p:sp>
    </p:spTree>
    <p:extLst>
      <p:ext uri="{BB962C8B-B14F-4D97-AF65-F5344CB8AC3E}">
        <p14:creationId xmlns:p14="http://schemas.microsoft.com/office/powerpoint/2010/main" val="4099723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stable-and-unstable-sorting-algorithm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1D80C-80FB-29E6-4443-27044D60392E}"/>
              </a:ext>
            </a:extLst>
          </p:cNvPr>
          <p:cNvSpPr>
            <a:spLocks noGrp="1"/>
          </p:cNvSpPr>
          <p:nvPr>
            <p:ph type="ctrTitle"/>
          </p:nvPr>
        </p:nvSpPr>
        <p:spPr/>
        <p:txBody>
          <a:bodyPr/>
          <a:lstStyle/>
          <a:p>
            <a:r>
              <a:rPr lang="en-US" dirty="0"/>
              <a:t>Stable and Unstable Sorting Algorithm</a:t>
            </a:r>
          </a:p>
        </p:txBody>
      </p:sp>
      <p:sp>
        <p:nvSpPr>
          <p:cNvPr id="3" name="Subtitle 2">
            <a:extLst>
              <a:ext uri="{FF2B5EF4-FFF2-40B4-BE49-F238E27FC236}">
                <a16:creationId xmlns:a16="http://schemas.microsoft.com/office/drawing/2014/main" id="{6C1B90F1-F87F-9825-C43A-CB148DC3432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56821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DB05B-DFEE-9CCF-8893-FDC10A5DB8F8}"/>
              </a:ext>
            </a:extLst>
          </p:cNvPr>
          <p:cNvSpPr>
            <a:spLocks noGrp="1"/>
          </p:cNvSpPr>
          <p:nvPr>
            <p:ph idx="1"/>
          </p:nvPr>
        </p:nvSpPr>
        <p:spPr>
          <a:xfrm>
            <a:off x="838200" y="290739"/>
            <a:ext cx="10515600" cy="4351338"/>
          </a:xfrm>
        </p:spPr>
        <p:txBody>
          <a:bodyPr/>
          <a:lstStyle/>
          <a:p>
            <a:r>
              <a:rPr lang="en-US" b="0" dirty="0">
                <a:solidFill>
                  <a:srgbClr val="273239"/>
                </a:solidFill>
                <a:effectLst/>
                <a:latin typeface="Nunito" pitchFamily="2" charset="0"/>
              </a:rPr>
              <a:t>A sorting algorithm is said to be stable if two objects with equal keys appear in the same order in sorted output as they appear in the input data set.</a:t>
            </a:r>
          </a:p>
          <a:p>
            <a:endParaRPr lang="en-US" dirty="0"/>
          </a:p>
        </p:txBody>
      </p:sp>
      <p:pic>
        <p:nvPicPr>
          <p:cNvPr id="5" name="Picture 4">
            <a:extLst>
              <a:ext uri="{FF2B5EF4-FFF2-40B4-BE49-F238E27FC236}">
                <a16:creationId xmlns:a16="http://schemas.microsoft.com/office/drawing/2014/main" id="{4BF2778F-3956-0161-E163-4582A5F8607E}"/>
              </a:ext>
            </a:extLst>
          </p:cNvPr>
          <p:cNvPicPr>
            <a:picLocks noChangeAspect="1"/>
          </p:cNvPicPr>
          <p:nvPr/>
        </p:nvPicPr>
        <p:blipFill>
          <a:blip r:embed="rId2"/>
          <a:stretch>
            <a:fillRect/>
          </a:stretch>
        </p:blipFill>
        <p:spPr>
          <a:xfrm>
            <a:off x="2145689" y="1563979"/>
            <a:ext cx="7161597" cy="4556664"/>
          </a:xfrm>
          <a:prstGeom prst="rect">
            <a:avLst/>
          </a:prstGeom>
        </p:spPr>
      </p:pic>
      <p:sp>
        <p:nvSpPr>
          <p:cNvPr id="7" name="TextBox 6">
            <a:extLst>
              <a:ext uri="{FF2B5EF4-FFF2-40B4-BE49-F238E27FC236}">
                <a16:creationId xmlns:a16="http://schemas.microsoft.com/office/drawing/2014/main" id="{6B76B72F-E8F9-AF36-CBC9-BE8B83A068BF}"/>
              </a:ext>
            </a:extLst>
          </p:cNvPr>
          <p:cNvSpPr txBox="1"/>
          <p:nvPr/>
        </p:nvSpPr>
        <p:spPr>
          <a:xfrm>
            <a:off x="3211285" y="6382595"/>
            <a:ext cx="6814457" cy="369332"/>
          </a:xfrm>
          <a:prstGeom prst="rect">
            <a:avLst/>
          </a:prstGeom>
          <a:noFill/>
        </p:spPr>
        <p:txBody>
          <a:bodyPr wrap="square">
            <a:spAutoFit/>
          </a:bodyPr>
          <a:lstStyle/>
          <a:p>
            <a:r>
              <a:rPr lang="en-US" dirty="0" err="1">
                <a:hlinkClick r:id="rId3"/>
              </a:rPr>
              <a:t>Soucre</a:t>
            </a:r>
            <a:r>
              <a:rPr lang="en-US" dirty="0">
                <a:hlinkClick r:id="rId3"/>
              </a:rPr>
              <a:t>: Stable and Unstable Sorting Algorithms - </a:t>
            </a:r>
            <a:r>
              <a:rPr lang="en-US" dirty="0" err="1">
                <a:hlinkClick r:id="rId3"/>
              </a:rPr>
              <a:t>GeeksforGeeks</a:t>
            </a:r>
            <a:endParaRPr lang="en-US" dirty="0"/>
          </a:p>
        </p:txBody>
      </p:sp>
    </p:spTree>
    <p:extLst>
      <p:ext uri="{BB962C8B-B14F-4D97-AF65-F5344CB8AC3E}">
        <p14:creationId xmlns:p14="http://schemas.microsoft.com/office/powerpoint/2010/main" val="2409709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46DB4-59D7-CA86-97E8-42617018B15B}"/>
              </a:ext>
            </a:extLst>
          </p:cNvPr>
          <p:cNvSpPr>
            <a:spLocks noGrp="1"/>
          </p:cNvSpPr>
          <p:nvPr>
            <p:ph idx="1"/>
          </p:nvPr>
        </p:nvSpPr>
        <p:spPr>
          <a:xfrm>
            <a:off x="-51747" y="73614"/>
            <a:ext cx="11843657" cy="4351338"/>
          </a:xfrm>
        </p:spPr>
        <p:txBody>
          <a:bodyPr/>
          <a:lstStyle/>
          <a:p>
            <a:pPr algn="l" rtl="0" fontAlgn="base">
              <a:spcAft>
                <a:spcPts val="750"/>
              </a:spcAft>
            </a:pPr>
            <a:r>
              <a:rPr lang="en-US" b="0" i="0" dirty="0">
                <a:solidFill>
                  <a:srgbClr val="273239"/>
                </a:solidFill>
                <a:effectLst/>
                <a:latin typeface="Nunito" pitchFamily="2" charset="0"/>
              </a:rPr>
              <a:t>Consider the following dataset of Student Names and their respective class sections.</a:t>
            </a:r>
          </a:p>
          <a:p>
            <a:pPr marL="0" indent="0" algn="l" fontAlgn="base">
              <a:spcAft>
                <a:spcPts val="750"/>
              </a:spcAft>
              <a:buNone/>
            </a:pPr>
            <a:endParaRPr lang="en-US" dirty="0"/>
          </a:p>
        </p:txBody>
      </p:sp>
      <p:pic>
        <p:nvPicPr>
          <p:cNvPr id="5" name="Picture 4">
            <a:extLst>
              <a:ext uri="{FF2B5EF4-FFF2-40B4-BE49-F238E27FC236}">
                <a16:creationId xmlns:a16="http://schemas.microsoft.com/office/drawing/2014/main" id="{78326DCD-56AB-3EB8-FF11-14801EA8E2F9}"/>
              </a:ext>
            </a:extLst>
          </p:cNvPr>
          <p:cNvPicPr>
            <a:picLocks noChangeAspect="1"/>
          </p:cNvPicPr>
          <p:nvPr/>
        </p:nvPicPr>
        <p:blipFill>
          <a:blip r:embed="rId2"/>
          <a:stretch>
            <a:fillRect/>
          </a:stretch>
        </p:blipFill>
        <p:spPr>
          <a:xfrm>
            <a:off x="363959" y="1205674"/>
            <a:ext cx="1889147" cy="3030792"/>
          </a:xfrm>
          <a:prstGeom prst="rect">
            <a:avLst/>
          </a:prstGeom>
        </p:spPr>
      </p:pic>
      <p:pic>
        <p:nvPicPr>
          <p:cNvPr id="7" name="Picture 6">
            <a:extLst>
              <a:ext uri="{FF2B5EF4-FFF2-40B4-BE49-F238E27FC236}">
                <a16:creationId xmlns:a16="http://schemas.microsoft.com/office/drawing/2014/main" id="{7E2E251B-2FA6-5290-DCD3-DA561116015C}"/>
              </a:ext>
            </a:extLst>
          </p:cNvPr>
          <p:cNvPicPr>
            <a:picLocks noChangeAspect="1"/>
          </p:cNvPicPr>
          <p:nvPr/>
        </p:nvPicPr>
        <p:blipFill>
          <a:blip r:embed="rId3"/>
          <a:stretch>
            <a:fillRect/>
          </a:stretch>
        </p:blipFill>
        <p:spPr>
          <a:xfrm>
            <a:off x="3121005" y="1227333"/>
            <a:ext cx="1558121" cy="2987474"/>
          </a:xfrm>
          <a:prstGeom prst="rect">
            <a:avLst/>
          </a:prstGeom>
        </p:spPr>
      </p:pic>
      <p:sp>
        <p:nvSpPr>
          <p:cNvPr id="8" name="TextBox 7">
            <a:extLst>
              <a:ext uri="{FF2B5EF4-FFF2-40B4-BE49-F238E27FC236}">
                <a16:creationId xmlns:a16="http://schemas.microsoft.com/office/drawing/2014/main" id="{927F288C-60C2-65B9-1019-E814C243D83F}"/>
              </a:ext>
            </a:extLst>
          </p:cNvPr>
          <p:cNvSpPr txBox="1"/>
          <p:nvPr/>
        </p:nvSpPr>
        <p:spPr>
          <a:xfrm>
            <a:off x="2915773" y="4293551"/>
            <a:ext cx="1968583" cy="1938992"/>
          </a:xfrm>
          <a:prstGeom prst="rect">
            <a:avLst/>
          </a:prstGeom>
          <a:noFill/>
        </p:spPr>
        <p:txBody>
          <a:bodyPr wrap="square" rtlCol="0">
            <a:spAutoFit/>
          </a:bodyPr>
          <a:lstStyle/>
          <a:p>
            <a:pPr algn="ctr"/>
            <a:r>
              <a:rPr lang="en-US" sz="2000" dirty="0"/>
              <a:t>Sort according to Name.  Resulting data is not grouped according to section</a:t>
            </a:r>
          </a:p>
        </p:txBody>
      </p:sp>
      <p:pic>
        <p:nvPicPr>
          <p:cNvPr id="10" name="Picture 9">
            <a:extLst>
              <a:ext uri="{FF2B5EF4-FFF2-40B4-BE49-F238E27FC236}">
                <a16:creationId xmlns:a16="http://schemas.microsoft.com/office/drawing/2014/main" id="{89E5728E-EA29-F51D-A561-EC9744B924E7}"/>
              </a:ext>
            </a:extLst>
          </p:cNvPr>
          <p:cNvPicPr>
            <a:picLocks noChangeAspect="1"/>
          </p:cNvPicPr>
          <p:nvPr/>
        </p:nvPicPr>
        <p:blipFill>
          <a:blip r:embed="rId4"/>
          <a:stretch>
            <a:fillRect/>
          </a:stretch>
        </p:blipFill>
        <p:spPr>
          <a:xfrm>
            <a:off x="5520512" y="1410859"/>
            <a:ext cx="1708207" cy="2825607"/>
          </a:xfrm>
          <a:prstGeom prst="rect">
            <a:avLst/>
          </a:prstGeom>
        </p:spPr>
      </p:pic>
      <p:sp>
        <p:nvSpPr>
          <p:cNvPr id="14" name="TextBox 13">
            <a:extLst>
              <a:ext uri="{FF2B5EF4-FFF2-40B4-BE49-F238E27FC236}">
                <a16:creationId xmlns:a16="http://schemas.microsoft.com/office/drawing/2014/main" id="{B558B1E4-BCE4-3129-822A-F92FD76EDAA9}"/>
              </a:ext>
            </a:extLst>
          </p:cNvPr>
          <p:cNvSpPr txBox="1"/>
          <p:nvPr/>
        </p:nvSpPr>
        <p:spPr>
          <a:xfrm>
            <a:off x="5266954" y="4320674"/>
            <a:ext cx="2373086" cy="1631216"/>
          </a:xfrm>
          <a:prstGeom prst="rect">
            <a:avLst/>
          </a:prstGeom>
          <a:noFill/>
        </p:spPr>
        <p:txBody>
          <a:bodyPr wrap="square">
            <a:spAutoFit/>
          </a:bodyPr>
          <a:lstStyle/>
          <a:p>
            <a:pPr algn="ctr"/>
            <a:r>
              <a:rPr lang="en-US" sz="2000" dirty="0"/>
              <a:t>Sort again section wise.  This will sort according section but not according to name</a:t>
            </a:r>
          </a:p>
        </p:txBody>
      </p:sp>
      <p:sp>
        <p:nvSpPr>
          <p:cNvPr id="16" name="TextBox 15">
            <a:extLst>
              <a:ext uri="{FF2B5EF4-FFF2-40B4-BE49-F238E27FC236}">
                <a16:creationId xmlns:a16="http://schemas.microsoft.com/office/drawing/2014/main" id="{987D9CE1-F38E-7E0A-61D3-79B38A570094}"/>
              </a:ext>
            </a:extLst>
          </p:cNvPr>
          <p:cNvSpPr txBox="1"/>
          <p:nvPr/>
        </p:nvSpPr>
        <p:spPr>
          <a:xfrm>
            <a:off x="8132579" y="4293551"/>
            <a:ext cx="3659331" cy="2554545"/>
          </a:xfrm>
          <a:prstGeom prst="rect">
            <a:avLst/>
          </a:prstGeom>
          <a:noFill/>
        </p:spPr>
        <p:txBody>
          <a:bodyPr wrap="square">
            <a:spAutoFit/>
          </a:bodyPr>
          <a:lstStyle/>
          <a:p>
            <a:r>
              <a:rPr lang="en-US" b="0" i="0" dirty="0">
                <a:solidFill>
                  <a:srgbClr val="273239"/>
                </a:solidFill>
                <a:effectLst/>
                <a:latin typeface="Nunito" pitchFamily="2" charset="0"/>
              </a:rPr>
              <a:t> </a:t>
            </a:r>
            <a:r>
              <a:rPr lang="en-US" sz="2000" b="0" i="0" dirty="0">
                <a:solidFill>
                  <a:srgbClr val="273239"/>
                </a:solidFill>
                <a:effectLst/>
                <a:latin typeface="Nunito" pitchFamily="2" charset="0"/>
              </a:rPr>
              <a:t>In the name-sorted dataset, the tuple (Alice, B) was before (Eric, B) , but since the sorting algorithm is not stable, the relative order is lost. If on the other hand, we used a stable sorting algorithm, the result would be:</a:t>
            </a:r>
            <a:endParaRPr lang="en-US" sz="2000" dirty="0"/>
          </a:p>
        </p:txBody>
      </p:sp>
      <p:pic>
        <p:nvPicPr>
          <p:cNvPr id="18" name="Picture 17">
            <a:extLst>
              <a:ext uri="{FF2B5EF4-FFF2-40B4-BE49-F238E27FC236}">
                <a16:creationId xmlns:a16="http://schemas.microsoft.com/office/drawing/2014/main" id="{1C70CF77-3031-384D-2010-FC92827CF229}"/>
              </a:ext>
            </a:extLst>
          </p:cNvPr>
          <p:cNvPicPr>
            <a:picLocks noChangeAspect="1"/>
          </p:cNvPicPr>
          <p:nvPr/>
        </p:nvPicPr>
        <p:blipFill>
          <a:blip r:embed="rId5"/>
          <a:stretch>
            <a:fillRect/>
          </a:stretch>
        </p:blipFill>
        <p:spPr>
          <a:xfrm>
            <a:off x="8917646" y="1269735"/>
            <a:ext cx="1708207" cy="2902669"/>
          </a:xfrm>
          <a:prstGeom prst="rect">
            <a:avLst/>
          </a:prstGeom>
        </p:spPr>
      </p:pic>
    </p:spTree>
    <p:extLst>
      <p:ext uri="{BB962C8B-B14F-4D97-AF65-F5344CB8AC3E}">
        <p14:creationId xmlns:p14="http://schemas.microsoft.com/office/powerpoint/2010/main" val="3964397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F209E7-DCD3-8457-9913-C9101C147270}"/>
              </a:ext>
            </a:extLst>
          </p:cNvPr>
          <p:cNvSpPr>
            <a:spLocks noGrp="1"/>
          </p:cNvSpPr>
          <p:nvPr>
            <p:ph idx="1"/>
          </p:nvPr>
        </p:nvSpPr>
        <p:spPr>
          <a:xfrm>
            <a:off x="653143" y="541110"/>
            <a:ext cx="10515600" cy="4351338"/>
          </a:xfrm>
        </p:spPr>
        <p:txBody>
          <a:bodyPr>
            <a:noAutofit/>
          </a:bodyPr>
          <a:lstStyle/>
          <a:p>
            <a:r>
              <a:rPr lang="en-US" sz="2400" dirty="0">
                <a:latin typeface="Calibri(Body)"/>
              </a:rPr>
              <a:t>Stable sorting algorithms: Bubble sort, Insertion sort, Merge sort, counting (rank sort)</a:t>
            </a:r>
          </a:p>
          <a:p>
            <a:endParaRPr lang="en-US" sz="2400" dirty="0">
              <a:latin typeface="Calibri(Body)"/>
            </a:endParaRPr>
          </a:p>
          <a:p>
            <a:r>
              <a:rPr lang="en-US" sz="2400" dirty="0">
                <a:latin typeface="Calibri(Body)"/>
              </a:rPr>
              <a:t>Unstable sorting algorithms: Selection sort, Quick sort and Heap sort.</a:t>
            </a:r>
          </a:p>
          <a:p>
            <a:endParaRPr lang="en-US" sz="2400" dirty="0">
              <a:latin typeface="Calibri(Body)"/>
            </a:endParaRPr>
          </a:p>
          <a:p>
            <a:r>
              <a:rPr lang="en-US" sz="2400" dirty="0">
                <a:solidFill>
                  <a:srgbClr val="273239"/>
                </a:solidFill>
                <a:latin typeface="Calibri(Body)"/>
              </a:rPr>
              <a:t>I</a:t>
            </a:r>
            <a:r>
              <a:rPr lang="en-US" sz="2400" b="0" i="0" dirty="0">
                <a:solidFill>
                  <a:srgbClr val="273239"/>
                </a:solidFill>
                <a:effectLst/>
                <a:latin typeface="Calibri(Body)"/>
              </a:rPr>
              <a:t>n general, any comparison-based sorting algorithm which is not stable by nature can be modified to be stable by changing the key comparison operation so that the comparison of two keys considers position as a factor for objects with equal keys.  </a:t>
            </a:r>
            <a:r>
              <a:rPr lang="en-US" sz="2400" dirty="0">
                <a:solidFill>
                  <a:srgbClr val="273239"/>
                </a:solidFill>
                <a:latin typeface="Calibri(Body)"/>
              </a:rPr>
              <a:t>Selection sort can be modified as stable</a:t>
            </a:r>
          </a:p>
          <a:p>
            <a:endParaRPr lang="en-US" sz="2400" dirty="0">
              <a:latin typeface="Calibri(Body)"/>
            </a:endParaRPr>
          </a:p>
          <a:p>
            <a:r>
              <a:rPr lang="en-US" sz="2400" b="0" i="0" dirty="0">
                <a:solidFill>
                  <a:srgbClr val="273239"/>
                </a:solidFill>
                <a:effectLst/>
                <a:latin typeface="Calibri(Body)"/>
              </a:rPr>
              <a:t>When equal elements are indistinguishable, such as with integers, or more generally, any data where the entire element is the key, stability is not an issue. Stability is also not an issue if all keys are different.</a:t>
            </a:r>
            <a:endParaRPr lang="en-US" sz="2400" dirty="0">
              <a:latin typeface="Calibri(Body)"/>
            </a:endParaRPr>
          </a:p>
        </p:txBody>
      </p:sp>
    </p:spTree>
    <p:extLst>
      <p:ext uri="{BB962C8B-B14F-4D97-AF65-F5344CB8AC3E}">
        <p14:creationId xmlns:p14="http://schemas.microsoft.com/office/powerpoint/2010/main" val="3584635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264</Words>
  <Application>Microsoft Office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Calibri(Body)</vt:lpstr>
      <vt:lpstr>Nunito</vt:lpstr>
      <vt:lpstr>Office Theme</vt:lpstr>
      <vt:lpstr>Stable and Unstable Sorting Algorithm</vt:lpstr>
      <vt:lpstr>PowerPoint Presentation</vt:lpstr>
      <vt:lpstr>PowerPoint Presentation</vt:lpstr>
      <vt:lpstr>PowerPoint Presentation</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Ajitha Shenoy K B [MAHE-MIT]</dc:creator>
  <cp:lastModifiedBy>Ramyashree [MAHE-MIT]</cp:lastModifiedBy>
  <cp:revision>1</cp:revision>
  <dcterms:created xsi:type="dcterms:W3CDTF">2025-01-28T08:46:35Z</dcterms:created>
  <dcterms:modified xsi:type="dcterms:W3CDTF">2026-01-19T07:29:04Z</dcterms:modified>
</cp:coreProperties>
</file>